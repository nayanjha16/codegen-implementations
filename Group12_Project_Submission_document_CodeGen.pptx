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4838" r:id="rId3"/>
    <p:sldId id="257" r:id="rId4"/>
    <p:sldId id="4849" r:id="rId5"/>
    <p:sldId id="4839" r:id="rId6"/>
    <p:sldId id="4845" r:id="rId7"/>
    <p:sldId id="4840" r:id="rId8"/>
    <p:sldId id="262" r:id="rId9"/>
    <p:sldId id="4859" r:id="rId10"/>
    <p:sldId id="4851" r:id="rId11"/>
    <p:sldId id="267" r:id="rId12"/>
    <p:sldId id="269" r:id="rId13"/>
    <p:sldId id="4852" r:id="rId14"/>
    <p:sldId id="4855" r:id="rId15"/>
    <p:sldId id="4854" r:id="rId16"/>
    <p:sldId id="263" r:id="rId17"/>
    <p:sldId id="4841" r:id="rId18"/>
    <p:sldId id="259" r:id="rId19"/>
    <p:sldId id="260" r:id="rId20"/>
    <p:sldId id="4842" r:id="rId21"/>
    <p:sldId id="4843" r:id="rId22"/>
    <p:sldId id="261" r:id="rId23"/>
    <p:sldId id="268" r:id="rId24"/>
    <p:sldId id="4844" r:id="rId25"/>
    <p:sldId id="4864" r:id="rId26"/>
    <p:sldId id="4865" r:id="rId27"/>
    <p:sldId id="264" r:id="rId28"/>
    <p:sldId id="270" r:id="rId29"/>
    <p:sldId id="271" r:id="rId30"/>
    <p:sldId id="274" r:id="rId31"/>
    <p:sldId id="4863" r:id="rId32"/>
    <p:sldId id="4856" r:id="rId33"/>
    <p:sldId id="4857" r:id="rId34"/>
    <p:sldId id="4866" r:id="rId35"/>
    <p:sldId id="4861" r:id="rId36"/>
    <p:sldId id="486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806E7C9-4E2D-2549-B29B-AFAEF4D3E25B}">
          <p14:sldIdLst>
            <p14:sldId id="256"/>
            <p14:sldId id="4838"/>
            <p14:sldId id="257"/>
            <p14:sldId id="4849"/>
            <p14:sldId id="4839"/>
            <p14:sldId id="4845"/>
            <p14:sldId id="4840"/>
            <p14:sldId id="262"/>
            <p14:sldId id="4859"/>
            <p14:sldId id="4851"/>
            <p14:sldId id="267"/>
            <p14:sldId id="269"/>
            <p14:sldId id="4852"/>
            <p14:sldId id="4855"/>
            <p14:sldId id="4854"/>
          </p14:sldIdLst>
        </p14:section>
        <p14:section name="text2SQL" id="{2A2485F3-A5D6-924A-8EBC-C5219AC12F0A}">
          <p14:sldIdLst>
            <p14:sldId id="263"/>
            <p14:sldId id="4841"/>
            <p14:sldId id="259"/>
            <p14:sldId id="260"/>
            <p14:sldId id="4842"/>
            <p14:sldId id="4843"/>
            <p14:sldId id="261"/>
            <p14:sldId id="268"/>
            <p14:sldId id="4844"/>
            <p14:sldId id="4864"/>
            <p14:sldId id="4865"/>
          </p14:sldIdLst>
        </p14:section>
        <p14:section name="Sql2NoSQL" id="{4690F9DA-02F2-AB45-89D3-D09A3539FF24}">
          <p14:sldIdLst>
            <p14:sldId id="264"/>
            <p14:sldId id="270"/>
            <p14:sldId id="271"/>
            <p14:sldId id="274"/>
            <p14:sldId id="4863"/>
            <p14:sldId id="4856"/>
            <p14:sldId id="4857"/>
            <p14:sldId id="4866"/>
            <p14:sldId id="4861"/>
            <p14:sldId id="4862"/>
          </p14:sldIdLst>
        </p14:section>
        <p14:section name="Appendix" id="{97F0E731-6A78-B140-8335-471D6652415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153"/>
    <p:restoredTop sz="94646"/>
  </p:normalViewPr>
  <p:slideViewPr>
    <p:cSldViewPr snapToGrid="0">
      <p:cViewPr varScale="1">
        <p:scale>
          <a:sx n="94" d="100"/>
          <a:sy n="94" d="100"/>
        </p:scale>
        <p:origin x="288"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7D9BC6-FE78-3B49-98F9-139FBB04BE7F}" type="datetimeFigureOut">
              <a:rPr lang="en-US" smtClean="0"/>
              <a:t>1/24/26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5D12A3-2720-CA46-A521-21976903A0D7}" type="slidenum">
              <a:rPr lang="en-US" smtClean="0"/>
              <a:t>‹#›</a:t>
            </a:fld>
            <a:endParaRPr lang="en-US"/>
          </a:p>
        </p:txBody>
      </p:sp>
    </p:spTree>
    <p:extLst>
      <p:ext uri="{BB962C8B-B14F-4D97-AF65-F5344CB8AC3E}">
        <p14:creationId xmlns:p14="http://schemas.microsoft.com/office/powerpoint/2010/main" val="2848435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5D12A3-2720-CA46-A521-21976903A0D7}" type="slidenum">
              <a:rPr lang="en-US" smtClean="0"/>
              <a:t>2</a:t>
            </a:fld>
            <a:endParaRPr lang="en-US"/>
          </a:p>
        </p:txBody>
      </p:sp>
    </p:spTree>
    <p:extLst>
      <p:ext uri="{BB962C8B-B14F-4D97-AF65-F5344CB8AC3E}">
        <p14:creationId xmlns:p14="http://schemas.microsoft.com/office/powerpoint/2010/main" val="3629182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EA893-C6E8-67BE-978E-C1D9126D8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6D0AD-EE57-3E30-B49C-39D8041EA71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5453EF2-0B1B-F4E4-8EA7-FD9D1B2717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F063E8-3352-CEF3-20FD-CDC7907C8EA2}"/>
              </a:ext>
            </a:extLst>
          </p:cNvPr>
          <p:cNvSpPr>
            <a:spLocks noGrp="1"/>
          </p:cNvSpPr>
          <p:nvPr>
            <p:ph type="sldNum" sz="quarter" idx="5"/>
          </p:nvPr>
        </p:nvSpPr>
        <p:spPr/>
        <p:txBody>
          <a:bodyPr/>
          <a:lstStyle/>
          <a:p>
            <a:fld id="{5E5D12A3-2720-CA46-A521-21976903A0D7}" type="slidenum">
              <a:rPr lang="en-US" smtClean="0"/>
              <a:t>7</a:t>
            </a:fld>
            <a:endParaRPr lang="en-US"/>
          </a:p>
        </p:txBody>
      </p:sp>
    </p:spTree>
    <p:extLst>
      <p:ext uri="{BB962C8B-B14F-4D97-AF65-F5344CB8AC3E}">
        <p14:creationId xmlns:p14="http://schemas.microsoft.com/office/powerpoint/2010/main" val="230664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5D12A3-2720-CA46-A521-21976903A0D7}" type="slidenum">
              <a:rPr lang="en-US" smtClean="0"/>
              <a:t>8</a:t>
            </a:fld>
            <a:endParaRPr lang="en-US"/>
          </a:p>
        </p:txBody>
      </p:sp>
    </p:spTree>
    <p:extLst>
      <p:ext uri="{BB962C8B-B14F-4D97-AF65-F5344CB8AC3E}">
        <p14:creationId xmlns:p14="http://schemas.microsoft.com/office/powerpoint/2010/main" val="2362059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50ED4-A295-7811-87B9-058F8BA966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F1703E-FCC8-C50D-232F-CACBCF33C1C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5ED0FFF-3FBC-09F8-2B1E-7D135C9086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0DDCAF-7875-9CD7-8DAE-70B11BDE9987}"/>
              </a:ext>
            </a:extLst>
          </p:cNvPr>
          <p:cNvSpPr>
            <a:spLocks noGrp="1"/>
          </p:cNvSpPr>
          <p:nvPr>
            <p:ph type="sldNum" sz="quarter" idx="5"/>
          </p:nvPr>
        </p:nvSpPr>
        <p:spPr/>
        <p:txBody>
          <a:bodyPr/>
          <a:lstStyle/>
          <a:p>
            <a:fld id="{5E5D12A3-2720-CA46-A521-21976903A0D7}" type="slidenum">
              <a:rPr lang="en-US" smtClean="0"/>
              <a:t>9</a:t>
            </a:fld>
            <a:endParaRPr lang="en-US"/>
          </a:p>
        </p:txBody>
      </p:sp>
    </p:spTree>
    <p:extLst>
      <p:ext uri="{BB962C8B-B14F-4D97-AF65-F5344CB8AC3E}">
        <p14:creationId xmlns:p14="http://schemas.microsoft.com/office/powerpoint/2010/main" val="186471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5D12A3-2720-CA46-A521-21976903A0D7}" type="slidenum">
              <a:rPr lang="en-US" smtClean="0"/>
              <a:t>18</a:t>
            </a:fld>
            <a:endParaRPr lang="en-US"/>
          </a:p>
        </p:txBody>
      </p:sp>
    </p:spTree>
    <p:extLst>
      <p:ext uri="{BB962C8B-B14F-4D97-AF65-F5344CB8AC3E}">
        <p14:creationId xmlns:p14="http://schemas.microsoft.com/office/powerpoint/2010/main" val="872860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an email “ mention for Academic purpose “ . Check for Papers and compare the scores against the best model we have(RAT_SQL_LITE) </a:t>
            </a:r>
          </a:p>
        </p:txBody>
      </p:sp>
      <p:sp>
        <p:nvSpPr>
          <p:cNvPr id="4" name="Slide Number Placeholder 3"/>
          <p:cNvSpPr>
            <a:spLocks noGrp="1"/>
          </p:cNvSpPr>
          <p:nvPr>
            <p:ph type="sldNum" sz="quarter" idx="5"/>
          </p:nvPr>
        </p:nvSpPr>
        <p:spPr/>
        <p:txBody>
          <a:bodyPr/>
          <a:lstStyle/>
          <a:p>
            <a:fld id="{5E5D12A3-2720-CA46-A521-21976903A0D7}" type="slidenum">
              <a:rPr lang="en-US" smtClean="0"/>
              <a:t>21</a:t>
            </a:fld>
            <a:endParaRPr lang="en-US"/>
          </a:p>
        </p:txBody>
      </p:sp>
    </p:spTree>
    <p:extLst>
      <p:ext uri="{BB962C8B-B14F-4D97-AF65-F5344CB8AC3E}">
        <p14:creationId xmlns:p14="http://schemas.microsoft.com/office/powerpoint/2010/main" val="79862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D7DB3-6178-DB9F-F84C-F733EFBBBE4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EB31F07-C35B-7CB8-952A-80EEB8A1C5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34F1B6F-409B-7DA0-6A61-E0FF17873CAF}"/>
              </a:ext>
            </a:extLst>
          </p:cNvPr>
          <p:cNvSpPr>
            <a:spLocks noGrp="1"/>
          </p:cNvSpPr>
          <p:nvPr>
            <p:ph type="dt" sz="half" idx="10"/>
          </p:nvPr>
        </p:nvSpPr>
        <p:spPr/>
        <p:txBody>
          <a:bodyPr/>
          <a:lstStyle/>
          <a:p>
            <a:fld id="{B8F95705-F159-B440-B801-529DC2415906}" type="datetimeFigureOut">
              <a:rPr lang="en-US" smtClean="0"/>
              <a:t>1/24/26</a:t>
            </a:fld>
            <a:endParaRPr lang="en-US"/>
          </a:p>
        </p:txBody>
      </p:sp>
      <p:sp>
        <p:nvSpPr>
          <p:cNvPr id="5" name="Footer Placeholder 4">
            <a:extLst>
              <a:ext uri="{FF2B5EF4-FFF2-40B4-BE49-F238E27FC236}">
                <a16:creationId xmlns:a16="http://schemas.microsoft.com/office/drawing/2014/main" id="{A9F7CAD0-4D31-5770-A69A-095F864167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93F9D2-2665-20D8-3695-0029E1A86166}"/>
              </a:ext>
            </a:extLst>
          </p:cNvPr>
          <p:cNvSpPr>
            <a:spLocks noGrp="1"/>
          </p:cNvSpPr>
          <p:nvPr>
            <p:ph type="sldNum" sz="quarter" idx="12"/>
          </p:nvPr>
        </p:nvSpPr>
        <p:spPr/>
        <p:txBody>
          <a:bodyPr/>
          <a:lstStyle/>
          <a:p>
            <a:fld id="{0871F1E1-1B53-2F44-85B3-C904EE32926C}" type="slidenum">
              <a:rPr lang="en-US" smtClean="0"/>
              <a:t>‹#›</a:t>
            </a:fld>
            <a:endParaRPr lang="en-US"/>
          </a:p>
        </p:txBody>
      </p:sp>
    </p:spTree>
    <p:extLst>
      <p:ext uri="{BB962C8B-B14F-4D97-AF65-F5344CB8AC3E}">
        <p14:creationId xmlns:p14="http://schemas.microsoft.com/office/powerpoint/2010/main" val="3080406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F358B-D6E4-DE60-ED5E-EB17BF59CEF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5A593FA-E7AB-1715-0B2C-4F2B7C93982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9230D61-F88E-42E9-555E-C83EF213A0D1}"/>
              </a:ext>
            </a:extLst>
          </p:cNvPr>
          <p:cNvSpPr>
            <a:spLocks noGrp="1"/>
          </p:cNvSpPr>
          <p:nvPr>
            <p:ph type="dt" sz="half" idx="10"/>
          </p:nvPr>
        </p:nvSpPr>
        <p:spPr/>
        <p:txBody>
          <a:bodyPr/>
          <a:lstStyle/>
          <a:p>
            <a:fld id="{B8F95705-F159-B440-B801-529DC2415906}" type="datetimeFigureOut">
              <a:rPr lang="en-US" smtClean="0"/>
              <a:t>1/24/26</a:t>
            </a:fld>
            <a:endParaRPr lang="en-US"/>
          </a:p>
        </p:txBody>
      </p:sp>
      <p:sp>
        <p:nvSpPr>
          <p:cNvPr id="5" name="Footer Placeholder 4">
            <a:extLst>
              <a:ext uri="{FF2B5EF4-FFF2-40B4-BE49-F238E27FC236}">
                <a16:creationId xmlns:a16="http://schemas.microsoft.com/office/drawing/2014/main" id="{BF19EC76-77F6-80D4-6D95-D57353EB4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AF25F5-0E9E-44D4-6D0B-60BFBDF282D1}"/>
              </a:ext>
            </a:extLst>
          </p:cNvPr>
          <p:cNvSpPr>
            <a:spLocks noGrp="1"/>
          </p:cNvSpPr>
          <p:nvPr>
            <p:ph type="sldNum" sz="quarter" idx="12"/>
          </p:nvPr>
        </p:nvSpPr>
        <p:spPr/>
        <p:txBody>
          <a:bodyPr/>
          <a:lstStyle/>
          <a:p>
            <a:fld id="{0871F1E1-1B53-2F44-85B3-C904EE32926C}" type="slidenum">
              <a:rPr lang="en-US" smtClean="0"/>
              <a:t>‹#›</a:t>
            </a:fld>
            <a:endParaRPr lang="en-US"/>
          </a:p>
        </p:txBody>
      </p:sp>
    </p:spTree>
    <p:extLst>
      <p:ext uri="{BB962C8B-B14F-4D97-AF65-F5344CB8AC3E}">
        <p14:creationId xmlns:p14="http://schemas.microsoft.com/office/powerpoint/2010/main" val="890327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FD82C-55CF-6AC8-9610-F1049C400CB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5C97ECC-5564-2020-E49D-8C27DC1CE7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1048E46-A3E0-1386-1D9F-C577C1C5DA2E}"/>
              </a:ext>
            </a:extLst>
          </p:cNvPr>
          <p:cNvSpPr>
            <a:spLocks noGrp="1"/>
          </p:cNvSpPr>
          <p:nvPr>
            <p:ph type="dt" sz="half" idx="10"/>
          </p:nvPr>
        </p:nvSpPr>
        <p:spPr/>
        <p:txBody>
          <a:bodyPr/>
          <a:lstStyle/>
          <a:p>
            <a:fld id="{B8F95705-F159-B440-B801-529DC2415906}" type="datetimeFigureOut">
              <a:rPr lang="en-US" smtClean="0"/>
              <a:t>1/24/26</a:t>
            </a:fld>
            <a:endParaRPr lang="en-US"/>
          </a:p>
        </p:txBody>
      </p:sp>
      <p:sp>
        <p:nvSpPr>
          <p:cNvPr id="5" name="Footer Placeholder 4">
            <a:extLst>
              <a:ext uri="{FF2B5EF4-FFF2-40B4-BE49-F238E27FC236}">
                <a16:creationId xmlns:a16="http://schemas.microsoft.com/office/drawing/2014/main" id="{9C507C9D-797A-8634-217A-721434DB32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47382D-7FB5-05C1-E954-B1C1E49295E9}"/>
              </a:ext>
            </a:extLst>
          </p:cNvPr>
          <p:cNvSpPr>
            <a:spLocks noGrp="1"/>
          </p:cNvSpPr>
          <p:nvPr>
            <p:ph type="sldNum" sz="quarter" idx="12"/>
          </p:nvPr>
        </p:nvSpPr>
        <p:spPr/>
        <p:txBody>
          <a:bodyPr/>
          <a:lstStyle/>
          <a:p>
            <a:fld id="{0871F1E1-1B53-2F44-85B3-C904EE32926C}" type="slidenum">
              <a:rPr lang="en-US" smtClean="0"/>
              <a:t>‹#›</a:t>
            </a:fld>
            <a:endParaRPr lang="en-US"/>
          </a:p>
        </p:txBody>
      </p:sp>
    </p:spTree>
    <p:extLst>
      <p:ext uri="{BB962C8B-B14F-4D97-AF65-F5344CB8AC3E}">
        <p14:creationId xmlns:p14="http://schemas.microsoft.com/office/powerpoint/2010/main" val="3043252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F5803-676C-6F76-796C-22FBF5B257F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E13C04E-C3D2-97F7-B6C4-1D601E19863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992DBA2-EBB7-1F87-49C8-263881F256A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8C32CAB-5B62-64D5-1424-C2E0915D88CF}"/>
              </a:ext>
            </a:extLst>
          </p:cNvPr>
          <p:cNvSpPr>
            <a:spLocks noGrp="1"/>
          </p:cNvSpPr>
          <p:nvPr>
            <p:ph type="dt" sz="half" idx="10"/>
          </p:nvPr>
        </p:nvSpPr>
        <p:spPr/>
        <p:txBody>
          <a:bodyPr/>
          <a:lstStyle/>
          <a:p>
            <a:fld id="{B8F95705-F159-B440-B801-529DC2415906}" type="datetimeFigureOut">
              <a:rPr lang="en-US" smtClean="0"/>
              <a:t>1/24/26</a:t>
            </a:fld>
            <a:endParaRPr lang="en-US"/>
          </a:p>
        </p:txBody>
      </p:sp>
      <p:sp>
        <p:nvSpPr>
          <p:cNvPr id="6" name="Footer Placeholder 5">
            <a:extLst>
              <a:ext uri="{FF2B5EF4-FFF2-40B4-BE49-F238E27FC236}">
                <a16:creationId xmlns:a16="http://schemas.microsoft.com/office/drawing/2014/main" id="{EF5FE52F-60A6-3856-CEFA-0F9780C0D9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7CCC6E-34BA-D7EE-F398-83584E709F3C}"/>
              </a:ext>
            </a:extLst>
          </p:cNvPr>
          <p:cNvSpPr>
            <a:spLocks noGrp="1"/>
          </p:cNvSpPr>
          <p:nvPr>
            <p:ph type="sldNum" sz="quarter" idx="12"/>
          </p:nvPr>
        </p:nvSpPr>
        <p:spPr/>
        <p:txBody>
          <a:bodyPr/>
          <a:lstStyle/>
          <a:p>
            <a:fld id="{0871F1E1-1B53-2F44-85B3-C904EE32926C}" type="slidenum">
              <a:rPr lang="en-US" smtClean="0"/>
              <a:t>‹#›</a:t>
            </a:fld>
            <a:endParaRPr lang="en-US"/>
          </a:p>
        </p:txBody>
      </p:sp>
    </p:spTree>
    <p:extLst>
      <p:ext uri="{BB962C8B-B14F-4D97-AF65-F5344CB8AC3E}">
        <p14:creationId xmlns:p14="http://schemas.microsoft.com/office/powerpoint/2010/main" val="3491431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AF797-A31D-F2FE-F563-D737015D43C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A8E4AFC-5D25-6F48-FD98-8E9C71ABA9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3999108-74F7-B8A1-B3E7-2B110E8761F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7FA72D9-B672-3BC0-6D5C-2C01B419C8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91AAEDF-856F-073C-95D5-6640CEBBDE6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A461F7F-9EED-FBD1-3405-2656379FBF86}"/>
              </a:ext>
            </a:extLst>
          </p:cNvPr>
          <p:cNvSpPr>
            <a:spLocks noGrp="1"/>
          </p:cNvSpPr>
          <p:nvPr>
            <p:ph type="dt" sz="half" idx="10"/>
          </p:nvPr>
        </p:nvSpPr>
        <p:spPr/>
        <p:txBody>
          <a:bodyPr/>
          <a:lstStyle/>
          <a:p>
            <a:fld id="{B8F95705-F159-B440-B801-529DC2415906}" type="datetimeFigureOut">
              <a:rPr lang="en-US" smtClean="0"/>
              <a:t>1/24/26</a:t>
            </a:fld>
            <a:endParaRPr lang="en-US"/>
          </a:p>
        </p:txBody>
      </p:sp>
      <p:sp>
        <p:nvSpPr>
          <p:cNvPr id="8" name="Footer Placeholder 7">
            <a:extLst>
              <a:ext uri="{FF2B5EF4-FFF2-40B4-BE49-F238E27FC236}">
                <a16:creationId xmlns:a16="http://schemas.microsoft.com/office/drawing/2014/main" id="{AAD4BF1E-915A-8312-0FAB-22F31FC14C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456932-5D18-383D-0B50-4D12521A1581}"/>
              </a:ext>
            </a:extLst>
          </p:cNvPr>
          <p:cNvSpPr>
            <a:spLocks noGrp="1"/>
          </p:cNvSpPr>
          <p:nvPr>
            <p:ph type="sldNum" sz="quarter" idx="12"/>
          </p:nvPr>
        </p:nvSpPr>
        <p:spPr/>
        <p:txBody>
          <a:bodyPr/>
          <a:lstStyle/>
          <a:p>
            <a:fld id="{0871F1E1-1B53-2F44-85B3-C904EE32926C}" type="slidenum">
              <a:rPr lang="en-US" smtClean="0"/>
              <a:t>‹#›</a:t>
            </a:fld>
            <a:endParaRPr lang="en-US"/>
          </a:p>
        </p:txBody>
      </p:sp>
    </p:spTree>
    <p:extLst>
      <p:ext uri="{BB962C8B-B14F-4D97-AF65-F5344CB8AC3E}">
        <p14:creationId xmlns:p14="http://schemas.microsoft.com/office/powerpoint/2010/main" val="1037960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FAE26-CAA1-3256-58F2-56F81FDE6D7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148A100-E69A-29CA-ECDC-65D74E8A57D6}"/>
              </a:ext>
            </a:extLst>
          </p:cNvPr>
          <p:cNvSpPr>
            <a:spLocks noGrp="1"/>
          </p:cNvSpPr>
          <p:nvPr>
            <p:ph type="dt" sz="half" idx="10"/>
          </p:nvPr>
        </p:nvSpPr>
        <p:spPr/>
        <p:txBody>
          <a:bodyPr/>
          <a:lstStyle/>
          <a:p>
            <a:fld id="{B8F95705-F159-B440-B801-529DC2415906}" type="datetimeFigureOut">
              <a:rPr lang="en-US" smtClean="0"/>
              <a:t>1/24/26</a:t>
            </a:fld>
            <a:endParaRPr lang="en-US"/>
          </a:p>
        </p:txBody>
      </p:sp>
      <p:sp>
        <p:nvSpPr>
          <p:cNvPr id="4" name="Footer Placeholder 3">
            <a:extLst>
              <a:ext uri="{FF2B5EF4-FFF2-40B4-BE49-F238E27FC236}">
                <a16:creationId xmlns:a16="http://schemas.microsoft.com/office/drawing/2014/main" id="{550217F7-4BA1-A595-B137-D686E338F9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DC8C24-F009-4A38-4DC5-7CC742F18660}"/>
              </a:ext>
            </a:extLst>
          </p:cNvPr>
          <p:cNvSpPr>
            <a:spLocks noGrp="1"/>
          </p:cNvSpPr>
          <p:nvPr>
            <p:ph type="sldNum" sz="quarter" idx="12"/>
          </p:nvPr>
        </p:nvSpPr>
        <p:spPr/>
        <p:txBody>
          <a:bodyPr/>
          <a:lstStyle/>
          <a:p>
            <a:fld id="{0871F1E1-1B53-2F44-85B3-C904EE32926C}" type="slidenum">
              <a:rPr lang="en-US" smtClean="0"/>
              <a:t>‹#›</a:t>
            </a:fld>
            <a:endParaRPr lang="en-US"/>
          </a:p>
        </p:txBody>
      </p:sp>
    </p:spTree>
    <p:extLst>
      <p:ext uri="{BB962C8B-B14F-4D97-AF65-F5344CB8AC3E}">
        <p14:creationId xmlns:p14="http://schemas.microsoft.com/office/powerpoint/2010/main" val="185103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D617E6-4C23-0A7B-FFF8-4599C531F8A4}"/>
              </a:ext>
            </a:extLst>
          </p:cNvPr>
          <p:cNvSpPr>
            <a:spLocks noGrp="1"/>
          </p:cNvSpPr>
          <p:nvPr>
            <p:ph type="dt" sz="half" idx="10"/>
          </p:nvPr>
        </p:nvSpPr>
        <p:spPr/>
        <p:txBody>
          <a:bodyPr/>
          <a:lstStyle/>
          <a:p>
            <a:fld id="{B8F95705-F159-B440-B801-529DC2415906}" type="datetimeFigureOut">
              <a:rPr lang="en-US" smtClean="0"/>
              <a:t>1/24/26</a:t>
            </a:fld>
            <a:endParaRPr lang="en-US"/>
          </a:p>
        </p:txBody>
      </p:sp>
      <p:sp>
        <p:nvSpPr>
          <p:cNvPr id="3" name="Footer Placeholder 2">
            <a:extLst>
              <a:ext uri="{FF2B5EF4-FFF2-40B4-BE49-F238E27FC236}">
                <a16:creationId xmlns:a16="http://schemas.microsoft.com/office/drawing/2014/main" id="{DC1677CE-221F-3A41-6D8A-587C13A1E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17E2F7-8215-DB55-8EA4-85D078A430E2}"/>
              </a:ext>
            </a:extLst>
          </p:cNvPr>
          <p:cNvSpPr>
            <a:spLocks noGrp="1"/>
          </p:cNvSpPr>
          <p:nvPr>
            <p:ph type="sldNum" sz="quarter" idx="12"/>
          </p:nvPr>
        </p:nvSpPr>
        <p:spPr/>
        <p:txBody>
          <a:bodyPr/>
          <a:lstStyle/>
          <a:p>
            <a:fld id="{0871F1E1-1B53-2F44-85B3-C904EE32926C}" type="slidenum">
              <a:rPr lang="en-US" smtClean="0"/>
              <a:t>‹#›</a:t>
            </a:fld>
            <a:endParaRPr lang="en-US"/>
          </a:p>
        </p:txBody>
      </p:sp>
    </p:spTree>
    <p:extLst>
      <p:ext uri="{BB962C8B-B14F-4D97-AF65-F5344CB8AC3E}">
        <p14:creationId xmlns:p14="http://schemas.microsoft.com/office/powerpoint/2010/main" val="3513582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3FD7D-76A6-01B5-A4D8-11F1733697D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5357248-9865-4B33-BC7F-80E6798584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202FAF6-25E6-4A10-4976-327A36B64D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D170837-2CC9-C359-AB49-805F3810BBD6}"/>
              </a:ext>
            </a:extLst>
          </p:cNvPr>
          <p:cNvSpPr>
            <a:spLocks noGrp="1"/>
          </p:cNvSpPr>
          <p:nvPr>
            <p:ph type="dt" sz="half" idx="10"/>
          </p:nvPr>
        </p:nvSpPr>
        <p:spPr/>
        <p:txBody>
          <a:bodyPr/>
          <a:lstStyle/>
          <a:p>
            <a:fld id="{B8F95705-F159-B440-B801-529DC2415906}" type="datetimeFigureOut">
              <a:rPr lang="en-US" smtClean="0"/>
              <a:t>1/24/26</a:t>
            </a:fld>
            <a:endParaRPr lang="en-US"/>
          </a:p>
        </p:txBody>
      </p:sp>
      <p:sp>
        <p:nvSpPr>
          <p:cNvPr id="6" name="Footer Placeholder 5">
            <a:extLst>
              <a:ext uri="{FF2B5EF4-FFF2-40B4-BE49-F238E27FC236}">
                <a16:creationId xmlns:a16="http://schemas.microsoft.com/office/drawing/2014/main" id="{6B5F0F80-B5E8-57CC-4689-3D2D3F588D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653AC1-3641-4295-18A2-3A383B910111}"/>
              </a:ext>
            </a:extLst>
          </p:cNvPr>
          <p:cNvSpPr>
            <a:spLocks noGrp="1"/>
          </p:cNvSpPr>
          <p:nvPr>
            <p:ph type="sldNum" sz="quarter" idx="12"/>
          </p:nvPr>
        </p:nvSpPr>
        <p:spPr/>
        <p:txBody>
          <a:bodyPr/>
          <a:lstStyle/>
          <a:p>
            <a:fld id="{0871F1E1-1B53-2F44-85B3-C904EE32926C}" type="slidenum">
              <a:rPr lang="en-US" smtClean="0"/>
              <a:t>‹#›</a:t>
            </a:fld>
            <a:endParaRPr lang="en-US"/>
          </a:p>
        </p:txBody>
      </p:sp>
    </p:spTree>
    <p:extLst>
      <p:ext uri="{BB962C8B-B14F-4D97-AF65-F5344CB8AC3E}">
        <p14:creationId xmlns:p14="http://schemas.microsoft.com/office/powerpoint/2010/main" val="2005399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C7C6E-967E-15F8-337A-6982BE7BFF2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EC83625-E3FD-E8A1-46F0-85D8D60D3F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A347D6-BFFE-E92E-0384-8C47A546A5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5F2ECFB-D1CC-00AB-E7DF-2A1060B58A40}"/>
              </a:ext>
            </a:extLst>
          </p:cNvPr>
          <p:cNvSpPr>
            <a:spLocks noGrp="1"/>
          </p:cNvSpPr>
          <p:nvPr>
            <p:ph type="dt" sz="half" idx="10"/>
          </p:nvPr>
        </p:nvSpPr>
        <p:spPr/>
        <p:txBody>
          <a:bodyPr/>
          <a:lstStyle/>
          <a:p>
            <a:fld id="{B8F95705-F159-B440-B801-529DC2415906}" type="datetimeFigureOut">
              <a:rPr lang="en-US" smtClean="0"/>
              <a:t>1/24/26</a:t>
            </a:fld>
            <a:endParaRPr lang="en-US"/>
          </a:p>
        </p:txBody>
      </p:sp>
      <p:sp>
        <p:nvSpPr>
          <p:cNvPr id="6" name="Footer Placeholder 5">
            <a:extLst>
              <a:ext uri="{FF2B5EF4-FFF2-40B4-BE49-F238E27FC236}">
                <a16:creationId xmlns:a16="http://schemas.microsoft.com/office/drawing/2014/main" id="{78B6D995-6900-2384-317C-66E7CB7373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CC9FE4-90AB-863B-6A63-51EF7E49A15D}"/>
              </a:ext>
            </a:extLst>
          </p:cNvPr>
          <p:cNvSpPr>
            <a:spLocks noGrp="1"/>
          </p:cNvSpPr>
          <p:nvPr>
            <p:ph type="sldNum" sz="quarter" idx="12"/>
          </p:nvPr>
        </p:nvSpPr>
        <p:spPr/>
        <p:txBody>
          <a:bodyPr/>
          <a:lstStyle/>
          <a:p>
            <a:fld id="{0871F1E1-1B53-2F44-85B3-C904EE32926C}" type="slidenum">
              <a:rPr lang="en-US" smtClean="0"/>
              <a:t>‹#›</a:t>
            </a:fld>
            <a:endParaRPr lang="en-US"/>
          </a:p>
        </p:txBody>
      </p:sp>
    </p:spTree>
    <p:extLst>
      <p:ext uri="{BB962C8B-B14F-4D97-AF65-F5344CB8AC3E}">
        <p14:creationId xmlns:p14="http://schemas.microsoft.com/office/powerpoint/2010/main" val="3644028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4C302-8724-F27E-04DF-D606D0418C0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976D554-832F-4FCE-CB73-EA3BC06D113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ACA6DBB-14C3-0C79-A2BB-29FEDEAAE27E}"/>
              </a:ext>
            </a:extLst>
          </p:cNvPr>
          <p:cNvSpPr>
            <a:spLocks noGrp="1"/>
          </p:cNvSpPr>
          <p:nvPr>
            <p:ph type="dt" sz="half" idx="10"/>
          </p:nvPr>
        </p:nvSpPr>
        <p:spPr/>
        <p:txBody>
          <a:bodyPr/>
          <a:lstStyle/>
          <a:p>
            <a:fld id="{B8F95705-F159-B440-B801-529DC2415906}" type="datetimeFigureOut">
              <a:rPr lang="en-US" smtClean="0"/>
              <a:t>1/24/26</a:t>
            </a:fld>
            <a:endParaRPr lang="en-US"/>
          </a:p>
        </p:txBody>
      </p:sp>
      <p:sp>
        <p:nvSpPr>
          <p:cNvPr id="5" name="Footer Placeholder 4">
            <a:extLst>
              <a:ext uri="{FF2B5EF4-FFF2-40B4-BE49-F238E27FC236}">
                <a16:creationId xmlns:a16="http://schemas.microsoft.com/office/drawing/2014/main" id="{FBE245A8-DB3B-7F2E-9009-027E1A3D19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290D84-758B-2695-CD73-03301B0C6E9C}"/>
              </a:ext>
            </a:extLst>
          </p:cNvPr>
          <p:cNvSpPr>
            <a:spLocks noGrp="1"/>
          </p:cNvSpPr>
          <p:nvPr>
            <p:ph type="sldNum" sz="quarter" idx="12"/>
          </p:nvPr>
        </p:nvSpPr>
        <p:spPr/>
        <p:txBody>
          <a:bodyPr/>
          <a:lstStyle/>
          <a:p>
            <a:fld id="{0871F1E1-1B53-2F44-85B3-C904EE32926C}" type="slidenum">
              <a:rPr lang="en-US" smtClean="0"/>
              <a:t>‹#›</a:t>
            </a:fld>
            <a:endParaRPr lang="en-US"/>
          </a:p>
        </p:txBody>
      </p:sp>
    </p:spTree>
    <p:extLst>
      <p:ext uri="{BB962C8B-B14F-4D97-AF65-F5344CB8AC3E}">
        <p14:creationId xmlns:p14="http://schemas.microsoft.com/office/powerpoint/2010/main" val="3617273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E0FAB6-F6D1-3011-83A3-9625F6A12DE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C1A957F-5737-9654-0C7F-0B8B512B84A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F897933-5B63-40DD-1016-DD9E5DCC32E2}"/>
              </a:ext>
            </a:extLst>
          </p:cNvPr>
          <p:cNvSpPr>
            <a:spLocks noGrp="1"/>
          </p:cNvSpPr>
          <p:nvPr>
            <p:ph type="dt" sz="half" idx="10"/>
          </p:nvPr>
        </p:nvSpPr>
        <p:spPr/>
        <p:txBody>
          <a:bodyPr/>
          <a:lstStyle/>
          <a:p>
            <a:fld id="{B8F95705-F159-B440-B801-529DC2415906}" type="datetimeFigureOut">
              <a:rPr lang="en-US" smtClean="0"/>
              <a:t>1/24/26</a:t>
            </a:fld>
            <a:endParaRPr lang="en-US"/>
          </a:p>
        </p:txBody>
      </p:sp>
      <p:sp>
        <p:nvSpPr>
          <p:cNvPr id="5" name="Footer Placeholder 4">
            <a:extLst>
              <a:ext uri="{FF2B5EF4-FFF2-40B4-BE49-F238E27FC236}">
                <a16:creationId xmlns:a16="http://schemas.microsoft.com/office/drawing/2014/main" id="{FC6392BD-44BB-550E-E9CE-E8F38704EE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05682B-68B8-61D8-E690-6F622212FD66}"/>
              </a:ext>
            </a:extLst>
          </p:cNvPr>
          <p:cNvSpPr>
            <a:spLocks noGrp="1"/>
          </p:cNvSpPr>
          <p:nvPr>
            <p:ph type="sldNum" sz="quarter" idx="12"/>
          </p:nvPr>
        </p:nvSpPr>
        <p:spPr/>
        <p:txBody>
          <a:bodyPr/>
          <a:lstStyle/>
          <a:p>
            <a:fld id="{0871F1E1-1B53-2F44-85B3-C904EE32926C}" type="slidenum">
              <a:rPr lang="en-US" smtClean="0"/>
              <a:t>‹#›</a:t>
            </a:fld>
            <a:endParaRPr lang="en-US"/>
          </a:p>
        </p:txBody>
      </p:sp>
    </p:spTree>
    <p:extLst>
      <p:ext uri="{BB962C8B-B14F-4D97-AF65-F5344CB8AC3E}">
        <p14:creationId xmlns:p14="http://schemas.microsoft.com/office/powerpoint/2010/main" val="601963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873DBE-BD2A-869F-F731-AF9199C526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C598114-9CD4-1CE6-7AFD-378D5B72DD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C1D3AEA-E066-8CB2-BEAF-A683EB35D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F95705-F159-B440-B801-529DC2415906}" type="datetimeFigureOut">
              <a:rPr lang="en-US" smtClean="0"/>
              <a:t>1/24/26</a:t>
            </a:fld>
            <a:endParaRPr lang="en-US"/>
          </a:p>
        </p:txBody>
      </p:sp>
      <p:sp>
        <p:nvSpPr>
          <p:cNvPr id="5" name="Footer Placeholder 4">
            <a:extLst>
              <a:ext uri="{FF2B5EF4-FFF2-40B4-BE49-F238E27FC236}">
                <a16:creationId xmlns:a16="http://schemas.microsoft.com/office/drawing/2014/main" id="{CA225586-779E-6CBE-BCE3-E4B062E88D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2683595-7805-7F45-A666-D0116EE07C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71F1E1-1B53-2F44-85B3-C904EE32926C}" type="slidenum">
              <a:rPr lang="en-US" smtClean="0"/>
              <a:t>‹#›</a:t>
            </a:fld>
            <a:endParaRPr lang="en-US"/>
          </a:p>
        </p:txBody>
      </p:sp>
    </p:spTree>
    <p:extLst>
      <p:ext uri="{BB962C8B-B14F-4D97-AF65-F5344CB8AC3E}">
        <p14:creationId xmlns:p14="http://schemas.microsoft.com/office/powerpoint/2010/main" val="15002455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nayanjha16/CodeGen-Implementations.gi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svgsilh.com/image/2907453.htm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hyperlink" Target="https://svgsilh.com/image/2907453.html" TargetMode="Externa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svgsilh.com/image/2907453.htm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svgsilh.com/image/2907453.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svgsilh.com/image/2907453.html" TargetMode="Externa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s://svgsilh.com/image/2907453.html" TargetMode="Externa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hyperlink" Target="https://svgsilh.com/image/2907453.html" TargetMode="External"/><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12" Type="http://schemas.openxmlformats.org/officeDocument/2006/relationships/hyperlink" Target="https://svgsilh.com/image/2907453.html" TargetMode="Externa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3.svg"/><Relationship Id="rId5" Type="http://schemas.openxmlformats.org/officeDocument/2006/relationships/image" Target="../media/image8.svg"/><Relationship Id="rId10" Type="http://schemas.openxmlformats.org/officeDocument/2006/relationships/image" Target="../media/image2.png"/><Relationship Id="rId4" Type="http://schemas.openxmlformats.org/officeDocument/2006/relationships/image" Target="../media/image7.png"/><Relationship Id="rId9" Type="http://schemas.openxmlformats.org/officeDocument/2006/relationships/image" Target="../media/image12.svg"/></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12" Type="http://schemas.openxmlformats.org/officeDocument/2006/relationships/hyperlink" Target="https://svgsilh.com/image/2907453.html" TargetMode="Externa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3.svg"/><Relationship Id="rId5" Type="http://schemas.openxmlformats.org/officeDocument/2006/relationships/image" Target="../media/image8.svg"/><Relationship Id="rId10" Type="http://schemas.openxmlformats.org/officeDocument/2006/relationships/image" Target="../media/image2.png"/><Relationship Id="rId4" Type="http://schemas.openxmlformats.org/officeDocument/2006/relationships/image" Target="../media/image7.png"/><Relationship Id="rId9" Type="http://schemas.openxmlformats.org/officeDocument/2006/relationships/image" Target="../media/image12.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hyperlink" Target="https://svgsilh.com/image/2907453.html" TargetMode="External"/><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svgsilh.com/image/2907453.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svgsilh.com/image/2907453.html"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hyperlink" Target="https://svgsilh.com/image/2907453.html" TargetMode="External"/><Relationship Id="rId4" Type="http://schemas.openxmlformats.org/officeDocument/2006/relationships/image" Target="../media/image3.sv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svgsilh.com/image/2907453.html"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svgsilh.com/image/2907453.html"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s://svgsilh.com/image/2907453.html" TargetMode="External"/><Relationship Id="rId4" Type="http://schemas.openxmlformats.org/officeDocument/2006/relationships/image" Target="../media/image3.sv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svgsilh.com/image/2907453.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hyperlink" Target="https://svgsilh.com/image/2907453.html" TargetMode="External"/><Relationship Id="rId5" Type="http://schemas.openxmlformats.org/officeDocument/2006/relationships/image" Target="../media/image3.sv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svgsilh.com/image/2907453.html"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svgsilh.com/image/2907453.html"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svgsilh.com/image/2907453.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svgsilh.com/image/2907453.html"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svgsilh.com/image/2907453.html"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1.xml"/><Relationship Id="rId5" Type="http://schemas.openxmlformats.org/officeDocument/2006/relationships/hyperlink" Target="https://svgsilh.com/image/2907453.html" TargetMode="External"/><Relationship Id="rId4" Type="http://schemas.openxmlformats.org/officeDocument/2006/relationships/image" Target="../media/image3.sv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hyperlink" Target="https://svgsilh.com/image/2907453.html" TargetMode="External"/><Relationship Id="rId4" Type="http://schemas.openxmlformats.org/officeDocument/2006/relationships/image" Target="../media/image3.svg"/></Relationships>
</file>

<file path=ppt/slides/_rels/slide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svgsilh.com/image/2907453.html"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svgsilh.com/image/2907453.html"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hyperlink" Target="https://svgsilh.com/image/2907453.html"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svgsilh.com/image/2907453.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B7DDA6-7C62-0AF8-E390-AFB3E3DC3E83}"/>
              </a:ext>
            </a:extLst>
          </p:cNvPr>
          <p:cNvSpPr>
            <a:spLocks noGrp="1"/>
          </p:cNvSpPr>
          <p:nvPr>
            <p:ph type="ctrTitle"/>
          </p:nvPr>
        </p:nvSpPr>
        <p:spPr>
          <a:xfrm>
            <a:off x="79071" y="449929"/>
            <a:ext cx="5318430" cy="3387497"/>
          </a:xfrm>
        </p:spPr>
        <p:txBody>
          <a:bodyPr vert="horz" lIns="91440" tIns="45720" rIns="91440" bIns="45720" rtlCol="0" anchor="b">
            <a:normAutofit/>
          </a:bodyPr>
          <a:lstStyle/>
          <a:p>
            <a:pPr algn="l"/>
            <a:r>
              <a:rPr lang="en-US" sz="5400" kern="1200" dirty="0">
                <a:solidFill>
                  <a:srgbClr val="FFFFFF"/>
                </a:solidFill>
                <a:latin typeface="+mj-lt"/>
                <a:ea typeface="+mj-ea"/>
                <a:cs typeface="+mj-cs"/>
              </a:rPr>
              <a:t>AIML Batch 25</a:t>
            </a:r>
            <a:br>
              <a:rPr lang="en-US" sz="4000" kern="1200" dirty="0">
                <a:solidFill>
                  <a:srgbClr val="FFFFFF"/>
                </a:solidFill>
                <a:latin typeface="+mj-lt"/>
                <a:ea typeface="+mj-ea"/>
                <a:cs typeface="+mj-cs"/>
              </a:rPr>
            </a:br>
            <a:r>
              <a:rPr lang="en-US" sz="4000" kern="1200" dirty="0">
                <a:solidFill>
                  <a:srgbClr val="FFFFFF"/>
                </a:solidFill>
                <a:latin typeface="+mj-lt"/>
                <a:ea typeface="+mj-ea"/>
                <a:cs typeface="+mj-cs"/>
              </a:rPr>
              <a:t>Project </a:t>
            </a:r>
            <a:r>
              <a:rPr lang="en-US" sz="4000" kern="1200" dirty="0" err="1">
                <a:solidFill>
                  <a:srgbClr val="FFFFFF"/>
                </a:solidFill>
                <a:latin typeface="+mj-lt"/>
                <a:ea typeface="+mj-ea"/>
                <a:cs typeface="+mj-cs"/>
              </a:rPr>
              <a:t>CodeGen</a:t>
            </a:r>
            <a:br>
              <a:rPr lang="en-US" sz="4000" kern="1200" dirty="0">
                <a:solidFill>
                  <a:srgbClr val="FFFFFF"/>
                </a:solidFill>
                <a:latin typeface="+mj-lt"/>
                <a:ea typeface="+mj-ea"/>
                <a:cs typeface="+mj-cs"/>
              </a:rPr>
            </a:br>
            <a:r>
              <a:rPr lang="en-US" sz="4000" kern="1200" dirty="0">
                <a:solidFill>
                  <a:srgbClr val="FFFFFF"/>
                </a:solidFill>
                <a:latin typeface="+mj-lt"/>
                <a:ea typeface="+mj-ea"/>
                <a:cs typeface="+mj-cs"/>
              </a:rPr>
              <a:t>(</a:t>
            </a:r>
            <a:r>
              <a:rPr lang="en-US" sz="2400" kern="1200" dirty="0">
                <a:solidFill>
                  <a:srgbClr val="FFFFFF"/>
                </a:solidFill>
                <a:latin typeface="+mj-lt"/>
                <a:ea typeface="+mj-ea"/>
                <a:cs typeface="+mj-cs"/>
              </a:rPr>
              <a:t>text2SQL -  sql2NoSql</a:t>
            </a:r>
            <a:r>
              <a:rPr lang="en-US" sz="4000" kern="1200" dirty="0">
                <a:solidFill>
                  <a:srgbClr val="FFFFFF"/>
                </a:solidFill>
                <a:latin typeface="+mj-lt"/>
                <a:ea typeface="+mj-ea"/>
                <a:cs typeface="+mj-cs"/>
              </a:rPr>
              <a:t>)</a:t>
            </a:r>
          </a:p>
        </p:txBody>
      </p:sp>
      <p:sp>
        <p:nvSpPr>
          <p:cNvPr id="3" name="Title 1">
            <a:extLst>
              <a:ext uri="{FF2B5EF4-FFF2-40B4-BE49-F238E27FC236}">
                <a16:creationId xmlns:a16="http://schemas.microsoft.com/office/drawing/2014/main" id="{08622589-DD1B-A23C-9020-EB818BAE6C00}"/>
              </a:ext>
            </a:extLst>
          </p:cNvPr>
          <p:cNvSpPr txBox="1">
            <a:spLocks/>
          </p:cNvSpPr>
          <p:nvPr/>
        </p:nvSpPr>
        <p:spPr>
          <a:xfrm>
            <a:off x="6503158" y="649480"/>
            <a:ext cx="4862447" cy="554604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indent="-228600" algn="l">
              <a:spcAft>
                <a:spcPts val="600"/>
              </a:spcAft>
              <a:buFont typeface="Arial" panose="020B0604020202020204" pitchFamily="34" charset="0"/>
              <a:buChar char="•"/>
            </a:pPr>
            <a:r>
              <a:rPr lang="en-US" sz="2400" b="1" dirty="0">
                <a:latin typeface="+mn-lt"/>
                <a:ea typeface="+mn-ea"/>
                <a:cs typeface="+mn-cs"/>
              </a:rPr>
              <a:t>Group 12 (CodeGen3) </a:t>
            </a:r>
          </a:p>
          <a:p>
            <a:pPr marL="685800" indent="-228600" algn="l">
              <a:spcAft>
                <a:spcPts val="600"/>
              </a:spcAft>
              <a:buFont typeface="Arial" panose="020B0604020202020204" pitchFamily="34" charset="0"/>
              <a:buChar char="•"/>
            </a:pPr>
            <a:r>
              <a:rPr lang="en-US" sz="2000" dirty="0">
                <a:latin typeface="+mn-lt"/>
                <a:ea typeface="+mn-ea"/>
                <a:cs typeface="+mn-cs"/>
              </a:rPr>
              <a:t>Anant Joshi</a:t>
            </a:r>
          </a:p>
          <a:p>
            <a:pPr marL="685800" indent="-228600" algn="l">
              <a:spcAft>
                <a:spcPts val="600"/>
              </a:spcAft>
              <a:buFont typeface="Arial" panose="020B0604020202020204" pitchFamily="34" charset="0"/>
              <a:buChar char="•"/>
            </a:pPr>
            <a:r>
              <a:rPr lang="en-US" sz="2000" dirty="0">
                <a:latin typeface="+mn-lt"/>
                <a:ea typeface="+mn-ea"/>
                <a:cs typeface="+mn-cs"/>
              </a:rPr>
              <a:t>Srivalli Janapati</a:t>
            </a:r>
          </a:p>
          <a:p>
            <a:pPr marL="685800" indent="-228600" algn="l">
              <a:spcAft>
                <a:spcPts val="600"/>
              </a:spcAft>
              <a:buFont typeface="Arial" panose="020B0604020202020204" pitchFamily="34" charset="0"/>
              <a:buChar char="•"/>
            </a:pPr>
            <a:r>
              <a:rPr lang="en-US" sz="2000" dirty="0">
                <a:latin typeface="+mn-lt"/>
                <a:ea typeface="+mn-ea"/>
                <a:cs typeface="+mn-cs"/>
              </a:rPr>
              <a:t>Sai Madishetty</a:t>
            </a:r>
          </a:p>
          <a:p>
            <a:pPr marL="685800" indent="-228600" algn="l">
              <a:spcAft>
                <a:spcPts val="600"/>
              </a:spcAft>
              <a:buFont typeface="Arial" panose="020B0604020202020204" pitchFamily="34" charset="0"/>
              <a:buChar char="•"/>
            </a:pPr>
            <a:r>
              <a:rPr lang="en-US" sz="2000" dirty="0">
                <a:latin typeface="+mn-lt"/>
                <a:ea typeface="+mn-ea"/>
                <a:cs typeface="+mn-cs"/>
              </a:rPr>
              <a:t>Saurabh Sinha</a:t>
            </a:r>
          </a:p>
        </p:txBody>
      </p:sp>
      <p:sp>
        <p:nvSpPr>
          <p:cNvPr id="5" name="TextBox 4">
            <a:extLst>
              <a:ext uri="{FF2B5EF4-FFF2-40B4-BE49-F238E27FC236}">
                <a16:creationId xmlns:a16="http://schemas.microsoft.com/office/drawing/2014/main" id="{526A7991-4E32-2D5F-0A7D-2B40276F8696}"/>
              </a:ext>
            </a:extLst>
          </p:cNvPr>
          <p:cNvSpPr txBox="1"/>
          <p:nvPr/>
        </p:nvSpPr>
        <p:spPr>
          <a:xfrm>
            <a:off x="5685176" y="4489064"/>
            <a:ext cx="6541814" cy="307777"/>
          </a:xfrm>
          <a:prstGeom prst="rect">
            <a:avLst/>
          </a:prstGeom>
          <a:noFill/>
        </p:spPr>
        <p:txBody>
          <a:bodyPr wrap="square">
            <a:spAutoFit/>
          </a:bodyPr>
          <a:lstStyle/>
          <a:p>
            <a:r>
              <a:rPr lang="en-US" sz="1400" dirty="0">
                <a:hlinkClick r:id="rId2"/>
              </a:rPr>
              <a:t>https://github.com/nayanjha16/CodeGen-Implementations.git</a:t>
            </a:r>
            <a:r>
              <a:rPr lang="en-US" sz="1400" dirty="0"/>
              <a:t> (Branch Group12)</a:t>
            </a:r>
          </a:p>
        </p:txBody>
      </p:sp>
    </p:spTree>
    <p:extLst>
      <p:ext uri="{BB962C8B-B14F-4D97-AF65-F5344CB8AC3E}">
        <p14:creationId xmlns:p14="http://schemas.microsoft.com/office/powerpoint/2010/main" val="1948093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C102CA-7292-63FA-0E39-AED83A6D35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379EF1-AE7F-6B3D-794B-91F066BA97A1}"/>
              </a:ext>
            </a:extLst>
          </p:cNvPr>
          <p:cNvSpPr>
            <a:spLocks noGrp="1"/>
          </p:cNvSpPr>
          <p:nvPr>
            <p:ph type="ctrTitle"/>
          </p:nvPr>
        </p:nvSpPr>
        <p:spPr>
          <a:xfrm>
            <a:off x="876693" y="741391"/>
            <a:ext cx="4355265" cy="1616203"/>
          </a:xfrm>
        </p:spPr>
        <p:txBody>
          <a:bodyPr vert="horz" lIns="91440" tIns="45720" rIns="91440" bIns="45720" rtlCol="0" anchor="b">
            <a:normAutofit/>
          </a:bodyPr>
          <a:lstStyle/>
          <a:p>
            <a:pPr algn="l"/>
            <a:r>
              <a:rPr lang="en-US" sz="3200"/>
              <a:t>Agenda</a:t>
            </a:r>
          </a:p>
        </p:txBody>
      </p:sp>
      <p:sp>
        <p:nvSpPr>
          <p:cNvPr id="9" name="TextBox 8">
            <a:extLst>
              <a:ext uri="{FF2B5EF4-FFF2-40B4-BE49-F238E27FC236}">
                <a16:creationId xmlns:a16="http://schemas.microsoft.com/office/drawing/2014/main" id="{C4AC8D33-7405-4DA0-D115-BDBB5A7B5D53}"/>
              </a:ext>
            </a:extLst>
          </p:cNvPr>
          <p:cNvSpPr txBox="1"/>
          <p:nvPr/>
        </p:nvSpPr>
        <p:spPr>
          <a:xfrm>
            <a:off x="876692" y="2533476"/>
            <a:ext cx="4355265" cy="3447832"/>
          </a:xfrm>
          <a:prstGeom prst="rect">
            <a:avLst/>
          </a:prstGeom>
        </p:spPr>
        <p:txBody>
          <a:bodyPr vert="horz" lIns="91440" tIns="45720" rIns="91440" bIns="45720" rtlCol="0" anchor="t">
            <a:normAutofit fontScale="77500" lnSpcReduction="20000"/>
          </a:bodyPr>
          <a:lstStyle/>
          <a:p>
            <a:pPr marL="285750" indent="-228600">
              <a:lnSpc>
                <a:spcPct val="90000"/>
              </a:lnSpc>
              <a:spcAft>
                <a:spcPts val="600"/>
              </a:spcAft>
              <a:buFont typeface="Arial" panose="020B0604020202020204" pitchFamily="34" charset="0"/>
              <a:buChar char="•"/>
            </a:pPr>
            <a:r>
              <a:rPr lang="en-US" sz="2400" dirty="0"/>
              <a:t>Problem Statement</a:t>
            </a:r>
          </a:p>
          <a:p>
            <a:pPr marL="285750" indent="-228600">
              <a:lnSpc>
                <a:spcPct val="90000"/>
              </a:lnSpc>
              <a:spcAft>
                <a:spcPts val="600"/>
              </a:spcAft>
              <a:buFont typeface="Arial" panose="020B0604020202020204" pitchFamily="34" charset="0"/>
              <a:buChar char="•"/>
            </a:pPr>
            <a:r>
              <a:rPr lang="en-US" sz="2400" dirty="0"/>
              <a:t>Project Methodology</a:t>
            </a:r>
          </a:p>
          <a:p>
            <a:pPr marL="285750" indent="-228600">
              <a:lnSpc>
                <a:spcPct val="90000"/>
              </a:lnSpc>
              <a:spcAft>
                <a:spcPts val="600"/>
              </a:spcAft>
              <a:buFont typeface="Arial" panose="020B0604020202020204" pitchFamily="34" charset="0"/>
              <a:buChar char="•"/>
            </a:pPr>
            <a:r>
              <a:rPr lang="en-US" sz="2400" dirty="0"/>
              <a:t>Additional Concepts</a:t>
            </a:r>
          </a:p>
          <a:p>
            <a:pPr marL="742950" lvl="1" indent="-228600">
              <a:lnSpc>
                <a:spcPct val="90000"/>
              </a:lnSpc>
              <a:spcAft>
                <a:spcPts val="600"/>
              </a:spcAft>
              <a:buFont typeface="Arial" panose="020B0604020202020204" pitchFamily="34" charset="0"/>
              <a:buChar char="•"/>
            </a:pPr>
            <a:r>
              <a:rPr lang="en-US" sz="2400" dirty="0"/>
              <a:t>Dataset(Spider vs WikiSQL)</a:t>
            </a:r>
          </a:p>
          <a:p>
            <a:pPr marL="742950" lvl="1" indent="-228600">
              <a:lnSpc>
                <a:spcPct val="90000"/>
              </a:lnSpc>
              <a:spcAft>
                <a:spcPts val="600"/>
              </a:spcAft>
              <a:buFont typeface="Arial" panose="020B0604020202020204" pitchFamily="34" charset="0"/>
              <a:buChar char="•"/>
            </a:pPr>
            <a:r>
              <a:rPr lang="en-US" sz="2400" dirty="0"/>
              <a:t>Graph(RAT) vs AST</a:t>
            </a:r>
          </a:p>
          <a:p>
            <a:pPr marL="742950" lvl="1" indent="-228600">
              <a:lnSpc>
                <a:spcPct val="90000"/>
              </a:lnSpc>
              <a:spcAft>
                <a:spcPts val="600"/>
              </a:spcAft>
              <a:buFont typeface="Arial" panose="020B0604020202020204" pitchFamily="34" charset="0"/>
              <a:buChar char="•"/>
            </a:pPr>
            <a:r>
              <a:rPr lang="en-US" sz="2400" dirty="0"/>
              <a:t>Evaluation metrics</a:t>
            </a:r>
          </a:p>
          <a:p>
            <a:pPr marL="285750" indent="-228600">
              <a:lnSpc>
                <a:spcPct val="90000"/>
              </a:lnSpc>
              <a:spcAft>
                <a:spcPts val="600"/>
              </a:spcAft>
              <a:buFont typeface="Arial" panose="020B0604020202020204" pitchFamily="34" charset="0"/>
              <a:buChar char="•"/>
            </a:pPr>
            <a:r>
              <a:rPr lang="en-US" sz="2400" dirty="0"/>
              <a:t>Approaches : </a:t>
            </a:r>
          </a:p>
          <a:p>
            <a:pPr marL="742950" lvl="1" indent="-228600">
              <a:lnSpc>
                <a:spcPct val="90000"/>
              </a:lnSpc>
              <a:spcAft>
                <a:spcPts val="600"/>
              </a:spcAft>
              <a:buFont typeface="Arial" panose="020B0604020202020204" pitchFamily="34" charset="0"/>
              <a:buChar char="•"/>
            </a:pPr>
            <a:r>
              <a:rPr lang="en-US" sz="2400" dirty="0"/>
              <a:t>Traditional Methods</a:t>
            </a:r>
          </a:p>
          <a:p>
            <a:pPr marL="742950" lvl="1" indent="-228600">
              <a:lnSpc>
                <a:spcPct val="90000"/>
              </a:lnSpc>
              <a:spcAft>
                <a:spcPts val="600"/>
              </a:spcAft>
              <a:buFont typeface="Arial" panose="020B0604020202020204" pitchFamily="34" charset="0"/>
              <a:buChar char="•"/>
            </a:pPr>
            <a:r>
              <a:rPr lang="en-US" sz="2400" dirty="0"/>
              <a:t>LLM Based Methods</a:t>
            </a:r>
          </a:p>
          <a:p>
            <a:pPr marL="285750" indent="-228600">
              <a:lnSpc>
                <a:spcPct val="90000"/>
              </a:lnSpc>
              <a:spcAft>
                <a:spcPts val="600"/>
              </a:spcAft>
              <a:buFont typeface="Arial" panose="020B0604020202020204" pitchFamily="34" charset="0"/>
              <a:buChar char="•"/>
            </a:pPr>
            <a:r>
              <a:rPr lang="en-US" sz="2400" dirty="0"/>
              <a:t>Problem 1 : Text2SQL</a:t>
            </a:r>
          </a:p>
          <a:p>
            <a:pPr marL="285750" indent="-228600">
              <a:lnSpc>
                <a:spcPct val="90000"/>
              </a:lnSpc>
              <a:spcAft>
                <a:spcPts val="600"/>
              </a:spcAft>
              <a:buFont typeface="Arial" panose="020B0604020202020204" pitchFamily="34" charset="0"/>
              <a:buChar char="•"/>
            </a:pPr>
            <a:r>
              <a:rPr lang="en-US" sz="2400" dirty="0"/>
              <a:t>Problem 2 : SQL2NoSQL</a:t>
            </a:r>
          </a:p>
          <a:p>
            <a:pPr marL="285750" indent="-228600">
              <a:lnSpc>
                <a:spcPct val="90000"/>
              </a:lnSpc>
              <a:spcAft>
                <a:spcPts val="600"/>
              </a:spcAft>
              <a:buFont typeface="Arial" panose="020B0604020202020204" pitchFamily="34" charset="0"/>
              <a:buChar char="•"/>
            </a:pPr>
            <a:r>
              <a:rPr lang="en-US" sz="2400" dirty="0"/>
              <a:t>Future Work</a:t>
            </a:r>
          </a:p>
          <a:p>
            <a:pPr indent="-228600">
              <a:lnSpc>
                <a:spcPct val="90000"/>
              </a:lnSpc>
              <a:spcAft>
                <a:spcPts val="600"/>
              </a:spcAft>
              <a:buFont typeface="Arial" panose="020B0604020202020204" pitchFamily="34" charset="0"/>
              <a:buChar char="•"/>
            </a:pPr>
            <a:endParaRPr lang="en-US" sz="2000" dirty="0"/>
          </a:p>
        </p:txBody>
      </p:sp>
      <p:pic>
        <p:nvPicPr>
          <p:cNvPr id="18" name="Picture 17" descr="Codes on papers">
            <a:extLst>
              <a:ext uri="{FF2B5EF4-FFF2-40B4-BE49-F238E27FC236}">
                <a16:creationId xmlns:a16="http://schemas.microsoft.com/office/drawing/2014/main" id="{CC1341BD-C04F-7EA4-3F67-3E0F1F7A89E8}"/>
              </a:ext>
            </a:extLst>
          </p:cNvPr>
          <p:cNvPicPr>
            <a:picLocks noChangeAspect="1"/>
          </p:cNvPicPr>
          <p:nvPr/>
        </p:nvPicPr>
        <p:blipFill>
          <a:blip r:embed="rId3"/>
          <a:srcRect l="20528" r="20138" b="-1"/>
          <a:stretch>
            <a:fillRect/>
          </a:stretch>
        </p:blipFill>
        <p:spPr>
          <a:xfrm>
            <a:off x="5517397" y="10"/>
            <a:ext cx="6674603" cy="6857990"/>
          </a:xfrm>
          <a:prstGeom prst="rect">
            <a:avLst/>
          </a:prstGeom>
        </p:spPr>
      </p:pic>
      <p:sp>
        <p:nvSpPr>
          <p:cNvPr id="24" name="Rectangle 23">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69424" y="3028872"/>
            <a:ext cx="1559464" cy="6106313"/>
          </a:xfrm>
          <a:prstGeom prst="rect">
            <a:avLst/>
          </a:prstGeom>
          <a:gradFill>
            <a:gsLst>
              <a:gs pos="0">
                <a:schemeClr val="accent5">
                  <a:alpha val="77000"/>
                </a:schemeClr>
              </a:gs>
              <a:gs pos="57000">
                <a:schemeClr val="accent5">
                  <a:lumMod val="60000"/>
                  <a:lumOff val="40000"/>
                  <a:alpha val="0"/>
                </a:schemeClr>
              </a:gs>
            </a:gsLst>
            <a:lin ang="11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C3A50E9-9119-7BC3-083B-2D84CCC78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15441" y="-3760"/>
            <a:ext cx="2176557" cy="6857999"/>
          </a:xfrm>
          <a:prstGeom prst="rect">
            <a:avLst/>
          </a:prstGeom>
          <a:gradFill flip="none" rotWithShape="1">
            <a:gsLst>
              <a:gs pos="0">
                <a:schemeClr val="accent2"/>
              </a:gs>
              <a:gs pos="40000">
                <a:schemeClr val="accent2">
                  <a:alpha val="0"/>
                </a:schemeClr>
              </a:gs>
            </a:gsLst>
            <a:lin ang="11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096000" y="5502302"/>
            <a:ext cx="6106314" cy="1359456"/>
          </a:xfrm>
          <a:prstGeom prst="rect">
            <a:avLst/>
          </a:prstGeom>
          <a:gradFill flip="none" rotWithShape="1">
            <a:gsLst>
              <a:gs pos="0">
                <a:schemeClr val="accent2">
                  <a:alpha val="89000"/>
                </a:schemeClr>
              </a:gs>
              <a:gs pos="38000">
                <a:schemeClr val="accent5">
                  <a:lumMod val="60000"/>
                  <a:lumOff val="40000"/>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0" name="Rectangle 29">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026892" y="2939627"/>
            <a:ext cx="3162908" cy="3914612"/>
          </a:xfrm>
          <a:prstGeom prst="rect">
            <a:avLst/>
          </a:prstGeom>
          <a:gradFill flip="none" rotWithShape="1">
            <a:gsLst>
              <a:gs pos="0">
                <a:schemeClr val="accent5">
                  <a:lumMod val="60000"/>
                  <a:lumOff val="40000"/>
                </a:schemeClr>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Tree>
    <p:extLst>
      <p:ext uri="{BB962C8B-B14F-4D97-AF65-F5344CB8AC3E}">
        <p14:creationId xmlns:p14="http://schemas.microsoft.com/office/powerpoint/2010/main" val="720567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CFC74-025D-CFCB-E3B0-ECDB6DC83A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9A5C91-0BAD-002B-66A6-6AD8ED15A0F4}"/>
              </a:ext>
            </a:extLst>
          </p:cNvPr>
          <p:cNvSpPr>
            <a:spLocks noGrp="1"/>
          </p:cNvSpPr>
          <p:nvPr>
            <p:ph type="ctrTitle"/>
          </p:nvPr>
        </p:nvSpPr>
        <p:spPr>
          <a:xfrm>
            <a:off x="1524000" y="104798"/>
            <a:ext cx="9144000" cy="1189429"/>
          </a:xfrm>
        </p:spPr>
        <p:txBody>
          <a:bodyPr>
            <a:normAutofit/>
          </a:bodyPr>
          <a:lstStyle/>
          <a:p>
            <a:r>
              <a:rPr lang="en-US" dirty="0"/>
              <a:t>Problem Statement</a:t>
            </a:r>
          </a:p>
        </p:txBody>
      </p:sp>
      <p:grpSp>
        <p:nvGrpSpPr>
          <p:cNvPr id="3" name="Group 2">
            <a:extLst>
              <a:ext uri="{FF2B5EF4-FFF2-40B4-BE49-F238E27FC236}">
                <a16:creationId xmlns:a16="http://schemas.microsoft.com/office/drawing/2014/main" id="{AF766DD8-11AE-51CE-F577-C5004D5532C4}"/>
              </a:ext>
            </a:extLst>
          </p:cNvPr>
          <p:cNvGrpSpPr/>
          <p:nvPr/>
        </p:nvGrpSpPr>
        <p:grpSpPr>
          <a:xfrm>
            <a:off x="0" y="1845030"/>
            <a:ext cx="6333482" cy="5012920"/>
            <a:chOff x="0" y="1845030"/>
            <a:chExt cx="6333482" cy="5012920"/>
          </a:xfrm>
        </p:grpSpPr>
        <p:sp>
          <p:nvSpPr>
            <p:cNvPr id="4" name="Полилиния 137">
              <a:extLst>
                <a:ext uri="{FF2B5EF4-FFF2-40B4-BE49-F238E27FC236}">
                  <a16:creationId xmlns:a16="http://schemas.microsoft.com/office/drawing/2014/main" id="{6C322CBC-DE78-0FD9-755F-8724299546F5}"/>
                </a:ext>
              </a:extLst>
            </p:cNvPr>
            <p:cNvSpPr/>
            <p:nvPr/>
          </p:nvSpPr>
          <p:spPr>
            <a:xfrm>
              <a:off x="0" y="1845030"/>
              <a:ext cx="6333482" cy="5012920"/>
            </a:xfrm>
            <a:custGeom>
              <a:avLst/>
              <a:gdLst>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68613" h="10027145">
                  <a:moveTo>
                    <a:pt x="0" y="0"/>
                  </a:moveTo>
                  <a:lnTo>
                    <a:pt x="7369051" y="0"/>
                  </a:lnTo>
                  <a:lnTo>
                    <a:pt x="9062330" y="0"/>
                  </a:lnTo>
                  <a:lnTo>
                    <a:pt x="12261054" y="0"/>
                  </a:lnTo>
                  <a:lnTo>
                    <a:pt x="12261054" y="4607455"/>
                  </a:lnTo>
                  <a:lnTo>
                    <a:pt x="12668613" y="5013572"/>
                  </a:lnTo>
                  <a:lnTo>
                    <a:pt x="12261054" y="5419689"/>
                  </a:lnTo>
                  <a:lnTo>
                    <a:pt x="12261054" y="10027145"/>
                  </a:lnTo>
                  <a:lnTo>
                    <a:pt x="9062330" y="10027145"/>
                  </a:lnTo>
                  <a:lnTo>
                    <a:pt x="7369051" y="10027145"/>
                  </a:lnTo>
                  <a:lnTo>
                    <a:pt x="0" y="10027145"/>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mn-cs"/>
              </a:endParaRPr>
            </a:p>
          </p:txBody>
        </p:sp>
        <p:sp>
          <p:nvSpPr>
            <p:cNvPr id="5" name="Овал 139">
              <a:extLst>
                <a:ext uri="{FF2B5EF4-FFF2-40B4-BE49-F238E27FC236}">
                  <a16:creationId xmlns:a16="http://schemas.microsoft.com/office/drawing/2014/main" id="{05570EC9-3F79-E35A-38E0-3A65EBA22709}"/>
                </a:ext>
              </a:extLst>
            </p:cNvPr>
            <p:cNvSpPr/>
            <p:nvPr/>
          </p:nvSpPr>
          <p:spPr>
            <a:xfrm>
              <a:off x="912099" y="4791449"/>
              <a:ext cx="450012" cy="450012"/>
            </a:xfrm>
            <a:prstGeom prst="ellipse">
              <a:avLst/>
            </a:prstGeom>
            <a:solidFill>
              <a:srgbClr val="FFD5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017" rtl="0" eaLnBrk="1" fontAlgn="auto" latinLnBrk="0" hangingPunct="1">
                <a:lnSpc>
                  <a:spcPct val="120000"/>
                </a:lnSpc>
                <a:spcBef>
                  <a:spcPts val="30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A</a:t>
              </a:r>
              <a:endParaRPr kumimoji="0" lang="ru-RU" sz="1600" b="1" i="0" u="none" strike="noStrike" kern="1200" cap="none" spc="0" normalizeH="0" baseline="0" noProof="0" dirty="0">
                <a:ln>
                  <a:noFill/>
                </a:ln>
                <a:solidFill>
                  <a:srgbClr val="FFFFFF"/>
                </a:solidFill>
                <a:effectLst/>
                <a:uLnTx/>
                <a:uFillTx/>
                <a:latin typeface="Tahoma" panose="020B0604030504040204" pitchFamily="34" charset="0"/>
                <a:ea typeface="Tahoma" panose="020B0604030504040204" pitchFamily="34" charset="0"/>
                <a:cs typeface="Poppins" panose="00000500000000000000" pitchFamily="2" charset="0"/>
              </a:endParaRPr>
            </a:p>
          </p:txBody>
        </p:sp>
        <p:sp>
          <p:nvSpPr>
            <p:cNvPr id="6" name="TextBox 5">
              <a:extLst>
                <a:ext uri="{FF2B5EF4-FFF2-40B4-BE49-F238E27FC236}">
                  <a16:creationId xmlns:a16="http://schemas.microsoft.com/office/drawing/2014/main" id="{0F6B1592-A407-1A7D-3DBB-48EDA8C65FDC}"/>
                </a:ext>
              </a:extLst>
            </p:cNvPr>
            <p:cNvSpPr txBox="1"/>
            <p:nvPr/>
          </p:nvSpPr>
          <p:spPr>
            <a:xfrm>
              <a:off x="912099" y="3065048"/>
              <a:ext cx="4414282" cy="1469313"/>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Text-&gt;SQL</a:t>
              </a:r>
            </a:p>
            <a:p>
              <a:pPr lvl="0" algn="just" defTabSz="1219079">
                <a:lnSpc>
                  <a:spcPct val="150000"/>
                </a:lnSpc>
                <a:defRPr/>
              </a:pPr>
              <a:r>
                <a:rPr lang="en-IN" sz="1200" dirty="0">
                  <a:solidFill>
                    <a:srgbClr val="2A2834">
                      <a:lumMod val="75000"/>
                      <a:lumOff val="25000"/>
                    </a:srgbClr>
                  </a:solidFill>
                  <a:latin typeface="Poppins" panose="00000500000000000000" pitchFamily="2" charset="0"/>
                  <a:ea typeface="Tahoma" charset="0"/>
                  <a:cs typeface="Poppins" panose="00000500000000000000" pitchFamily="2" charset="0"/>
                </a:rPr>
                <a:t>Design an intelligent system that converts natural-language questions into accurate SQL queries, enabling users to retrieve information from relational databases without writing SQL</a:t>
              </a:r>
              <a:endParaRPr lang="ru-RU" sz="1200" dirty="0">
                <a:solidFill>
                  <a:srgbClr val="2A2834">
                    <a:lumMod val="75000"/>
                    <a:lumOff val="25000"/>
                  </a:srgbClr>
                </a:solidFill>
                <a:ea typeface="Tahoma" charset="0"/>
                <a:cs typeface="Poppins" panose="00000500000000000000" pitchFamily="2" charset="0"/>
              </a:endParaRPr>
            </a:p>
          </p:txBody>
        </p:sp>
        <p:sp>
          <p:nvSpPr>
            <p:cNvPr id="7" name="TextBox 6">
              <a:extLst>
                <a:ext uri="{FF2B5EF4-FFF2-40B4-BE49-F238E27FC236}">
                  <a16:creationId xmlns:a16="http://schemas.microsoft.com/office/drawing/2014/main" id="{9B1B8AF6-76DA-4CD1-1AD2-9C503B2CB302}"/>
                </a:ext>
              </a:extLst>
            </p:cNvPr>
            <p:cNvSpPr txBox="1"/>
            <p:nvPr/>
          </p:nvSpPr>
          <p:spPr>
            <a:xfrm>
              <a:off x="912099" y="1978345"/>
              <a:ext cx="1325149" cy="1229504"/>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66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01</a:t>
              </a:r>
              <a:endParaRPr kumimoji="0" lang="ru-RU" sz="5400" b="0" i="0" u="none" strike="noStrike" kern="1200" cap="none" spc="0" normalizeH="0" baseline="0" noProof="0" dirty="0">
                <a:ln>
                  <a:noFill/>
                </a:ln>
                <a:solidFill>
                  <a:srgbClr val="2A2834">
                    <a:lumMod val="75000"/>
                    <a:lumOff val="25000"/>
                  </a:srgbClr>
                </a:solidFill>
                <a:effectLst/>
                <a:uLnTx/>
                <a:uFillTx/>
                <a:latin typeface="Tahoma" charset="0"/>
                <a:ea typeface="Tahoma" charset="0"/>
                <a:cs typeface="Poppins" panose="00000500000000000000" pitchFamily="2" charset="0"/>
              </a:endParaRPr>
            </a:p>
          </p:txBody>
        </p:sp>
        <p:sp>
          <p:nvSpPr>
            <p:cNvPr id="8" name="TextBox 7">
              <a:extLst>
                <a:ext uri="{FF2B5EF4-FFF2-40B4-BE49-F238E27FC236}">
                  <a16:creationId xmlns:a16="http://schemas.microsoft.com/office/drawing/2014/main" id="{380238B0-B042-4C87-25E5-B29A04357699}"/>
                </a:ext>
              </a:extLst>
            </p:cNvPr>
            <p:cNvSpPr txBox="1"/>
            <p:nvPr/>
          </p:nvSpPr>
          <p:spPr>
            <a:xfrm>
              <a:off x="1476194" y="4671233"/>
              <a:ext cx="3475605" cy="1504964"/>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lang="en-US" sz="1100" b="1"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Features</a:t>
              </a:r>
              <a:endParaRPr kumimoji="0" lang="en-US" sz="11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endParaRPr>
            </a:p>
            <a:p>
              <a:pPr marL="171450" lvl="0" indent="-171450" defTabSz="1219079">
                <a:lnSpc>
                  <a:spcPct val="120000"/>
                </a:lnSpc>
                <a:buFont typeface="Wingdings" pitchFamily="2" charset="2"/>
                <a:buChar char="q"/>
                <a:defRPr/>
              </a:pPr>
              <a:r>
                <a:rPr lang="en-IN" sz="11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Understand natural language questions</a:t>
              </a:r>
            </a:p>
            <a:p>
              <a:pPr marL="171450" lvl="0" indent="-171450" defTabSz="1219079">
                <a:lnSpc>
                  <a:spcPct val="120000"/>
                </a:lnSpc>
                <a:buFont typeface="Wingdings" pitchFamily="2" charset="2"/>
                <a:buChar char="q"/>
                <a:defRPr/>
              </a:pPr>
              <a:r>
                <a:rPr lang="en-IN" sz="11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Understand the database schema (tables, columns, PK/FK)</a:t>
              </a:r>
            </a:p>
            <a:p>
              <a:pPr marL="171450" lvl="0" indent="-171450" defTabSz="1219079">
                <a:lnSpc>
                  <a:spcPct val="120000"/>
                </a:lnSpc>
                <a:buFont typeface="Wingdings" pitchFamily="2" charset="2"/>
                <a:buChar char="q"/>
                <a:defRPr/>
              </a:pPr>
              <a:r>
                <a:rPr lang="en-IN" sz="11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Reason over relationships</a:t>
              </a:r>
            </a:p>
            <a:p>
              <a:pPr marL="171450" lvl="0" indent="-171450" defTabSz="1219079">
                <a:lnSpc>
                  <a:spcPct val="120000"/>
                </a:lnSpc>
                <a:buFont typeface="Wingdings" pitchFamily="2" charset="2"/>
                <a:buChar char="q"/>
                <a:defRPr/>
              </a:pPr>
              <a:r>
                <a:rPr lang="en-IN" sz="11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Generate syntactically correct and executable SQL queries</a:t>
              </a:r>
              <a:endParaRPr lang="en-US" sz="11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grpSp>
        <p:nvGrpSpPr>
          <p:cNvPr id="11" name="Group 10">
            <a:extLst>
              <a:ext uri="{FF2B5EF4-FFF2-40B4-BE49-F238E27FC236}">
                <a16:creationId xmlns:a16="http://schemas.microsoft.com/office/drawing/2014/main" id="{3784D54D-DCFA-4D20-BFEF-9F85B570746F}"/>
              </a:ext>
            </a:extLst>
          </p:cNvPr>
          <p:cNvGrpSpPr/>
          <p:nvPr/>
        </p:nvGrpSpPr>
        <p:grpSpPr>
          <a:xfrm>
            <a:off x="6865621" y="1978345"/>
            <a:ext cx="4414282" cy="4399637"/>
            <a:chOff x="6865621" y="1978345"/>
            <a:chExt cx="4414282" cy="4399637"/>
          </a:xfrm>
        </p:grpSpPr>
        <p:sp>
          <p:nvSpPr>
            <p:cNvPr id="12" name="TextBox 11">
              <a:extLst>
                <a:ext uri="{FF2B5EF4-FFF2-40B4-BE49-F238E27FC236}">
                  <a16:creationId xmlns:a16="http://schemas.microsoft.com/office/drawing/2014/main" id="{D03624DA-CBA1-E954-A12D-7408678C7124}"/>
                </a:ext>
              </a:extLst>
            </p:cNvPr>
            <p:cNvSpPr txBox="1"/>
            <p:nvPr/>
          </p:nvSpPr>
          <p:spPr>
            <a:xfrm>
              <a:off x="6865621" y="3065048"/>
              <a:ext cx="4414282" cy="1469313"/>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SQL-&gt;NoSQL</a:t>
              </a:r>
            </a:p>
            <a:p>
              <a:pPr lvl="0" algn="just" defTabSz="1219079">
                <a:lnSpc>
                  <a:spcPct val="150000"/>
                </a:lnSpc>
                <a:defRPr/>
              </a:pPr>
              <a:r>
                <a:rPr lang="en-IN" sz="1200" dirty="0">
                  <a:solidFill>
                    <a:srgbClr val="2A2834">
                      <a:lumMod val="75000"/>
                      <a:lumOff val="25000"/>
                    </a:srgbClr>
                  </a:solidFill>
                  <a:latin typeface="Poppins" panose="00000500000000000000" pitchFamily="2" charset="0"/>
                  <a:ea typeface="Tahoma" charset="0"/>
                  <a:cs typeface="Poppins" panose="00000500000000000000" pitchFamily="2" charset="0"/>
                </a:rPr>
                <a:t>Develop a system that translates SQL queries and relational data structures into equivalent NoSQL operations to support scalable, schema-flexible databases</a:t>
              </a:r>
              <a:endParaRPr kumimoji="0" lang="ru-RU" sz="1200" b="0" i="0" u="none" strike="noStrike" kern="1200" cap="none" spc="0" normalizeH="0" baseline="0" noProof="0" dirty="0">
                <a:ln>
                  <a:noFill/>
                </a:ln>
                <a:solidFill>
                  <a:srgbClr val="2A2834">
                    <a:lumMod val="75000"/>
                    <a:lumOff val="25000"/>
                  </a:srgbClr>
                </a:solidFill>
                <a:effectLst/>
                <a:uLnTx/>
                <a:uFillTx/>
                <a:latin typeface="Tahoma" charset="0"/>
                <a:ea typeface="Tahoma" charset="0"/>
                <a:cs typeface="Poppins" panose="00000500000000000000" pitchFamily="2" charset="0"/>
              </a:endParaRPr>
            </a:p>
          </p:txBody>
        </p:sp>
        <p:sp>
          <p:nvSpPr>
            <p:cNvPr id="13" name="TextBox 12">
              <a:extLst>
                <a:ext uri="{FF2B5EF4-FFF2-40B4-BE49-F238E27FC236}">
                  <a16:creationId xmlns:a16="http://schemas.microsoft.com/office/drawing/2014/main" id="{3B3409A1-D9FF-9F89-A641-D924E22C1173}"/>
                </a:ext>
              </a:extLst>
            </p:cNvPr>
            <p:cNvSpPr txBox="1"/>
            <p:nvPr/>
          </p:nvSpPr>
          <p:spPr>
            <a:xfrm>
              <a:off x="6865621" y="1978345"/>
              <a:ext cx="1325149" cy="1229504"/>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66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02</a:t>
              </a:r>
              <a:endParaRPr kumimoji="0" lang="ru-RU" sz="5400" b="0" i="0" u="none" strike="noStrike" kern="1200" cap="none" spc="0" normalizeH="0" baseline="0" noProof="0" dirty="0">
                <a:ln>
                  <a:noFill/>
                </a:ln>
                <a:solidFill>
                  <a:srgbClr val="2A2834">
                    <a:lumMod val="75000"/>
                    <a:lumOff val="25000"/>
                  </a:srgbClr>
                </a:solidFill>
                <a:effectLst/>
                <a:uLnTx/>
                <a:uFillTx/>
                <a:latin typeface="Tahoma" charset="0"/>
                <a:ea typeface="Tahoma" charset="0"/>
                <a:cs typeface="Poppins" panose="00000500000000000000" pitchFamily="2" charset="0"/>
              </a:endParaRPr>
            </a:p>
          </p:txBody>
        </p:sp>
        <p:sp>
          <p:nvSpPr>
            <p:cNvPr id="14" name="Овал 139">
              <a:extLst>
                <a:ext uri="{FF2B5EF4-FFF2-40B4-BE49-F238E27FC236}">
                  <a16:creationId xmlns:a16="http://schemas.microsoft.com/office/drawing/2014/main" id="{4A1CDB94-9CF0-BD58-2665-4643DA2503C3}"/>
                </a:ext>
              </a:extLst>
            </p:cNvPr>
            <p:cNvSpPr/>
            <p:nvPr/>
          </p:nvSpPr>
          <p:spPr>
            <a:xfrm>
              <a:off x="6865621" y="4791449"/>
              <a:ext cx="450012" cy="450012"/>
            </a:xfrm>
            <a:prstGeom prst="ellipse">
              <a:avLst/>
            </a:prstGeom>
            <a:solidFill>
              <a:srgbClr val="FE021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017" rtl="0" eaLnBrk="1" fontAlgn="auto" latinLnBrk="0" hangingPunct="1">
                <a:lnSpc>
                  <a:spcPct val="120000"/>
                </a:lnSpc>
                <a:spcBef>
                  <a:spcPts val="300"/>
                </a:spcBef>
                <a:spcAft>
                  <a:spcPts val="0"/>
                </a:spcAft>
                <a:buClrTx/>
                <a:buSzTx/>
                <a:buFontTx/>
                <a:buNone/>
                <a:tabLst/>
                <a:defRPr/>
              </a:pPr>
              <a:r>
                <a:rPr lang="en-US" sz="1600" b="1" dirty="0">
                  <a:solidFill>
                    <a:srgbClr val="FFFFFF"/>
                  </a:solidFill>
                  <a:latin typeface="Poppins" panose="00000500000000000000" pitchFamily="2" charset="0"/>
                  <a:ea typeface="Tahoma" panose="020B0604030504040204" pitchFamily="34" charset="0"/>
                  <a:cs typeface="Poppins" panose="00000500000000000000" pitchFamily="2" charset="0"/>
                </a:rPr>
                <a:t>B</a:t>
              </a:r>
              <a:endParaRPr kumimoji="0" lang="ru-RU" sz="1600" b="1" i="0" u="none" strike="noStrike" kern="1200" cap="none" spc="0" normalizeH="0" baseline="0" noProof="0" dirty="0">
                <a:ln>
                  <a:noFill/>
                </a:ln>
                <a:solidFill>
                  <a:srgbClr val="FFFFFF"/>
                </a:solidFill>
                <a:effectLst/>
                <a:uLnTx/>
                <a:uFillTx/>
                <a:latin typeface="Tahoma" panose="020B0604030504040204" pitchFamily="34" charset="0"/>
                <a:ea typeface="Tahoma" panose="020B0604030504040204" pitchFamily="34" charset="0"/>
                <a:cs typeface="Poppins" panose="00000500000000000000" pitchFamily="2" charset="0"/>
              </a:endParaRPr>
            </a:p>
          </p:txBody>
        </p:sp>
        <p:sp>
          <p:nvSpPr>
            <p:cNvPr id="15" name="TextBox 14">
              <a:extLst>
                <a:ext uri="{FF2B5EF4-FFF2-40B4-BE49-F238E27FC236}">
                  <a16:creationId xmlns:a16="http://schemas.microsoft.com/office/drawing/2014/main" id="{B69486FC-E95B-7ED7-4998-05553202419F}"/>
                </a:ext>
              </a:extLst>
            </p:cNvPr>
            <p:cNvSpPr txBox="1"/>
            <p:nvPr/>
          </p:nvSpPr>
          <p:spPr>
            <a:xfrm>
              <a:off x="7429716" y="4671233"/>
              <a:ext cx="3475605" cy="1706749"/>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Features</a:t>
              </a:r>
            </a:p>
            <a:p>
              <a:pPr marL="171450" lvl="0" indent="-171450" defTabSz="1219079">
                <a:lnSpc>
                  <a:spcPct val="120000"/>
                </a:lnSpc>
                <a:buFont typeface="Wingdings" pitchFamily="2" charset="2"/>
                <a:buChar char="q"/>
                <a:defRPr/>
              </a:pPr>
              <a:r>
                <a:rPr lang="en-IN" sz="11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Convert SQL queries into equivalent NoSQL (MongoDB) queries</a:t>
              </a:r>
            </a:p>
            <a:p>
              <a:pPr marL="171450" lvl="0" indent="-171450" defTabSz="1219079">
                <a:lnSpc>
                  <a:spcPct val="120000"/>
                </a:lnSpc>
                <a:buFont typeface="Wingdings" pitchFamily="2" charset="2"/>
                <a:buChar char="q"/>
                <a:defRPr/>
              </a:pPr>
              <a:r>
                <a:rPr lang="en-IN" sz="11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Map relational schemas to NoSQL document structures</a:t>
              </a:r>
            </a:p>
            <a:p>
              <a:pPr marL="171450" lvl="0" indent="-171450" defTabSz="1219079">
                <a:lnSpc>
                  <a:spcPct val="120000"/>
                </a:lnSpc>
                <a:buFont typeface="Wingdings" pitchFamily="2" charset="2"/>
                <a:buChar char="q"/>
                <a:defRPr/>
              </a:pPr>
              <a:r>
                <a:rPr lang="en-IN" sz="11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Handle JOINs, nested queries, aggregations, and filters</a:t>
              </a:r>
            </a:p>
            <a:p>
              <a:pPr marL="171450" lvl="0" indent="-171450" defTabSz="1219079">
                <a:lnSpc>
                  <a:spcPct val="120000"/>
                </a:lnSpc>
                <a:buFont typeface="Wingdings" pitchFamily="2" charset="2"/>
                <a:buChar char="q"/>
                <a:defRPr/>
              </a:pPr>
              <a:r>
                <a:rPr lang="en-IN" sz="11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Enable migration from RDBMS → NoSQL</a:t>
              </a:r>
              <a:endParaRPr lang="en-US" sz="11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pic>
        <p:nvPicPr>
          <p:cNvPr id="9" name="Graphic 8">
            <a:extLst>
              <a:ext uri="{FF2B5EF4-FFF2-40B4-BE49-F238E27FC236}">
                <a16:creationId xmlns:a16="http://schemas.microsoft.com/office/drawing/2014/main" id="{82FC833B-DE4D-541C-B75C-111C1C8AA2CE}"/>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10273980" y="0"/>
            <a:ext cx="289387" cy="349581"/>
          </a:xfrm>
          <a:prstGeom prst="rect">
            <a:avLst/>
          </a:prstGeom>
        </p:spPr>
      </p:pic>
      <p:sp>
        <p:nvSpPr>
          <p:cNvPr id="10" name="TextBox 9">
            <a:extLst>
              <a:ext uri="{FF2B5EF4-FFF2-40B4-BE49-F238E27FC236}">
                <a16:creationId xmlns:a16="http://schemas.microsoft.com/office/drawing/2014/main" id="{DDD90BEE-67D1-41BB-DAB9-2A70B62B656D}"/>
              </a:ext>
            </a:extLst>
          </p:cNvPr>
          <p:cNvSpPr txBox="1"/>
          <p:nvPr/>
        </p:nvSpPr>
        <p:spPr>
          <a:xfrm>
            <a:off x="10563367" y="0"/>
            <a:ext cx="1091821" cy="382137"/>
          </a:xfrm>
          <a:prstGeom prst="rect">
            <a:avLst/>
          </a:prstGeom>
          <a:noFill/>
        </p:spPr>
        <p:txBody>
          <a:bodyPr wrap="square" rtlCol="0">
            <a:spAutoFit/>
          </a:bodyPr>
          <a:lstStyle/>
          <a:p>
            <a:r>
              <a:rPr lang="en-US" dirty="0"/>
              <a:t>Saurabh</a:t>
            </a:r>
          </a:p>
        </p:txBody>
      </p:sp>
    </p:spTree>
    <p:extLst>
      <p:ext uri="{BB962C8B-B14F-4D97-AF65-F5344CB8AC3E}">
        <p14:creationId xmlns:p14="http://schemas.microsoft.com/office/powerpoint/2010/main" val="256272462"/>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14:presetBounceEnd="50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50000">
                                          <p:cBhvr additive="base">
                                            <p:cTn id="7" dur="1000" fill="hold"/>
                                            <p:tgtEl>
                                              <p:spTgt spid="3"/>
                                            </p:tgtEl>
                                            <p:attrNameLst>
                                              <p:attrName>ppt_x</p:attrName>
                                            </p:attrNameLst>
                                          </p:cBhvr>
                                          <p:tavLst>
                                            <p:tav tm="0">
                                              <p:val>
                                                <p:strVal val="#ppt_x"/>
                                              </p:val>
                                            </p:tav>
                                            <p:tav tm="100000">
                                              <p:val>
                                                <p:strVal val="#ppt_x"/>
                                              </p:val>
                                            </p:tav>
                                          </p:tavLst>
                                        </p:anim>
                                        <p:anim calcmode="lin" valueType="num" p14:bounceEnd="50000">
                                          <p:cBhvr additive="base">
                                            <p:cTn id="8" dur="10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14:presetBounceEnd="50000">
                                      <p:stCondLst>
                                        <p:cond delay="100"/>
                                      </p:stCondLst>
                                      <p:childTnLst>
                                        <p:set>
                                          <p:cBhvr>
                                            <p:cTn id="10" dur="1" fill="hold">
                                              <p:stCondLst>
                                                <p:cond delay="0"/>
                                              </p:stCondLst>
                                            </p:cTn>
                                            <p:tgtEl>
                                              <p:spTgt spid="11"/>
                                            </p:tgtEl>
                                            <p:attrNameLst>
                                              <p:attrName>style.visibility</p:attrName>
                                            </p:attrNameLst>
                                          </p:cBhvr>
                                          <p:to>
                                            <p:strVal val="visible"/>
                                          </p:to>
                                        </p:set>
                                        <p:anim calcmode="lin" valueType="num" p14:bounceEnd="50000">
                                          <p:cBhvr additive="base">
                                            <p:cTn id="11" dur="1000" fill="hold"/>
                                            <p:tgtEl>
                                              <p:spTgt spid="11"/>
                                            </p:tgtEl>
                                            <p:attrNameLst>
                                              <p:attrName>ppt_x</p:attrName>
                                            </p:attrNameLst>
                                          </p:cBhvr>
                                          <p:tavLst>
                                            <p:tav tm="0">
                                              <p:val>
                                                <p:strVal val="#ppt_x"/>
                                              </p:val>
                                            </p:tav>
                                            <p:tav tm="100000">
                                              <p:val>
                                                <p:strVal val="#ppt_x"/>
                                              </p:val>
                                            </p:tav>
                                          </p:tavLst>
                                        </p:anim>
                                        <p:anim calcmode="lin" valueType="num" p14:bounceEnd="50000">
                                          <p:cBhvr additive="base">
                                            <p:cTn id="12" dur="10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ppt_x"/>
                                              </p:val>
                                            </p:tav>
                                            <p:tav tm="100000">
                                              <p:val>
                                                <p:strVal val="#ppt_x"/>
                                              </p:val>
                                            </p:tav>
                                          </p:tavLst>
                                        </p:anim>
                                        <p:anim calcmode="lin" valueType="num">
                                          <p:cBhvr additive="base">
                                            <p:cTn id="8" dur="10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10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fill="hold"/>
                                            <p:tgtEl>
                                              <p:spTgt spid="11"/>
                                            </p:tgtEl>
                                            <p:attrNameLst>
                                              <p:attrName>ppt_x</p:attrName>
                                            </p:attrNameLst>
                                          </p:cBhvr>
                                          <p:tavLst>
                                            <p:tav tm="0">
                                              <p:val>
                                                <p:strVal val="#ppt_x"/>
                                              </p:val>
                                            </p:tav>
                                            <p:tav tm="100000">
                                              <p:val>
                                                <p:strVal val="#ppt_x"/>
                                              </p:val>
                                            </p:tav>
                                          </p:tavLst>
                                        </p:anim>
                                        <p:anim calcmode="lin" valueType="num">
                                          <p:cBhvr additive="base">
                                            <p:cTn id="12" dur="10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A0CE5-646D-5158-FAAD-DC79054E6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D7EC0C-5FCE-80DF-5451-ADE62BCB4C29}"/>
              </a:ext>
            </a:extLst>
          </p:cNvPr>
          <p:cNvSpPr>
            <a:spLocks noGrp="1"/>
          </p:cNvSpPr>
          <p:nvPr>
            <p:ph type="ctrTitle"/>
          </p:nvPr>
        </p:nvSpPr>
        <p:spPr>
          <a:xfrm>
            <a:off x="1524000" y="104798"/>
            <a:ext cx="9144000" cy="1189429"/>
          </a:xfrm>
        </p:spPr>
        <p:txBody>
          <a:bodyPr>
            <a:normAutofit/>
          </a:bodyPr>
          <a:lstStyle/>
          <a:p>
            <a:r>
              <a:rPr lang="en-US" dirty="0"/>
              <a:t>Project Methodology</a:t>
            </a:r>
          </a:p>
        </p:txBody>
      </p:sp>
      <p:pic>
        <p:nvPicPr>
          <p:cNvPr id="10" name="Picture 9" descr="A diagram of a company&#10;&#10;AI-generated content may be incorrect.">
            <a:extLst>
              <a:ext uri="{FF2B5EF4-FFF2-40B4-BE49-F238E27FC236}">
                <a16:creationId xmlns:a16="http://schemas.microsoft.com/office/drawing/2014/main" id="{978F8838-C51C-4E35-63FB-0F620BC754DB}"/>
              </a:ext>
            </a:extLst>
          </p:cNvPr>
          <p:cNvPicPr>
            <a:picLocks noChangeAspect="1"/>
          </p:cNvPicPr>
          <p:nvPr/>
        </p:nvPicPr>
        <p:blipFill>
          <a:blip r:embed="rId2"/>
          <a:stretch>
            <a:fillRect/>
          </a:stretch>
        </p:blipFill>
        <p:spPr>
          <a:xfrm>
            <a:off x="676894" y="2419814"/>
            <a:ext cx="10438409" cy="3926950"/>
          </a:xfrm>
          <a:prstGeom prst="rect">
            <a:avLst/>
          </a:prstGeom>
        </p:spPr>
      </p:pic>
      <p:sp>
        <p:nvSpPr>
          <p:cNvPr id="19" name="TextBox 18">
            <a:extLst>
              <a:ext uri="{FF2B5EF4-FFF2-40B4-BE49-F238E27FC236}">
                <a16:creationId xmlns:a16="http://schemas.microsoft.com/office/drawing/2014/main" id="{D7B7D086-FE1A-C4B7-8ED0-4F96E956B673}"/>
              </a:ext>
            </a:extLst>
          </p:cNvPr>
          <p:cNvSpPr txBox="1"/>
          <p:nvPr/>
        </p:nvSpPr>
        <p:spPr>
          <a:xfrm>
            <a:off x="579911" y="6346764"/>
            <a:ext cx="6097978" cy="261610"/>
          </a:xfrm>
          <a:prstGeom prst="rect">
            <a:avLst/>
          </a:prstGeom>
          <a:noFill/>
        </p:spPr>
        <p:txBody>
          <a:bodyPr wrap="square">
            <a:spAutoFit/>
          </a:bodyPr>
          <a:lstStyle/>
          <a:p>
            <a:r>
              <a:rPr lang="en-US" sz="1050" dirty="0"/>
              <a:t>Link to paper : https://</a:t>
            </a:r>
            <a:r>
              <a:rPr lang="en-US" sz="1050" dirty="0" err="1"/>
              <a:t>arxiv.org</a:t>
            </a:r>
            <a:r>
              <a:rPr lang="en-US" sz="1050" dirty="0"/>
              <a:t>/pdf/2410.06011 </a:t>
            </a:r>
          </a:p>
        </p:txBody>
      </p:sp>
      <p:sp>
        <p:nvSpPr>
          <p:cNvPr id="20" name="TextBox 19">
            <a:extLst>
              <a:ext uri="{FF2B5EF4-FFF2-40B4-BE49-F238E27FC236}">
                <a16:creationId xmlns:a16="http://schemas.microsoft.com/office/drawing/2014/main" id="{CF4B06CC-FD7A-A9DB-D7B2-BA3534A71C1B}"/>
              </a:ext>
            </a:extLst>
          </p:cNvPr>
          <p:cNvSpPr txBox="1"/>
          <p:nvPr/>
        </p:nvSpPr>
        <p:spPr>
          <a:xfrm>
            <a:off x="579911" y="1230385"/>
            <a:ext cx="10262260" cy="1169551"/>
          </a:xfrm>
          <a:prstGeom prst="rect">
            <a:avLst/>
          </a:prstGeom>
          <a:noFill/>
        </p:spPr>
        <p:txBody>
          <a:bodyPr wrap="square">
            <a:spAutoFit/>
          </a:bodyPr>
          <a:lstStyle/>
          <a:p>
            <a:r>
              <a:rPr lang="en-IN" sz="1400" dirty="0"/>
              <a:t>Project Methodology: Dual Approach</a:t>
            </a:r>
          </a:p>
          <a:p>
            <a:pPr marL="285750" indent="-285750">
              <a:buFont typeface="Wingdings" pitchFamily="2" charset="2"/>
              <a:buChar char="Ø"/>
            </a:pPr>
            <a:r>
              <a:rPr lang="en-IN" sz="1400" dirty="0"/>
              <a:t>LLM-Based Approach: Utilizing Large Language Models for advanced semantic understanding.</a:t>
            </a:r>
          </a:p>
          <a:p>
            <a:pPr marL="285750" indent="-285750">
              <a:buFont typeface="Wingdings" pitchFamily="2" charset="2"/>
              <a:buChar char="Ø"/>
            </a:pPr>
            <a:r>
              <a:rPr lang="en-IN" sz="1400" dirty="0"/>
              <a:t>Traditional Methods: Establishing benchmarks via architectural baselines.</a:t>
            </a:r>
          </a:p>
          <a:p>
            <a:pPr marL="742950" lvl="1" indent="-285750">
              <a:buFont typeface="Wingdings" pitchFamily="2" charset="2"/>
              <a:buChar char="§"/>
            </a:pPr>
            <a:r>
              <a:rPr lang="en-IN" sz="1400" dirty="0"/>
              <a:t>LSTM-Based: Sequence modelling via Long Short-Term Memory.</a:t>
            </a:r>
          </a:p>
          <a:p>
            <a:pPr marL="742950" lvl="1" indent="-285750">
              <a:buFont typeface="Wingdings" pitchFamily="2" charset="2"/>
              <a:buChar char="§"/>
            </a:pPr>
            <a:r>
              <a:rPr lang="en-IN" sz="1400" dirty="0"/>
              <a:t>Transformer-Based: Implementation of standard attention mechanisms.</a:t>
            </a:r>
          </a:p>
        </p:txBody>
      </p:sp>
      <p:pic>
        <p:nvPicPr>
          <p:cNvPr id="3" name="Graphic 2">
            <a:extLst>
              <a:ext uri="{FF2B5EF4-FFF2-40B4-BE49-F238E27FC236}">
                <a16:creationId xmlns:a16="http://schemas.microsoft.com/office/drawing/2014/main" id="{77E9E202-AC19-6D98-81DC-99691CE532F1}"/>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10273980" y="0"/>
            <a:ext cx="289387" cy="349581"/>
          </a:xfrm>
          <a:prstGeom prst="rect">
            <a:avLst/>
          </a:prstGeom>
        </p:spPr>
      </p:pic>
      <p:sp>
        <p:nvSpPr>
          <p:cNvPr id="4" name="TextBox 3">
            <a:extLst>
              <a:ext uri="{FF2B5EF4-FFF2-40B4-BE49-F238E27FC236}">
                <a16:creationId xmlns:a16="http://schemas.microsoft.com/office/drawing/2014/main" id="{8F1498A9-524A-263C-3112-8B53A4219610}"/>
              </a:ext>
            </a:extLst>
          </p:cNvPr>
          <p:cNvSpPr txBox="1"/>
          <p:nvPr/>
        </p:nvSpPr>
        <p:spPr>
          <a:xfrm>
            <a:off x="10563367" y="0"/>
            <a:ext cx="1091821" cy="382137"/>
          </a:xfrm>
          <a:prstGeom prst="rect">
            <a:avLst/>
          </a:prstGeom>
          <a:noFill/>
        </p:spPr>
        <p:txBody>
          <a:bodyPr wrap="square" rtlCol="0">
            <a:spAutoFit/>
          </a:bodyPr>
          <a:lstStyle/>
          <a:p>
            <a:r>
              <a:rPr lang="en-US" dirty="0"/>
              <a:t>Saurabh</a:t>
            </a:r>
          </a:p>
        </p:txBody>
      </p:sp>
    </p:spTree>
    <p:extLst>
      <p:ext uri="{BB962C8B-B14F-4D97-AF65-F5344CB8AC3E}">
        <p14:creationId xmlns:p14="http://schemas.microsoft.com/office/powerpoint/2010/main" val="1997990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44083-71BD-930E-13C1-9B719D293E57}"/>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E6111159-F281-5C66-9063-140ACB78E7D9}"/>
              </a:ext>
            </a:extLst>
          </p:cNvPr>
          <p:cNvSpPr/>
          <p:nvPr/>
        </p:nvSpPr>
        <p:spPr>
          <a:xfrm>
            <a:off x="3340643" y="4229433"/>
            <a:ext cx="5075077" cy="2523769"/>
          </a:xfrm>
          <a:prstGeom prst="roundRect">
            <a:avLst/>
          </a:prstGeom>
          <a:solidFill>
            <a:srgbClr val="0070C0"/>
          </a:solidFill>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endParaRPr lang="en-IN" dirty="0"/>
          </a:p>
        </p:txBody>
      </p:sp>
      <p:sp>
        <p:nvSpPr>
          <p:cNvPr id="7" name="Rounded Rectangle 6">
            <a:extLst>
              <a:ext uri="{FF2B5EF4-FFF2-40B4-BE49-F238E27FC236}">
                <a16:creationId xmlns:a16="http://schemas.microsoft.com/office/drawing/2014/main" id="{A9FBC942-409A-5F5F-8D42-ED6C8EFEB9A5}"/>
              </a:ext>
            </a:extLst>
          </p:cNvPr>
          <p:cNvSpPr/>
          <p:nvPr/>
        </p:nvSpPr>
        <p:spPr>
          <a:xfrm>
            <a:off x="6060955" y="1400638"/>
            <a:ext cx="5075077" cy="2523769"/>
          </a:xfrm>
          <a:prstGeom prst="roundRect">
            <a:avLst/>
          </a:prstGeom>
          <a:solidFill>
            <a:srgbClr val="0070C0"/>
          </a:solidFill>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endParaRPr lang="en-IN" dirty="0"/>
          </a:p>
        </p:txBody>
      </p:sp>
      <p:sp>
        <p:nvSpPr>
          <p:cNvPr id="6" name="Rounded Rectangle 5">
            <a:extLst>
              <a:ext uri="{FF2B5EF4-FFF2-40B4-BE49-F238E27FC236}">
                <a16:creationId xmlns:a16="http://schemas.microsoft.com/office/drawing/2014/main" id="{9FE5E5F0-FFDF-1D2D-27D7-C287AB250223}"/>
              </a:ext>
            </a:extLst>
          </p:cNvPr>
          <p:cNvSpPr/>
          <p:nvPr/>
        </p:nvSpPr>
        <p:spPr>
          <a:xfrm>
            <a:off x="571500" y="1388277"/>
            <a:ext cx="5075077" cy="2523769"/>
          </a:xfrm>
          <a:prstGeom prst="roundRect">
            <a:avLst/>
          </a:prstGeom>
          <a:solidFill>
            <a:srgbClr val="0070C0"/>
          </a:solidFill>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endParaRPr lang="en-IN" dirty="0"/>
          </a:p>
        </p:txBody>
      </p:sp>
      <p:sp>
        <p:nvSpPr>
          <p:cNvPr id="2" name="Title 1">
            <a:extLst>
              <a:ext uri="{FF2B5EF4-FFF2-40B4-BE49-F238E27FC236}">
                <a16:creationId xmlns:a16="http://schemas.microsoft.com/office/drawing/2014/main" id="{06EF597A-57AB-4948-CF6F-212A7AB72D43}"/>
              </a:ext>
            </a:extLst>
          </p:cNvPr>
          <p:cNvSpPr>
            <a:spLocks noGrp="1"/>
          </p:cNvSpPr>
          <p:nvPr>
            <p:ph type="ctrTitle"/>
          </p:nvPr>
        </p:nvSpPr>
        <p:spPr>
          <a:xfrm>
            <a:off x="1524000" y="104798"/>
            <a:ext cx="9144000" cy="1189429"/>
          </a:xfrm>
        </p:spPr>
        <p:txBody>
          <a:bodyPr>
            <a:normAutofit fontScale="90000"/>
          </a:bodyPr>
          <a:lstStyle/>
          <a:p>
            <a:r>
              <a:rPr lang="en-US" sz="6700" dirty="0"/>
              <a:t>Additional Concepts </a:t>
            </a:r>
            <a:r>
              <a:rPr lang="en-US" dirty="0"/>
              <a:t>: </a:t>
            </a:r>
            <a:r>
              <a:rPr lang="en-US" sz="5300" dirty="0"/>
              <a:t>Datasets</a:t>
            </a:r>
            <a:endParaRPr lang="en-US" sz="4000" dirty="0"/>
          </a:p>
        </p:txBody>
      </p:sp>
      <p:sp>
        <p:nvSpPr>
          <p:cNvPr id="15" name="Rounded Rectangle 14">
            <a:extLst>
              <a:ext uri="{FF2B5EF4-FFF2-40B4-BE49-F238E27FC236}">
                <a16:creationId xmlns:a16="http://schemas.microsoft.com/office/drawing/2014/main" id="{807A4B00-2DCC-BB54-B5D1-2EC1D43B58D4}"/>
              </a:ext>
            </a:extLst>
          </p:cNvPr>
          <p:cNvSpPr/>
          <p:nvPr/>
        </p:nvSpPr>
        <p:spPr>
          <a:xfrm>
            <a:off x="716728" y="1301092"/>
            <a:ext cx="5197033" cy="252376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IN" dirty="0"/>
          </a:p>
        </p:txBody>
      </p:sp>
      <p:sp>
        <p:nvSpPr>
          <p:cNvPr id="16" name="Rounded Rectangle 15">
            <a:extLst>
              <a:ext uri="{FF2B5EF4-FFF2-40B4-BE49-F238E27FC236}">
                <a16:creationId xmlns:a16="http://schemas.microsoft.com/office/drawing/2014/main" id="{8C445434-0696-BD7B-88B0-8A8DFC60A897}"/>
              </a:ext>
            </a:extLst>
          </p:cNvPr>
          <p:cNvSpPr/>
          <p:nvPr/>
        </p:nvSpPr>
        <p:spPr>
          <a:xfrm>
            <a:off x="6193483" y="1301092"/>
            <a:ext cx="5197033" cy="252376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TextBox 16">
            <a:extLst>
              <a:ext uri="{FF2B5EF4-FFF2-40B4-BE49-F238E27FC236}">
                <a16:creationId xmlns:a16="http://schemas.microsoft.com/office/drawing/2014/main" id="{7CA3448C-C1C1-959E-C7CB-079BFB61EB7B}"/>
              </a:ext>
            </a:extLst>
          </p:cNvPr>
          <p:cNvSpPr txBox="1"/>
          <p:nvPr/>
        </p:nvSpPr>
        <p:spPr>
          <a:xfrm>
            <a:off x="2481867" y="1116425"/>
            <a:ext cx="1666754" cy="369332"/>
          </a:xfrm>
          <a:prstGeom prst="rect">
            <a:avLst/>
          </a:prstGeom>
          <a:solidFill>
            <a:schemeClr val="bg1"/>
          </a:solidFill>
        </p:spPr>
        <p:txBody>
          <a:bodyPr wrap="square" rtlCol="0">
            <a:spAutoFit/>
          </a:bodyPr>
          <a:lstStyle/>
          <a:p>
            <a:pPr algn="ctr"/>
            <a:r>
              <a:rPr lang="en-US" dirty="0"/>
              <a:t>Spider Dataset</a:t>
            </a:r>
          </a:p>
        </p:txBody>
      </p:sp>
      <p:sp>
        <p:nvSpPr>
          <p:cNvPr id="18" name="TextBox 17">
            <a:extLst>
              <a:ext uri="{FF2B5EF4-FFF2-40B4-BE49-F238E27FC236}">
                <a16:creationId xmlns:a16="http://schemas.microsoft.com/office/drawing/2014/main" id="{B6695481-958B-CBE3-8B47-E78AC7C6C000}"/>
              </a:ext>
            </a:extLst>
          </p:cNvPr>
          <p:cNvSpPr txBox="1"/>
          <p:nvPr/>
        </p:nvSpPr>
        <p:spPr>
          <a:xfrm>
            <a:off x="7678900" y="1116425"/>
            <a:ext cx="1666754" cy="369332"/>
          </a:xfrm>
          <a:prstGeom prst="rect">
            <a:avLst/>
          </a:prstGeom>
          <a:solidFill>
            <a:schemeClr val="bg1"/>
          </a:solidFill>
        </p:spPr>
        <p:txBody>
          <a:bodyPr wrap="square" rtlCol="0">
            <a:spAutoFit/>
          </a:bodyPr>
          <a:lstStyle/>
          <a:p>
            <a:pPr algn="ctr"/>
            <a:r>
              <a:rPr lang="en-US" dirty="0"/>
              <a:t>WikiSQL</a:t>
            </a:r>
          </a:p>
        </p:txBody>
      </p:sp>
      <p:sp>
        <p:nvSpPr>
          <p:cNvPr id="19" name="TextBox 18">
            <a:extLst>
              <a:ext uri="{FF2B5EF4-FFF2-40B4-BE49-F238E27FC236}">
                <a16:creationId xmlns:a16="http://schemas.microsoft.com/office/drawing/2014/main" id="{9E3D4537-96A4-B68F-D205-682D8EBD3133}"/>
              </a:ext>
            </a:extLst>
          </p:cNvPr>
          <p:cNvSpPr txBox="1"/>
          <p:nvPr/>
        </p:nvSpPr>
        <p:spPr>
          <a:xfrm>
            <a:off x="983910" y="1485757"/>
            <a:ext cx="4662667" cy="2523768"/>
          </a:xfrm>
          <a:prstGeom prst="rect">
            <a:avLst/>
          </a:prstGeom>
          <a:noFill/>
        </p:spPr>
        <p:txBody>
          <a:bodyPr wrap="square" rtlCol="0">
            <a:spAutoFit/>
          </a:bodyPr>
          <a:lstStyle/>
          <a:p>
            <a:pPr marL="285750" indent="-285750">
              <a:buFont typeface="Courier New" panose="02070309020205020404" pitchFamily="49" charset="0"/>
              <a:buChar char="o"/>
            </a:pPr>
            <a:r>
              <a:rPr lang="en-IN" sz="1100" dirty="0"/>
              <a:t>Cross-database, Cross-domain (Very Realistic).</a:t>
            </a:r>
          </a:p>
          <a:p>
            <a:pPr marL="742950" lvl="1" indent="-285750">
              <a:buFont typeface="Courier New" panose="02070309020205020404" pitchFamily="49" charset="0"/>
              <a:buChar char="o"/>
            </a:pPr>
            <a:r>
              <a:rPr lang="en-IN" sz="900" dirty="0"/>
              <a:t>Spider contains </a:t>
            </a:r>
            <a:r>
              <a:rPr lang="en-IN" sz="900" b="1" dirty="0"/>
              <a:t>&gt;200 databases</a:t>
            </a:r>
            <a:r>
              <a:rPr lang="en-IN" sz="900" dirty="0"/>
              <a:t>, each with different schemas.</a:t>
            </a:r>
          </a:p>
          <a:p>
            <a:pPr marL="285750" indent="-285750">
              <a:buFont typeface="Courier New" panose="02070309020205020404" pitchFamily="49" charset="0"/>
              <a:buChar char="o"/>
            </a:pPr>
            <a:r>
              <a:rPr lang="en-IN" sz="1100" dirty="0"/>
              <a:t>Complex SQLs. Spider queries include:</a:t>
            </a:r>
          </a:p>
          <a:p>
            <a:pPr marL="742950" lvl="1" indent="-285750">
              <a:buFont typeface="Courier New" panose="02070309020205020404" pitchFamily="49" charset="0"/>
              <a:buChar char="o"/>
            </a:pPr>
            <a:r>
              <a:rPr lang="en-IN" sz="900" dirty="0"/>
              <a:t>Multiple JOINs</a:t>
            </a:r>
          </a:p>
          <a:p>
            <a:pPr marL="742950" lvl="1" indent="-285750">
              <a:buFont typeface="Courier New" panose="02070309020205020404" pitchFamily="49" charset="0"/>
              <a:buChar char="o"/>
            </a:pPr>
            <a:r>
              <a:rPr lang="en-IN" sz="900" dirty="0"/>
              <a:t>Nested queries</a:t>
            </a:r>
          </a:p>
          <a:p>
            <a:pPr marL="742950" lvl="1" indent="-285750">
              <a:buFont typeface="Courier New" panose="02070309020205020404" pitchFamily="49" charset="0"/>
              <a:buChar char="o"/>
            </a:pPr>
            <a:r>
              <a:rPr lang="en-IN" sz="900" dirty="0"/>
              <a:t>GROUP BY</a:t>
            </a:r>
          </a:p>
          <a:p>
            <a:pPr marL="742950" lvl="1" indent="-285750">
              <a:buFont typeface="Courier New" panose="02070309020205020404" pitchFamily="49" charset="0"/>
              <a:buChar char="o"/>
            </a:pPr>
            <a:r>
              <a:rPr lang="en-IN" sz="900" dirty="0"/>
              <a:t>Self-joins</a:t>
            </a:r>
          </a:p>
          <a:p>
            <a:pPr marL="742950" lvl="1" indent="-285750">
              <a:buFont typeface="Courier New" panose="02070309020205020404" pitchFamily="49" charset="0"/>
              <a:buChar char="o"/>
            </a:pPr>
            <a:r>
              <a:rPr lang="en-IN" sz="900" dirty="0"/>
              <a:t>Subqueries</a:t>
            </a:r>
          </a:p>
          <a:p>
            <a:pPr marL="285750" indent="-285750">
              <a:buFont typeface="Courier New" panose="02070309020205020404" pitchFamily="49" charset="0"/>
              <a:buChar char="o"/>
            </a:pPr>
            <a:r>
              <a:rPr lang="en-IN" sz="1100" dirty="0"/>
              <a:t>Industry-standard benchmark. All modern research papers benchmark on Spider:</a:t>
            </a:r>
          </a:p>
          <a:p>
            <a:pPr marL="742950" lvl="1" indent="-285750">
              <a:buFont typeface="Courier New" panose="02070309020205020404" pitchFamily="49" charset="0"/>
              <a:buChar char="o"/>
            </a:pPr>
            <a:r>
              <a:rPr lang="en-IN" sz="900" dirty="0"/>
              <a:t>RATSQL</a:t>
            </a:r>
          </a:p>
          <a:p>
            <a:pPr marL="742950" lvl="1" indent="-285750">
              <a:buFont typeface="Courier New" panose="02070309020205020404" pitchFamily="49" charset="0"/>
              <a:buChar char="o"/>
            </a:pPr>
            <a:r>
              <a:rPr lang="en-IN" sz="900" dirty="0"/>
              <a:t>BRIDGE</a:t>
            </a:r>
          </a:p>
          <a:p>
            <a:pPr marL="742950" lvl="1" indent="-285750">
              <a:buFont typeface="Courier New" panose="02070309020205020404" pitchFamily="49" charset="0"/>
              <a:buChar char="o"/>
            </a:pPr>
            <a:r>
              <a:rPr lang="en-IN" sz="900" dirty="0"/>
              <a:t>Picard-T5</a:t>
            </a:r>
          </a:p>
          <a:p>
            <a:pPr marL="742950" lvl="1" indent="-285750">
              <a:buFont typeface="Courier New" panose="02070309020205020404" pitchFamily="49" charset="0"/>
              <a:buChar char="o"/>
            </a:pPr>
            <a:r>
              <a:rPr lang="en-IN" sz="900" dirty="0"/>
              <a:t>Fine-tuned LLMs</a:t>
            </a:r>
          </a:p>
          <a:p>
            <a:pPr marL="742950" lvl="1" indent="-285750">
              <a:buFont typeface="Courier New" panose="02070309020205020404" pitchFamily="49" charset="0"/>
              <a:buChar char="o"/>
            </a:pPr>
            <a:endParaRPr lang="en-IN" dirty="0"/>
          </a:p>
        </p:txBody>
      </p:sp>
      <p:sp>
        <p:nvSpPr>
          <p:cNvPr id="20" name="TextBox 19">
            <a:extLst>
              <a:ext uri="{FF2B5EF4-FFF2-40B4-BE49-F238E27FC236}">
                <a16:creationId xmlns:a16="http://schemas.microsoft.com/office/drawing/2014/main" id="{DD26B7B0-73C8-C8D7-4D3E-D566078DEE29}"/>
              </a:ext>
            </a:extLst>
          </p:cNvPr>
          <p:cNvSpPr txBox="1"/>
          <p:nvPr/>
        </p:nvSpPr>
        <p:spPr>
          <a:xfrm>
            <a:off x="6460665" y="1669364"/>
            <a:ext cx="4662667" cy="1831271"/>
          </a:xfrm>
          <a:prstGeom prst="rect">
            <a:avLst/>
          </a:prstGeom>
          <a:noFill/>
        </p:spPr>
        <p:txBody>
          <a:bodyPr wrap="square" rtlCol="0">
            <a:spAutoFit/>
          </a:bodyPr>
          <a:lstStyle/>
          <a:p>
            <a:pPr marL="285750" indent="-285750">
              <a:buFont typeface="Courier New" panose="02070309020205020404" pitchFamily="49" charset="0"/>
              <a:buChar char="o"/>
            </a:pPr>
            <a:r>
              <a:rPr lang="en-IN" sz="1100" dirty="0" err="1"/>
              <a:t>WikiSQL</a:t>
            </a:r>
            <a:r>
              <a:rPr lang="en-IN" sz="1100" dirty="0"/>
              <a:t> contains only SINGLE-TABLE queries</a:t>
            </a:r>
          </a:p>
          <a:p>
            <a:pPr marL="285750" indent="-285750">
              <a:buFont typeface="Courier New" panose="02070309020205020404" pitchFamily="49" charset="0"/>
              <a:buChar char="o"/>
            </a:pPr>
            <a:r>
              <a:rPr lang="en-IN" sz="1100" dirty="0"/>
              <a:t>Simple SQLs. There is: No JOIN ,No GROUP BY, No HAVING, No nested queries</a:t>
            </a:r>
          </a:p>
          <a:p>
            <a:pPr marL="285750" indent="-285750">
              <a:buFont typeface="Courier New" panose="02070309020205020404" pitchFamily="49" charset="0"/>
              <a:buChar char="o"/>
            </a:pPr>
            <a:r>
              <a:rPr lang="en-IN" sz="1100" dirty="0"/>
              <a:t>Industry-standard benchmark. All modern research papers benchmark on Spider:</a:t>
            </a:r>
          </a:p>
          <a:p>
            <a:pPr marL="742950" lvl="1" indent="-285750">
              <a:buFont typeface="Courier New" panose="02070309020205020404" pitchFamily="49" charset="0"/>
              <a:buChar char="o"/>
            </a:pPr>
            <a:r>
              <a:rPr lang="en-IN" sz="900" dirty="0"/>
              <a:t>RATSQL</a:t>
            </a:r>
          </a:p>
          <a:p>
            <a:pPr marL="742950" lvl="1" indent="-285750">
              <a:buFont typeface="Courier New" panose="02070309020205020404" pitchFamily="49" charset="0"/>
              <a:buChar char="o"/>
            </a:pPr>
            <a:r>
              <a:rPr lang="en-IN" sz="900" dirty="0"/>
              <a:t>BRIDGE</a:t>
            </a:r>
          </a:p>
          <a:p>
            <a:pPr marL="742950" lvl="1" indent="-285750">
              <a:buFont typeface="Courier New" panose="02070309020205020404" pitchFamily="49" charset="0"/>
              <a:buChar char="o"/>
            </a:pPr>
            <a:r>
              <a:rPr lang="en-IN" sz="900" dirty="0"/>
              <a:t>Picard-T5</a:t>
            </a:r>
          </a:p>
          <a:p>
            <a:pPr marL="742950" lvl="1" indent="-285750">
              <a:buFont typeface="Courier New" panose="02070309020205020404" pitchFamily="49" charset="0"/>
              <a:buChar char="o"/>
            </a:pPr>
            <a:r>
              <a:rPr lang="en-IN" sz="900" dirty="0"/>
              <a:t>Fine-tuned LLMs</a:t>
            </a:r>
          </a:p>
          <a:p>
            <a:pPr marL="742950" lvl="1" indent="-285750">
              <a:buFont typeface="Courier New" panose="02070309020205020404" pitchFamily="49" charset="0"/>
              <a:buChar char="o"/>
            </a:pPr>
            <a:endParaRPr lang="en-IN" dirty="0"/>
          </a:p>
        </p:txBody>
      </p:sp>
      <p:sp>
        <p:nvSpPr>
          <p:cNvPr id="3" name="Rounded Rectangle 2">
            <a:extLst>
              <a:ext uri="{FF2B5EF4-FFF2-40B4-BE49-F238E27FC236}">
                <a16:creationId xmlns:a16="http://schemas.microsoft.com/office/drawing/2014/main" id="{F8A19FF2-28DB-F7E3-9575-5C592EADA68F}"/>
              </a:ext>
            </a:extLst>
          </p:cNvPr>
          <p:cNvSpPr/>
          <p:nvPr/>
        </p:nvSpPr>
        <p:spPr>
          <a:xfrm>
            <a:off x="3497483" y="4144315"/>
            <a:ext cx="5197033" cy="252376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IN" dirty="0"/>
          </a:p>
        </p:txBody>
      </p:sp>
      <p:sp>
        <p:nvSpPr>
          <p:cNvPr id="4" name="TextBox 3">
            <a:extLst>
              <a:ext uri="{FF2B5EF4-FFF2-40B4-BE49-F238E27FC236}">
                <a16:creationId xmlns:a16="http://schemas.microsoft.com/office/drawing/2014/main" id="{6EF50137-0F08-97E8-0760-C8AC7CCEFDB5}"/>
              </a:ext>
            </a:extLst>
          </p:cNvPr>
          <p:cNvSpPr txBox="1"/>
          <p:nvPr/>
        </p:nvSpPr>
        <p:spPr>
          <a:xfrm>
            <a:off x="5048441" y="3969942"/>
            <a:ext cx="2290084" cy="369332"/>
          </a:xfrm>
          <a:prstGeom prst="rect">
            <a:avLst/>
          </a:prstGeom>
          <a:solidFill>
            <a:schemeClr val="bg1"/>
          </a:solidFill>
        </p:spPr>
        <p:txBody>
          <a:bodyPr wrap="square" rtlCol="0">
            <a:spAutoFit/>
          </a:bodyPr>
          <a:lstStyle/>
          <a:p>
            <a:pPr algn="ctr"/>
            <a:r>
              <a:rPr lang="en-US" dirty="0"/>
              <a:t>BirdBench Dataset</a:t>
            </a:r>
          </a:p>
        </p:txBody>
      </p:sp>
      <p:sp>
        <p:nvSpPr>
          <p:cNvPr id="5" name="TextBox 4">
            <a:extLst>
              <a:ext uri="{FF2B5EF4-FFF2-40B4-BE49-F238E27FC236}">
                <a16:creationId xmlns:a16="http://schemas.microsoft.com/office/drawing/2014/main" id="{EC2856CC-7978-794F-756B-2EA9AC8B22D4}"/>
              </a:ext>
            </a:extLst>
          </p:cNvPr>
          <p:cNvSpPr txBox="1"/>
          <p:nvPr/>
        </p:nvSpPr>
        <p:spPr>
          <a:xfrm>
            <a:off x="3764665" y="4328980"/>
            <a:ext cx="4662667" cy="2400657"/>
          </a:xfrm>
          <a:prstGeom prst="rect">
            <a:avLst/>
          </a:prstGeom>
          <a:noFill/>
        </p:spPr>
        <p:txBody>
          <a:bodyPr wrap="square" rtlCol="0">
            <a:spAutoFit/>
          </a:bodyPr>
          <a:lstStyle/>
          <a:p>
            <a:pPr marL="171450" indent="-171450">
              <a:buFont typeface="Courier New" panose="02070309020205020404" pitchFamily="49" charset="0"/>
              <a:buChar char="o"/>
            </a:pPr>
            <a:r>
              <a:rPr lang="en-IN" sz="1100" dirty="0"/>
              <a:t>Execution-first evaluation — compares query results, not SQL text</a:t>
            </a:r>
          </a:p>
          <a:p>
            <a:pPr marL="171450" indent="-171450">
              <a:buFont typeface="Courier New" panose="02070309020205020404" pitchFamily="49" charset="0"/>
              <a:buChar char="o"/>
            </a:pPr>
            <a:r>
              <a:rPr lang="en-IN" sz="1100" dirty="0"/>
              <a:t>Real-world query complexity — JOINs, aggregations, filters, dates</a:t>
            </a:r>
          </a:p>
          <a:p>
            <a:pPr marL="171450" indent="-171450">
              <a:buFont typeface="Courier New" panose="02070309020205020404" pitchFamily="49" charset="0"/>
              <a:buChar char="o"/>
            </a:pPr>
            <a:r>
              <a:rPr lang="en-IN" sz="1100" dirty="0"/>
              <a:t>Cross-database support — SQLite, PostgreSQL, MySQL etc.</a:t>
            </a:r>
          </a:p>
          <a:p>
            <a:pPr marL="171450" indent="-171450">
              <a:buFont typeface="Courier New" panose="02070309020205020404" pitchFamily="49" charset="0"/>
              <a:buChar char="o"/>
            </a:pPr>
            <a:r>
              <a:rPr lang="en-IN" sz="1100" dirty="0"/>
              <a:t>Production-aligned benchmark </a:t>
            </a:r>
          </a:p>
          <a:p>
            <a:pPr marL="171450" indent="-171450">
              <a:buFont typeface="Courier New" panose="02070309020205020404" pitchFamily="49" charset="0"/>
              <a:buChar char="o"/>
            </a:pPr>
            <a:r>
              <a:rPr lang="en-IN" sz="1100" dirty="0"/>
              <a:t>Designed for modern LLM systems — execution-guided, agentic pipelines</a:t>
            </a:r>
          </a:p>
          <a:p>
            <a:endParaRPr lang="en-IN" sz="1100" dirty="0"/>
          </a:p>
          <a:p>
            <a:r>
              <a:rPr lang="en-IN" sz="1100" dirty="0"/>
              <a:t>Why BirdBench Is Better Than Spider ?</a:t>
            </a:r>
          </a:p>
          <a:p>
            <a:pPr marL="171450" indent="-171450">
              <a:buFont typeface="Courier New" panose="02070309020205020404" pitchFamily="49" charset="0"/>
              <a:buChar char="o"/>
            </a:pPr>
            <a:r>
              <a:rPr lang="en-IN" sz="1100" dirty="0"/>
              <a:t>Beyond SQL correctness — validates semantic execution accuracy</a:t>
            </a:r>
          </a:p>
          <a:p>
            <a:pPr marL="171450" indent="-171450">
              <a:buFont typeface="Courier New" panose="02070309020205020404" pitchFamily="49" charset="0"/>
              <a:buChar char="o"/>
            </a:pPr>
            <a:r>
              <a:rPr lang="en-IN" sz="1100" dirty="0"/>
              <a:t>Exposes real system failures — joins, types, engine-specific behaviour</a:t>
            </a:r>
          </a:p>
          <a:p>
            <a:pPr marL="171450" indent="-171450">
              <a:buFont typeface="Courier New" panose="02070309020205020404" pitchFamily="49" charset="0"/>
              <a:buChar char="o"/>
            </a:pPr>
            <a:r>
              <a:rPr lang="en-IN" sz="1100" dirty="0"/>
              <a:t>Closer to production reality — tests full NL → DB answer pipeline</a:t>
            </a:r>
          </a:p>
          <a:p>
            <a:endParaRPr lang="en-IN" sz="1100" dirty="0"/>
          </a:p>
          <a:p>
            <a:pPr marL="742950" lvl="1" indent="-285750">
              <a:buFont typeface="Courier New" panose="02070309020205020404" pitchFamily="49" charset="0"/>
              <a:buChar char="o"/>
            </a:pPr>
            <a:endParaRPr lang="en-IN" dirty="0"/>
          </a:p>
        </p:txBody>
      </p:sp>
      <p:pic>
        <p:nvPicPr>
          <p:cNvPr id="9" name="Graphic 8">
            <a:extLst>
              <a:ext uri="{FF2B5EF4-FFF2-40B4-BE49-F238E27FC236}">
                <a16:creationId xmlns:a16="http://schemas.microsoft.com/office/drawing/2014/main" id="{04DA701B-A68B-FFA6-3350-40CB4DA0EC12}"/>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10273980" y="0"/>
            <a:ext cx="289387" cy="349581"/>
          </a:xfrm>
          <a:prstGeom prst="rect">
            <a:avLst/>
          </a:prstGeom>
        </p:spPr>
      </p:pic>
      <p:sp>
        <p:nvSpPr>
          <p:cNvPr id="10" name="TextBox 9">
            <a:extLst>
              <a:ext uri="{FF2B5EF4-FFF2-40B4-BE49-F238E27FC236}">
                <a16:creationId xmlns:a16="http://schemas.microsoft.com/office/drawing/2014/main" id="{25211F44-32FD-A872-9A27-8D915CCA8EFF}"/>
              </a:ext>
            </a:extLst>
          </p:cNvPr>
          <p:cNvSpPr txBox="1"/>
          <p:nvPr/>
        </p:nvSpPr>
        <p:spPr>
          <a:xfrm>
            <a:off x="10563367" y="0"/>
            <a:ext cx="1091821" cy="382137"/>
          </a:xfrm>
          <a:prstGeom prst="rect">
            <a:avLst/>
          </a:prstGeom>
          <a:noFill/>
        </p:spPr>
        <p:txBody>
          <a:bodyPr wrap="square" rtlCol="0">
            <a:spAutoFit/>
          </a:bodyPr>
          <a:lstStyle/>
          <a:p>
            <a:r>
              <a:rPr lang="en-US" dirty="0"/>
              <a:t>Saurabh</a:t>
            </a:r>
          </a:p>
        </p:txBody>
      </p:sp>
    </p:spTree>
    <p:extLst>
      <p:ext uri="{BB962C8B-B14F-4D97-AF65-F5344CB8AC3E}">
        <p14:creationId xmlns:p14="http://schemas.microsoft.com/office/powerpoint/2010/main" val="4030330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BD2DF-6F7E-5446-FF0A-39B750A316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F9DAF2-DD03-F3D3-E60E-22E568449026}"/>
              </a:ext>
            </a:extLst>
          </p:cNvPr>
          <p:cNvSpPr>
            <a:spLocks noGrp="1"/>
          </p:cNvSpPr>
          <p:nvPr>
            <p:ph type="ctrTitle"/>
          </p:nvPr>
        </p:nvSpPr>
        <p:spPr>
          <a:xfrm>
            <a:off x="1523999" y="104798"/>
            <a:ext cx="9668719" cy="1189429"/>
          </a:xfrm>
        </p:spPr>
        <p:txBody>
          <a:bodyPr>
            <a:normAutofit fontScale="90000"/>
          </a:bodyPr>
          <a:lstStyle/>
          <a:p>
            <a:r>
              <a:rPr lang="en-US" sz="6700" dirty="0"/>
              <a:t>Additional Concepts </a:t>
            </a:r>
            <a:r>
              <a:rPr lang="en-US" dirty="0"/>
              <a:t>: </a:t>
            </a:r>
            <a:r>
              <a:rPr lang="en-US" sz="4400" dirty="0"/>
              <a:t>Graph vs AST</a:t>
            </a:r>
          </a:p>
        </p:txBody>
      </p:sp>
      <p:sp>
        <p:nvSpPr>
          <p:cNvPr id="3" name="Bent Arrow 57">
            <a:extLst>
              <a:ext uri="{FF2B5EF4-FFF2-40B4-BE49-F238E27FC236}">
                <a16:creationId xmlns:a16="http://schemas.microsoft.com/office/drawing/2014/main" id="{40173F67-68EC-60B5-5941-01D66F293D7A}"/>
              </a:ext>
            </a:extLst>
          </p:cNvPr>
          <p:cNvSpPr/>
          <p:nvPr/>
        </p:nvSpPr>
        <p:spPr>
          <a:xfrm flipH="1">
            <a:off x="3483897" y="2745013"/>
            <a:ext cx="3356551" cy="4101371"/>
          </a:xfrm>
          <a:prstGeom prst="bentArrow">
            <a:avLst>
              <a:gd name="adj1" fmla="val 12199"/>
              <a:gd name="adj2" fmla="val 11563"/>
              <a:gd name="adj3" fmla="val 11938"/>
              <a:gd name="adj4" fmla="val 249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2A2833"/>
              </a:solidFill>
              <a:effectLst/>
              <a:uLnTx/>
              <a:uFillTx/>
              <a:latin typeface="Calibri"/>
              <a:ea typeface="+mn-ea"/>
              <a:cs typeface="+mn-cs"/>
            </a:endParaRPr>
          </a:p>
        </p:txBody>
      </p:sp>
      <p:sp>
        <p:nvSpPr>
          <p:cNvPr id="4" name="Bent Arrow 58">
            <a:extLst>
              <a:ext uri="{FF2B5EF4-FFF2-40B4-BE49-F238E27FC236}">
                <a16:creationId xmlns:a16="http://schemas.microsoft.com/office/drawing/2014/main" id="{1F217D6D-D99B-9D8E-F808-7D954D334AEA}"/>
              </a:ext>
            </a:extLst>
          </p:cNvPr>
          <p:cNvSpPr/>
          <p:nvPr/>
        </p:nvSpPr>
        <p:spPr>
          <a:xfrm>
            <a:off x="5403372" y="2103384"/>
            <a:ext cx="3208738" cy="4743001"/>
          </a:xfrm>
          <a:prstGeom prst="bentArrow">
            <a:avLst>
              <a:gd name="adj1" fmla="val 12413"/>
              <a:gd name="adj2" fmla="val 11175"/>
              <a:gd name="adj3" fmla="val 12526"/>
              <a:gd name="adj4" fmla="val 33132"/>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2A2833"/>
              </a:solidFill>
              <a:effectLst/>
              <a:uLnTx/>
              <a:uFillTx/>
              <a:latin typeface="Calibri"/>
              <a:ea typeface="+mn-ea"/>
              <a:cs typeface="+mn-cs"/>
            </a:endParaRPr>
          </a:p>
        </p:txBody>
      </p:sp>
      <p:sp>
        <p:nvSpPr>
          <p:cNvPr id="5" name="Bent Arrow 59">
            <a:extLst>
              <a:ext uri="{FF2B5EF4-FFF2-40B4-BE49-F238E27FC236}">
                <a16:creationId xmlns:a16="http://schemas.microsoft.com/office/drawing/2014/main" id="{C12348D5-8B1A-6FEA-B1AE-C9B500C2C2BC}"/>
              </a:ext>
            </a:extLst>
          </p:cNvPr>
          <p:cNvSpPr/>
          <p:nvPr/>
        </p:nvSpPr>
        <p:spPr>
          <a:xfrm>
            <a:off x="6923664" y="4222078"/>
            <a:ext cx="1703791" cy="2624306"/>
          </a:xfrm>
          <a:prstGeom prst="bentArrow">
            <a:avLst>
              <a:gd name="adj1" fmla="val 24350"/>
              <a:gd name="adj2" fmla="val 20879"/>
              <a:gd name="adj3" fmla="val 22762"/>
              <a:gd name="adj4" fmla="val 4519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2A2833"/>
              </a:solidFill>
              <a:effectLst/>
              <a:uLnTx/>
              <a:uFillTx/>
              <a:latin typeface="Calibri"/>
              <a:ea typeface="+mn-ea"/>
              <a:cs typeface="+mn-cs"/>
            </a:endParaRPr>
          </a:p>
        </p:txBody>
      </p:sp>
      <p:sp>
        <p:nvSpPr>
          <p:cNvPr id="6" name="Bent Arrow 60">
            <a:extLst>
              <a:ext uri="{FF2B5EF4-FFF2-40B4-BE49-F238E27FC236}">
                <a16:creationId xmlns:a16="http://schemas.microsoft.com/office/drawing/2014/main" id="{9DB51512-8FE3-E982-E606-FC96F1D66AE7}"/>
              </a:ext>
            </a:extLst>
          </p:cNvPr>
          <p:cNvSpPr/>
          <p:nvPr/>
        </p:nvSpPr>
        <p:spPr>
          <a:xfrm flipH="1">
            <a:off x="3562031" y="3896992"/>
            <a:ext cx="2777310" cy="2949393"/>
          </a:xfrm>
          <a:prstGeom prst="bentArrow">
            <a:avLst>
              <a:gd name="adj1" fmla="val 15017"/>
              <a:gd name="adj2" fmla="val 17228"/>
              <a:gd name="adj3" fmla="val 17138"/>
              <a:gd name="adj4" fmla="val 338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2A2833"/>
              </a:solidFill>
              <a:effectLst/>
              <a:uLnTx/>
              <a:uFillTx/>
              <a:latin typeface="Calibri"/>
              <a:ea typeface="+mn-ea"/>
              <a:cs typeface="+mn-cs"/>
            </a:endParaRPr>
          </a:p>
        </p:txBody>
      </p:sp>
      <p:sp>
        <p:nvSpPr>
          <p:cNvPr id="7" name="Текст 2">
            <a:extLst>
              <a:ext uri="{FF2B5EF4-FFF2-40B4-BE49-F238E27FC236}">
                <a16:creationId xmlns:a16="http://schemas.microsoft.com/office/drawing/2014/main" id="{BAFC9353-3B6D-184F-1F23-123D8FA3AB71}"/>
              </a:ext>
            </a:extLst>
          </p:cNvPr>
          <p:cNvSpPr txBox="1">
            <a:spLocks/>
          </p:cNvSpPr>
          <p:nvPr/>
        </p:nvSpPr>
        <p:spPr>
          <a:xfrm>
            <a:off x="402220" y="2103437"/>
            <a:ext cx="3097213" cy="17935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2438401"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 sz="2400" b="1" i="0" u="none" strike="noStrike" kern="1200" cap="none" spc="0" normalizeH="0" baseline="0" noProof="0" dirty="0">
                <a:ln>
                  <a:noFill/>
                </a:ln>
                <a:solidFill>
                  <a:srgbClr val="065381">
                    <a:lumMod val="60000"/>
                    <a:lumOff val="40000"/>
                  </a:srgbClr>
                </a:solidFill>
                <a:effectLst/>
                <a:uLnTx/>
                <a:uFillTx/>
                <a:latin typeface="Poppins" panose="00000500000000000000" pitchFamily="2" charset="0"/>
                <a:ea typeface="Tahoma" panose="020B0604030504040204" pitchFamily="34" charset="0"/>
                <a:cs typeface="Poppins" panose="00000500000000000000" pitchFamily="2" charset="0"/>
              </a:rPr>
              <a:t>D</a:t>
            </a:r>
            <a:r>
              <a:rPr kumimoji="0" lang="en" sz="2800" b="1" i="0" u="none" strike="noStrike" kern="1200" cap="none" spc="0" normalizeH="0" baseline="0" noProof="0" dirty="0">
                <a:ln>
                  <a:noFill/>
                </a:ln>
                <a:solidFill>
                  <a:srgbClr val="065381">
                    <a:lumMod val="60000"/>
                    <a:lumOff val="40000"/>
                  </a:srgbClr>
                </a:solidFill>
                <a:effectLst/>
                <a:uLnTx/>
                <a:uFillTx/>
                <a:latin typeface="Poppins" panose="00000500000000000000" pitchFamily="2" charset="0"/>
                <a:ea typeface="Tahoma" panose="020B0604030504040204" pitchFamily="34" charset="0"/>
                <a:cs typeface="Poppins" panose="00000500000000000000" pitchFamily="2" charset="0"/>
              </a:rPr>
              <a:t> </a:t>
            </a:r>
            <a:r>
              <a:rPr kumimoji="0" lang="en" sz="1800" b="1" i="0" u="none" strike="noStrike" kern="1200" cap="none" spc="0" normalizeH="0" baseline="0" noProof="0" dirty="0">
                <a:ln>
                  <a:noFill/>
                </a:ln>
                <a:solidFill>
                  <a:srgbClr val="065381">
                    <a:lumMod val="60000"/>
                    <a:lumOff val="40000"/>
                  </a:srgbClr>
                </a:solidFill>
                <a:effectLst/>
                <a:uLnTx/>
                <a:uFillTx/>
                <a:latin typeface="Poppins" panose="00000500000000000000" pitchFamily="2" charset="0"/>
                <a:ea typeface="Tahoma" panose="020B0604030504040204" pitchFamily="34" charset="0"/>
                <a:cs typeface="Poppins" panose="00000500000000000000" pitchFamily="2" charset="0"/>
              </a:rPr>
              <a:t>Usage in Capstone</a:t>
            </a:r>
          </a:p>
          <a:p>
            <a:r>
              <a:rPr lang="en-I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AST: SQL2NoSQL</a:t>
            </a:r>
          </a:p>
          <a:p>
            <a:r>
              <a:rPr lang="en-I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Graph</a:t>
            </a:r>
            <a:r>
              <a:rPr lang="en-IN" sz="1400" b="1" dirty="0"/>
              <a:t>: </a:t>
            </a:r>
            <a:r>
              <a:rPr lang="en-I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text2SQL</a:t>
            </a:r>
          </a:p>
          <a:p>
            <a:pPr lvl="1"/>
            <a:endParaRPr lang="en-I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endParaRPr>
          </a:p>
        </p:txBody>
      </p:sp>
      <p:sp>
        <p:nvSpPr>
          <p:cNvPr id="8" name="Текст 2">
            <a:extLst>
              <a:ext uri="{FF2B5EF4-FFF2-40B4-BE49-F238E27FC236}">
                <a16:creationId xmlns:a16="http://schemas.microsoft.com/office/drawing/2014/main" id="{338838FE-999C-8155-ED29-53DCEC4D8834}"/>
              </a:ext>
            </a:extLst>
          </p:cNvPr>
          <p:cNvSpPr txBox="1">
            <a:spLocks/>
          </p:cNvSpPr>
          <p:nvPr/>
        </p:nvSpPr>
        <p:spPr>
          <a:xfrm>
            <a:off x="137184" y="4004445"/>
            <a:ext cx="3263497" cy="2734485"/>
          </a:xfrm>
          <a:prstGeom prst="rect">
            <a:avLst/>
          </a:prstGeom>
        </p:spPr>
        <p:txBody>
          <a:bodyPr vert="horz" lIns="91439" tIns="45720" rIns="91439" bIns="45720" rtlCol="0">
            <a:noAutofit/>
          </a:bodyPr>
          <a:lstStyle>
            <a:lvl1pPr marL="228600" indent="-228600" algn="ctr" defTabSz="914400" rtl="0" eaLnBrk="1" latinLnBrk="0" hangingPunct="1">
              <a:lnSpc>
                <a:spcPct val="120000"/>
              </a:lnSpc>
              <a:spcBef>
                <a:spcPts val="636"/>
              </a:spcBef>
              <a:buFont typeface="Arial" panose="020B0604020202020204" pitchFamily="34" charset="0"/>
              <a:buChar char="•"/>
              <a:defRPr lang="en-US" sz="1400" b="0" i="0" kern="1200" baseline="0" dirty="0">
                <a:solidFill>
                  <a:schemeClr val="tx2"/>
                </a:solidFill>
                <a:latin typeface="Tahoma" charset="0"/>
                <a:ea typeface="Tahoma" charset="0"/>
                <a:cs typeface="Tahoma"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2438401"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 sz="2400" b="1" i="0" u="none" strike="noStrike" kern="1200" cap="none" spc="0" normalizeH="0" baseline="0" noProof="0" dirty="0">
                <a:ln>
                  <a:noFill/>
                </a:ln>
                <a:solidFill>
                  <a:srgbClr val="FE0214"/>
                </a:solidFill>
                <a:effectLst/>
                <a:uLnTx/>
                <a:uFillTx/>
                <a:latin typeface="Poppins" panose="00000500000000000000" pitchFamily="2" charset="0"/>
                <a:ea typeface="Tahoma" panose="020B0604030504040204" pitchFamily="34" charset="0"/>
                <a:cs typeface="Poppins" panose="00000500000000000000" pitchFamily="2" charset="0"/>
              </a:rPr>
              <a:t>C </a:t>
            </a:r>
            <a:r>
              <a:rPr kumimoji="0" lang="en" sz="1800" b="1" i="0" u="none" strike="noStrike" kern="1200" cap="none" spc="0" normalizeH="0" baseline="0" noProof="0" dirty="0">
                <a:ln>
                  <a:noFill/>
                </a:ln>
                <a:solidFill>
                  <a:srgbClr val="FE0214"/>
                </a:solidFill>
                <a:effectLst/>
                <a:uLnTx/>
                <a:uFillTx/>
                <a:latin typeface="Poppins" panose="00000500000000000000" pitchFamily="2" charset="0"/>
                <a:ea typeface="Tahoma" panose="020B0604030504040204" pitchFamily="34" charset="0"/>
                <a:cs typeface="Poppins" panose="00000500000000000000" pitchFamily="2" charset="0"/>
              </a:rPr>
              <a:t>Information</a:t>
            </a:r>
            <a:r>
              <a:rPr kumimoji="0" lang="en" sz="1800" b="1" i="0" u="none" strike="noStrike" kern="1200" cap="none" spc="0" normalizeH="0" noProof="0" dirty="0">
                <a:ln>
                  <a:noFill/>
                </a:ln>
                <a:solidFill>
                  <a:srgbClr val="FE0214"/>
                </a:solidFill>
                <a:effectLst/>
                <a:uLnTx/>
                <a:uFillTx/>
                <a:latin typeface="Poppins" panose="00000500000000000000" pitchFamily="2" charset="0"/>
                <a:ea typeface="Tahoma" panose="020B0604030504040204" pitchFamily="34" charset="0"/>
                <a:cs typeface="Poppins" panose="00000500000000000000" pitchFamily="2" charset="0"/>
              </a:rPr>
              <a:t> Encoding</a:t>
            </a:r>
            <a:endParaRPr kumimoji="0" lang="en" sz="1800" b="1" i="0" u="none" strike="noStrike" kern="1200" cap="none" spc="0" normalizeH="0" baseline="0" noProof="0" dirty="0">
              <a:ln>
                <a:noFill/>
              </a:ln>
              <a:solidFill>
                <a:srgbClr val="FE0214"/>
              </a:solidFill>
              <a:effectLst/>
              <a:uLnTx/>
              <a:uFillTx/>
              <a:latin typeface="Poppins" panose="00000500000000000000" pitchFamily="2" charset="0"/>
              <a:ea typeface="Tahoma" panose="020B0604030504040204" pitchFamily="34" charset="0"/>
              <a:cs typeface="Poppins" panose="00000500000000000000" pitchFamily="2" charset="0"/>
            </a:endParaRPr>
          </a:p>
          <a:p>
            <a:pPr algn="l"/>
            <a:r>
              <a:rPr lang="en-I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AST:</a:t>
            </a:r>
          </a:p>
          <a:p>
            <a:pPr lvl="1"/>
            <a:r>
              <a:rPr lang="en-I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Encodes expression-level meaning</a:t>
            </a:r>
          </a:p>
          <a:p>
            <a:pPr lvl="1"/>
            <a:r>
              <a:rPr lang="en-I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Captures order, nesting, precedence</a:t>
            </a:r>
          </a:p>
          <a:p>
            <a:pPr lvl="1"/>
            <a:r>
              <a:rPr lang="en-I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Good for understanding how a query is constructed</a:t>
            </a:r>
          </a:p>
          <a:p>
            <a:pPr algn="l"/>
            <a:r>
              <a:rPr lang="en-I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Graph</a:t>
            </a:r>
            <a:r>
              <a:rPr lang="en-IN" sz="1000" b="1" dirty="0"/>
              <a:t>:</a:t>
            </a:r>
          </a:p>
          <a:p>
            <a:pPr lvl="1"/>
            <a:r>
              <a:rPr lang="en-I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Encodes relational meaning</a:t>
            </a:r>
          </a:p>
          <a:p>
            <a:pPr lvl="1"/>
            <a:r>
              <a:rPr lang="en-I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Which table relates to which</a:t>
            </a:r>
          </a:p>
          <a:p>
            <a:pPr lvl="1"/>
            <a:r>
              <a:rPr lang="en-I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Which column belongs to which table</a:t>
            </a:r>
          </a:p>
          <a:p>
            <a:pPr lvl="1"/>
            <a:r>
              <a:rPr lang="en-I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Relationship types matter (PK/FK)</a:t>
            </a:r>
          </a:p>
          <a:p>
            <a:pPr lvl="1"/>
            <a:endParaRPr lang="en-I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endParaRPr>
          </a:p>
          <a:p>
            <a:endParaRPr lang="en-IN" sz="1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endParaRPr>
          </a:p>
          <a:p>
            <a:r>
              <a:rPr lang="en-IN" sz="1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Graph </a:t>
            </a:r>
          </a:p>
          <a:p>
            <a:r>
              <a:rPr lang="en-IN" sz="1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G	</a:t>
            </a:r>
          </a:p>
          <a:p>
            <a:endParaRPr lang="en-IN" sz="1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endParaRPr>
          </a:p>
          <a:p>
            <a:endParaRPr lang="en-IN" sz="1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endParaRPr>
          </a:p>
          <a:p>
            <a:r>
              <a:rPr lang="en-IN" sz="1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Graph </a:t>
            </a:r>
          </a:p>
        </p:txBody>
      </p:sp>
      <p:sp>
        <p:nvSpPr>
          <p:cNvPr id="9" name="Текст 2">
            <a:extLst>
              <a:ext uri="{FF2B5EF4-FFF2-40B4-BE49-F238E27FC236}">
                <a16:creationId xmlns:a16="http://schemas.microsoft.com/office/drawing/2014/main" id="{8B560E79-BB67-5DC3-2C72-BC8FD224C000}"/>
              </a:ext>
            </a:extLst>
          </p:cNvPr>
          <p:cNvSpPr txBox="1">
            <a:spLocks/>
          </p:cNvSpPr>
          <p:nvPr/>
        </p:nvSpPr>
        <p:spPr>
          <a:xfrm>
            <a:off x="8627455" y="2103384"/>
            <a:ext cx="3095981" cy="1572614"/>
          </a:xfrm>
          <a:prstGeom prst="rect">
            <a:avLst/>
          </a:prstGeom>
        </p:spPr>
        <p:txBody>
          <a:bodyPr vert="horz" lIns="91439" tIns="45720" rIns="91439" bIns="45720" rtlCol="0">
            <a:noAutofit/>
          </a:bodyPr>
          <a:lstStyle>
            <a:lvl1pPr marL="228600" indent="-228600" algn="ctr" defTabSz="914400" rtl="0" eaLnBrk="1" latinLnBrk="0" hangingPunct="1">
              <a:lnSpc>
                <a:spcPct val="120000"/>
              </a:lnSpc>
              <a:spcBef>
                <a:spcPts val="636"/>
              </a:spcBef>
              <a:buFont typeface="Arial" panose="020B0604020202020204" pitchFamily="34" charset="0"/>
              <a:buChar char="•"/>
              <a:defRPr lang="en-US" sz="1400" b="0" i="0" kern="1200" baseline="0" dirty="0">
                <a:solidFill>
                  <a:schemeClr val="tx2"/>
                </a:solidFill>
                <a:latin typeface="Tahoma" charset="0"/>
                <a:ea typeface="Tahoma" charset="0"/>
                <a:cs typeface="Tahoma"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2438401"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 sz="2400" b="1" i="0" u="none" strike="noStrike" kern="1200" cap="none" spc="0" normalizeH="0" baseline="0" noProof="0" dirty="0">
                <a:ln>
                  <a:noFill/>
                </a:ln>
                <a:solidFill>
                  <a:srgbClr val="07D1EA"/>
                </a:solidFill>
                <a:effectLst/>
                <a:uLnTx/>
                <a:uFillTx/>
                <a:latin typeface="Poppins" panose="00000500000000000000" pitchFamily="2" charset="0"/>
                <a:ea typeface="Tahoma" panose="020B0604030504040204" pitchFamily="34" charset="0"/>
                <a:cs typeface="Poppins" panose="00000500000000000000" pitchFamily="2" charset="0"/>
              </a:rPr>
              <a:t>A </a:t>
            </a:r>
            <a:r>
              <a:rPr kumimoji="0" lang="en" sz="1800" b="1" i="0" u="none" strike="noStrike" kern="1200" cap="none" spc="0" normalizeH="0" baseline="0" noProof="0" dirty="0">
                <a:ln>
                  <a:noFill/>
                </a:ln>
                <a:solidFill>
                  <a:srgbClr val="07D1EA"/>
                </a:solidFill>
                <a:effectLst/>
                <a:uLnTx/>
                <a:uFillTx/>
                <a:latin typeface="Poppins" panose="00000500000000000000" pitchFamily="2" charset="0"/>
                <a:ea typeface="Tahoma" panose="020B0604030504040204" pitchFamily="34" charset="0"/>
                <a:cs typeface="Poppins" panose="00000500000000000000" pitchFamily="2" charset="0"/>
              </a:rPr>
              <a:t>Definition</a:t>
            </a:r>
            <a:endParaRPr kumimoji="0" lang="en" sz="2400" b="1" i="0" u="none" strike="noStrike" kern="1200" cap="none" spc="0" normalizeH="0" baseline="0" noProof="0" dirty="0">
              <a:ln>
                <a:noFill/>
              </a:ln>
              <a:solidFill>
                <a:srgbClr val="07D1EA"/>
              </a:solidFill>
              <a:effectLst/>
              <a:uLnTx/>
              <a:uFillTx/>
              <a:latin typeface="Poppins" panose="00000500000000000000" pitchFamily="2" charset="0"/>
              <a:ea typeface="Tahoma" panose="020B0604030504040204" pitchFamily="34" charset="0"/>
              <a:cs typeface="Poppins" panose="00000500000000000000" pitchFamily="2" charset="0"/>
            </a:endParaRPr>
          </a:p>
          <a:p>
            <a:pPr algn="l" defTabSz="457109">
              <a:lnSpc>
                <a:spcPct val="150000"/>
              </a:lnSpc>
              <a:spcBef>
                <a:spcPts val="318"/>
              </a:spcBef>
              <a:defRPr/>
            </a:pPr>
            <a:r>
              <a:rPr lang="en-I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AST represents syntactic structure of SQL — the grammar</a:t>
            </a:r>
            <a:r>
              <a:rPr lang="en-IN" sz="1000" dirty="0"/>
              <a:t>. </a:t>
            </a:r>
            <a:r>
              <a:rPr lang="en-I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Focusses on syntactic hierarchy</a:t>
            </a:r>
          </a:p>
          <a:p>
            <a:pPr algn="l" defTabSz="457109">
              <a:lnSpc>
                <a:spcPct val="150000"/>
              </a:lnSpc>
              <a:spcBef>
                <a:spcPts val="318"/>
              </a:spcBef>
              <a:defRPr/>
            </a:pPr>
            <a:r>
              <a:rPr lang="e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Graph = Semantic relationships</a:t>
            </a:r>
          </a:p>
        </p:txBody>
      </p:sp>
      <p:sp>
        <p:nvSpPr>
          <p:cNvPr id="10" name="Текст 2">
            <a:extLst>
              <a:ext uri="{FF2B5EF4-FFF2-40B4-BE49-F238E27FC236}">
                <a16:creationId xmlns:a16="http://schemas.microsoft.com/office/drawing/2014/main" id="{060149B7-81D9-880C-794C-22A49978CBA1}"/>
              </a:ext>
            </a:extLst>
          </p:cNvPr>
          <p:cNvSpPr txBox="1">
            <a:spLocks/>
          </p:cNvSpPr>
          <p:nvPr/>
        </p:nvSpPr>
        <p:spPr>
          <a:xfrm>
            <a:off x="8627455" y="4018716"/>
            <a:ext cx="3095981" cy="2382083"/>
          </a:xfrm>
          <a:prstGeom prst="rect">
            <a:avLst/>
          </a:prstGeom>
        </p:spPr>
        <p:txBody>
          <a:bodyPr vert="horz" lIns="91439" tIns="45720" rIns="91439" bIns="45720" rtlCol="0">
            <a:noAutofit/>
          </a:bodyPr>
          <a:lstStyle>
            <a:lvl1pPr marL="228600" indent="-228600" algn="ctr" defTabSz="914400" rtl="0" eaLnBrk="1" latinLnBrk="0" hangingPunct="1">
              <a:lnSpc>
                <a:spcPct val="120000"/>
              </a:lnSpc>
              <a:spcBef>
                <a:spcPts val="636"/>
              </a:spcBef>
              <a:buFont typeface="Arial" panose="020B0604020202020204" pitchFamily="34" charset="0"/>
              <a:buChar char="•"/>
              <a:defRPr lang="en-US" sz="1400" b="0" i="0" kern="1200" baseline="0" dirty="0">
                <a:solidFill>
                  <a:schemeClr val="tx2"/>
                </a:solidFill>
                <a:latin typeface="Tahoma" charset="0"/>
                <a:ea typeface="Tahoma" charset="0"/>
                <a:cs typeface="Tahoma"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2438401"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 sz="2400" b="1" i="0" u="none" strike="noStrike" kern="1200" cap="none" spc="0" normalizeH="0" baseline="0" noProof="0" dirty="0">
                <a:ln>
                  <a:noFill/>
                </a:ln>
                <a:solidFill>
                  <a:srgbClr val="FFD500"/>
                </a:solidFill>
                <a:effectLst/>
                <a:uLnTx/>
                <a:uFillTx/>
                <a:latin typeface="Poppins" panose="00000500000000000000" pitchFamily="2" charset="0"/>
                <a:ea typeface="Tahoma" panose="020B0604030504040204" pitchFamily="34" charset="0"/>
                <a:cs typeface="Poppins" panose="00000500000000000000" pitchFamily="2" charset="0"/>
              </a:rPr>
              <a:t>B</a:t>
            </a:r>
            <a:r>
              <a:rPr kumimoji="0" lang="en" sz="1400" b="1" i="0" u="none" strike="noStrike" kern="1200" cap="none" spc="0" normalizeH="0" baseline="0" noProof="0" dirty="0">
                <a:ln>
                  <a:noFill/>
                </a:ln>
                <a:solidFill>
                  <a:srgbClr val="FFD500"/>
                </a:solidFill>
                <a:effectLst/>
                <a:uLnTx/>
                <a:uFillTx/>
                <a:latin typeface="Poppins" panose="00000500000000000000" pitchFamily="2" charset="0"/>
                <a:ea typeface="Tahoma" panose="020B0604030504040204" pitchFamily="34" charset="0"/>
                <a:cs typeface="Poppins" panose="00000500000000000000" pitchFamily="2" charset="0"/>
              </a:rPr>
              <a:t> </a:t>
            </a:r>
            <a:r>
              <a:rPr kumimoji="0" lang="en" sz="1800" b="1" i="0" u="none" strike="noStrike" kern="1200" cap="none" spc="0" normalizeH="0" baseline="0" noProof="0" dirty="0">
                <a:ln>
                  <a:noFill/>
                </a:ln>
                <a:solidFill>
                  <a:srgbClr val="FFD500"/>
                </a:solidFill>
                <a:effectLst/>
                <a:uLnTx/>
                <a:uFillTx/>
                <a:latin typeface="Poppins" panose="00000500000000000000" pitchFamily="2" charset="0"/>
                <a:ea typeface="Tahoma" panose="020B0604030504040204" pitchFamily="34" charset="0"/>
                <a:cs typeface="Poppins" panose="00000500000000000000" pitchFamily="2" charset="0"/>
              </a:rPr>
              <a:t>Structure</a:t>
            </a:r>
            <a:endParaRPr kumimoji="0" lang="en" sz="1400" b="1" i="0" u="none" strike="noStrike" kern="1200" cap="none" spc="0" normalizeH="0" baseline="0" noProof="0" dirty="0">
              <a:ln>
                <a:noFill/>
              </a:ln>
              <a:solidFill>
                <a:srgbClr val="FFD500"/>
              </a:solidFill>
              <a:effectLst/>
              <a:uLnTx/>
              <a:uFillTx/>
              <a:latin typeface="Poppins" panose="00000500000000000000" pitchFamily="2" charset="0"/>
              <a:ea typeface="Tahoma" panose="020B0604030504040204" pitchFamily="34" charset="0"/>
              <a:cs typeface="Poppins" panose="00000500000000000000" pitchFamily="2" charset="0"/>
            </a:endParaRPr>
          </a:p>
          <a:p>
            <a:pPr algn="l" defTabSz="457109">
              <a:lnSpc>
                <a:spcPct val="150000"/>
              </a:lnSpc>
              <a:spcBef>
                <a:spcPts val="318"/>
              </a:spcBef>
              <a:defRPr/>
            </a:pPr>
            <a:r>
              <a:rPr kumimoji="0" lang="en" sz="1000" b="0" i="0" u="none" strike="noStrike" kern="1200" cap="none" spc="0" normalizeH="0" baseline="0" noProof="0" dirty="0">
                <a:ln>
                  <a:noFill/>
                </a:ln>
                <a:solidFill>
                  <a:srgbClr val="2A2834">
                    <a:lumMod val="75000"/>
                    <a:lumOff val="25000"/>
                  </a:srgbClr>
                </a:solidFill>
                <a:effectLst/>
                <a:uLnTx/>
                <a:uFillTx/>
                <a:latin typeface="Poppins" panose="00000500000000000000" pitchFamily="2" charset="0"/>
                <a:ea typeface="Tahoma" panose="020B0604030504040204" pitchFamily="34" charset="0"/>
                <a:cs typeface="Poppins" panose="00000500000000000000" pitchFamily="2" charset="0"/>
              </a:rPr>
              <a:t>AST is always a tree , Single parent per node , No Cycles,</a:t>
            </a:r>
            <a:r>
              <a:rPr kumimoji="0" lang="en" sz="1000" b="0" i="0" u="none" strike="noStrike" kern="1200" cap="none" spc="0" normalizeH="0" noProof="0" dirty="0">
                <a:ln>
                  <a:noFill/>
                </a:ln>
                <a:solidFill>
                  <a:srgbClr val="2A2834">
                    <a:lumMod val="75000"/>
                    <a:lumOff val="25000"/>
                  </a:srgbClr>
                </a:solidFill>
                <a:effectLst/>
                <a:uLnTx/>
                <a:uFillTx/>
                <a:latin typeface="Poppins" panose="00000500000000000000" pitchFamily="2" charset="0"/>
                <a:ea typeface="Tahoma" panose="020B0604030504040204" pitchFamily="34" charset="0"/>
                <a:cs typeface="Poppins" panose="00000500000000000000" pitchFamily="2" charset="0"/>
              </a:rPr>
              <a:t> Strict hierarchical order </a:t>
            </a:r>
          </a:p>
          <a:p>
            <a:pPr algn="l" defTabSz="457109">
              <a:lnSpc>
                <a:spcPct val="150000"/>
              </a:lnSpc>
              <a:spcBef>
                <a:spcPts val="318"/>
              </a:spcBef>
              <a:defRPr/>
            </a:pPr>
            <a:r>
              <a:rPr lang="en" sz="1000" baseline="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Graph</a:t>
            </a:r>
            <a:r>
              <a:rPr lang="e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 General Graph structure, Nodes can have many connections , Support cycles , No fixed hi</a:t>
            </a:r>
            <a:r>
              <a:rPr lang="en-I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e</a:t>
            </a:r>
            <a:r>
              <a:rPr lang="en" sz="1000" dirty="0" err="1">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rarchy</a:t>
            </a:r>
            <a:r>
              <a:rPr lang="en" sz="1000" dirty="0">
                <a:solidFill>
                  <a:srgbClr val="2A2834">
                    <a:lumMod val="75000"/>
                    <a:lumOff val="25000"/>
                  </a:srgbClr>
                </a:solidFill>
                <a:latin typeface="Poppins" panose="00000500000000000000" pitchFamily="2" charset="0"/>
                <a:ea typeface="Tahoma" panose="020B0604030504040204" pitchFamily="34" charset="0"/>
                <a:cs typeface="Poppins" panose="00000500000000000000" pitchFamily="2" charset="0"/>
              </a:rPr>
              <a:t> </a:t>
            </a:r>
            <a:endParaRPr kumimoji="0" lang="en" sz="1000" b="0" i="0" u="none" strike="noStrike" kern="1200" cap="none" spc="0" normalizeH="0" baseline="0" noProof="0" dirty="0">
              <a:ln>
                <a:noFill/>
              </a:ln>
              <a:solidFill>
                <a:srgbClr val="2A2834">
                  <a:lumMod val="75000"/>
                  <a:lumOff val="25000"/>
                </a:srgbClr>
              </a:solidFill>
              <a:effectLst/>
              <a:uLnTx/>
              <a:uFillTx/>
              <a:latin typeface="Poppins" panose="00000500000000000000" pitchFamily="2" charset="0"/>
              <a:ea typeface="Tahoma" panose="020B0604030504040204" pitchFamily="34" charset="0"/>
              <a:cs typeface="Poppins" panose="00000500000000000000" pitchFamily="2" charset="0"/>
            </a:endParaRPr>
          </a:p>
        </p:txBody>
      </p:sp>
      <p:pic>
        <p:nvPicPr>
          <p:cNvPr id="11" name="Graphic 10">
            <a:extLst>
              <a:ext uri="{FF2B5EF4-FFF2-40B4-BE49-F238E27FC236}">
                <a16:creationId xmlns:a16="http://schemas.microsoft.com/office/drawing/2014/main" id="{59290EC4-2CEF-8091-E45F-83CEA3D80086}"/>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10273980" y="0"/>
            <a:ext cx="289387" cy="349581"/>
          </a:xfrm>
          <a:prstGeom prst="rect">
            <a:avLst/>
          </a:prstGeom>
        </p:spPr>
      </p:pic>
      <p:sp>
        <p:nvSpPr>
          <p:cNvPr id="12" name="TextBox 11">
            <a:extLst>
              <a:ext uri="{FF2B5EF4-FFF2-40B4-BE49-F238E27FC236}">
                <a16:creationId xmlns:a16="http://schemas.microsoft.com/office/drawing/2014/main" id="{3C3FFBD2-AAF6-7DAF-9149-92E6A6E5EDD2}"/>
              </a:ext>
            </a:extLst>
          </p:cNvPr>
          <p:cNvSpPr txBox="1"/>
          <p:nvPr/>
        </p:nvSpPr>
        <p:spPr>
          <a:xfrm>
            <a:off x="10563367" y="0"/>
            <a:ext cx="1091821" cy="382137"/>
          </a:xfrm>
          <a:prstGeom prst="rect">
            <a:avLst/>
          </a:prstGeom>
          <a:noFill/>
        </p:spPr>
        <p:txBody>
          <a:bodyPr wrap="square" rtlCol="0">
            <a:spAutoFit/>
          </a:bodyPr>
          <a:lstStyle/>
          <a:p>
            <a:r>
              <a:rPr lang="en-US" dirty="0"/>
              <a:t>Saurabh</a:t>
            </a:r>
          </a:p>
        </p:txBody>
      </p:sp>
    </p:spTree>
    <p:extLst>
      <p:ext uri="{BB962C8B-B14F-4D97-AF65-F5344CB8AC3E}">
        <p14:creationId xmlns:p14="http://schemas.microsoft.com/office/powerpoint/2010/main" val="2050630053"/>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14:presetBounceEnd="50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50000">
                                          <p:cBhvr additive="base">
                                            <p:cTn id="7" dur="500" fill="hold"/>
                                            <p:tgtEl>
                                              <p:spTgt spid="3"/>
                                            </p:tgtEl>
                                            <p:attrNameLst>
                                              <p:attrName>ppt_x</p:attrName>
                                            </p:attrNameLst>
                                          </p:cBhvr>
                                          <p:tavLst>
                                            <p:tav tm="0">
                                              <p:val>
                                                <p:strVal val="#ppt_x"/>
                                              </p:val>
                                            </p:tav>
                                            <p:tav tm="100000">
                                              <p:val>
                                                <p:strVal val="#ppt_x"/>
                                              </p:val>
                                            </p:tav>
                                          </p:tavLst>
                                        </p:anim>
                                        <p:anim calcmode="lin" valueType="num" p14:bounceEnd="50000">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14:presetBounceEnd="50000">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14:bounceEnd="50000">
                                          <p:cBhvr additive="base">
                                            <p:cTn id="12" dur="500" fill="hold"/>
                                            <p:tgtEl>
                                              <p:spTgt spid="4"/>
                                            </p:tgtEl>
                                            <p:attrNameLst>
                                              <p:attrName>ppt_x</p:attrName>
                                            </p:attrNameLst>
                                          </p:cBhvr>
                                          <p:tavLst>
                                            <p:tav tm="0">
                                              <p:val>
                                                <p:strVal val="#ppt_x"/>
                                              </p:val>
                                            </p:tav>
                                            <p:tav tm="100000">
                                              <p:val>
                                                <p:strVal val="#ppt_x"/>
                                              </p:val>
                                            </p:tav>
                                          </p:tavLst>
                                        </p:anim>
                                        <p:anim calcmode="lin" valueType="num" p14:bounceEnd="50000">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14:presetBounceEnd="50000">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14:bounceEnd="50000">
                                          <p:cBhvr additive="base">
                                            <p:cTn id="17" dur="500" fill="hold"/>
                                            <p:tgtEl>
                                              <p:spTgt spid="5"/>
                                            </p:tgtEl>
                                            <p:attrNameLst>
                                              <p:attrName>ppt_x</p:attrName>
                                            </p:attrNameLst>
                                          </p:cBhvr>
                                          <p:tavLst>
                                            <p:tav tm="0">
                                              <p:val>
                                                <p:strVal val="#ppt_x"/>
                                              </p:val>
                                            </p:tav>
                                            <p:tav tm="100000">
                                              <p:val>
                                                <p:strVal val="#ppt_x"/>
                                              </p:val>
                                            </p:tav>
                                          </p:tavLst>
                                        </p:anim>
                                        <p:anim calcmode="lin" valueType="num" p14:bounceEnd="50000">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14:presetBounceEnd="50000">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14:bounceEnd="50000">
                                          <p:cBhvr additive="base">
                                            <p:cTn id="22" dur="500" fill="hold"/>
                                            <p:tgtEl>
                                              <p:spTgt spid="6"/>
                                            </p:tgtEl>
                                            <p:attrNameLst>
                                              <p:attrName>ppt_x</p:attrName>
                                            </p:attrNameLst>
                                          </p:cBhvr>
                                          <p:tavLst>
                                            <p:tav tm="0">
                                              <p:val>
                                                <p:strVal val="#ppt_x"/>
                                              </p:val>
                                            </p:tav>
                                            <p:tav tm="100000">
                                              <p:val>
                                                <p:strVal val="#ppt_x"/>
                                              </p:val>
                                            </p:tav>
                                          </p:tavLst>
                                        </p:anim>
                                        <p:anim calcmode="lin" valueType="num" p14:bounceEnd="50000">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2" fill="hold" grpId="0" nodeType="afterEffect" p14:presetBounceEnd="50000">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14:bounceEnd="50000">
                                          <p:cBhvr additive="base">
                                            <p:cTn id="27" dur="500" fill="hold"/>
                                            <p:tgtEl>
                                              <p:spTgt spid="9"/>
                                            </p:tgtEl>
                                            <p:attrNameLst>
                                              <p:attrName>ppt_x</p:attrName>
                                            </p:attrNameLst>
                                          </p:cBhvr>
                                          <p:tavLst>
                                            <p:tav tm="0">
                                              <p:val>
                                                <p:strVal val="1+#ppt_w/2"/>
                                              </p:val>
                                            </p:tav>
                                            <p:tav tm="100000">
                                              <p:val>
                                                <p:strVal val="#ppt_x"/>
                                              </p:val>
                                            </p:tav>
                                          </p:tavLst>
                                        </p:anim>
                                        <p:anim calcmode="lin" valueType="num" p14:bounceEnd="50000">
                                          <p:cBhvr additive="base">
                                            <p:cTn id="28" dur="500" fill="hold"/>
                                            <p:tgtEl>
                                              <p:spTgt spid="9"/>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14:presetBounceEnd="50000">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14:bounceEnd="50000">
                                          <p:cBhvr additive="base">
                                            <p:cTn id="31" dur="500" fill="hold"/>
                                            <p:tgtEl>
                                              <p:spTgt spid="8"/>
                                            </p:tgtEl>
                                            <p:attrNameLst>
                                              <p:attrName>ppt_x</p:attrName>
                                            </p:attrNameLst>
                                          </p:cBhvr>
                                          <p:tavLst>
                                            <p:tav tm="0">
                                              <p:val>
                                                <p:strVal val="0-#ppt_w/2"/>
                                              </p:val>
                                            </p:tav>
                                            <p:tav tm="100000">
                                              <p:val>
                                                <p:strVal val="#ppt_x"/>
                                              </p:val>
                                            </p:tav>
                                          </p:tavLst>
                                        </p:anim>
                                        <p:anim calcmode="lin" valueType="num" p14:bounceEnd="50000">
                                          <p:cBhvr additive="base">
                                            <p:cTn id="32" dur="500" fill="hold"/>
                                            <p:tgtEl>
                                              <p:spTgt spid="8"/>
                                            </p:tgtEl>
                                            <p:attrNameLst>
                                              <p:attrName>ppt_y</p:attrName>
                                            </p:attrNameLst>
                                          </p:cBhvr>
                                          <p:tavLst>
                                            <p:tav tm="0">
                                              <p:val>
                                                <p:strVal val="#ppt_y"/>
                                              </p:val>
                                            </p:tav>
                                            <p:tav tm="100000">
                                              <p:val>
                                                <p:strVal val="#ppt_y"/>
                                              </p:val>
                                            </p:tav>
                                          </p:tavLst>
                                        </p:anim>
                                      </p:childTnLst>
                                    </p:cTn>
                                  </p:par>
                                </p:childTnLst>
                              </p:cTn>
                            </p:par>
                            <p:par>
                              <p:cTn id="33" fill="hold">
                                <p:stCondLst>
                                  <p:cond delay="2500"/>
                                </p:stCondLst>
                                <p:childTnLst>
                                  <p:par>
                                    <p:cTn id="34" presetID="2" presetClass="entr" presetSubtype="2" fill="hold" grpId="0" nodeType="afterEffect" p14:presetBounceEnd="50000">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14:bounceEnd="50000">
                                          <p:cBhvr additive="base">
                                            <p:cTn id="36" dur="500" fill="hold"/>
                                            <p:tgtEl>
                                              <p:spTgt spid="10"/>
                                            </p:tgtEl>
                                            <p:attrNameLst>
                                              <p:attrName>ppt_x</p:attrName>
                                            </p:attrNameLst>
                                          </p:cBhvr>
                                          <p:tavLst>
                                            <p:tav tm="0">
                                              <p:val>
                                                <p:strVal val="1+#ppt_w/2"/>
                                              </p:val>
                                            </p:tav>
                                            <p:tav tm="100000">
                                              <p:val>
                                                <p:strVal val="#ppt_x"/>
                                              </p:val>
                                            </p:tav>
                                          </p:tavLst>
                                        </p:anim>
                                        <p:anim calcmode="lin" valueType="num" p14:bounceEnd="50000">
                                          <p:cBhvr additive="base">
                                            <p:cTn id="37" dur="500" fill="hold"/>
                                            <p:tgtEl>
                                              <p:spTgt spid="10"/>
                                            </p:tgtEl>
                                            <p:attrNameLst>
                                              <p:attrName>ppt_y</p:attrName>
                                            </p:attrNameLst>
                                          </p:cBhvr>
                                          <p:tavLst>
                                            <p:tav tm="0">
                                              <p:val>
                                                <p:strVal val="#ppt_y"/>
                                              </p:val>
                                            </p:tav>
                                            <p:tav tm="100000">
                                              <p:val>
                                                <p:strVal val="#ppt_y"/>
                                              </p:val>
                                            </p:tav>
                                          </p:tavLst>
                                        </p:anim>
                                      </p:childTnLst>
                                    </p:cTn>
                                  </p:par>
                                  <p:par>
                                    <p:cTn id="38" presetID="2" presetClass="entr" presetSubtype="8" fill="hold" grpId="0" nodeType="withEffect" p14:presetBounceEnd="50000">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14:bounceEnd="50000">
                                          <p:cBhvr additive="base">
                                            <p:cTn id="40" dur="500" fill="hold"/>
                                            <p:tgtEl>
                                              <p:spTgt spid="7"/>
                                            </p:tgtEl>
                                            <p:attrNameLst>
                                              <p:attrName>ppt_x</p:attrName>
                                            </p:attrNameLst>
                                          </p:cBhvr>
                                          <p:tavLst>
                                            <p:tav tm="0">
                                              <p:val>
                                                <p:strVal val="0-#ppt_w/2"/>
                                              </p:val>
                                            </p:tav>
                                            <p:tav tm="100000">
                                              <p:val>
                                                <p:strVal val="#ppt_x"/>
                                              </p:val>
                                            </p:tav>
                                          </p:tavLst>
                                        </p:anim>
                                        <p:anim calcmode="lin" valueType="num" p14:bounceEnd="50000">
                                          <p:cBhvr additive="base">
                                            <p:cTn id="41"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p:bldP spid="8" grpId="0"/>
          <p:bldP spid="9" grpId="0"/>
          <p:bldP spid="1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2"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1+#ppt_w/2"/>
                                              </p:val>
                                            </p:tav>
                                            <p:tav tm="100000">
                                              <p:val>
                                                <p:strVal val="#ppt_x"/>
                                              </p:val>
                                            </p:tav>
                                          </p:tavLst>
                                        </p:anim>
                                        <p:anim calcmode="lin" valueType="num">
                                          <p:cBhvr additive="base">
                                            <p:cTn id="28" dur="500" fill="hold"/>
                                            <p:tgtEl>
                                              <p:spTgt spid="9"/>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0-#ppt_w/2"/>
                                              </p:val>
                                            </p:tav>
                                            <p:tav tm="100000">
                                              <p:val>
                                                <p:strVal val="#ppt_x"/>
                                              </p:val>
                                            </p:tav>
                                          </p:tavLst>
                                        </p:anim>
                                        <p:anim calcmode="lin" valueType="num">
                                          <p:cBhvr additive="base">
                                            <p:cTn id="32" dur="500" fill="hold"/>
                                            <p:tgtEl>
                                              <p:spTgt spid="8"/>
                                            </p:tgtEl>
                                            <p:attrNameLst>
                                              <p:attrName>ppt_y</p:attrName>
                                            </p:attrNameLst>
                                          </p:cBhvr>
                                          <p:tavLst>
                                            <p:tav tm="0">
                                              <p:val>
                                                <p:strVal val="#ppt_y"/>
                                              </p:val>
                                            </p:tav>
                                            <p:tav tm="100000">
                                              <p:val>
                                                <p:strVal val="#ppt_y"/>
                                              </p:val>
                                            </p:tav>
                                          </p:tavLst>
                                        </p:anim>
                                      </p:childTnLst>
                                    </p:cTn>
                                  </p:par>
                                </p:childTnLst>
                              </p:cTn>
                            </p:par>
                            <p:par>
                              <p:cTn id="33" fill="hold">
                                <p:stCondLst>
                                  <p:cond delay="2500"/>
                                </p:stCondLst>
                                <p:childTnLst>
                                  <p:par>
                                    <p:cTn id="34" presetID="2" presetClass="entr" presetSubtype="2"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1+#ppt_w/2"/>
                                              </p:val>
                                            </p:tav>
                                            <p:tav tm="100000">
                                              <p:val>
                                                <p:strVal val="#ppt_x"/>
                                              </p:val>
                                            </p:tav>
                                          </p:tavLst>
                                        </p:anim>
                                        <p:anim calcmode="lin" valueType="num">
                                          <p:cBhvr additive="base">
                                            <p:cTn id="37" dur="500" fill="hold"/>
                                            <p:tgtEl>
                                              <p:spTgt spid="10"/>
                                            </p:tgtEl>
                                            <p:attrNameLst>
                                              <p:attrName>ppt_y</p:attrName>
                                            </p:attrNameLst>
                                          </p:cBhvr>
                                          <p:tavLst>
                                            <p:tav tm="0">
                                              <p:val>
                                                <p:strVal val="#ppt_y"/>
                                              </p:val>
                                            </p:tav>
                                            <p:tav tm="100000">
                                              <p:val>
                                                <p:strVal val="#ppt_y"/>
                                              </p:val>
                                            </p:tav>
                                          </p:tavLst>
                                        </p:anim>
                                      </p:childTnLst>
                                    </p:cTn>
                                  </p:par>
                                  <p:par>
                                    <p:cTn id="38" presetID="2" presetClass="entr" presetSubtype="8"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cBhvr additive="base">
                                            <p:cTn id="40" dur="500" fill="hold"/>
                                            <p:tgtEl>
                                              <p:spTgt spid="7"/>
                                            </p:tgtEl>
                                            <p:attrNameLst>
                                              <p:attrName>ppt_x</p:attrName>
                                            </p:attrNameLst>
                                          </p:cBhvr>
                                          <p:tavLst>
                                            <p:tav tm="0">
                                              <p:val>
                                                <p:strVal val="0-#ppt_w/2"/>
                                              </p:val>
                                            </p:tav>
                                            <p:tav tm="100000">
                                              <p:val>
                                                <p:strVal val="#ppt_x"/>
                                              </p:val>
                                            </p:tav>
                                          </p:tavLst>
                                        </p:anim>
                                        <p:anim calcmode="lin" valueType="num">
                                          <p:cBhvr additive="base">
                                            <p:cTn id="41"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p:bldP spid="8" grpId="0"/>
          <p:bldP spid="9" grpId="0"/>
          <p:bldP spid="10"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D4850-EC7E-FECF-BA9F-C904561EA5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3DFD1-CF8B-97BB-5022-F436E1979901}"/>
              </a:ext>
            </a:extLst>
          </p:cNvPr>
          <p:cNvSpPr>
            <a:spLocks noGrp="1"/>
          </p:cNvSpPr>
          <p:nvPr>
            <p:ph type="ctrTitle"/>
          </p:nvPr>
        </p:nvSpPr>
        <p:spPr>
          <a:xfrm>
            <a:off x="1149566" y="183907"/>
            <a:ext cx="10668000" cy="1189429"/>
          </a:xfrm>
        </p:spPr>
        <p:txBody>
          <a:bodyPr>
            <a:normAutofit fontScale="90000"/>
          </a:bodyPr>
          <a:lstStyle/>
          <a:p>
            <a:r>
              <a:rPr lang="en-US" sz="6700" dirty="0"/>
              <a:t>Additional Concepts : </a:t>
            </a:r>
            <a:r>
              <a:rPr lang="en-US" sz="3600" dirty="0"/>
              <a:t>Evaluation Metrics text2SQL </a:t>
            </a:r>
          </a:p>
        </p:txBody>
      </p:sp>
      <p:grpSp>
        <p:nvGrpSpPr>
          <p:cNvPr id="51" name="Группа 43">
            <a:extLst>
              <a:ext uri="{FF2B5EF4-FFF2-40B4-BE49-F238E27FC236}">
                <a16:creationId xmlns:a16="http://schemas.microsoft.com/office/drawing/2014/main" id="{180A8DAE-32BA-9C77-6905-65F2237F975C}"/>
              </a:ext>
            </a:extLst>
          </p:cNvPr>
          <p:cNvGrpSpPr/>
          <p:nvPr/>
        </p:nvGrpSpPr>
        <p:grpSpPr>
          <a:xfrm>
            <a:off x="3018874" y="1989027"/>
            <a:ext cx="219097" cy="4557200"/>
            <a:chOff x="8089131" y="4146221"/>
            <a:chExt cx="438251" cy="9115586"/>
          </a:xfrm>
        </p:grpSpPr>
        <p:sp>
          <p:nvSpPr>
            <p:cNvPr id="52" name="Полилиния 44">
              <a:extLst>
                <a:ext uri="{FF2B5EF4-FFF2-40B4-BE49-F238E27FC236}">
                  <a16:creationId xmlns:a16="http://schemas.microsoft.com/office/drawing/2014/main" id="{7F308BBB-485C-D483-6294-44D7274A4A23}"/>
                </a:ext>
              </a:extLst>
            </p:cNvPr>
            <p:cNvSpPr/>
            <p:nvPr/>
          </p:nvSpPr>
          <p:spPr>
            <a:xfrm>
              <a:off x="8089131" y="4146221"/>
              <a:ext cx="370508" cy="9115586"/>
            </a:xfrm>
            <a:custGeom>
              <a:avLst/>
              <a:gdLst>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11" fmla="*/ 91440 w 12668613"/>
                <a:gd name="connsiteY11" fmla="*/ 91440 h 10027145"/>
                <a:gd name="connsiteX0" fmla="*/ 7369051 w 12668613"/>
                <a:gd name="connsiteY0" fmla="*/ 0 h 10027145"/>
                <a:gd name="connsiteX1" fmla="*/ 9062330 w 12668613"/>
                <a:gd name="connsiteY1" fmla="*/ 0 h 10027145"/>
                <a:gd name="connsiteX2" fmla="*/ 12261054 w 12668613"/>
                <a:gd name="connsiteY2" fmla="*/ 0 h 10027145"/>
                <a:gd name="connsiteX3" fmla="*/ 12261054 w 12668613"/>
                <a:gd name="connsiteY3" fmla="*/ 4607455 h 10027145"/>
                <a:gd name="connsiteX4" fmla="*/ 12668613 w 12668613"/>
                <a:gd name="connsiteY4" fmla="*/ 5013572 h 10027145"/>
                <a:gd name="connsiteX5" fmla="*/ 12261054 w 12668613"/>
                <a:gd name="connsiteY5" fmla="*/ 5419689 h 10027145"/>
                <a:gd name="connsiteX6" fmla="*/ 12261054 w 12668613"/>
                <a:gd name="connsiteY6" fmla="*/ 10027145 h 10027145"/>
                <a:gd name="connsiteX7" fmla="*/ 9062330 w 12668613"/>
                <a:gd name="connsiteY7" fmla="*/ 10027145 h 10027145"/>
                <a:gd name="connsiteX8" fmla="*/ 7369051 w 12668613"/>
                <a:gd name="connsiteY8" fmla="*/ 10027145 h 10027145"/>
                <a:gd name="connsiteX9" fmla="*/ 0 w 12668613"/>
                <a:gd name="connsiteY9" fmla="*/ 10027145 h 10027145"/>
                <a:gd name="connsiteX10" fmla="*/ 91440 w 12668613"/>
                <a:gd name="connsiteY10" fmla="*/ 91440 h 10027145"/>
                <a:gd name="connsiteX0" fmla="*/ 9062330 w 12668613"/>
                <a:gd name="connsiteY0" fmla="*/ 0 h 10027145"/>
                <a:gd name="connsiteX1" fmla="*/ 12261054 w 12668613"/>
                <a:gd name="connsiteY1" fmla="*/ 0 h 10027145"/>
                <a:gd name="connsiteX2" fmla="*/ 12261054 w 12668613"/>
                <a:gd name="connsiteY2" fmla="*/ 4607455 h 10027145"/>
                <a:gd name="connsiteX3" fmla="*/ 12668613 w 12668613"/>
                <a:gd name="connsiteY3" fmla="*/ 5013572 h 10027145"/>
                <a:gd name="connsiteX4" fmla="*/ 12261054 w 12668613"/>
                <a:gd name="connsiteY4" fmla="*/ 5419689 h 10027145"/>
                <a:gd name="connsiteX5" fmla="*/ 12261054 w 12668613"/>
                <a:gd name="connsiteY5" fmla="*/ 10027145 h 10027145"/>
                <a:gd name="connsiteX6" fmla="*/ 9062330 w 12668613"/>
                <a:gd name="connsiteY6" fmla="*/ 10027145 h 10027145"/>
                <a:gd name="connsiteX7" fmla="*/ 7369051 w 12668613"/>
                <a:gd name="connsiteY7" fmla="*/ 10027145 h 10027145"/>
                <a:gd name="connsiteX8" fmla="*/ 0 w 12668613"/>
                <a:gd name="connsiteY8" fmla="*/ 10027145 h 10027145"/>
                <a:gd name="connsiteX9" fmla="*/ 91440 w 12668613"/>
                <a:gd name="connsiteY9"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8" fmla="*/ 91440 w 12668613"/>
                <a:gd name="connsiteY8"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0" fmla="*/ 4892003 w 5299562"/>
                <a:gd name="connsiteY0" fmla="*/ 0 h 10027145"/>
                <a:gd name="connsiteX1" fmla="*/ 4892003 w 5299562"/>
                <a:gd name="connsiteY1" fmla="*/ 4607455 h 10027145"/>
                <a:gd name="connsiteX2" fmla="*/ 5299562 w 5299562"/>
                <a:gd name="connsiteY2" fmla="*/ 5013572 h 10027145"/>
                <a:gd name="connsiteX3" fmla="*/ 4892003 w 5299562"/>
                <a:gd name="connsiteY3" fmla="*/ 5419689 h 10027145"/>
                <a:gd name="connsiteX4" fmla="*/ 4892003 w 5299562"/>
                <a:gd name="connsiteY4" fmla="*/ 10027145 h 10027145"/>
                <a:gd name="connsiteX5" fmla="*/ 1693279 w 5299562"/>
                <a:gd name="connsiteY5" fmla="*/ 10027145 h 10027145"/>
                <a:gd name="connsiteX6" fmla="*/ 0 w 5299562"/>
                <a:gd name="connsiteY6" fmla="*/ 10027145 h 10027145"/>
                <a:gd name="connsiteX0" fmla="*/ 3198724 w 3606283"/>
                <a:gd name="connsiteY0" fmla="*/ 0 h 10027145"/>
                <a:gd name="connsiteX1" fmla="*/ 3198724 w 3606283"/>
                <a:gd name="connsiteY1" fmla="*/ 4607455 h 10027145"/>
                <a:gd name="connsiteX2" fmla="*/ 3606283 w 3606283"/>
                <a:gd name="connsiteY2" fmla="*/ 5013572 h 10027145"/>
                <a:gd name="connsiteX3" fmla="*/ 3198724 w 3606283"/>
                <a:gd name="connsiteY3" fmla="*/ 5419689 h 10027145"/>
                <a:gd name="connsiteX4" fmla="*/ 3198724 w 3606283"/>
                <a:gd name="connsiteY4" fmla="*/ 10027145 h 10027145"/>
                <a:gd name="connsiteX5" fmla="*/ 0 w 3606283"/>
                <a:gd name="connsiteY5" fmla="*/ 10027145 h 10027145"/>
                <a:gd name="connsiteX0" fmla="*/ 0 w 407559"/>
                <a:gd name="connsiteY0" fmla="*/ 0 h 10027145"/>
                <a:gd name="connsiteX1" fmla="*/ 0 w 407559"/>
                <a:gd name="connsiteY1" fmla="*/ 4607455 h 10027145"/>
                <a:gd name="connsiteX2" fmla="*/ 407559 w 407559"/>
                <a:gd name="connsiteY2" fmla="*/ 5013572 h 10027145"/>
                <a:gd name="connsiteX3" fmla="*/ 0 w 407559"/>
                <a:gd name="connsiteY3" fmla="*/ 5419689 h 10027145"/>
                <a:gd name="connsiteX4" fmla="*/ 0 w 407559"/>
                <a:gd name="connsiteY4" fmla="*/ 10027145 h 10027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59" h="10027145">
                  <a:moveTo>
                    <a:pt x="0" y="0"/>
                  </a:moveTo>
                  <a:lnTo>
                    <a:pt x="0" y="4607455"/>
                  </a:lnTo>
                  <a:lnTo>
                    <a:pt x="407559" y="5013572"/>
                  </a:lnTo>
                  <a:lnTo>
                    <a:pt x="0" y="5419689"/>
                  </a:lnTo>
                  <a:lnTo>
                    <a:pt x="0" y="10027145"/>
                  </a:lnTo>
                </a:path>
              </a:pathLst>
            </a:custGeom>
            <a:noFill/>
            <a:ln w="1270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mn-cs"/>
              </a:endParaRPr>
            </a:p>
          </p:txBody>
        </p:sp>
        <p:sp>
          <p:nvSpPr>
            <p:cNvPr id="53" name="Полилиния 45">
              <a:extLst>
                <a:ext uri="{FF2B5EF4-FFF2-40B4-BE49-F238E27FC236}">
                  <a16:creationId xmlns:a16="http://schemas.microsoft.com/office/drawing/2014/main" id="{8E83B8C7-2B1D-B345-E849-5E1B24F33304}"/>
                </a:ext>
              </a:extLst>
            </p:cNvPr>
            <p:cNvSpPr/>
            <p:nvPr/>
          </p:nvSpPr>
          <p:spPr>
            <a:xfrm>
              <a:off x="8156874" y="4146221"/>
              <a:ext cx="370508" cy="9115586"/>
            </a:xfrm>
            <a:custGeom>
              <a:avLst/>
              <a:gdLst>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11" fmla="*/ 91440 w 12668613"/>
                <a:gd name="connsiteY11" fmla="*/ 91440 h 10027145"/>
                <a:gd name="connsiteX0" fmla="*/ 7369051 w 12668613"/>
                <a:gd name="connsiteY0" fmla="*/ 0 h 10027145"/>
                <a:gd name="connsiteX1" fmla="*/ 9062330 w 12668613"/>
                <a:gd name="connsiteY1" fmla="*/ 0 h 10027145"/>
                <a:gd name="connsiteX2" fmla="*/ 12261054 w 12668613"/>
                <a:gd name="connsiteY2" fmla="*/ 0 h 10027145"/>
                <a:gd name="connsiteX3" fmla="*/ 12261054 w 12668613"/>
                <a:gd name="connsiteY3" fmla="*/ 4607455 h 10027145"/>
                <a:gd name="connsiteX4" fmla="*/ 12668613 w 12668613"/>
                <a:gd name="connsiteY4" fmla="*/ 5013572 h 10027145"/>
                <a:gd name="connsiteX5" fmla="*/ 12261054 w 12668613"/>
                <a:gd name="connsiteY5" fmla="*/ 5419689 h 10027145"/>
                <a:gd name="connsiteX6" fmla="*/ 12261054 w 12668613"/>
                <a:gd name="connsiteY6" fmla="*/ 10027145 h 10027145"/>
                <a:gd name="connsiteX7" fmla="*/ 9062330 w 12668613"/>
                <a:gd name="connsiteY7" fmla="*/ 10027145 h 10027145"/>
                <a:gd name="connsiteX8" fmla="*/ 7369051 w 12668613"/>
                <a:gd name="connsiteY8" fmla="*/ 10027145 h 10027145"/>
                <a:gd name="connsiteX9" fmla="*/ 0 w 12668613"/>
                <a:gd name="connsiteY9" fmla="*/ 10027145 h 10027145"/>
                <a:gd name="connsiteX10" fmla="*/ 91440 w 12668613"/>
                <a:gd name="connsiteY10" fmla="*/ 91440 h 10027145"/>
                <a:gd name="connsiteX0" fmla="*/ 9062330 w 12668613"/>
                <a:gd name="connsiteY0" fmla="*/ 0 h 10027145"/>
                <a:gd name="connsiteX1" fmla="*/ 12261054 w 12668613"/>
                <a:gd name="connsiteY1" fmla="*/ 0 h 10027145"/>
                <a:gd name="connsiteX2" fmla="*/ 12261054 w 12668613"/>
                <a:gd name="connsiteY2" fmla="*/ 4607455 h 10027145"/>
                <a:gd name="connsiteX3" fmla="*/ 12668613 w 12668613"/>
                <a:gd name="connsiteY3" fmla="*/ 5013572 h 10027145"/>
                <a:gd name="connsiteX4" fmla="*/ 12261054 w 12668613"/>
                <a:gd name="connsiteY4" fmla="*/ 5419689 h 10027145"/>
                <a:gd name="connsiteX5" fmla="*/ 12261054 w 12668613"/>
                <a:gd name="connsiteY5" fmla="*/ 10027145 h 10027145"/>
                <a:gd name="connsiteX6" fmla="*/ 9062330 w 12668613"/>
                <a:gd name="connsiteY6" fmla="*/ 10027145 h 10027145"/>
                <a:gd name="connsiteX7" fmla="*/ 7369051 w 12668613"/>
                <a:gd name="connsiteY7" fmla="*/ 10027145 h 10027145"/>
                <a:gd name="connsiteX8" fmla="*/ 0 w 12668613"/>
                <a:gd name="connsiteY8" fmla="*/ 10027145 h 10027145"/>
                <a:gd name="connsiteX9" fmla="*/ 91440 w 12668613"/>
                <a:gd name="connsiteY9"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8" fmla="*/ 91440 w 12668613"/>
                <a:gd name="connsiteY8"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0" fmla="*/ 4892003 w 5299562"/>
                <a:gd name="connsiteY0" fmla="*/ 0 h 10027145"/>
                <a:gd name="connsiteX1" fmla="*/ 4892003 w 5299562"/>
                <a:gd name="connsiteY1" fmla="*/ 4607455 h 10027145"/>
                <a:gd name="connsiteX2" fmla="*/ 5299562 w 5299562"/>
                <a:gd name="connsiteY2" fmla="*/ 5013572 h 10027145"/>
                <a:gd name="connsiteX3" fmla="*/ 4892003 w 5299562"/>
                <a:gd name="connsiteY3" fmla="*/ 5419689 h 10027145"/>
                <a:gd name="connsiteX4" fmla="*/ 4892003 w 5299562"/>
                <a:gd name="connsiteY4" fmla="*/ 10027145 h 10027145"/>
                <a:gd name="connsiteX5" fmla="*/ 1693279 w 5299562"/>
                <a:gd name="connsiteY5" fmla="*/ 10027145 h 10027145"/>
                <a:gd name="connsiteX6" fmla="*/ 0 w 5299562"/>
                <a:gd name="connsiteY6" fmla="*/ 10027145 h 10027145"/>
                <a:gd name="connsiteX0" fmla="*/ 3198724 w 3606283"/>
                <a:gd name="connsiteY0" fmla="*/ 0 h 10027145"/>
                <a:gd name="connsiteX1" fmla="*/ 3198724 w 3606283"/>
                <a:gd name="connsiteY1" fmla="*/ 4607455 h 10027145"/>
                <a:gd name="connsiteX2" fmla="*/ 3606283 w 3606283"/>
                <a:gd name="connsiteY2" fmla="*/ 5013572 h 10027145"/>
                <a:gd name="connsiteX3" fmla="*/ 3198724 w 3606283"/>
                <a:gd name="connsiteY3" fmla="*/ 5419689 h 10027145"/>
                <a:gd name="connsiteX4" fmla="*/ 3198724 w 3606283"/>
                <a:gd name="connsiteY4" fmla="*/ 10027145 h 10027145"/>
                <a:gd name="connsiteX5" fmla="*/ 0 w 3606283"/>
                <a:gd name="connsiteY5" fmla="*/ 10027145 h 10027145"/>
                <a:gd name="connsiteX0" fmla="*/ 0 w 407559"/>
                <a:gd name="connsiteY0" fmla="*/ 0 h 10027145"/>
                <a:gd name="connsiteX1" fmla="*/ 0 w 407559"/>
                <a:gd name="connsiteY1" fmla="*/ 4607455 h 10027145"/>
                <a:gd name="connsiteX2" fmla="*/ 407559 w 407559"/>
                <a:gd name="connsiteY2" fmla="*/ 5013572 h 10027145"/>
                <a:gd name="connsiteX3" fmla="*/ 0 w 407559"/>
                <a:gd name="connsiteY3" fmla="*/ 5419689 h 10027145"/>
                <a:gd name="connsiteX4" fmla="*/ 0 w 407559"/>
                <a:gd name="connsiteY4" fmla="*/ 10027145 h 10027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59" h="10027145">
                  <a:moveTo>
                    <a:pt x="0" y="0"/>
                  </a:moveTo>
                  <a:lnTo>
                    <a:pt x="0" y="4607455"/>
                  </a:lnTo>
                  <a:lnTo>
                    <a:pt x="407559" y="5013572"/>
                  </a:lnTo>
                  <a:lnTo>
                    <a:pt x="0" y="5419689"/>
                  </a:lnTo>
                  <a:lnTo>
                    <a:pt x="0" y="10027145"/>
                  </a:lnTo>
                </a:path>
              </a:pathLst>
            </a:custGeom>
            <a:noFill/>
            <a:ln w="38100">
              <a:solidFill>
                <a:schemeClr val="tx2">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mn-cs"/>
              </a:endParaRPr>
            </a:p>
          </p:txBody>
        </p:sp>
      </p:grpSp>
      <p:grpSp>
        <p:nvGrpSpPr>
          <p:cNvPr id="54" name="Группа 46">
            <a:extLst>
              <a:ext uri="{FF2B5EF4-FFF2-40B4-BE49-F238E27FC236}">
                <a16:creationId xmlns:a16="http://schemas.microsoft.com/office/drawing/2014/main" id="{D77CF481-F84B-649D-20ED-9D8676020BF1}"/>
              </a:ext>
            </a:extLst>
          </p:cNvPr>
          <p:cNvGrpSpPr/>
          <p:nvPr/>
        </p:nvGrpSpPr>
        <p:grpSpPr>
          <a:xfrm>
            <a:off x="6062804" y="1989027"/>
            <a:ext cx="219097" cy="4557200"/>
            <a:chOff x="8089131" y="4146221"/>
            <a:chExt cx="438251" cy="9115586"/>
          </a:xfrm>
        </p:grpSpPr>
        <p:sp>
          <p:nvSpPr>
            <p:cNvPr id="55" name="Полилиния 47">
              <a:extLst>
                <a:ext uri="{FF2B5EF4-FFF2-40B4-BE49-F238E27FC236}">
                  <a16:creationId xmlns:a16="http://schemas.microsoft.com/office/drawing/2014/main" id="{76096FB7-E822-1445-8D42-E0D255B9148D}"/>
                </a:ext>
              </a:extLst>
            </p:cNvPr>
            <p:cNvSpPr/>
            <p:nvPr/>
          </p:nvSpPr>
          <p:spPr>
            <a:xfrm>
              <a:off x="8089131" y="4146221"/>
              <a:ext cx="370508" cy="9115586"/>
            </a:xfrm>
            <a:custGeom>
              <a:avLst/>
              <a:gdLst>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11" fmla="*/ 91440 w 12668613"/>
                <a:gd name="connsiteY11" fmla="*/ 91440 h 10027145"/>
                <a:gd name="connsiteX0" fmla="*/ 7369051 w 12668613"/>
                <a:gd name="connsiteY0" fmla="*/ 0 h 10027145"/>
                <a:gd name="connsiteX1" fmla="*/ 9062330 w 12668613"/>
                <a:gd name="connsiteY1" fmla="*/ 0 h 10027145"/>
                <a:gd name="connsiteX2" fmla="*/ 12261054 w 12668613"/>
                <a:gd name="connsiteY2" fmla="*/ 0 h 10027145"/>
                <a:gd name="connsiteX3" fmla="*/ 12261054 w 12668613"/>
                <a:gd name="connsiteY3" fmla="*/ 4607455 h 10027145"/>
                <a:gd name="connsiteX4" fmla="*/ 12668613 w 12668613"/>
                <a:gd name="connsiteY4" fmla="*/ 5013572 h 10027145"/>
                <a:gd name="connsiteX5" fmla="*/ 12261054 w 12668613"/>
                <a:gd name="connsiteY5" fmla="*/ 5419689 h 10027145"/>
                <a:gd name="connsiteX6" fmla="*/ 12261054 w 12668613"/>
                <a:gd name="connsiteY6" fmla="*/ 10027145 h 10027145"/>
                <a:gd name="connsiteX7" fmla="*/ 9062330 w 12668613"/>
                <a:gd name="connsiteY7" fmla="*/ 10027145 h 10027145"/>
                <a:gd name="connsiteX8" fmla="*/ 7369051 w 12668613"/>
                <a:gd name="connsiteY8" fmla="*/ 10027145 h 10027145"/>
                <a:gd name="connsiteX9" fmla="*/ 0 w 12668613"/>
                <a:gd name="connsiteY9" fmla="*/ 10027145 h 10027145"/>
                <a:gd name="connsiteX10" fmla="*/ 91440 w 12668613"/>
                <a:gd name="connsiteY10" fmla="*/ 91440 h 10027145"/>
                <a:gd name="connsiteX0" fmla="*/ 9062330 w 12668613"/>
                <a:gd name="connsiteY0" fmla="*/ 0 h 10027145"/>
                <a:gd name="connsiteX1" fmla="*/ 12261054 w 12668613"/>
                <a:gd name="connsiteY1" fmla="*/ 0 h 10027145"/>
                <a:gd name="connsiteX2" fmla="*/ 12261054 w 12668613"/>
                <a:gd name="connsiteY2" fmla="*/ 4607455 h 10027145"/>
                <a:gd name="connsiteX3" fmla="*/ 12668613 w 12668613"/>
                <a:gd name="connsiteY3" fmla="*/ 5013572 h 10027145"/>
                <a:gd name="connsiteX4" fmla="*/ 12261054 w 12668613"/>
                <a:gd name="connsiteY4" fmla="*/ 5419689 h 10027145"/>
                <a:gd name="connsiteX5" fmla="*/ 12261054 w 12668613"/>
                <a:gd name="connsiteY5" fmla="*/ 10027145 h 10027145"/>
                <a:gd name="connsiteX6" fmla="*/ 9062330 w 12668613"/>
                <a:gd name="connsiteY6" fmla="*/ 10027145 h 10027145"/>
                <a:gd name="connsiteX7" fmla="*/ 7369051 w 12668613"/>
                <a:gd name="connsiteY7" fmla="*/ 10027145 h 10027145"/>
                <a:gd name="connsiteX8" fmla="*/ 0 w 12668613"/>
                <a:gd name="connsiteY8" fmla="*/ 10027145 h 10027145"/>
                <a:gd name="connsiteX9" fmla="*/ 91440 w 12668613"/>
                <a:gd name="connsiteY9"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8" fmla="*/ 91440 w 12668613"/>
                <a:gd name="connsiteY8"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0" fmla="*/ 4892003 w 5299562"/>
                <a:gd name="connsiteY0" fmla="*/ 0 h 10027145"/>
                <a:gd name="connsiteX1" fmla="*/ 4892003 w 5299562"/>
                <a:gd name="connsiteY1" fmla="*/ 4607455 h 10027145"/>
                <a:gd name="connsiteX2" fmla="*/ 5299562 w 5299562"/>
                <a:gd name="connsiteY2" fmla="*/ 5013572 h 10027145"/>
                <a:gd name="connsiteX3" fmla="*/ 4892003 w 5299562"/>
                <a:gd name="connsiteY3" fmla="*/ 5419689 h 10027145"/>
                <a:gd name="connsiteX4" fmla="*/ 4892003 w 5299562"/>
                <a:gd name="connsiteY4" fmla="*/ 10027145 h 10027145"/>
                <a:gd name="connsiteX5" fmla="*/ 1693279 w 5299562"/>
                <a:gd name="connsiteY5" fmla="*/ 10027145 h 10027145"/>
                <a:gd name="connsiteX6" fmla="*/ 0 w 5299562"/>
                <a:gd name="connsiteY6" fmla="*/ 10027145 h 10027145"/>
                <a:gd name="connsiteX0" fmla="*/ 3198724 w 3606283"/>
                <a:gd name="connsiteY0" fmla="*/ 0 h 10027145"/>
                <a:gd name="connsiteX1" fmla="*/ 3198724 w 3606283"/>
                <a:gd name="connsiteY1" fmla="*/ 4607455 h 10027145"/>
                <a:gd name="connsiteX2" fmla="*/ 3606283 w 3606283"/>
                <a:gd name="connsiteY2" fmla="*/ 5013572 h 10027145"/>
                <a:gd name="connsiteX3" fmla="*/ 3198724 w 3606283"/>
                <a:gd name="connsiteY3" fmla="*/ 5419689 h 10027145"/>
                <a:gd name="connsiteX4" fmla="*/ 3198724 w 3606283"/>
                <a:gd name="connsiteY4" fmla="*/ 10027145 h 10027145"/>
                <a:gd name="connsiteX5" fmla="*/ 0 w 3606283"/>
                <a:gd name="connsiteY5" fmla="*/ 10027145 h 10027145"/>
                <a:gd name="connsiteX0" fmla="*/ 0 w 407559"/>
                <a:gd name="connsiteY0" fmla="*/ 0 h 10027145"/>
                <a:gd name="connsiteX1" fmla="*/ 0 w 407559"/>
                <a:gd name="connsiteY1" fmla="*/ 4607455 h 10027145"/>
                <a:gd name="connsiteX2" fmla="*/ 407559 w 407559"/>
                <a:gd name="connsiteY2" fmla="*/ 5013572 h 10027145"/>
                <a:gd name="connsiteX3" fmla="*/ 0 w 407559"/>
                <a:gd name="connsiteY3" fmla="*/ 5419689 h 10027145"/>
                <a:gd name="connsiteX4" fmla="*/ 0 w 407559"/>
                <a:gd name="connsiteY4" fmla="*/ 10027145 h 10027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59" h="10027145">
                  <a:moveTo>
                    <a:pt x="0" y="0"/>
                  </a:moveTo>
                  <a:lnTo>
                    <a:pt x="0" y="4607455"/>
                  </a:lnTo>
                  <a:lnTo>
                    <a:pt x="407559" y="5013572"/>
                  </a:lnTo>
                  <a:lnTo>
                    <a:pt x="0" y="5419689"/>
                  </a:lnTo>
                  <a:lnTo>
                    <a:pt x="0" y="10027145"/>
                  </a:lnTo>
                </a:path>
              </a:pathLst>
            </a:custGeom>
            <a:noFill/>
            <a:ln w="1270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mn-cs"/>
              </a:endParaRPr>
            </a:p>
          </p:txBody>
        </p:sp>
        <p:sp>
          <p:nvSpPr>
            <p:cNvPr id="56" name="Полилиния 48">
              <a:extLst>
                <a:ext uri="{FF2B5EF4-FFF2-40B4-BE49-F238E27FC236}">
                  <a16:creationId xmlns:a16="http://schemas.microsoft.com/office/drawing/2014/main" id="{9C66D628-0737-ABFC-F6F6-21FDD5FD8C62}"/>
                </a:ext>
              </a:extLst>
            </p:cNvPr>
            <p:cNvSpPr/>
            <p:nvPr/>
          </p:nvSpPr>
          <p:spPr>
            <a:xfrm>
              <a:off x="8156874" y="4146221"/>
              <a:ext cx="370508" cy="9115586"/>
            </a:xfrm>
            <a:custGeom>
              <a:avLst/>
              <a:gdLst>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11" fmla="*/ 91440 w 12668613"/>
                <a:gd name="connsiteY11" fmla="*/ 91440 h 10027145"/>
                <a:gd name="connsiteX0" fmla="*/ 7369051 w 12668613"/>
                <a:gd name="connsiteY0" fmla="*/ 0 h 10027145"/>
                <a:gd name="connsiteX1" fmla="*/ 9062330 w 12668613"/>
                <a:gd name="connsiteY1" fmla="*/ 0 h 10027145"/>
                <a:gd name="connsiteX2" fmla="*/ 12261054 w 12668613"/>
                <a:gd name="connsiteY2" fmla="*/ 0 h 10027145"/>
                <a:gd name="connsiteX3" fmla="*/ 12261054 w 12668613"/>
                <a:gd name="connsiteY3" fmla="*/ 4607455 h 10027145"/>
                <a:gd name="connsiteX4" fmla="*/ 12668613 w 12668613"/>
                <a:gd name="connsiteY4" fmla="*/ 5013572 h 10027145"/>
                <a:gd name="connsiteX5" fmla="*/ 12261054 w 12668613"/>
                <a:gd name="connsiteY5" fmla="*/ 5419689 h 10027145"/>
                <a:gd name="connsiteX6" fmla="*/ 12261054 w 12668613"/>
                <a:gd name="connsiteY6" fmla="*/ 10027145 h 10027145"/>
                <a:gd name="connsiteX7" fmla="*/ 9062330 w 12668613"/>
                <a:gd name="connsiteY7" fmla="*/ 10027145 h 10027145"/>
                <a:gd name="connsiteX8" fmla="*/ 7369051 w 12668613"/>
                <a:gd name="connsiteY8" fmla="*/ 10027145 h 10027145"/>
                <a:gd name="connsiteX9" fmla="*/ 0 w 12668613"/>
                <a:gd name="connsiteY9" fmla="*/ 10027145 h 10027145"/>
                <a:gd name="connsiteX10" fmla="*/ 91440 w 12668613"/>
                <a:gd name="connsiteY10" fmla="*/ 91440 h 10027145"/>
                <a:gd name="connsiteX0" fmla="*/ 9062330 w 12668613"/>
                <a:gd name="connsiteY0" fmla="*/ 0 h 10027145"/>
                <a:gd name="connsiteX1" fmla="*/ 12261054 w 12668613"/>
                <a:gd name="connsiteY1" fmla="*/ 0 h 10027145"/>
                <a:gd name="connsiteX2" fmla="*/ 12261054 w 12668613"/>
                <a:gd name="connsiteY2" fmla="*/ 4607455 h 10027145"/>
                <a:gd name="connsiteX3" fmla="*/ 12668613 w 12668613"/>
                <a:gd name="connsiteY3" fmla="*/ 5013572 h 10027145"/>
                <a:gd name="connsiteX4" fmla="*/ 12261054 w 12668613"/>
                <a:gd name="connsiteY4" fmla="*/ 5419689 h 10027145"/>
                <a:gd name="connsiteX5" fmla="*/ 12261054 w 12668613"/>
                <a:gd name="connsiteY5" fmla="*/ 10027145 h 10027145"/>
                <a:gd name="connsiteX6" fmla="*/ 9062330 w 12668613"/>
                <a:gd name="connsiteY6" fmla="*/ 10027145 h 10027145"/>
                <a:gd name="connsiteX7" fmla="*/ 7369051 w 12668613"/>
                <a:gd name="connsiteY7" fmla="*/ 10027145 h 10027145"/>
                <a:gd name="connsiteX8" fmla="*/ 0 w 12668613"/>
                <a:gd name="connsiteY8" fmla="*/ 10027145 h 10027145"/>
                <a:gd name="connsiteX9" fmla="*/ 91440 w 12668613"/>
                <a:gd name="connsiteY9"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8" fmla="*/ 91440 w 12668613"/>
                <a:gd name="connsiteY8"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0" fmla="*/ 4892003 w 5299562"/>
                <a:gd name="connsiteY0" fmla="*/ 0 h 10027145"/>
                <a:gd name="connsiteX1" fmla="*/ 4892003 w 5299562"/>
                <a:gd name="connsiteY1" fmla="*/ 4607455 h 10027145"/>
                <a:gd name="connsiteX2" fmla="*/ 5299562 w 5299562"/>
                <a:gd name="connsiteY2" fmla="*/ 5013572 h 10027145"/>
                <a:gd name="connsiteX3" fmla="*/ 4892003 w 5299562"/>
                <a:gd name="connsiteY3" fmla="*/ 5419689 h 10027145"/>
                <a:gd name="connsiteX4" fmla="*/ 4892003 w 5299562"/>
                <a:gd name="connsiteY4" fmla="*/ 10027145 h 10027145"/>
                <a:gd name="connsiteX5" fmla="*/ 1693279 w 5299562"/>
                <a:gd name="connsiteY5" fmla="*/ 10027145 h 10027145"/>
                <a:gd name="connsiteX6" fmla="*/ 0 w 5299562"/>
                <a:gd name="connsiteY6" fmla="*/ 10027145 h 10027145"/>
                <a:gd name="connsiteX0" fmla="*/ 3198724 w 3606283"/>
                <a:gd name="connsiteY0" fmla="*/ 0 h 10027145"/>
                <a:gd name="connsiteX1" fmla="*/ 3198724 w 3606283"/>
                <a:gd name="connsiteY1" fmla="*/ 4607455 h 10027145"/>
                <a:gd name="connsiteX2" fmla="*/ 3606283 w 3606283"/>
                <a:gd name="connsiteY2" fmla="*/ 5013572 h 10027145"/>
                <a:gd name="connsiteX3" fmla="*/ 3198724 w 3606283"/>
                <a:gd name="connsiteY3" fmla="*/ 5419689 h 10027145"/>
                <a:gd name="connsiteX4" fmla="*/ 3198724 w 3606283"/>
                <a:gd name="connsiteY4" fmla="*/ 10027145 h 10027145"/>
                <a:gd name="connsiteX5" fmla="*/ 0 w 3606283"/>
                <a:gd name="connsiteY5" fmla="*/ 10027145 h 10027145"/>
                <a:gd name="connsiteX0" fmla="*/ 0 w 407559"/>
                <a:gd name="connsiteY0" fmla="*/ 0 h 10027145"/>
                <a:gd name="connsiteX1" fmla="*/ 0 w 407559"/>
                <a:gd name="connsiteY1" fmla="*/ 4607455 h 10027145"/>
                <a:gd name="connsiteX2" fmla="*/ 407559 w 407559"/>
                <a:gd name="connsiteY2" fmla="*/ 5013572 h 10027145"/>
                <a:gd name="connsiteX3" fmla="*/ 0 w 407559"/>
                <a:gd name="connsiteY3" fmla="*/ 5419689 h 10027145"/>
                <a:gd name="connsiteX4" fmla="*/ 0 w 407559"/>
                <a:gd name="connsiteY4" fmla="*/ 10027145 h 10027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59" h="10027145">
                  <a:moveTo>
                    <a:pt x="0" y="0"/>
                  </a:moveTo>
                  <a:lnTo>
                    <a:pt x="0" y="4607455"/>
                  </a:lnTo>
                  <a:lnTo>
                    <a:pt x="407559" y="5013572"/>
                  </a:lnTo>
                  <a:lnTo>
                    <a:pt x="0" y="5419689"/>
                  </a:lnTo>
                  <a:lnTo>
                    <a:pt x="0" y="10027145"/>
                  </a:lnTo>
                </a:path>
              </a:pathLst>
            </a:custGeom>
            <a:noFill/>
            <a:ln w="38100">
              <a:solidFill>
                <a:schemeClr val="tx2">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mn-cs"/>
              </a:endParaRPr>
            </a:p>
          </p:txBody>
        </p:sp>
      </p:grpSp>
      <p:grpSp>
        <p:nvGrpSpPr>
          <p:cNvPr id="57" name="Группа 49">
            <a:extLst>
              <a:ext uri="{FF2B5EF4-FFF2-40B4-BE49-F238E27FC236}">
                <a16:creationId xmlns:a16="http://schemas.microsoft.com/office/drawing/2014/main" id="{10E57341-B4B5-0082-6DA6-EE53A5A78F9F}"/>
              </a:ext>
            </a:extLst>
          </p:cNvPr>
          <p:cNvGrpSpPr/>
          <p:nvPr/>
        </p:nvGrpSpPr>
        <p:grpSpPr>
          <a:xfrm>
            <a:off x="9106734" y="1989027"/>
            <a:ext cx="219097" cy="4557200"/>
            <a:chOff x="8089131" y="4146221"/>
            <a:chExt cx="438251" cy="9115586"/>
          </a:xfrm>
        </p:grpSpPr>
        <p:sp>
          <p:nvSpPr>
            <p:cNvPr id="58" name="Полилиния 50">
              <a:extLst>
                <a:ext uri="{FF2B5EF4-FFF2-40B4-BE49-F238E27FC236}">
                  <a16:creationId xmlns:a16="http://schemas.microsoft.com/office/drawing/2014/main" id="{5B8989B5-84CE-718B-5CFA-DB87F8F1076F}"/>
                </a:ext>
              </a:extLst>
            </p:cNvPr>
            <p:cNvSpPr/>
            <p:nvPr/>
          </p:nvSpPr>
          <p:spPr>
            <a:xfrm>
              <a:off x="8089131" y="4146221"/>
              <a:ext cx="370508" cy="9115586"/>
            </a:xfrm>
            <a:custGeom>
              <a:avLst/>
              <a:gdLst>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11" fmla="*/ 91440 w 12668613"/>
                <a:gd name="connsiteY11" fmla="*/ 91440 h 10027145"/>
                <a:gd name="connsiteX0" fmla="*/ 7369051 w 12668613"/>
                <a:gd name="connsiteY0" fmla="*/ 0 h 10027145"/>
                <a:gd name="connsiteX1" fmla="*/ 9062330 w 12668613"/>
                <a:gd name="connsiteY1" fmla="*/ 0 h 10027145"/>
                <a:gd name="connsiteX2" fmla="*/ 12261054 w 12668613"/>
                <a:gd name="connsiteY2" fmla="*/ 0 h 10027145"/>
                <a:gd name="connsiteX3" fmla="*/ 12261054 w 12668613"/>
                <a:gd name="connsiteY3" fmla="*/ 4607455 h 10027145"/>
                <a:gd name="connsiteX4" fmla="*/ 12668613 w 12668613"/>
                <a:gd name="connsiteY4" fmla="*/ 5013572 h 10027145"/>
                <a:gd name="connsiteX5" fmla="*/ 12261054 w 12668613"/>
                <a:gd name="connsiteY5" fmla="*/ 5419689 h 10027145"/>
                <a:gd name="connsiteX6" fmla="*/ 12261054 w 12668613"/>
                <a:gd name="connsiteY6" fmla="*/ 10027145 h 10027145"/>
                <a:gd name="connsiteX7" fmla="*/ 9062330 w 12668613"/>
                <a:gd name="connsiteY7" fmla="*/ 10027145 h 10027145"/>
                <a:gd name="connsiteX8" fmla="*/ 7369051 w 12668613"/>
                <a:gd name="connsiteY8" fmla="*/ 10027145 h 10027145"/>
                <a:gd name="connsiteX9" fmla="*/ 0 w 12668613"/>
                <a:gd name="connsiteY9" fmla="*/ 10027145 h 10027145"/>
                <a:gd name="connsiteX10" fmla="*/ 91440 w 12668613"/>
                <a:gd name="connsiteY10" fmla="*/ 91440 h 10027145"/>
                <a:gd name="connsiteX0" fmla="*/ 9062330 w 12668613"/>
                <a:gd name="connsiteY0" fmla="*/ 0 h 10027145"/>
                <a:gd name="connsiteX1" fmla="*/ 12261054 w 12668613"/>
                <a:gd name="connsiteY1" fmla="*/ 0 h 10027145"/>
                <a:gd name="connsiteX2" fmla="*/ 12261054 w 12668613"/>
                <a:gd name="connsiteY2" fmla="*/ 4607455 h 10027145"/>
                <a:gd name="connsiteX3" fmla="*/ 12668613 w 12668613"/>
                <a:gd name="connsiteY3" fmla="*/ 5013572 h 10027145"/>
                <a:gd name="connsiteX4" fmla="*/ 12261054 w 12668613"/>
                <a:gd name="connsiteY4" fmla="*/ 5419689 h 10027145"/>
                <a:gd name="connsiteX5" fmla="*/ 12261054 w 12668613"/>
                <a:gd name="connsiteY5" fmla="*/ 10027145 h 10027145"/>
                <a:gd name="connsiteX6" fmla="*/ 9062330 w 12668613"/>
                <a:gd name="connsiteY6" fmla="*/ 10027145 h 10027145"/>
                <a:gd name="connsiteX7" fmla="*/ 7369051 w 12668613"/>
                <a:gd name="connsiteY7" fmla="*/ 10027145 h 10027145"/>
                <a:gd name="connsiteX8" fmla="*/ 0 w 12668613"/>
                <a:gd name="connsiteY8" fmla="*/ 10027145 h 10027145"/>
                <a:gd name="connsiteX9" fmla="*/ 91440 w 12668613"/>
                <a:gd name="connsiteY9"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8" fmla="*/ 91440 w 12668613"/>
                <a:gd name="connsiteY8"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0" fmla="*/ 4892003 w 5299562"/>
                <a:gd name="connsiteY0" fmla="*/ 0 h 10027145"/>
                <a:gd name="connsiteX1" fmla="*/ 4892003 w 5299562"/>
                <a:gd name="connsiteY1" fmla="*/ 4607455 h 10027145"/>
                <a:gd name="connsiteX2" fmla="*/ 5299562 w 5299562"/>
                <a:gd name="connsiteY2" fmla="*/ 5013572 h 10027145"/>
                <a:gd name="connsiteX3" fmla="*/ 4892003 w 5299562"/>
                <a:gd name="connsiteY3" fmla="*/ 5419689 h 10027145"/>
                <a:gd name="connsiteX4" fmla="*/ 4892003 w 5299562"/>
                <a:gd name="connsiteY4" fmla="*/ 10027145 h 10027145"/>
                <a:gd name="connsiteX5" fmla="*/ 1693279 w 5299562"/>
                <a:gd name="connsiteY5" fmla="*/ 10027145 h 10027145"/>
                <a:gd name="connsiteX6" fmla="*/ 0 w 5299562"/>
                <a:gd name="connsiteY6" fmla="*/ 10027145 h 10027145"/>
                <a:gd name="connsiteX0" fmla="*/ 3198724 w 3606283"/>
                <a:gd name="connsiteY0" fmla="*/ 0 h 10027145"/>
                <a:gd name="connsiteX1" fmla="*/ 3198724 w 3606283"/>
                <a:gd name="connsiteY1" fmla="*/ 4607455 h 10027145"/>
                <a:gd name="connsiteX2" fmla="*/ 3606283 w 3606283"/>
                <a:gd name="connsiteY2" fmla="*/ 5013572 h 10027145"/>
                <a:gd name="connsiteX3" fmla="*/ 3198724 w 3606283"/>
                <a:gd name="connsiteY3" fmla="*/ 5419689 h 10027145"/>
                <a:gd name="connsiteX4" fmla="*/ 3198724 w 3606283"/>
                <a:gd name="connsiteY4" fmla="*/ 10027145 h 10027145"/>
                <a:gd name="connsiteX5" fmla="*/ 0 w 3606283"/>
                <a:gd name="connsiteY5" fmla="*/ 10027145 h 10027145"/>
                <a:gd name="connsiteX0" fmla="*/ 0 w 407559"/>
                <a:gd name="connsiteY0" fmla="*/ 0 h 10027145"/>
                <a:gd name="connsiteX1" fmla="*/ 0 w 407559"/>
                <a:gd name="connsiteY1" fmla="*/ 4607455 h 10027145"/>
                <a:gd name="connsiteX2" fmla="*/ 407559 w 407559"/>
                <a:gd name="connsiteY2" fmla="*/ 5013572 h 10027145"/>
                <a:gd name="connsiteX3" fmla="*/ 0 w 407559"/>
                <a:gd name="connsiteY3" fmla="*/ 5419689 h 10027145"/>
                <a:gd name="connsiteX4" fmla="*/ 0 w 407559"/>
                <a:gd name="connsiteY4" fmla="*/ 10027145 h 10027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59" h="10027145">
                  <a:moveTo>
                    <a:pt x="0" y="0"/>
                  </a:moveTo>
                  <a:lnTo>
                    <a:pt x="0" y="4607455"/>
                  </a:lnTo>
                  <a:lnTo>
                    <a:pt x="407559" y="5013572"/>
                  </a:lnTo>
                  <a:lnTo>
                    <a:pt x="0" y="5419689"/>
                  </a:lnTo>
                  <a:lnTo>
                    <a:pt x="0" y="10027145"/>
                  </a:lnTo>
                </a:path>
              </a:pathLst>
            </a:custGeom>
            <a:noFill/>
            <a:ln w="1270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mn-cs"/>
              </a:endParaRPr>
            </a:p>
          </p:txBody>
        </p:sp>
        <p:sp>
          <p:nvSpPr>
            <p:cNvPr id="59" name="Полилиния 51">
              <a:extLst>
                <a:ext uri="{FF2B5EF4-FFF2-40B4-BE49-F238E27FC236}">
                  <a16:creationId xmlns:a16="http://schemas.microsoft.com/office/drawing/2014/main" id="{CE2FE878-776D-0415-C104-544B03B2FA91}"/>
                </a:ext>
              </a:extLst>
            </p:cNvPr>
            <p:cNvSpPr/>
            <p:nvPr/>
          </p:nvSpPr>
          <p:spPr>
            <a:xfrm>
              <a:off x="8156874" y="4146221"/>
              <a:ext cx="370508" cy="9115586"/>
            </a:xfrm>
            <a:custGeom>
              <a:avLst/>
              <a:gdLst>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11" fmla="*/ 91440 w 12668613"/>
                <a:gd name="connsiteY11" fmla="*/ 91440 h 10027145"/>
                <a:gd name="connsiteX0" fmla="*/ 7369051 w 12668613"/>
                <a:gd name="connsiteY0" fmla="*/ 0 h 10027145"/>
                <a:gd name="connsiteX1" fmla="*/ 9062330 w 12668613"/>
                <a:gd name="connsiteY1" fmla="*/ 0 h 10027145"/>
                <a:gd name="connsiteX2" fmla="*/ 12261054 w 12668613"/>
                <a:gd name="connsiteY2" fmla="*/ 0 h 10027145"/>
                <a:gd name="connsiteX3" fmla="*/ 12261054 w 12668613"/>
                <a:gd name="connsiteY3" fmla="*/ 4607455 h 10027145"/>
                <a:gd name="connsiteX4" fmla="*/ 12668613 w 12668613"/>
                <a:gd name="connsiteY4" fmla="*/ 5013572 h 10027145"/>
                <a:gd name="connsiteX5" fmla="*/ 12261054 w 12668613"/>
                <a:gd name="connsiteY5" fmla="*/ 5419689 h 10027145"/>
                <a:gd name="connsiteX6" fmla="*/ 12261054 w 12668613"/>
                <a:gd name="connsiteY6" fmla="*/ 10027145 h 10027145"/>
                <a:gd name="connsiteX7" fmla="*/ 9062330 w 12668613"/>
                <a:gd name="connsiteY7" fmla="*/ 10027145 h 10027145"/>
                <a:gd name="connsiteX8" fmla="*/ 7369051 w 12668613"/>
                <a:gd name="connsiteY8" fmla="*/ 10027145 h 10027145"/>
                <a:gd name="connsiteX9" fmla="*/ 0 w 12668613"/>
                <a:gd name="connsiteY9" fmla="*/ 10027145 h 10027145"/>
                <a:gd name="connsiteX10" fmla="*/ 91440 w 12668613"/>
                <a:gd name="connsiteY10" fmla="*/ 91440 h 10027145"/>
                <a:gd name="connsiteX0" fmla="*/ 9062330 w 12668613"/>
                <a:gd name="connsiteY0" fmla="*/ 0 h 10027145"/>
                <a:gd name="connsiteX1" fmla="*/ 12261054 w 12668613"/>
                <a:gd name="connsiteY1" fmla="*/ 0 h 10027145"/>
                <a:gd name="connsiteX2" fmla="*/ 12261054 w 12668613"/>
                <a:gd name="connsiteY2" fmla="*/ 4607455 h 10027145"/>
                <a:gd name="connsiteX3" fmla="*/ 12668613 w 12668613"/>
                <a:gd name="connsiteY3" fmla="*/ 5013572 h 10027145"/>
                <a:gd name="connsiteX4" fmla="*/ 12261054 w 12668613"/>
                <a:gd name="connsiteY4" fmla="*/ 5419689 h 10027145"/>
                <a:gd name="connsiteX5" fmla="*/ 12261054 w 12668613"/>
                <a:gd name="connsiteY5" fmla="*/ 10027145 h 10027145"/>
                <a:gd name="connsiteX6" fmla="*/ 9062330 w 12668613"/>
                <a:gd name="connsiteY6" fmla="*/ 10027145 h 10027145"/>
                <a:gd name="connsiteX7" fmla="*/ 7369051 w 12668613"/>
                <a:gd name="connsiteY7" fmla="*/ 10027145 h 10027145"/>
                <a:gd name="connsiteX8" fmla="*/ 0 w 12668613"/>
                <a:gd name="connsiteY8" fmla="*/ 10027145 h 10027145"/>
                <a:gd name="connsiteX9" fmla="*/ 91440 w 12668613"/>
                <a:gd name="connsiteY9"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8" fmla="*/ 91440 w 12668613"/>
                <a:gd name="connsiteY8"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0" fmla="*/ 4892003 w 5299562"/>
                <a:gd name="connsiteY0" fmla="*/ 0 h 10027145"/>
                <a:gd name="connsiteX1" fmla="*/ 4892003 w 5299562"/>
                <a:gd name="connsiteY1" fmla="*/ 4607455 h 10027145"/>
                <a:gd name="connsiteX2" fmla="*/ 5299562 w 5299562"/>
                <a:gd name="connsiteY2" fmla="*/ 5013572 h 10027145"/>
                <a:gd name="connsiteX3" fmla="*/ 4892003 w 5299562"/>
                <a:gd name="connsiteY3" fmla="*/ 5419689 h 10027145"/>
                <a:gd name="connsiteX4" fmla="*/ 4892003 w 5299562"/>
                <a:gd name="connsiteY4" fmla="*/ 10027145 h 10027145"/>
                <a:gd name="connsiteX5" fmla="*/ 1693279 w 5299562"/>
                <a:gd name="connsiteY5" fmla="*/ 10027145 h 10027145"/>
                <a:gd name="connsiteX6" fmla="*/ 0 w 5299562"/>
                <a:gd name="connsiteY6" fmla="*/ 10027145 h 10027145"/>
                <a:gd name="connsiteX0" fmla="*/ 3198724 w 3606283"/>
                <a:gd name="connsiteY0" fmla="*/ 0 h 10027145"/>
                <a:gd name="connsiteX1" fmla="*/ 3198724 w 3606283"/>
                <a:gd name="connsiteY1" fmla="*/ 4607455 h 10027145"/>
                <a:gd name="connsiteX2" fmla="*/ 3606283 w 3606283"/>
                <a:gd name="connsiteY2" fmla="*/ 5013572 h 10027145"/>
                <a:gd name="connsiteX3" fmla="*/ 3198724 w 3606283"/>
                <a:gd name="connsiteY3" fmla="*/ 5419689 h 10027145"/>
                <a:gd name="connsiteX4" fmla="*/ 3198724 w 3606283"/>
                <a:gd name="connsiteY4" fmla="*/ 10027145 h 10027145"/>
                <a:gd name="connsiteX5" fmla="*/ 0 w 3606283"/>
                <a:gd name="connsiteY5" fmla="*/ 10027145 h 10027145"/>
                <a:gd name="connsiteX0" fmla="*/ 0 w 407559"/>
                <a:gd name="connsiteY0" fmla="*/ 0 h 10027145"/>
                <a:gd name="connsiteX1" fmla="*/ 0 w 407559"/>
                <a:gd name="connsiteY1" fmla="*/ 4607455 h 10027145"/>
                <a:gd name="connsiteX2" fmla="*/ 407559 w 407559"/>
                <a:gd name="connsiteY2" fmla="*/ 5013572 h 10027145"/>
                <a:gd name="connsiteX3" fmla="*/ 0 w 407559"/>
                <a:gd name="connsiteY3" fmla="*/ 5419689 h 10027145"/>
                <a:gd name="connsiteX4" fmla="*/ 0 w 407559"/>
                <a:gd name="connsiteY4" fmla="*/ 10027145 h 10027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59" h="10027145">
                  <a:moveTo>
                    <a:pt x="0" y="0"/>
                  </a:moveTo>
                  <a:lnTo>
                    <a:pt x="0" y="4607455"/>
                  </a:lnTo>
                  <a:lnTo>
                    <a:pt x="407559" y="5013572"/>
                  </a:lnTo>
                  <a:lnTo>
                    <a:pt x="0" y="5419689"/>
                  </a:lnTo>
                  <a:lnTo>
                    <a:pt x="0" y="10027145"/>
                  </a:lnTo>
                </a:path>
              </a:pathLst>
            </a:custGeom>
            <a:noFill/>
            <a:ln w="38100">
              <a:solidFill>
                <a:schemeClr val="tx2">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mn-cs"/>
              </a:endParaRPr>
            </a:p>
          </p:txBody>
        </p:sp>
      </p:grpSp>
      <p:sp>
        <p:nvSpPr>
          <p:cNvPr id="60" name="TextBox 59">
            <a:extLst>
              <a:ext uri="{FF2B5EF4-FFF2-40B4-BE49-F238E27FC236}">
                <a16:creationId xmlns:a16="http://schemas.microsoft.com/office/drawing/2014/main" id="{37255087-2B34-BF3A-C78A-13C262C6BC6D}"/>
              </a:ext>
            </a:extLst>
          </p:cNvPr>
          <p:cNvSpPr txBox="1"/>
          <p:nvPr/>
        </p:nvSpPr>
        <p:spPr>
          <a:xfrm>
            <a:off x="304054" y="3143204"/>
            <a:ext cx="2672499" cy="892167"/>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Exact Match Accuracy</a:t>
            </a:r>
          </a:p>
          <a:p>
            <a:pPr lvl="0" algn="just" defTabSz="1219079">
              <a:lnSpc>
                <a:spcPct val="150000"/>
              </a:lnSpc>
              <a:defRPr/>
            </a:pPr>
            <a:r>
              <a:rPr lang="en-IN" sz="900" dirty="0">
                <a:solidFill>
                  <a:srgbClr val="2A2834">
                    <a:lumMod val="75000"/>
                    <a:lumOff val="25000"/>
                  </a:srgbClr>
                </a:solidFill>
                <a:latin typeface="Poppins" panose="00000500000000000000" pitchFamily="2" charset="0"/>
                <a:ea typeface="Tahoma" charset="0"/>
                <a:cs typeface="Poppins" panose="00000500000000000000" pitchFamily="2" charset="0"/>
              </a:rPr>
              <a:t>Percentage of predictions where the generated SQL string exactly matches the gold SQL (token-by-token)</a:t>
            </a:r>
            <a:endParaRPr lang="ru-RU" sz="900" dirty="0">
              <a:solidFill>
                <a:srgbClr val="2A2834">
                  <a:lumMod val="75000"/>
                  <a:lumOff val="25000"/>
                </a:srgbClr>
              </a:solidFill>
              <a:latin typeface="Poppins" panose="00000500000000000000" pitchFamily="2" charset="0"/>
              <a:ea typeface="Tahoma" charset="0"/>
              <a:cs typeface="Poppins" panose="00000500000000000000" pitchFamily="2" charset="0"/>
            </a:endParaRPr>
          </a:p>
        </p:txBody>
      </p:sp>
      <p:sp>
        <p:nvSpPr>
          <p:cNvPr id="61" name="TextBox 60">
            <a:extLst>
              <a:ext uri="{FF2B5EF4-FFF2-40B4-BE49-F238E27FC236}">
                <a16:creationId xmlns:a16="http://schemas.microsoft.com/office/drawing/2014/main" id="{02F5E9A5-2CCD-B525-0197-746C03C2313E}"/>
              </a:ext>
            </a:extLst>
          </p:cNvPr>
          <p:cNvSpPr txBox="1"/>
          <p:nvPr/>
        </p:nvSpPr>
        <p:spPr>
          <a:xfrm>
            <a:off x="304055" y="2147400"/>
            <a:ext cx="1054924" cy="953851"/>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01</a:t>
            </a:r>
            <a:endParaRPr kumimoji="0" lang="ru-RU" sz="5000" b="0" i="0" u="none" strike="noStrike" kern="1200" cap="none" spc="0" normalizeH="0" baseline="0" noProof="0" dirty="0">
              <a:ln>
                <a:noFill/>
              </a:ln>
              <a:solidFill>
                <a:srgbClr val="2A2834">
                  <a:lumMod val="75000"/>
                  <a:lumOff val="25000"/>
                </a:srgbClr>
              </a:solidFill>
              <a:effectLst/>
              <a:uLnTx/>
              <a:uFillTx/>
              <a:latin typeface="Tahoma" charset="0"/>
              <a:ea typeface="Tahoma" charset="0"/>
              <a:cs typeface="Poppins" panose="00000500000000000000" pitchFamily="2" charset="0"/>
            </a:endParaRPr>
          </a:p>
        </p:txBody>
      </p:sp>
      <p:grpSp>
        <p:nvGrpSpPr>
          <p:cNvPr id="62" name="Group 61">
            <a:extLst>
              <a:ext uri="{FF2B5EF4-FFF2-40B4-BE49-F238E27FC236}">
                <a16:creationId xmlns:a16="http://schemas.microsoft.com/office/drawing/2014/main" id="{1E681930-FCC0-8B3A-75A8-1B191EAF5485}"/>
              </a:ext>
            </a:extLst>
          </p:cNvPr>
          <p:cNvGrpSpPr/>
          <p:nvPr/>
        </p:nvGrpSpPr>
        <p:grpSpPr>
          <a:xfrm>
            <a:off x="304054" y="4874253"/>
            <a:ext cx="2680965" cy="536263"/>
            <a:chOff x="304054" y="4874253"/>
            <a:chExt cx="2680965" cy="536263"/>
          </a:xfrm>
        </p:grpSpPr>
        <p:sp>
          <p:nvSpPr>
            <p:cNvPr id="63" name="Овал 139">
              <a:extLst>
                <a:ext uri="{FF2B5EF4-FFF2-40B4-BE49-F238E27FC236}">
                  <a16:creationId xmlns:a16="http://schemas.microsoft.com/office/drawing/2014/main" id="{7C559E7A-A99E-BA75-EE04-A6D4094CD965}"/>
                </a:ext>
              </a:extLst>
            </p:cNvPr>
            <p:cNvSpPr/>
            <p:nvPr/>
          </p:nvSpPr>
          <p:spPr>
            <a:xfrm>
              <a:off x="304054" y="4960504"/>
              <a:ext cx="450012" cy="450012"/>
            </a:xfrm>
            <a:prstGeom prst="ellipse">
              <a:avLst/>
            </a:prstGeom>
            <a:solidFill>
              <a:srgbClr val="FFD5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017" rtl="0" eaLnBrk="1" fontAlgn="auto" latinLnBrk="0" hangingPunct="1">
                <a:lnSpc>
                  <a:spcPct val="120000"/>
                </a:lnSpc>
                <a:spcBef>
                  <a:spcPts val="30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A</a:t>
              </a:r>
              <a:endParaRPr kumimoji="0" lang="ru-RU" sz="1600" b="1" i="0" u="none" strike="noStrike" kern="1200" cap="none" spc="0" normalizeH="0" baseline="0" noProof="0" dirty="0">
                <a:ln>
                  <a:noFill/>
                </a:ln>
                <a:solidFill>
                  <a:srgbClr val="FFFFFF"/>
                </a:solidFill>
                <a:effectLst/>
                <a:uLnTx/>
                <a:uFillTx/>
                <a:latin typeface="Tahoma" panose="020B0604030504040204" pitchFamily="34" charset="0"/>
                <a:ea typeface="Tahoma" panose="020B0604030504040204" pitchFamily="34" charset="0"/>
                <a:cs typeface="Poppins" panose="00000500000000000000" pitchFamily="2" charset="0"/>
              </a:endParaRPr>
            </a:p>
          </p:txBody>
        </p:sp>
        <p:sp>
          <p:nvSpPr>
            <p:cNvPr id="64" name="TextBox 63">
              <a:extLst>
                <a:ext uri="{FF2B5EF4-FFF2-40B4-BE49-F238E27FC236}">
                  <a16:creationId xmlns:a16="http://schemas.microsoft.com/office/drawing/2014/main" id="{14E49F01-4E8F-44AB-1EAA-B196C901014F}"/>
                </a:ext>
              </a:extLst>
            </p:cNvPr>
            <p:cNvSpPr txBox="1"/>
            <p:nvPr/>
          </p:nvSpPr>
          <p:spPr>
            <a:xfrm>
              <a:off x="783698" y="4874253"/>
              <a:ext cx="2201321" cy="510909"/>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Pros</a:t>
              </a:r>
            </a:p>
            <a:p>
              <a:pPr lvl="0" defTabSz="1219079">
                <a:lnSpc>
                  <a:spcPct val="120000"/>
                </a:lnSpc>
                <a:defRPr/>
              </a:pPr>
              <a:r>
                <a:rPr lang="en-IN" sz="8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Simple, easy to compare across models</a:t>
              </a:r>
              <a:endParaRPr lang="en-US" sz="8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grpSp>
        <p:nvGrpSpPr>
          <p:cNvPr id="65" name="Group 64">
            <a:extLst>
              <a:ext uri="{FF2B5EF4-FFF2-40B4-BE49-F238E27FC236}">
                <a16:creationId xmlns:a16="http://schemas.microsoft.com/office/drawing/2014/main" id="{B58B94F9-C16F-5219-6092-EE28AF60585E}"/>
              </a:ext>
            </a:extLst>
          </p:cNvPr>
          <p:cNvGrpSpPr/>
          <p:nvPr/>
        </p:nvGrpSpPr>
        <p:grpSpPr>
          <a:xfrm>
            <a:off x="304054" y="5890167"/>
            <a:ext cx="2680965" cy="658642"/>
            <a:chOff x="304054" y="5890167"/>
            <a:chExt cx="2680965" cy="658642"/>
          </a:xfrm>
        </p:grpSpPr>
        <p:sp>
          <p:nvSpPr>
            <p:cNvPr id="66" name="Овал 139">
              <a:extLst>
                <a:ext uri="{FF2B5EF4-FFF2-40B4-BE49-F238E27FC236}">
                  <a16:creationId xmlns:a16="http://schemas.microsoft.com/office/drawing/2014/main" id="{57CE030A-1294-D1C5-CA20-7CE8A2E7C187}"/>
                </a:ext>
              </a:extLst>
            </p:cNvPr>
            <p:cNvSpPr/>
            <p:nvPr/>
          </p:nvSpPr>
          <p:spPr>
            <a:xfrm>
              <a:off x="304054" y="5946785"/>
              <a:ext cx="450012" cy="450012"/>
            </a:xfrm>
            <a:prstGeom prst="ellipse">
              <a:avLst/>
            </a:prstGeom>
            <a:solidFill>
              <a:srgbClr val="7CE2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017" rtl="0" eaLnBrk="1" fontAlgn="auto" latinLnBrk="0" hangingPunct="1">
                <a:lnSpc>
                  <a:spcPct val="120000"/>
                </a:lnSpc>
                <a:spcBef>
                  <a:spcPts val="30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B</a:t>
              </a:r>
              <a:endParaRPr kumimoji="0" lang="ru-RU" sz="1600" b="1" i="0" u="none" strike="noStrike" kern="1200" cap="none" spc="0" normalizeH="0" baseline="0" noProof="0" dirty="0">
                <a:ln>
                  <a:noFill/>
                </a:ln>
                <a:solidFill>
                  <a:srgbClr val="FFFFFF"/>
                </a:solidFill>
                <a:effectLst/>
                <a:uLnTx/>
                <a:uFillTx/>
                <a:latin typeface="Tahoma" panose="020B0604030504040204" pitchFamily="34" charset="0"/>
                <a:ea typeface="Tahoma" panose="020B0604030504040204" pitchFamily="34" charset="0"/>
                <a:cs typeface="Poppins" panose="00000500000000000000" pitchFamily="2" charset="0"/>
              </a:endParaRPr>
            </a:p>
          </p:txBody>
        </p:sp>
        <p:sp>
          <p:nvSpPr>
            <p:cNvPr id="67" name="TextBox 66">
              <a:extLst>
                <a:ext uri="{FF2B5EF4-FFF2-40B4-BE49-F238E27FC236}">
                  <a16:creationId xmlns:a16="http://schemas.microsoft.com/office/drawing/2014/main" id="{93B9BF92-C0CC-19DB-1DA8-89767A12F356}"/>
                </a:ext>
              </a:extLst>
            </p:cNvPr>
            <p:cNvSpPr txBox="1"/>
            <p:nvPr/>
          </p:nvSpPr>
          <p:spPr>
            <a:xfrm>
              <a:off x="783698" y="5890167"/>
              <a:ext cx="2201321" cy="658642"/>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lang="en-US" sz="700" b="1"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Cons</a:t>
              </a:r>
              <a:endParaRPr kumimoji="0" lang="en-US" sz="7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endParaRPr>
            </a:p>
            <a:p>
              <a:pPr lvl="0" defTabSz="1219079">
                <a:lnSpc>
                  <a:spcPct val="120000"/>
                </a:lnSpc>
                <a:defRPr/>
              </a:pPr>
              <a:r>
                <a:rPr lang="en-IN" sz="8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Penalizes semantically correct but syntactically different queries → overly strict, low realism</a:t>
              </a:r>
              <a:endParaRPr lang="en-US" sz="8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sp>
        <p:nvSpPr>
          <p:cNvPr id="68" name="TextBox 67">
            <a:extLst>
              <a:ext uri="{FF2B5EF4-FFF2-40B4-BE49-F238E27FC236}">
                <a16:creationId xmlns:a16="http://schemas.microsoft.com/office/drawing/2014/main" id="{3E9CAF77-BEA8-F198-353B-28D63358B30E}"/>
              </a:ext>
            </a:extLst>
          </p:cNvPr>
          <p:cNvSpPr txBox="1"/>
          <p:nvPr/>
        </p:nvSpPr>
        <p:spPr>
          <a:xfrm>
            <a:off x="3281307" y="3143204"/>
            <a:ext cx="2672499" cy="892167"/>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Execution Accuracy</a:t>
            </a:r>
          </a:p>
          <a:p>
            <a:pPr lvl="0" algn="just" defTabSz="1219079">
              <a:lnSpc>
                <a:spcPct val="150000"/>
              </a:lnSpc>
              <a:defRPr/>
            </a:pPr>
            <a:r>
              <a:rPr lang="en-IN" sz="900" dirty="0">
                <a:solidFill>
                  <a:srgbClr val="2A2834">
                    <a:lumMod val="75000"/>
                    <a:lumOff val="25000"/>
                  </a:srgbClr>
                </a:solidFill>
                <a:latin typeface="Poppins" panose="00000500000000000000" pitchFamily="2" charset="0"/>
                <a:ea typeface="Tahoma" charset="0"/>
                <a:cs typeface="Poppins" panose="00000500000000000000" pitchFamily="2" charset="0"/>
              </a:rPr>
              <a:t>Percentage of cases where the execution result of the predicted SQL is the same as the result of the gold SQL on the database</a:t>
            </a:r>
            <a:endParaRPr lang="ru-RU" sz="900" dirty="0">
              <a:solidFill>
                <a:srgbClr val="2A2834">
                  <a:lumMod val="75000"/>
                  <a:lumOff val="25000"/>
                </a:srgbClr>
              </a:solidFill>
              <a:latin typeface="Poppins" panose="00000500000000000000" pitchFamily="2" charset="0"/>
              <a:ea typeface="Tahoma" charset="0"/>
              <a:cs typeface="Poppins" panose="00000500000000000000" pitchFamily="2" charset="0"/>
            </a:endParaRPr>
          </a:p>
        </p:txBody>
      </p:sp>
      <p:sp>
        <p:nvSpPr>
          <p:cNvPr id="69" name="TextBox 68">
            <a:extLst>
              <a:ext uri="{FF2B5EF4-FFF2-40B4-BE49-F238E27FC236}">
                <a16:creationId xmlns:a16="http://schemas.microsoft.com/office/drawing/2014/main" id="{6C606ECD-939A-913D-7E4F-DF9BF9BC71A9}"/>
              </a:ext>
            </a:extLst>
          </p:cNvPr>
          <p:cNvSpPr txBox="1"/>
          <p:nvPr/>
        </p:nvSpPr>
        <p:spPr>
          <a:xfrm>
            <a:off x="3281308" y="2147400"/>
            <a:ext cx="1054924" cy="953851"/>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02</a:t>
            </a:r>
            <a:endParaRPr kumimoji="0" lang="ru-RU" sz="5000" b="0" i="0" u="none" strike="noStrike" kern="1200" cap="none" spc="0" normalizeH="0" baseline="0" noProof="0" dirty="0">
              <a:ln>
                <a:noFill/>
              </a:ln>
              <a:solidFill>
                <a:srgbClr val="2A2834">
                  <a:lumMod val="75000"/>
                  <a:lumOff val="25000"/>
                </a:srgbClr>
              </a:solidFill>
              <a:effectLst/>
              <a:uLnTx/>
              <a:uFillTx/>
              <a:latin typeface="Tahoma" charset="0"/>
              <a:ea typeface="Tahoma" charset="0"/>
              <a:cs typeface="Poppins" panose="00000500000000000000" pitchFamily="2" charset="0"/>
            </a:endParaRPr>
          </a:p>
        </p:txBody>
      </p:sp>
      <p:grpSp>
        <p:nvGrpSpPr>
          <p:cNvPr id="70" name="Group 69">
            <a:extLst>
              <a:ext uri="{FF2B5EF4-FFF2-40B4-BE49-F238E27FC236}">
                <a16:creationId xmlns:a16="http://schemas.microsoft.com/office/drawing/2014/main" id="{FB82D0B2-7D42-9A16-7420-1B04ADDFD82E}"/>
              </a:ext>
            </a:extLst>
          </p:cNvPr>
          <p:cNvGrpSpPr/>
          <p:nvPr/>
        </p:nvGrpSpPr>
        <p:grpSpPr>
          <a:xfrm>
            <a:off x="3281307" y="4874253"/>
            <a:ext cx="2680965" cy="713272"/>
            <a:chOff x="3281307" y="4874253"/>
            <a:chExt cx="2680965" cy="713272"/>
          </a:xfrm>
        </p:grpSpPr>
        <p:sp>
          <p:nvSpPr>
            <p:cNvPr id="71" name="Овал 139">
              <a:extLst>
                <a:ext uri="{FF2B5EF4-FFF2-40B4-BE49-F238E27FC236}">
                  <a16:creationId xmlns:a16="http://schemas.microsoft.com/office/drawing/2014/main" id="{2AF8C7FC-4563-7CF5-ACC0-6985325BE51F}"/>
                </a:ext>
              </a:extLst>
            </p:cNvPr>
            <p:cNvSpPr/>
            <p:nvPr/>
          </p:nvSpPr>
          <p:spPr>
            <a:xfrm>
              <a:off x="3281307" y="4960504"/>
              <a:ext cx="450012" cy="450012"/>
            </a:xfrm>
            <a:prstGeom prst="ellipse">
              <a:avLst/>
            </a:prstGeom>
            <a:solidFill>
              <a:srgbClr val="FFD5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017" rtl="0" eaLnBrk="1" fontAlgn="auto" latinLnBrk="0" hangingPunct="1">
                <a:lnSpc>
                  <a:spcPct val="120000"/>
                </a:lnSpc>
                <a:spcBef>
                  <a:spcPts val="30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A</a:t>
              </a:r>
              <a:endParaRPr kumimoji="0" lang="ru-RU" sz="1600" b="1" i="0" u="none" strike="noStrike" kern="1200" cap="none" spc="0" normalizeH="0" baseline="0" noProof="0" dirty="0">
                <a:ln>
                  <a:noFill/>
                </a:ln>
                <a:solidFill>
                  <a:srgbClr val="FFFFFF"/>
                </a:solidFill>
                <a:effectLst/>
                <a:uLnTx/>
                <a:uFillTx/>
                <a:latin typeface="Tahoma" panose="020B0604030504040204" pitchFamily="34" charset="0"/>
                <a:ea typeface="Tahoma" panose="020B0604030504040204" pitchFamily="34" charset="0"/>
                <a:cs typeface="Poppins" panose="00000500000000000000" pitchFamily="2" charset="0"/>
              </a:endParaRPr>
            </a:p>
          </p:txBody>
        </p:sp>
        <p:sp>
          <p:nvSpPr>
            <p:cNvPr id="72" name="TextBox 71">
              <a:extLst>
                <a:ext uri="{FF2B5EF4-FFF2-40B4-BE49-F238E27FC236}">
                  <a16:creationId xmlns:a16="http://schemas.microsoft.com/office/drawing/2014/main" id="{06EA719F-7959-BBA8-AE6E-E81CA31E01B6}"/>
                </a:ext>
              </a:extLst>
            </p:cNvPr>
            <p:cNvSpPr txBox="1"/>
            <p:nvPr/>
          </p:nvSpPr>
          <p:spPr>
            <a:xfrm>
              <a:off x="3760951" y="4874253"/>
              <a:ext cx="2201321" cy="713272"/>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Pros</a:t>
              </a:r>
            </a:p>
            <a:p>
              <a:pPr lvl="0" defTabSz="1219079">
                <a:lnSpc>
                  <a:spcPct val="120000"/>
                </a:lnSpc>
                <a:defRPr/>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Ignores superficial differences in SQL text, focuses on answer correctness.</a:t>
              </a:r>
              <a:endParaRPr lang="en-US"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grpSp>
        <p:nvGrpSpPr>
          <p:cNvPr id="73" name="Group 72">
            <a:extLst>
              <a:ext uri="{FF2B5EF4-FFF2-40B4-BE49-F238E27FC236}">
                <a16:creationId xmlns:a16="http://schemas.microsoft.com/office/drawing/2014/main" id="{C9B07BA0-F4C9-E2A1-6206-971014FBDDFD}"/>
              </a:ext>
            </a:extLst>
          </p:cNvPr>
          <p:cNvGrpSpPr/>
          <p:nvPr/>
        </p:nvGrpSpPr>
        <p:grpSpPr>
          <a:xfrm>
            <a:off x="3281307" y="5890167"/>
            <a:ext cx="2680965" cy="879472"/>
            <a:chOff x="3281307" y="5890167"/>
            <a:chExt cx="2680965" cy="879472"/>
          </a:xfrm>
        </p:grpSpPr>
        <p:sp>
          <p:nvSpPr>
            <p:cNvPr id="74" name="Овал 139">
              <a:extLst>
                <a:ext uri="{FF2B5EF4-FFF2-40B4-BE49-F238E27FC236}">
                  <a16:creationId xmlns:a16="http://schemas.microsoft.com/office/drawing/2014/main" id="{A0CE2FD5-9995-11E8-71C8-4BAD7C805509}"/>
                </a:ext>
              </a:extLst>
            </p:cNvPr>
            <p:cNvSpPr/>
            <p:nvPr/>
          </p:nvSpPr>
          <p:spPr>
            <a:xfrm>
              <a:off x="3281307" y="5946785"/>
              <a:ext cx="450012" cy="450012"/>
            </a:xfrm>
            <a:prstGeom prst="ellipse">
              <a:avLst/>
            </a:prstGeom>
            <a:solidFill>
              <a:srgbClr val="7CE2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017" rtl="0" eaLnBrk="1" fontAlgn="auto" latinLnBrk="0" hangingPunct="1">
                <a:lnSpc>
                  <a:spcPct val="120000"/>
                </a:lnSpc>
                <a:spcBef>
                  <a:spcPts val="30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B</a:t>
              </a:r>
              <a:endParaRPr kumimoji="0" lang="ru-RU" sz="1600" b="1" i="0" u="none" strike="noStrike" kern="1200" cap="none" spc="0" normalizeH="0" baseline="0" noProof="0" dirty="0">
                <a:ln>
                  <a:noFill/>
                </a:ln>
                <a:solidFill>
                  <a:srgbClr val="FFFFFF"/>
                </a:solidFill>
                <a:effectLst/>
                <a:uLnTx/>
                <a:uFillTx/>
                <a:latin typeface="Tahoma" panose="020B0604030504040204" pitchFamily="34" charset="0"/>
                <a:ea typeface="Tahoma" panose="020B0604030504040204" pitchFamily="34" charset="0"/>
                <a:cs typeface="Poppins" panose="00000500000000000000" pitchFamily="2" charset="0"/>
              </a:endParaRPr>
            </a:p>
          </p:txBody>
        </p:sp>
        <p:sp>
          <p:nvSpPr>
            <p:cNvPr id="75" name="TextBox 74">
              <a:extLst>
                <a:ext uri="{FF2B5EF4-FFF2-40B4-BE49-F238E27FC236}">
                  <a16:creationId xmlns:a16="http://schemas.microsoft.com/office/drawing/2014/main" id="{4FB8E254-BB68-E67B-0709-80ADD24B8F5A}"/>
                </a:ext>
              </a:extLst>
            </p:cNvPr>
            <p:cNvSpPr txBox="1"/>
            <p:nvPr/>
          </p:nvSpPr>
          <p:spPr>
            <a:xfrm>
              <a:off x="3760951" y="5890167"/>
              <a:ext cx="2201321" cy="879472"/>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Cons</a:t>
              </a:r>
            </a:p>
            <a:p>
              <a:pPr lvl="0" defTabSz="1219079">
                <a:lnSpc>
                  <a:spcPct val="120000"/>
                </a:lnSpc>
                <a:defRPr/>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Can have false positives (different logic, same result on this DB) and false negatives (correct query but corner-case DB)</a:t>
              </a:r>
              <a:endParaRPr lang="en-US"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sp>
        <p:nvSpPr>
          <p:cNvPr id="76" name="TextBox 75">
            <a:extLst>
              <a:ext uri="{FF2B5EF4-FFF2-40B4-BE49-F238E27FC236}">
                <a16:creationId xmlns:a16="http://schemas.microsoft.com/office/drawing/2014/main" id="{CC2FE36E-6BB0-C6EE-858E-F6A3D5CC46C2}"/>
              </a:ext>
            </a:extLst>
          </p:cNvPr>
          <p:cNvSpPr txBox="1"/>
          <p:nvPr/>
        </p:nvSpPr>
        <p:spPr>
          <a:xfrm>
            <a:off x="6258560" y="3143204"/>
            <a:ext cx="2672499" cy="1515415"/>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Test Suite Accuracy</a:t>
            </a:r>
          </a:p>
          <a:p>
            <a:pPr algn="just" defTabSz="1219079">
              <a:lnSpc>
                <a:spcPct val="150000"/>
              </a:lnSpc>
              <a:defRPr/>
            </a:pPr>
            <a:r>
              <a:rPr lang="en-IN" sz="900" dirty="0">
                <a:solidFill>
                  <a:srgbClr val="2A2834">
                    <a:lumMod val="75000"/>
                    <a:lumOff val="25000"/>
                  </a:srgbClr>
                </a:solidFill>
                <a:latin typeface="Poppins" panose="00000500000000000000" pitchFamily="2" charset="0"/>
                <a:ea typeface="Tahoma" charset="0"/>
                <a:cs typeface="Poppins" panose="00000500000000000000" pitchFamily="2" charset="0"/>
              </a:rPr>
              <a:t>Accuracy when the predicted query is run on a distilled suite of test databases and must match the gold query’s outputs on all of them</a:t>
            </a:r>
            <a:r>
              <a:rPr lang="en-US" sz="900" dirty="0">
                <a:solidFill>
                  <a:srgbClr val="2A2834">
                    <a:lumMod val="75000"/>
                    <a:lumOff val="25000"/>
                  </a:srgbClr>
                </a:solidFill>
                <a:latin typeface="Poppins" panose="00000500000000000000" pitchFamily="2" charset="0"/>
                <a:ea typeface="Tahoma" charset="0"/>
                <a:cs typeface="Poppins" panose="00000500000000000000" pitchFamily="2" charset="0"/>
              </a:rPr>
              <a:t> i.e. </a:t>
            </a:r>
            <a:r>
              <a:rPr lang="en-IN" sz="900" dirty="0">
                <a:solidFill>
                  <a:srgbClr val="2A2834">
                    <a:lumMod val="75000"/>
                    <a:lumOff val="25000"/>
                  </a:srgbClr>
                </a:solidFill>
                <a:latin typeface="Poppins" panose="00000500000000000000" pitchFamily="2" charset="0"/>
                <a:ea typeface="Tahoma" charset="0"/>
                <a:cs typeface="Poppins" panose="00000500000000000000" pitchFamily="2" charset="0"/>
              </a:rPr>
              <a:t>If two queries behave the same on many diverse DB variants, they are likely semantically equivalent</a:t>
            </a:r>
            <a:endParaRPr lang="ru-RU" sz="900" dirty="0">
              <a:solidFill>
                <a:srgbClr val="2A2834">
                  <a:lumMod val="75000"/>
                  <a:lumOff val="25000"/>
                </a:srgbClr>
              </a:solidFill>
              <a:latin typeface="Poppins" panose="00000500000000000000" pitchFamily="2" charset="0"/>
              <a:ea typeface="Tahoma" charset="0"/>
              <a:cs typeface="Poppins" panose="00000500000000000000" pitchFamily="2" charset="0"/>
            </a:endParaRPr>
          </a:p>
        </p:txBody>
      </p:sp>
      <p:sp>
        <p:nvSpPr>
          <p:cNvPr id="77" name="TextBox 76">
            <a:extLst>
              <a:ext uri="{FF2B5EF4-FFF2-40B4-BE49-F238E27FC236}">
                <a16:creationId xmlns:a16="http://schemas.microsoft.com/office/drawing/2014/main" id="{648B0DE0-4A0C-9ED8-F0D1-B74364EF01F4}"/>
              </a:ext>
            </a:extLst>
          </p:cNvPr>
          <p:cNvSpPr txBox="1"/>
          <p:nvPr/>
        </p:nvSpPr>
        <p:spPr>
          <a:xfrm>
            <a:off x="6258561" y="2147400"/>
            <a:ext cx="1054924" cy="953851"/>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03</a:t>
            </a:r>
            <a:endParaRPr kumimoji="0" lang="ru-RU" sz="5000" b="0" i="0" u="none" strike="noStrike" kern="1200" cap="none" spc="0" normalizeH="0" baseline="0" noProof="0" dirty="0">
              <a:ln>
                <a:noFill/>
              </a:ln>
              <a:solidFill>
                <a:srgbClr val="2A2834">
                  <a:lumMod val="75000"/>
                  <a:lumOff val="25000"/>
                </a:srgbClr>
              </a:solidFill>
              <a:effectLst/>
              <a:uLnTx/>
              <a:uFillTx/>
              <a:latin typeface="Tahoma" charset="0"/>
              <a:ea typeface="Tahoma" charset="0"/>
              <a:cs typeface="Poppins" panose="00000500000000000000" pitchFamily="2" charset="0"/>
            </a:endParaRPr>
          </a:p>
        </p:txBody>
      </p:sp>
      <p:grpSp>
        <p:nvGrpSpPr>
          <p:cNvPr id="78" name="Group 77">
            <a:extLst>
              <a:ext uri="{FF2B5EF4-FFF2-40B4-BE49-F238E27FC236}">
                <a16:creationId xmlns:a16="http://schemas.microsoft.com/office/drawing/2014/main" id="{E190E6D5-45B6-A8F9-75DB-D44097825B58}"/>
              </a:ext>
            </a:extLst>
          </p:cNvPr>
          <p:cNvGrpSpPr/>
          <p:nvPr/>
        </p:nvGrpSpPr>
        <p:grpSpPr>
          <a:xfrm>
            <a:off x="6258560" y="4874253"/>
            <a:ext cx="2680965" cy="547073"/>
            <a:chOff x="6258560" y="4874253"/>
            <a:chExt cx="2680965" cy="547073"/>
          </a:xfrm>
        </p:grpSpPr>
        <p:sp>
          <p:nvSpPr>
            <p:cNvPr id="79" name="Овал 139">
              <a:extLst>
                <a:ext uri="{FF2B5EF4-FFF2-40B4-BE49-F238E27FC236}">
                  <a16:creationId xmlns:a16="http://schemas.microsoft.com/office/drawing/2014/main" id="{DC87DDAF-A551-AE80-1307-368725463AAC}"/>
                </a:ext>
              </a:extLst>
            </p:cNvPr>
            <p:cNvSpPr/>
            <p:nvPr/>
          </p:nvSpPr>
          <p:spPr>
            <a:xfrm>
              <a:off x="6258560" y="4960504"/>
              <a:ext cx="450012" cy="450012"/>
            </a:xfrm>
            <a:prstGeom prst="ellipse">
              <a:avLst/>
            </a:prstGeom>
            <a:solidFill>
              <a:srgbClr val="FFD5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017" rtl="0" eaLnBrk="1" fontAlgn="auto" latinLnBrk="0" hangingPunct="1">
                <a:lnSpc>
                  <a:spcPct val="120000"/>
                </a:lnSpc>
                <a:spcBef>
                  <a:spcPts val="30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A</a:t>
              </a:r>
              <a:endParaRPr kumimoji="0" lang="ru-RU" sz="1600" b="1" i="0" u="none" strike="noStrike" kern="1200" cap="none" spc="0" normalizeH="0" baseline="0" noProof="0" dirty="0">
                <a:ln>
                  <a:noFill/>
                </a:ln>
                <a:solidFill>
                  <a:srgbClr val="FFFFFF"/>
                </a:solidFill>
                <a:effectLst/>
                <a:uLnTx/>
                <a:uFillTx/>
                <a:latin typeface="Tahoma" panose="020B0604030504040204" pitchFamily="34" charset="0"/>
                <a:ea typeface="Tahoma" panose="020B0604030504040204" pitchFamily="34" charset="0"/>
                <a:cs typeface="Poppins" panose="00000500000000000000" pitchFamily="2" charset="0"/>
              </a:endParaRPr>
            </a:p>
          </p:txBody>
        </p:sp>
        <p:sp>
          <p:nvSpPr>
            <p:cNvPr id="80" name="TextBox 79">
              <a:extLst>
                <a:ext uri="{FF2B5EF4-FFF2-40B4-BE49-F238E27FC236}">
                  <a16:creationId xmlns:a16="http://schemas.microsoft.com/office/drawing/2014/main" id="{4D6C6AB9-28DB-AA29-1EEB-107582F4FFA2}"/>
                </a:ext>
              </a:extLst>
            </p:cNvPr>
            <p:cNvSpPr txBox="1"/>
            <p:nvPr/>
          </p:nvSpPr>
          <p:spPr>
            <a:xfrm>
              <a:off x="6738204" y="4874253"/>
              <a:ext cx="2201321" cy="547073"/>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Pros</a:t>
              </a:r>
            </a:p>
            <a:p>
              <a:pPr lvl="0" defTabSz="1219079">
                <a:lnSpc>
                  <a:spcPct val="120000"/>
                </a:lnSpc>
                <a:defRPr/>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Best-known automatic proxy for true semantic correctness</a:t>
              </a:r>
              <a:endParaRPr lang="en-US"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grpSp>
        <p:nvGrpSpPr>
          <p:cNvPr id="81" name="Group 80">
            <a:extLst>
              <a:ext uri="{FF2B5EF4-FFF2-40B4-BE49-F238E27FC236}">
                <a16:creationId xmlns:a16="http://schemas.microsoft.com/office/drawing/2014/main" id="{57059D3F-13AF-E12E-EC53-16A42B336965}"/>
              </a:ext>
            </a:extLst>
          </p:cNvPr>
          <p:cNvGrpSpPr/>
          <p:nvPr/>
        </p:nvGrpSpPr>
        <p:grpSpPr>
          <a:xfrm>
            <a:off x="6258560" y="5890167"/>
            <a:ext cx="2680965" cy="547073"/>
            <a:chOff x="6258560" y="5890167"/>
            <a:chExt cx="2680965" cy="547073"/>
          </a:xfrm>
        </p:grpSpPr>
        <p:sp>
          <p:nvSpPr>
            <p:cNvPr id="82" name="Овал 139">
              <a:extLst>
                <a:ext uri="{FF2B5EF4-FFF2-40B4-BE49-F238E27FC236}">
                  <a16:creationId xmlns:a16="http://schemas.microsoft.com/office/drawing/2014/main" id="{4ECDEB2E-F4FD-B48A-29D1-7D8AEBC3BA85}"/>
                </a:ext>
              </a:extLst>
            </p:cNvPr>
            <p:cNvSpPr/>
            <p:nvPr/>
          </p:nvSpPr>
          <p:spPr>
            <a:xfrm>
              <a:off x="6258560" y="5946785"/>
              <a:ext cx="450012" cy="450012"/>
            </a:xfrm>
            <a:prstGeom prst="ellipse">
              <a:avLst/>
            </a:prstGeom>
            <a:solidFill>
              <a:srgbClr val="7CE2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017" rtl="0" eaLnBrk="1" fontAlgn="auto" latinLnBrk="0" hangingPunct="1">
                <a:lnSpc>
                  <a:spcPct val="120000"/>
                </a:lnSpc>
                <a:spcBef>
                  <a:spcPts val="30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B</a:t>
              </a:r>
              <a:endParaRPr kumimoji="0" lang="ru-RU" sz="1600" b="1" i="0" u="none" strike="noStrike" kern="1200" cap="none" spc="0" normalizeH="0" baseline="0" noProof="0" dirty="0">
                <a:ln>
                  <a:noFill/>
                </a:ln>
                <a:solidFill>
                  <a:srgbClr val="FFFFFF"/>
                </a:solidFill>
                <a:effectLst/>
                <a:uLnTx/>
                <a:uFillTx/>
                <a:latin typeface="Tahoma" panose="020B0604030504040204" pitchFamily="34" charset="0"/>
                <a:ea typeface="Tahoma" panose="020B0604030504040204" pitchFamily="34" charset="0"/>
                <a:cs typeface="Poppins" panose="00000500000000000000" pitchFamily="2" charset="0"/>
              </a:endParaRPr>
            </a:p>
          </p:txBody>
        </p:sp>
        <p:sp>
          <p:nvSpPr>
            <p:cNvPr id="83" name="TextBox 82">
              <a:extLst>
                <a:ext uri="{FF2B5EF4-FFF2-40B4-BE49-F238E27FC236}">
                  <a16:creationId xmlns:a16="http://schemas.microsoft.com/office/drawing/2014/main" id="{42C0F996-DC88-2B9A-9EF8-0D53A3209EA5}"/>
                </a:ext>
              </a:extLst>
            </p:cNvPr>
            <p:cNvSpPr txBox="1"/>
            <p:nvPr/>
          </p:nvSpPr>
          <p:spPr>
            <a:xfrm>
              <a:off x="6738204" y="5890167"/>
              <a:ext cx="2201321" cy="547073"/>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Cons</a:t>
              </a:r>
            </a:p>
            <a:p>
              <a:pPr lvl="0" defTabSz="1219079">
                <a:lnSpc>
                  <a:spcPct val="120000"/>
                </a:lnSpc>
                <a:defRPr/>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More expensive to compute; requires pre-built test suites</a:t>
              </a:r>
              <a:endParaRPr lang="en-US"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sp>
        <p:nvSpPr>
          <p:cNvPr id="84" name="TextBox 83">
            <a:extLst>
              <a:ext uri="{FF2B5EF4-FFF2-40B4-BE49-F238E27FC236}">
                <a16:creationId xmlns:a16="http://schemas.microsoft.com/office/drawing/2014/main" id="{6620D706-AC73-8127-EF44-3053ED2CC909}"/>
              </a:ext>
            </a:extLst>
          </p:cNvPr>
          <p:cNvSpPr txBox="1"/>
          <p:nvPr/>
        </p:nvSpPr>
        <p:spPr>
          <a:xfrm>
            <a:off x="9235814" y="3143204"/>
            <a:ext cx="2880983" cy="1723164"/>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Valid Efficiency</a:t>
            </a:r>
            <a:r>
              <a:rPr kumimoji="0" lang="en-US" sz="1050" b="1" i="0" u="none" strike="noStrike" kern="1200" cap="none" spc="0" normalizeH="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 Score</a:t>
            </a:r>
            <a:endParaRPr kumimoji="0" lang="en-US" sz="105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endParaRPr>
          </a:p>
          <a:p>
            <a:pPr lvl="0" algn="just" defTabSz="1219079">
              <a:lnSpc>
                <a:spcPct val="150000"/>
              </a:lnSpc>
              <a:defRPr/>
            </a:pPr>
            <a:r>
              <a:rPr lang="en-IN" sz="900" dirty="0">
                <a:solidFill>
                  <a:srgbClr val="2A2834">
                    <a:lumMod val="75000"/>
                    <a:lumOff val="25000"/>
                  </a:srgbClr>
                </a:solidFill>
                <a:latin typeface="Poppins" panose="00000500000000000000" pitchFamily="2" charset="0"/>
                <a:ea typeface="Tahoma" charset="0"/>
                <a:cs typeface="Poppins" panose="00000500000000000000" pitchFamily="2" charset="0"/>
              </a:rPr>
              <a:t>A composite metric that measures (1) correctness and validity of the generated SQL and (2) its execution efficiency, typically based on execution time compared to the gold query. i.e. Scores only valid queries, then rewards those that run faster / use fewer resources than the gold SQL </a:t>
            </a:r>
            <a:endParaRPr lang="ru-RU" sz="900" dirty="0">
              <a:solidFill>
                <a:srgbClr val="2A2834">
                  <a:lumMod val="75000"/>
                  <a:lumOff val="25000"/>
                </a:srgbClr>
              </a:solidFill>
              <a:latin typeface="Poppins" panose="00000500000000000000" pitchFamily="2" charset="0"/>
              <a:ea typeface="Tahoma" charset="0"/>
              <a:cs typeface="Poppins" panose="00000500000000000000" pitchFamily="2" charset="0"/>
            </a:endParaRPr>
          </a:p>
        </p:txBody>
      </p:sp>
      <p:sp>
        <p:nvSpPr>
          <p:cNvPr id="85" name="TextBox 84">
            <a:extLst>
              <a:ext uri="{FF2B5EF4-FFF2-40B4-BE49-F238E27FC236}">
                <a16:creationId xmlns:a16="http://schemas.microsoft.com/office/drawing/2014/main" id="{E6DB5990-BC08-ACA7-38A4-3BE01BCCF1B7}"/>
              </a:ext>
            </a:extLst>
          </p:cNvPr>
          <p:cNvSpPr txBox="1"/>
          <p:nvPr/>
        </p:nvSpPr>
        <p:spPr>
          <a:xfrm>
            <a:off x="9235815" y="2147400"/>
            <a:ext cx="1054924" cy="953851"/>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04</a:t>
            </a:r>
            <a:endParaRPr kumimoji="0" lang="ru-RU" sz="5000" b="0" i="0" u="none" strike="noStrike" kern="1200" cap="none" spc="0" normalizeH="0" baseline="0" noProof="0" dirty="0">
              <a:ln>
                <a:noFill/>
              </a:ln>
              <a:solidFill>
                <a:srgbClr val="2A2834">
                  <a:lumMod val="75000"/>
                  <a:lumOff val="25000"/>
                </a:srgbClr>
              </a:solidFill>
              <a:effectLst/>
              <a:uLnTx/>
              <a:uFillTx/>
              <a:latin typeface="Tahoma" charset="0"/>
              <a:ea typeface="Tahoma" charset="0"/>
              <a:cs typeface="Poppins" panose="00000500000000000000" pitchFamily="2" charset="0"/>
            </a:endParaRPr>
          </a:p>
        </p:txBody>
      </p:sp>
      <p:grpSp>
        <p:nvGrpSpPr>
          <p:cNvPr id="86" name="Group 85">
            <a:extLst>
              <a:ext uri="{FF2B5EF4-FFF2-40B4-BE49-F238E27FC236}">
                <a16:creationId xmlns:a16="http://schemas.microsoft.com/office/drawing/2014/main" id="{C8DF6CE7-6BE1-F9C5-1CC9-4F73EB9C0EA7}"/>
              </a:ext>
            </a:extLst>
          </p:cNvPr>
          <p:cNvGrpSpPr/>
          <p:nvPr/>
        </p:nvGrpSpPr>
        <p:grpSpPr>
          <a:xfrm>
            <a:off x="9235814" y="4874253"/>
            <a:ext cx="2680965" cy="658642"/>
            <a:chOff x="9235814" y="4874253"/>
            <a:chExt cx="2680965" cy="658642"/>
          </a:xfrm>
        </p:grpSpPr>
        <p:sp>
          <p:nvSpPr>
            <p:cNvPr id="87" name="Овал 139">
              <a:extLst>
                <a:ext uri="{FF2B5EF4-FFF2-40B4-BE49-F238E27FC236}">
                  <a16:creationId xmlns:a16="http://schemas.microsoft.com/office/drawing/2014/main" id="{B192847D-87CF-ED86-BE29-471098C6FCB0}"/>
                </a:ext>
              </a:extLst>
            </p:cNvPr>
            <p:cNvSpPr/>
            <p:nvPr/>
          </p:nvSpPr>
          <p:spPr>
            <a:xfrm>
              <a:off x="9235814" y="4960504"/>
              <a:ext cx="450012" cy="450012"/>
            </a:xfrm>
            <a:prstGeom prst="ellipse">
              <a:avLst/>
            </a:prstGeom>
            <a:solidFill>
              <a:srgbClr val="FFD5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017" rtl="0" eaLnBrk="1" fontAlgn="auto" latinLnBrk="0" hangingPunct="1">
                <a:lnSpc>
                  <a:spcPct val="120000"/>
                </a:lnSpc>
                <a:spcBef>
                  <a:spcPts val="30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A</a:t>
              </a:r>
              <a:endParaRPr kumimoji="0" lang="ru-RU" sz="1600" b="1" i="0" u="none" strike="noStrike" kern="1200" cap="none" spc="0" normalizeH="0" baseline="0" noProof="0" dirty="0">
                <a:ln>
                  <a:noFill/>
                </a:ln>
                <a:solidFill>
                  <a:srgbClr val="FFFFFF"/>
                </a:solidFill>
                <a:effectLst/>
                <a:uLnTx/>
                <a:uFillTx/>
                <a:latin typeface="Tahoma" panose="020B0604030504040204" pitchFamily="34" charset="0"/>
                <a:ea typeface="Tahoma" panose="020B0604030504040204" pitchFamily="34" charset="0"/>
                <a:cs typeface="Poppins" panose="00000500000000000000" pitchFamily="2" charset="0"/>
              </a:endParaRPr>
            </a:p>
          </p:txBody>
        </p:sp>
        <p:sp>
          <p:nvSpPr>
            <p:cNvPr id="88" name="TextBox 87">
              <a:extLst>
                <a:ext uri="{FF2B5EF4-FFF2-40B4-BE49-F238E27FC236}">
                  <a16:creationId xmlns:a16="http://schemas.microsoft.com/office/drawing/2014/main" id="{BE8FCAC2-5002-9C0F-1EF8-715121F6CE42}"/>
                </a:ext>
              </a:extLst>
            </p:cNvPr>
            <p:cNvSpPr txBox="1"/>
            <p:nvPr/>
          </p:nvSpPr>
          <p:spPr>
            <a:xfrm>
              <a:off x="9715458" y="4874253"/>
              <a:ext cx="2201321" cy="658642"/>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lang="en-US" sz="700" b="1"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Pros</a:t>
              </a:r>
              <a:endParaRPr kumimoji="0" lang="en-US" sz="7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endParaRPr>
            </a:p>
            <a:p>
              <a:pPr lvl="0" defTabSz="1219079">
                <a:lnSpc>
                  <a:spcPct val="120000"/>
                </a:lnSpc>
                <a:defRPr/>
              </a:pPr>
              <a:r>
                <a:rPr lang="en-IN" sz="8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Very realistic for production / BI scenarios where performance matters, not just correctness</a:t>
              </a:r>
              <a:endParaRPr lang="en-US" sz="8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pic>
        <p:nvPicPr>
          <p:cNvPr id="3" name="Graphic 2">
            <a:extLst>
              <a:ext uri="{FF2B5EF4-FFF2-40B4-BE49-F238E27FC236}">
                <a16:creationId xmlns:a16="http://schemas.microsoft.com/office/drawing/2014/main" id="{FBE673ED-43D7-5FE3-32E2-8E78E9BD9B0F}"/>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10273980" y="0"/>
            <a:ext cx="289387" cy="349581"/>
          </a:xfrm>
          <a:prstGeom prst="rect">
            <a:avLst/>
          </a:prstGeom>
        </p:spPr>
      </p:pic>
      <p:sp>
        <p:nvSpPr>
          <p:cNvPr id="4" name="TextBox 3">
            <a:extLst>
              <a:ext uri="{FF2B5EF4-FFF2-40B4-BE49-F238E27FC236}">
                <a16:creationId xmlns:a16="http://schemas.microsoft.com/office/drawing/2014/main" id="{7C5F5991-924D-DBE7-016A-C2085C35E098}"/>
              </a:ext>
            </a:extLst>
          </p:cNvPr>
          <p:cNvSpPr txBox="1"/>
          <p:nvPr/>
        </p:nvSpPr>
        <p:spPr>
          <a:xfrm>
            <a:off x="10563367" y="0"/>
            <a:ext cx="1091821" cy="382137"/>
          </a:xfrm>
          <a:prstGeom prst="rect">
            <a:avLst/>
          </a:prstGeom>
          <a:noFill/>
        </p:spPr>
        <p:txBody>
          <a:bodyPr wrap="square" rtlCol="0">
            <a:spAutoFit/>
          </a:bodyPr>
          <a:lstStyle/>
          <a:p>
            <a:r>
              <a:rPr lang="en-US" dirty="0"/>
              <a:t>Saurabh</a:t>
            </a:r>
          </a:p>
        </p:txBody>
      </p:sp>
    </p:spTree>
    <p:extLst>
      <p:ext uri="{BB962C8B-B14F-4D97-AF65-F5344CB8AC3E}">
        <p14:creationId xmlns:p14="http://schemas.microsoft.com/office/powerpoint/2010/main" val="4137176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up)">
                                      <p:cBhvr>
                                        <p:cTn id="7" dur="500"/>
                                        <p:tgtEl>
                                          <p:spTgt spid="57"/>
                                        </p:tgtEl>
                                      </p:cBhvr>
                                    </p:animEffect>
                                  </p:childTnLst>
                                </p:cTn>
                              </p:par>
                              <p:par>
                                <p:cTn id="8" presetID="22" presetClass="entr" presetSubtype="1" fill="hold"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wipe(up)">
                                      <p:cBhvr>
                                        <p:cTn id="10" dur="500"/>
                                        <p:tgtEl>
                                          <p:spTgt spid="54"/>
                                        </p:tgtEl>
                                      </p:cBhvr>
                                    </p:animEffect>
                                  </p:childTnLst>
                                </p:cTn>
                              </p:par>
                              <p:par>
                                <p:cTn id="11" presetID="22" presetClass="entr" presetSubtype="1" fill="hold" nodeType="withEffect">
                                  <p:stCondLst>
                                    <p:cond delay="0"/>
                                  </p:stCondLst>
                                  <p:childTnLst>
                                    <p:set>
                                      <p:cBhvr>
                                        <p:cTn id="12" dur="1" fill="hold">
                                          <p:stCondLst>
                                            <p:cond delay="0"/>
                                          </p:stCondLst>
                                        </p:cTn>
                                        <p:tgtEl>
                                          <p:spTgt spid="51"/>
                                        </p:tgtEl>
                                        <p:attrNameLst>
                                          <p:attrName>style.visibility</p:attrName>
                                        </p:attrNameLst>
                                      </p:cBhvr>
                                      <p:to>
                                        <p:strVal val="visible"/>
                                      </p:to>
                                    </p:set>
                                    <p:animEffect transition="in" filter="wipe(up)">
                                      <p:cBhvr>
                                        <p:cTn id="13" dur="500"/>
                                        <p:tgtEl>
                                          <p:spTgt spid="51"/>
                                        </p:tgtEl>
                                      </p:cBhvr>
                                    </p:animEffect>
                                  </p:childTnLst>
                                </p:cTn>
                              </p:par>
                            </p:childTnLst>
                          </p:cTn>
                        </p:par>
                        <p:par>
                          <p:cTn id="14" fill="hold">
                            <p:stCondLst>
                              <p:cond delay="500"/>
                            </p:stCondLst>
                            <p:childTnLst>
                              <p:par>
                                <p:cTn id="15" presetID="31" presetClass="entr" presetSubtype="0" fill="hold" grpId="0" nodeType="afterEffect">
                                  <p:stCondLst>
                                    <p:cond delay="0"/>
                                  </p:stCondLst>
                                  <p:childTnLst>
                                    <p:set>
                                      <p:cBhvr>
                                        <p:cTn id="16" dur="1" fill="hold">
                                          <p:stCondLst>
                                            <p:cond delay="0"/>
                                          </p:stCondLst>
                                        </p:cTn>
                                        <p:tgtEl>
                                          <p:spTgt spid="61"/>
                                        </p:tgtEl>
                                        <p:attrNameLst>
                                          <p:attrName>style.visibility</p:attrName>
                                        </p:attrNameLst>
                                      </p:cBhvr>
                                      <p:to>
                                        <p:strVal val="visible"/>
                                      </p:to>
                                    </p:set>
                                    <p:anim calcmode="lin" valueType="num">
                                      <p:cBhvr>
                                        <p:cTn id="17" dur="500" fill="hold"/>
                                        <p:tgtEl>
                                          <p:spTgt spid="61"/>
                                        </p:tgtEl>
                                        <p:attrNameLst>
                                          <p:attrName>ppt_w</p:attrName>
                                        </p:attrNameLst>
                                      </p:cBhvr>
                                      <p:tavLst>
                                        <p:tav tm="0">
                                          <p:val>
                                            <p:fltVal val="0"/>
                                          </p:val>
                                        </p:tav>
                                        <p:tav tm="100000">
                                          <p:val>
                                            <p:strVal val="#ppt_w"/>
                                          </p:val>
                                        </p:tav>
                                      </p:tavLst>
                                    </p:anim>
                                    <p:anim calcmode="lin" valueType="num">
                                      <p:cBhvr>
                                        <p:cTn id="18" dur="500" fill="hold"/>
                                        <p:tgtEl>
                                          <p:spTgt spid="61"/>
                                        </p:tgtEl>
                                        <p:attrNameLst>
                                          <p:attrName>ppt_h</p:attrName>
                                        </p:attrNameLst>
                                      </p:cBhvr>
                                      <p:tavLst>
                                        <p:tav tm="0">
                                          <p:val>
                                            <p:fltVal val="0"/>
                                          </p:val>
                                        </p:tav>
                                        <p:tav tm="100000">
                                          <p:val>
                                            <p:strVal val="#ppt_h"/>
                                          </p:val>
                                        </p:tav>
                                      </p:tavLst>
                                    </p:anim>
                                    <p:anim calcmode="lin" valueType="num">
                                      <p:cBhvr>
                                        <p:cTn id="19" dur="500" fill="hold"/>
                                        <p:tgtEl>
                                          <p:spTgt spid="61"/>
                                        </p:tgtEl>
                                        <p:attrNameLst>
                                          <p:attrName>style.rotation</p:attrName>
                                        </p:attrNameLst>
                                      </p:cBhvr>
                                      <p:tavLst>
                                        <p:tav tm="0">
                                          <p:val>
                                            <p:fltVal val="90"/>
                                          </p:val>
                                        </p:tav>
                                        <p:tav tm="100000">
                                          <p:val>
                                            <p:fltVal val="0"/>
                                          </p:val>
                                        </p:tav>
                                      </p:tavLst>
                                    </p:anim>
                                    <p:animEffect transition="in" filter="fade">
                                      <p:cBhvr>
                                        <p:cTn id="20" dur="500"/>
                                        <p:tgtEl>
                                          <p:spTgt spid="61"/>
                                        </p:tgtEl>
                                      </p:cBhvr>
                                    </p:animEffect>
                                  </p:childTnLst>
                                </p:cTn>
                              </p:par>
                              <p:par>
                                <p:cTn id="21" presetID="31" presetClass="entr" presetSubtype="0" fill="hold" grpId="0" nodeType="withEffect">
                                  <p:stCondLst>
                                    <p:cond delay="0"/>
                                  </p:stCondLst>
                                  <p:childTnLst>
                                    <p:set>
                                      <p:cBhvr>
                                        <p:cTn id="22" dur="1" fill="hold">
                                          <p:stCondLst>
                                            <p:cond delay="0"/>
                                          </p:stCondLst>
                                        </p:cTn>
                                        <p:tgtEl>
                                          <p:spTgt spid="69"/>
                                        </p:tgtEl>
                                        <p:attrNameLst>
                                          <p:attrName>style.visibility</p:attrName>
                                        </p:attrNameLst>
                                      </p:cBhvr>
                                      <p:to>
                                        <p:strVal val="visible"/>
                                      </p:to>
                                    </p:set>
                                    <p:anim calcmode="lin" valueType="num">
                                      <p:cBhvr>
                                        <p:cTn id="23" dur="500" fill="hold"/>
                                        <p:tgtEl>
                                          <p:spTgt spid="69"/>
                                        </p:tgtEl>
                                        <p:attrNameLst>
                                          <p:attrName>ppt_w</p:attrName>
                                        </p:attrNameLst>
                                      </p:cBhvr>
                                      <p:tavLst>
                                        <p:tav tm="0">
                                          <p:val>
                                            <p:fltVal val="0"/>
                                          </p:val>
                                        </p:tav>
                                        <p:tav tm="100000">
                                          <p:val>
                                            <p:strVal val="#ppt_w"/>
                                          </p:val>
                                        </p:tav>
                                      </p:tavLst>
                                    </p:anim>
                                    <p:anim calcmode="lin" valueType="num">
                                      <p:cBhvr>
                                        <p:cTn id="24" dur="500" fill="hold"/>
                                        <p:tgtEl>
                                          <p:spTgt spid="69"/>
                                        </p:tgtEl>
                                        <p:attrNameLst>
                                          <p:attrName>ppt_h</p:attrName>
                                        </p:attrNameLst>
                                      </p:cBhvr>
                                      <p:tavLst>
                                        <p:tav tm="0">
                                          <p:val>
                                            <p:fltVal val="0"/>
                                          </p:val>
                                        </p:tav>
                                        <p:tav tm="100000">
                                          <p:val>
                                            <p:strVal val="#ppt_h"/>
                                          </p:val>
                                        </p:tav>
                                      </p:tavLst>
                                    </p:anim>
                                    <p:anim calcmode="lin" valueType="num">
                                      <p:cBhvr>
                                        <p:cTn id="25" dur="500" fill="hold"/>
                                        <p:tgtEl>
                                          <p:spTgt spid="69"/>
                                        </p:tgtEl>
                                        <p:attrNameLst>
                                          <p:attrName>style.rotation</p:attrName>
                                        </p:attrNameLst>
                                      </p:cBhvr>
                                      <p:tavLst>
                                        <p:tav tm="0">
                                          <p:val>
                                            <p:fltVal val="90"/>
                                          </p:val>
                                        </p:tav>
                                        <p:tav tm="100000">
                                          <p:val>
                                            <p:fltVal val="0"/>
                                          </p:val>
                                        </p:tav>
                                      </p:tavLst>
                                    </p:anim>
                                    <p:animEffect transition="in" filter="fade">
                                      <p:cBhvr>
                                        <p:cTn id="26" dur="500"/>
                                        <p:tgtEl>
                                          <p:spTgt spid="69"/>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77"/>
                                        </p:tgtEl>
                                        <p:attrNameLst>
                                          <p:attrName>style.visibility</p:attrName>
                                        </p:attrNameLst>
                                      </p:cBhvr>
                                      <p:to>
                                        <p:strVal val="visible"/>
                                      </p:to>
                                    </p:set>
                                    <p:anim calcmode="lin" valueType="num">
                                      <p:cBhvr>
                                        <p:cTn id="29" dur="500" fill="hold"/>
                                        <p:tgtEl>
                                          <p:spTgt spid="77"/>
                                        </p:tgtEl>
                                        <p:attrNameLst>
                                          <p:attrName>ppt_w</p:attrName>
                                        </p:attrNameLst>
                                      </p:cBhvr>
                                      <p:tavLst>
                                        <p:tav tm="0">
                                          <p:val>
                                            <p:fltVal val="0"/>
                                          </p:val>
                                        </p:tav>
                                        <p:tav tm="100000">
                                          <p:val>
                                            <p:strVal val="#ppt_w"/>
                                          </p:val>
                                        </p:tav>
                                      </p:tavLst>
                                    </p:anim>
                                    <p:anim calcmode="lin" valueType="num">
                                      <p:cBhvr>
                                        <p:cTn id="30" dur="500" fill="hold"/>
                                        <p:tgtEl>
                                          <p:spTgt spid="77"/>
                                        </p:tgtEl>
                                        <p:attrNameLst>
                                          <p:attrName>ppt_h</p:attrName>
                                        </p:attrNameLst>
                                      </p:cBhvr>
                                      <p:tavLst>
                                        <p:tav tm="0">
                                          <p:val>
                                            <p:fltVal val="0"/>
                                          </p:val>
                                        </p:tav>
                                        <p:tav tm="100000">
                                          <p:val>
                                            <p:strVal val="#ppt_h"/>
                                          </p:val>
                                        </p:tav>
                                      </p:tavLst>
                                    </p:anim>
                                    <p:anim calcmode="lin" valueType="num">
                                      <p:cBhvr>
                                        <p:cTn id="31" dur="500" fill="hold"/>
                                        <p:tgtEl>
                                          <p:spTgt spid="77"/>
                                        </p:tgtEl>
                                        <p:attrNameLst>
                                          <p:attrName>style.rotation</p:attrName>
                                        </p:attrNameLst>
                                      </p:cBhvr>
                                      <p:tavLst>
                                        <p:tav tm="0">
                                          <p:val>
                                            <p:fltVal val="90"/>
                                          </p:val>
                                        </p:tav>
                                        <p:tav tm="100000">
                                          <p:val>
                                            <p:fltVal val="0"/>
                                          </p:val>
                                        </p:tav>
                                      </p:tavLst>
                                    </p:anim>
                                    <p:animEffect transition="in" filter="fade">
                                      <p:cBhvr>
                                        <p:cTn id="32" dur="500"/>
                                        <p:tgtEl>
                                          <p:spTgt spid="77"/>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85"/>
                                        </p:tgtEl>
                                        <p:attrNameLst>
                                          <p:attrName>style.visibility</p:attrName>
                                        </p:attrNameLst>
                                      </p:cBhvr>
                                      <p:to>
                                        <p:strVal val="visible"/>
                                      </p:to>
                                    </p:set>
                                    <p:anim calcmode="lin" valueType="num">
                                      <p:cBhvr>
                                        <p:cTn id="35" dur="500" fill="hold"/>
                                        <p:tgtEl>
                                          <p:spTgt spid="85"/>
                                        </p:tgtEl>
                                        <p:attrNameLst>
                                          <p:attrName>ppt_w</p:attrName>
                                        </p:attrNameLst>
                                      </p:cBhvr>
                                      <p:tavLst>
                                        <p:tav tm="0">
                                          <p:val>
                                            <p:fltVal val="0"/>
                                          </p:val>
                                        </p:tav>
                                        <p:tav tm="100000">
                                          <p:val>
                                            <p:strVal val="#ppt_w"/>
                                          </p:val>
                                        </p:tav>
                                      </p:tavLst>
                                    </p:anim>
                                    <p:anim calcmode="lin" valueType="num">
                                      <p:cBhvr>
                                        <p:cTn id="36" dur="500" fill="hold"/>
                                        <p:tgtEl>
                                          <p:spTgt spid="85"/>
                                        </p:tgtEl>
                                        <p:attrNameLst>
                                          <p:attrName>ppt_h</p:attrName>
                                        </p:attrNameLst>
                                      </p:cBhvr>
                                      <p:tavLst>
                                        <p:tav tm="0">
                                          <p:val>
                                            <p:fltVal val="0"/>
                                          </p:val>
                                        </p:tav>
                                        <p:tav tm="100000">
                                          <p:val>
                                            <p:strVal val="#ppt_h"/>
                                          </p:val>
                                        </p:tav>
                                      </p:tavLst>
                                    </p:anim>
                                    <p:anim calcmode="lin" valueType="num">
                                      <p:cBhvr>
                                        <p:cTn id="37" dur="500" fill="hold"/>
                                        <p:tgtEl>
                                          <p:spTgt spid="85"/>
                                        </p:tgtEl>
                                        <p:attrNameLst>
                                          <p:attrName>style.rotation</p:attrName>
                                        </p:attrNameLst>
                                      </p:cBhvr>
                                      <p:tavLst>
                                        <p:tav tm="0">
                                          <p:val>
                                            <p:fltVal val="90"/>
                                          </p:val>
                                        </p:tav>
                                        <p:tav tm="100000">
                                          <p:val>
                                            <p:fltVal val="0"/>
                                          </p:val>
                                        </p:tav>
                                      </p:tavLst>
                                    </p:anim>
                                    <p:animEffect transition="in" filter="fade">
                                      <p:cBhvr>
                                        <p:cTn id="38" dur="500"/>
                                        <p:tgtEl>
                                          <p:spTgt spid="85"/>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60"/>
                                        </p:tgtEl>
                                        <p:attrNameLst>
                                          <p:attrName>style.visibility</p:attrName>
                                        </p:attrNameLst>
                                      </p:cBhvr>
                                      <p:to>
                                        <p:strVal val="visible"/>
                                      </p:to>
                                    </p:set>
                                    <p:animEffect transition="in" filter="wipe(left)">
                                      <p:cBhvr>
                                        <p:cTn id="42" dur="500"/>
                                        <p:tgtEl>
                                          <p:spTgt spid="60"/>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68"/>
                                        </p:tgtEl>
                                        <p:attrNameLst>
                                          <p:attrName>style.visibility</p:attrName>
                                        </p:attrNameLst>
                                      </p:cBhvr>
                                      <p:to>
                                        <p:strVal val="visible"/>
                                      </p:to>
                                    </p:set>
                                    <p:animEffect transition="in" filter="wipe(left)">
                                      <p:cBhvr>
                                        <p:cTn id="45" dur="500"/>
                                        <p:tgtEl>
                                          <p:spTgt spid="68"/>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76"/>
                                        </p:tgtEl>
                                        <p:attrNameLst>
                                          <p:attrName>style.visibility</p:attrName>
                                        </p:attrNameLst>
                                      </p:cBhvr>
                                      <p:to>
                                        <p:strVal val="visible"/>
                                      </p:to>
                                    </p:set>
                                    <p:animEffect transition="in" filter="wipe(left)">
                                      <p:cBhvr>
                                        <p:cTn id="48" dur="500"/>
                                        <p:tgtEl>
                                          <p:spTgt spid="76"/>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84"/>
                                        </p:tgtEl>
                                        <p:attrNameLst>
                                          <p:attrName>style.visibility</p:attrName>
                                        </p:attrNameLst>
                                      </p:cBhvr>
                                      <p:to>
                                        <p:strVal val="visible"/>
                                      </p:to>
                                    </p:set>
                                    <p:animEffect transition="in" filter="wipe(left)">
                                      <p:cBhvr>
                                        <p:cTn id="51" dur="500"/>
                                        <p:tgtEl>
                                          <p:spTgt spid="84"/>
                                        </p:tgtEl>
                                      </p:cBhvr>
                                    </p:animEffect>
                                  </p:childTnLst>
                                </p:cTn>
                              </p:par>
                            </p:childTnLst>
                          </p:cTn>
                        </p:par>
                        <p:par>
                          <p:cTn id="52" fill="hold">
                            <p:stCondLst>
                              <p:cond delay="1500"/>
                            </p:stCondLst>
                            <p:childTnLst>
                              <p:par>
                                <p:cTn id="53" presetID="37" presetClass="entr" presetSubtype="0" fill="hold" nodeType="afterEffect">
                                  <p:stCondLst>
                                    <p:cond delay="0"/>
                                  </p:stCondLst>
                                  <p:childTnLst>
                                    <p:set>
                                      <p:cBhvr>
                                        <p:cTn id="54" dur="1" fill="hold">
                                          <p:stCondLst>
                                            <p:cond delay="0"/>
                                          </p:stCondLst>
                                        </p:cTn>
                                        <p:tgtEl>
                                          <p:spTgt spid="62"/>
                                        </p:tgtEl>
                                        <p:attrNameLst>
                                          <p:attrName>style.visibility</p:attrName>
                                        </p:attrNameLst>
                                      </p:cBhvr>
                                      <p:to>
                                        <p:strVal val="visible"/>
                                      </p:to>
                                    </p:set>
                                    <p:animEffect transition="in" filter="fade">
                                      <p:cBhvr>
                                        <p:cTn id="55" dur="1000"/>
                                        <p:tgtEl>
                                          <p:spTgt spid="62"/>
                                        </p:tgtEl>
                                      </p:cBhvr>
                                    </p:animEffect>
                                    <p:anim calcmode="lin" valueType="num">
                                      <p:cBhvr>
                                        <p:cTn id="56" dur="1000" fill="hold"/>
                                        <p:tgtEl>
                                          <p:spTgt spid="62"/>
                                        </p:tgtEl>
                                        <p:attrNameLst>
                                          <p:attrName>ppt_x</p:attrName>
                                        </p:attrNameLst>
                                      </p:cBhvr>
                                      <p:tavLst>
                                        <p:tav tm="0">
                                          <p:val>
                                            <p:strVal val="#ppt_x"/>
                                          </p:val>
                                        </p:tav>
                                        <p:tav tm="100000">
                                          <p:val>
                                            <p:strVal val="#ppt_x"/>
                                          </p:val>
                                        </p:tav>
                                      </p:tavLst>
                                    </p:anim>
                                    <p:anim calcmode="lin" valueType="num">
                                      <p:cBhvr>
                                        <p:cTn id="57" dur="900" decel="100000" fill="hold"/>
                                        <p:tgtEl>
                                          <p:spTgt spid="62"/>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62"/>
                                        </p:tgtEl>
                                        <p:attrNameLst>
                                          <p:attrName>ppt_y</p:attrName>
                                        </p:attrNameLst>
                                      </p:cBhvr>
                                      <p:tavLst>
                                        <p:tav tm="0">
                                          <p:val>
                                            <p:strVal val="#ppt_y-.03"/>
                                          </p:val>
                                        </p:tav>
                                        <p:tav tm="100000">
                                          <p:val>
                                            <p:strVal val="#ppt_y"/>
                                          </p:val>
                                        </p:tav>
                                      </p:tavLst>
                                    </p:anim>
                                  </p:childTnLst>
                                </p:cTn>
                              </p:par>
                              <p:par>
                                <p:cTn id="59" presetID="37" presetClass="entr" presetSubtype="0" fill="hold" nodeType="withEffect">
                                  <p:stCondLst>
                                    <p:cond delay="0"/>
                                  </p:stCondLst>
                                  <p:childTnLst>
                                    <p:set>
                                      <p:cBhvr>
                                        <p:cTn id="60" dur="1" fill="hold">
                                          <p:stCondLst>
                                            <p:cond delay="0"/>
                                          </p:stCondLst>
                                        </p:cTn>
                                        <p:tgtEl>
                                          <p:spTgt spid="70"/>
                                        </p:tgtEl>
                                        <p:attrNameLst>
                                          <p:attrName>style.visibility</p:attrName>
                                        </p:attrNameLst>
                                      </p:cBhvr>
                                      <p:to>
                                        <p:strVal val="visible"/>
                                      </p:to>
                                    </p:set>
                                    <p:animEffect transition="in" filter="fade">
                                      <p:cBhvr>
                                        <p:cTn id="61" dur="1000"/>
                                        <p:tgtEl>
                                          <p:spTgt spid="70"/>
                                        </p:tgtEl>
                                      </p:cBhvr>
                                    </p:animEffect>
                                    <p:anim calcmode="lin" valueType="num">
                                      <p:cBhvr>
                                        <p:cTn id="62" dur="1000" fill="hold"/>
                                        <p:tgtEl>
                                          <p:spTgt spid="70"/>
                                        </p:tgtEl>
                                        <p:attrNameLst>
                                          <p:attrName>ppt_x</p:attrName>
                                        </p:attrNameLst>
                                      </p:cBhvr>
                                      <p:tavLst>
                                        <p:tav tm="0">
                                          <p:val>
                                            <p:strVal val="#ppt_x"/>
                                          </p:val>
                                        </p:tav>
                                        <p:tav tm="100000">
                                          <p:val>
                                            <p:strVal val="#ppt_x"/>
                                          </p:val>
                                        </p:tav>
                                      </p:tavLst>
                                    </p:anim>
                                    <p:anim calcmode="lin" valueType="num">
                                      <p:cBhvr>
                                        <p:cTn id="63" dur="900" decel="100000" fill="hold"/>
                                        <p:tgtEl>
                                          <p:spTgt spid="70"/>
                                        </p:tgtEl>
                                        <p:attrNameLst>
                                          <p:attrName>ppt_y</p:attrName>
                                        </p:attrNameLst>
                                      </p:cBhvr>
                                      <p:tavLst>
                                        <p:tav tm="0">
                                          <p:val>
                                            <p:strVal val="#ppt_y+1"/>
                                          </p:val>
                                        </p:tav>
                                        <p:tav tm="100000">
                                          <p:val>
                                            <p:strVal val="#ppt_y-.03"/>
                                          </p:val>
                                        </p:tav>
                                      </p:tavLst>
                                    </p:anim>
                                    <p:anim calcmode="lin" valueType="num">
                                      <p:cBhvr>
                                        <p:cTn id="64" dur="100" accel="100000" fill="hold">
                                          <p:stCondLst>
                                            <p:cond delay="900"/>
                                          </p:stCondLst>
                                        </p:cTn>
                                        <p:tgtEl>
                                          <p:spTgt spid="70"/>
                                        </p:tgtEl>
                                        <p:attrNameLst>
                                          <p:attrName>ppt_y</p:attrName>
                                        </p:attrNameLst>
                                      </p:cBhvr>
                                      <p:tavLst>
                                        <p:tav tm="0">
                                          <p:val>
                                            <p:strVal val="#ppt_y-.03"/>
                                          </p:val>
                                        </p:tav>
                                        <p:tav tm="100000">
                                          <p:val>
                                            <p:strVal val="#ppt_y"/>
                                          </p:val>
                                        </p:tav>
                                      </p:tavLst>
                                    </p:anim>
                                  </p:childTnLst>
                                </p:cTn>
                              </p:par>
                              <p:par>
                                <p:cTn id="65" presetID="37" presetClass="entr" presetSubtype="0" fill="hold" nodeType="withEffect">
                                  <p:stCondLst>
                                    <p:cond delay="0"/>
                                  </p:stCondLst>
                                  <p:childTnLst>
                                    <p:set>
                                      <p:cBhvr>
                                        <p:cTn id="66" dur="1" fill="hold">
                                          <p:stCondLst>
                                            <p:cond delay="0"/>
                                          </p:stCondLst>
                                        </p:cTn>
                                        <p:tgtEl>
                                          <p:spTgt spid="78"/>
                                        </p:tgtEl>
                                        <p:attrNameLst>
                                          <p:attrName>style.visibility</p:attrName>
                                        </p:attrNameLst>
                                      </p:cBhvr>
                                      <p:to>
                                        <p:strVal val="visible"/>
                                      </p:to>
                                    </p:set>
                                    <p:animEffect transition="in" filter="fade">
                                      <p:cBhvr>
                                        <p:cTn id="67" dur="1000"/>
                                        <p:tgtEl>
                                          <p:spTgt spid="78"/>
                                        </p:tgtEl>
                                      </p:cBhvr>
                                    </p:animEffect>
                                    <p:anim calcmode="lin" valueType="num">
                                      <p:cBhvr>
                                        <p:cTn id="68" dur="1000" fill="hold"/>
                                        <p:tgtEl>
                                          <p:spTgt spid="78"/>
                                        </p:tgtEl>
                                        <p:attrNameLst>
                                          <p:attrName>ppt_x</p:attrName>
                                        </p:attrNameLst>
                                      </p:cBhvr>
                                      <p:tavLst>
                                        <p:tav tm="0">
                                          <p:val>
                                            <p:strVal val="#ppt_x"/>
                                          </p:val>
                                        </p:tav>
                                        <p:tav tm="100000">
                                          <p:val>
                                            <p:strVal val="#ppt_x"/>
                                          </p:val>
                                        </p:tav>
                                      </p:tavLst>
                                    </p:anim>
                                    <p:anim calcmode="lin" valueType="num">
                                      <p:cBhvr>
                                        <p:cTn id="69" dur="900" decel="100000" fill="hold"/>
                                        <p:tgtEl>
                                          <p:spTgt spid="78"/>
                                        </p:tgtEl>
                                        <p:attrNameLst>
                                          <p:attrName>ppt_y</p:attrName>
                                        </p:attrNameLst>
                                      </p:cBhvr>
                                      <p:tavLst>
                                        <p:tav tm="0">
                                          <p:val>
                                            <p:strVal val="#ppt_y+1"/>
                                          </p:val>
                                        </p:tav>
                                        <p:tav tm="100000">
                                          <p:val>
                                            <p:strVal val="#ppt_y-.03"/>
                                          </p:val>
                                        </p:tav>
                                      </p:tavLst>
                                    </p:anim>
                                    <p:anim calcmode="lin" valueType="num">
                                      <p:cBhvr>
                                        <p:cTn id="70" dur="100" accel="100000" fill="hold">
                                          <p:stCondLst>
                                            <p:cond delay="900"/>
                                          </p:stCondLst>
                                        </p:cTn>
                                        <p:tgtEl>
                                          <p:spTgt spid="78"/>
                                        </p:tgtEl>
                                        <p:attrNameLst>
                                          <p:attrName>ppt_y</p:attrName>
                                        </p:attrNameLst>
                                      </p:cBhvr>
                                      <p:tavLst>
                                        <p:tav tm="0">
                                          <p:val>
                                            <p:strVal val="#ppt_y-.03"/>
                                          </p:val>
                                        </p:tav>
                                        <p:tav tm="100000">
                                          <p:val>
                                            <p:strVal val="#ppt_y"/>
                                          </p:val>
                                        </p:tav>
                                      </p:tavLst>
                                    </p:anim>
                                  </p:childTnLst>
                                </p:cTn>
                              </p:par>
                              <p:par>
                                <p:cTn id="71" presetID="37" presetClass="entr" presetSubtype="0" fill="hold" nodeType="withEffect">
                                  <p:stCondLst>
                                    <p:cond delay="0"/>
                                  </p:stCondLst>
                                  <p:childTnLst>
                                    <p:set>
                                      <p:cBhvr>
                                        <p:cTn id="72" dur="1" fill="hold">
                                          <p:stCondLst>
                                            <p:cond delay="0"/>
                                          </p:stCondLst>
                                        </p:cTn>
                                        <p:tgtEl>
                                          <p:spTgt spid="86"/>
                                        </p:tgtEl>
                                        <p:attrNameLst>
                                          <p:attrName>style.visibility</p:attrName>
                                        </p:attrNameLst>
                                      </p:cBhvr>
                                      <p:to>
                                        <p:strVal val="visible"/>
                                      </p:to>
                                    </p:set>
                                    <p:animEffect transition="in" filter="fade">
                                      <p:cBhvr>
                                        <p:cTn id="73" dur="1000"/>
                                        <p:tgtEl>
                                          <p:spTgt spid="86"/>
                                        </p:tgtEl>
                                      </p:cBhvr>
                                    </p:animEffect>
                                    <p:anim calcmode="lin" valueType="num">
                                      <p:cBhvr>
                                        <p:cTn id="74" dur="1000" fill="hold"/>
                                        <p:tgtEl>
                                          <p:spTgt spid="86"/>
                                        </p:tgtEl>
                                        <p:attrNameLst>
                                          <p:attrName>ppt_x</p:attrName>
                                        </p:attrNameLst>
                                      </p:cBhvr>
                                      <p:tavLst>
                                        <p:tav tm="0">
                                          <p:val>
                                            <p:strVal val="#ppt_x"/>
                                          </p:val>
                                        </p:tav>
                                        <p:tav tm="100000">
                                          <p:val>
                                            <p:strVal val="#ppt_x"/>
                                          </p:val>
                                        </p:tav>
                                      </p:tavLst>
                                    </p:anim>
                                    <p:anim calcmode="lin" valueType="num">
                                      <p:cBhvr>
                                        <p:cTn id="75" dur="900" decel="100000" fill="hold"/>
                                        <p:tgtEl>
                                          <p:spTgt spid="86"/>
                                        </p:tgtEl>
                                        <p:attrNameLst>
                                          <p:attrName>ppt_y</p:attrName>
                                        </p:attrNameLst>
                                      </p:cBhvr>
                                      <p:tavLst>
                                        <p:tav tm="0">
                                          <p:val>
                                            <p:strVal val="#ppt_y+1"/>
                                          </p:val>
                                        </p:tav>
                                        <p:tav tm="100000">
                                          <p:val>
                                            <p:strVal val="#ppt_y-.03"/>
                                          </p:val>
                                        </p:tav>
                                      </p:tavLst>
                                    </p:anim>
                                    <p:anim calcmode="lin" valueType="num">
                                      <p:cBhvr>
                                        <p:cTn id="76" dur="100" accel="100000" fill="hold">
                                          <p:stCondLst>
                                            <p:cond delay="900"/>
                                          </p:stCondLst>
                                        </p:cTn>
                                        <p:tgtEl>
                                          <p:spTgt spid="86"/>
                                        </p:tgtEl>
                                        <p:attrNameLst>
                                          <p:attrName>ppt_y</p:attrName>
                                        </p:attrNameLst>
                                      </p:cBhvr>
                                      <p:tavLst>
                                        <p:tav tm="0">
                                          <p:val>
                                            <p:strVal val="#ppt_y-.03"/>
                                          </p:val>
                                        </p:tav>
                                        <p:tav tm="100000">
                                          <p:val>
                                            <p:strVal val="#ppt_y"/>
                                          </p:val>
                                        </p:tav>
                                      </p:tavLst>
                                    </p:anim>
                                  </p:childTnLst>
                                </p:cTn>
                              </p:par>
                            </p:childTnLst>
                          </p:cTn>
                        </p:par>
                        <p:par>
                          <p:cTn id="77" fill="hold">
                            <p:stCondLst>
                              <p:cond delay="2500"/>
                            </p:stCondLst>
                            <p:childTnLst>
                              <p:par>
                                <p:cTn id="78" presetID="37" presetClass="entr" presetSubtype="0" fill="hold" nodeType="afterEffect">
                                  <p:stCondLst>
                                    <p:cond delay="0"/>
                                  </p:stCondLst>
                                  <p:childTnLst>
                                    <p:set>
                                      <p:cBhvr>
                                        <p:cTn id="79" dur="1" fill="hold">
                                          <p:stCondLst>
                                            <p:cond delay="0"/>
                                          </p:stCondLst>
                                        </p:cTn>
                                        <p:tgtEl>
                                          <p:spTgt spid="65"/>
                                        </p:tgtEl>
                                        <p:attrNameLst>
                                          <p:attrName>style.visibility</p:attrName>
                                        </p:attrNameLst>
                                      </p:cBhvr>
                                      <p:to>
                                        <p:strVal val="visible"/>
                                      </p:to>
                                    </p:set>
                                    <p:animEffect transition="in" filter="fade">
                                      <p:cBhvr>
                                        <p:cTn id="80" dur="1000"/>
                                        <p:tgtEl>
                                          <p:spTgt spid="65"/>
                                        </p:tgtEl>
                                      </p:cBhvr>
                                    </p:animEffect>
                                    <p:anim calcmode="lin" valueType="num">
                                      <p:cBhvr>
                                        <p:cTn id="81" dur="1000" fill="hold"/>
                                        <p:tgtEl>
                                          <p:spTgt spid="65"/>
                                        </p:tgtEl>
                                        <p:attrNameLst>
                                          <p:attrName>ppt_x</p:attrName>
                                        </p:attrNameLst>
                                      </p:cBhvr>
                                      <p:tavLst>
                                        <p:tav tm="0">
                                          <p:val>
                                            <p:strVal val="#ppt_x"/>
                                          </p:val>
                                        </p:tav>
                                        <p:tav tm="100000">
                                          <p:val>
                                            <p:strVal val="#ppt_x"/>
                                          </p:val>
                                        </p:tav>
                                      </p:tavLst>
                                    </p:anim>
                                    <p:anim calcmode="lin" valueType="num">
                                      <p:cBhvr>
                                        <p:cTn id="82" dur="900" decel="100000" fill="hold"/>
                                        <p:tgtEl>
                                          <p:spTgt spid="65"/>
                                        </p:tgtEl>
                                        <p:attrNameLst>
                                          <p:attrName>ppt_y</p:attrName>
                                        </p:attrNameLst>
                                      </p:cBhvr>
                                      <p:tavLst>
                                        <p:tav tm="0">
                                          <p:val>
                                            <p:strVal val="#ppt_y+1"/>
                                          </p:val>
                                        </p:tav>
                                        <p:tav tm="100000">
                                          <p:val>
                                            <p:strVal val="#ppt_y-.03"/>
                                          </p:val>
                                        </p:tav>
                                      </p:tavLst>
                                    </p:anim>
                                    <p:anim calcmode="lin" valueType="num">
                                      <p:cBhvr>
                                        <p:cTn id="83" dur="100" accel="100000" fill="hold">
                                          <p:stCondLst>
                                            <p:cond delay="900"/>
                                          </p:stCondLst>
                                        </p:cTn>
                                        <p:tgtEl>
                                          <p:spTgt spid="65"/>
                                        </p:tgtEl>
                                        <p:attrNameLst>
                                          <p:attrName>ppt_y</p:attrName>
                                        </p:attrNameLst>
                                      </p:cBhvr>
                                      <p:tavLst>
                                        <p:tav tm="0">
                                          <p:val>
                                            <p:strVal val="#ppt_y-.03"/>
                                          </p:val>
                                        </p:tav>
                                        <p:tav tm="100000">
                                          <p:val>
                                            <p:strVal val="#ppt_y"/>
                                          </p:val>
                                        </p:tav>
                                      </p:tavLst>
                                    </p:anim>
                                  </p:childTnLst>
                                </p:cTn>
                              </p:par>
                              <p:par>
                                <p:cTn id="84" presetID="37" presetClass="entr" presetSubtype="0" fill="hold" nodeType="withEffect">
                                  <p:stCondLst>
                                    <p:cond delay="0"/>
                                  </p:stCondLst>
                                  <p:childTnLst>
                                    <p:set>
                                      <p:cBhvr>
                                        <p:cTn id="85" dur="1" fill="hold">
                                          <p:stCondLst>
                                            <p:cond delay="0"/>
                                          </p:stCondLst>
                                        </p:cTn>
                                        <p:tgtEl>
                                          <p:spTgt spid="73"/>
                                        </p:tgtEl>
                                        <p:attrNameLst>
                                          <p:attrName>style.visibility</p:attrName>
                                        </p:attrNameLst>
                                      </p:cBhvr>
                                      <p:to>
                                        <p:strVal val="visible"/>
                                      </p:to>
                                    </p:set>
                                    <p:animEffect transition="in" filter="fade">
                                      <p:cBhvr>
                                        <p:cTn id="86" dur="1000"/>
                                        <p:tgtEl>
                                          <p:spTgt spid="73"/>
                                        </p:tgtEl>
                                      </p:cBhvr>
                                    </p:animEffect>
                                    <p:anim calcmode="lin" valueType="num">
                                      <p:cBhvr>
                                        <p:cTn id="87" dur="1000" fill="hold"/>
                                        <p:tgtEl>
                                          <p:spTgt spid="73"/>
                                        </p:tgtEl>
                                        <p:attrNameLst>
                                          <p:attrName>ppt_x</p:attrName>
                                        </p:attrNameLst>
                                      </p:cBhvr>
                                      <p:tavLst>
                                        <p:tav tm="0">
                                          <p:val>
                                            <p:strVal val="#ppt_x"/>
                                          </p:val>
                                        </p:tav>
                                        <p:tav tm="100000">
                                          <p:val>
                                            <p:strVal val="#ppt_x"/>
                                          </p:val>
                                        </p:tav>
                                      </p:tavLst>
                                    </p:anim>
                                    <p:anim calcmode="lin" valueType="num">
                                      <p:cBhvr>
                                        <p:cTn id="88" dur="900" decel="100000" fill="hold"/>
                                        <p:tgtEl>
                                          <p:spTgt spid="73"/>
                                        </p:tgtEl>
                                        <p:attrNameLst>
                                          <p:attrName>ppt_y</p:attrName>
                                        </p:attrNameLst>
                                      </p:cBhvr>
                                      <p:tavLst>
                                        <p:tav tm="0">
                                          <p:val>
                                            <p:strVal val="#ppt_y+1"/>
                                          </p:val>
                                        </p:tav>
                                        <p:tav tm="100000">
                                          <p:val>
                                            <p:strVal val="#ppt_y-.03"/>
                                          </p:val>
                                        </p:tav>
                                      </p:tavLst>
                                    </p:anim>
                                    <p:anim calcmode="lin" valueType="num">
                                      <p:cBhvr>
                                        <p:cTn id="89" dur="100" accel="100000" fill="hold">
                                          <p:stCondLst>
                                            <p:cond delay="900"/>
                                          </p:stCondLst>
                                        </p:cTn>
                                        <p:tgtEl>
                                          <p:spTgt spid="73"/>
                                        </p:tgtEl>
                                        <p:attrNameLst>
                                          <p:attrName>ppt_y</p:attrName>
                                        </p:attrNameLst>
                                      </p:cBhvr>
                                      <p:tavLst>
                                        <p:tav tm="0">
                                          <p:val>
                                            <p:strVal val="#ppt_y-.03"/>
                                          </p:val>
                                        </p:tav>
                                        <p:tav tm="100000">
                                          <p:val>
                                            <p:strVal val="#ppt_y"/>
                                          </p:val>
                                        </p:tav>
                                      </p:tavLst>
                                    </p:anim>
                                  </p:childTnLst>
                                </p:cTn>
                              </p:par>
                              <p:par>
                                <p:cTn id="90" presetID="37" presetClass="entr" presetSubtype="0" fill="hold" nodeType="withEffect">
                                  <p:stCondLst>
                                    <p:cond delay="0"/>
                                  </p:stCondLst>
                                  <p:childTnLst>
                                    <p:set>
                                      <p:cBhvr>
                                        <p:cTn id="91" dur="1" fill="hold">
                                          <p:stCondLst>
                                            <p:cond delay="0"/>
                                          </p:stCondLst>
                                        </p:cTn>
                                        <p:tgtEl>
                                          <p:spTgt spid="81"/>
                                        </p:tgtEl>
                                        <p:attrNameLst>
                                          <p:attrName>style.visibility</p:attrName>
                                        </p:attrNameLst>
                                      </p:cBhvr>
                                      <p:to>
                                        <p:strVal val="visible"/>
                                      </p:to>
                                    </p:set>
                                    <p:animEffect transition="in" filter="fade">
                                      <p:cBhvr>
                                        <p:cTn id="92" dur="1000"/>
                                        <p:tgtEl>
                                          <p:spTgt spid="81"/>
                                        </p:tgtEl>
                                      </p:cBhvr>
                                    </p:animEffect>
                                    <p:anim calcmode="lin" valueType="num">
                                      <p:cBhvr>
                                        <p:cTn id="93" dur="1000" fill="hold"/>
                                        <p:tgtEl>
                                          <p:spTgt spid="81"/>
                                        </p:tgtEl>
                                        <p:attrNameLst>
                                          <p:attrName>ppt_x</p:attrName>
                                        </p:attrNameLst>
                                      </p:cBhvr>
                                      <p:tavLst>
                                        <p:tav tm="0">
                                          <p:val>
                                            <p:strVal val="#ppt_x"/>
                                          </p:val>
                                        </p:tav>
                                        <p:tav tm="100000">
                                          <p:val>
                                            <p:strVal val="#ppt_x"/>
                                          </p:val>
                                        </p:tav>
                                      </p:tavLst>
                                    </p:anim>
                                    <p:anim calcmode="lin" valueType="num">
                                      <p:cBhvr>
                                        <p:cTn id="94" dur="900" decel="100000" fill="hold"/>
                                        <p:tgtEl>
                                          <p:spTgt spid="81"/>
                                        </p:tgtEl>
                                        <p:attrNameLst>
                                          <p:attrName>ppt_y</p:attrName>
                                        </p:attrNameLst>
                                      </p:cBhvr>
                                      <p:tavLst>
                                        <p:tav tm="0">
                                          <p:val>
                                            <p:strVal val="#ppt_y+1"/>
                                          </p:val>
                                        </p:tav>
                                        <p:tav tm="100000">
                                          <p:val>
                                            <p:strVal val="#ppt_y-.03"/>
                                          </p:val>
                                        </p:tav>
                                      </p:tavLst>
                                    </p:anim>
                                    <p:anim calcmode="lin" valueType="num">
                                      <p:cBhvr>
                                        <p:cTn id="95" dur="100" accel="100000" fill="hold">
                                          <p:stCondLst>
                                            <p:cond delay="900"/>
                                          </p:stCondLst>
                                        </p:cTn>
                                        <p:tgtEl>
                                          <p:spTgt spid="81"/>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P spid="68" grpId="0"/>
      <p:bldP spid="69" grpId="0"/>
      <p:bldP spid="76" grpId="0"/>
      <p:bldP spid="77" grpId="0"/>
      <p:bldP spid="84" grpId="0"/>
      <p:bldP spid="8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A660-7D50-5FC5-97ED-C08D422E1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04B538-04D5-F332-9744-CA2E5C2B27D3}"/>
              </a:ext>
            </a:extLst>
          </p:cNvPr>
          <p:cNvSpPr>
            <a:spLocks noGrp="1"/>
          </p:cNvSpPr>
          <p:nvPr>
            <p:ph type="ctrTitle"/>
          </p:nvPr>
        </p:nvSpPr>
        <p:spPr>
          <a:xfrm>
            <a:off x="1149566" y="183907"/>
            <a:ext cx="10668000" cy="1189429"/>
          </a:xfrm>
        </p:spPr>
        <p:txBody>
          <a:bodyPr>
            <a:normAutofit fontScale="90000"/>
          </a:bodyPr>
          <a:lstStyle/>
          <a:p>
            <a:r>
              <a:rPr lang="en-US" sz="6700" dirty="0"/>
              <a:t>Additional Concepts : </a:t>
            </a:r>
            <a:r>
              <a:rPr lang="en-US" sz="3600" dirty="0"/>
              <a:t>Evaluation Metrics SQL2NoSQL </a:t>
            </a:r>
          </a:p>
        </p:txBody>
      </p:sp>
      <p:grpSp>
        <p:nvGrpSpPr>
          <p:cNvPr id="51" name="Группа 43">
            <a:extLst>
              <a:ext uri="{FF2B5EF4-FFF2-40B4-BE49-F238E27FC236}">
                <a16:creationId xmlns:a16="http://schemas.microsoft.com/office/drawing/2014/main" id="{E5F1A724-345E-C600-E0B5-E8F4022B66FE}"/>
              </a:ext>
            </a:extLst>
          </p:cNvPr>
          <p:cNvGrpSpPr/>
          <p:nvPr/>
        </p:nvGrpSpPr>
        <p:grpSpPr>
          <a:xfrm>
            <a:off x="4731926" y="1989027"/>
            <a:ext cx="219097" cy="4557200"/>
            <a:chOff x="8089131" y="4146221"/>
            <a:chExt cx="438251" cy="9115586"/>
          </a:xfrm>
        </p:grpSpPr>
        <p:sp>
          <p:nvSpPr>
            <p:cNvPr id="52" name="Полилиния 44">
              <a:extLst>
                <a:ext uri="{FF2B5EF4-FFF2-40B4-BE49-F238E27FC236}">
                  <a16:creationId xmlns:a16="http://schemas.microsoft.com/office/drawing/2014/main" id="{48A92AB6-0DDF-392D-73B5-B9E0C9934A5F}"/>
                </a:ext>
              </a:extLst>
            </p:cNvPr>
            <p:cNvSpPr/>
            <p:nvPr/>
          </p:nvSpPr>
          <p:spPr>
            <a:xfrm>
              <a:off x="8089131" y="4146221"/>
              <a:ext cx="370508" cy="9115586"/>
            </a:xfrm>
            <a:custGeom>
              <a:avLst/>
              <a:gdLst>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11" fmla="*/ 91440 w 12668613"/>
                <a:gd name="connsiteY11" fmla="*/ 91440 h 10027145"/>
                <a:gd name="connsiteX0" fmla="*/ 7369051 w 12668613"/>
                <a:gd name="connsiteY0" fmla="*/ 0 h 10027145"/>
                <a:gd name="connsiteX1" fmla="*/ 9062330 w 12668613"/>
                <a:gd name="connsiteY1" fmla="*/ 0 h 10027145"/>
                <a:gd name="connsiteX2" fmla="*/ 12261054 w 12668613"/>
                <a:gd name="connsiteY2" fmla="*/ 0 h 10027145"/>
                <a:gd name="connsiteX3" fmla="*/ 12261054 w 12668613"/>
                <a:gd name="connsiteY3" fmla="*/ 4607455 h 10027145"/>
                <a:gd name="connsiteX4" fmla="*/ 12668613 w 12668613"/>
                <a:gd name="connsiteY4" fmla="*/ 5013572 h 10027145"/>
                <a:gd name="connsiteX5" fmla="*/ 12261054 w 12668613"/>
                <a:gd name="connsiteY5" fmla="*/ 5419689 h 10027145"/>
                <a:gd name="connsiteX6" fmla="*/ 12261054 w 12668613"/>
                <a:gd name="connsiteY6" fmla="*/ 10027145 h 10027145"/>
                <a:gd name="connsiteX7" fmla="*/ 9062330 w 12668613"/>
                <a:gd name="connsiteY7" fmla="*/ 10027145 h 10027145"/>
                <a:gd name="connsiteX8" fmla="*/ 7369051 w 12668613"/>
                <a:gd name="connsiteY8" fmla="*/ 10027145 h 10027145"/>
                <a:gd name="connsiteX9" fmla="*/ 0 w 12668613"/>
                <a:gd name="connsiteY9" fmla="*/ 10027145 h 10027145"/>
                <a:gd name="connsiteX10" fmla="*/ 91440 w 12668613"/>
                <a:gd name="connsiteY10" fmla="*/ 91440 h 10027145"/>
                <a:gd name="connsiteX0" fmla="*/ 9062330 w 12668613"/>
                <a:gd name="connsiteY0" fmla="*/ 0 h 10027145"/>
                <a:gd name="connsiteX1" fmla="*/ 12261054 w 12668613"/>
                <a:gd name="connsiteY1" fmla="*/ 0 h 10027145"/>
                <a:gd name="connsiteX2" fmla="*/ 12261054 w 12668613"/>
                <a:gd name="connsiteY2" fmla="*/ 4607455 h 10027145"/>
                <a:gd name="connsiteX3" fmla="*/ 12668613 w 12668613"/>
                <a:gd name="connsiteY3" fmla="*/ 5013572 h 10027145"/>
                <a:gd name="connsiteX4" fmla="*/ 12261054 w 12668613"/>
                <a:gd name="connsiteY4" fmla="*/ 5419689 h 10027145"/>
                <a:gd name="connsiteX5" fmla="*/ 12261054 w 12668613"/>
                <a:gd name="connsiteY5" fmla="*/ 10027145 h 10027145"/>
                <a:gd name="connsiteX6" fmla="*/ 9062330 w 12668613"/>
                <a:gd name="connsiteY6" fmla="*/ 10027145 h 10027145"/>
                <a:gd name="connsiteX7" fmla="*/ 7369051 w 12668613"/>
                <a:gd name="connsiteY7" fmla="*/ 10027145 h 10027145"/>
                <a:gd name="connsiteX8" fmla="*/ 0 w 12668613"/>
                <a:gd name="connsiteY8" fmla="*/ 10027145 h 10027145"/>
                <a:gd name="connsiteX9" fmla="*/ 91440 w 12668613"/>
                <a:gd name="connsiteY9"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8" fmla="*/ 91440 w 12668613"/>
                <a:gd name="connsiteY8"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0" fmla="*/ 4892003 w 5299562"/>
                <a:gd name="connsiteY0" fmla="*/ 0 h 10027145"/>
                <a:gd name="connsiteX1" fmla="*/ 4892003 w 5299562"/>
                <a:gd name="connsiteY1" fmla="*/ 4607455 h 10027145"/>
                <a:gd name="connsiteX2" fmla="*/ 5299562 w 5299562"/>
                <a:gd name="connsiteY2" fmla="*/ 5013572 h 10027145"/>
                <a:gd name="connsiteX3" fmla="*/ 4892003 w 5299562"/>
                <a:gd name="connsiteY3" fmla="*/ 5419689 h 10027145"/>
                <a:gd name="connsiteX4" fmla="*/ 4892003 w 5299562"/>
                <a:gd name="connsiteY4" fmla="*/ 10027145 h 10027145"/>
                <a:gd name="connsiteX5" fmla="*/ 1693279 w 5299562"/>
                <a:gd name="connsiteY5" fmla="*/ 10027145 h 10027145"/>
                <a:gd name="connsiteX6" fmla="*/ 0 w 5299562"/>
                <a:gd name="connsiteY6" fmla="*/ 10027145 h 10027145"/>
                <a:gd name="connsiteX0" fmla="*/ 3198724 w 3606283"/>
                <a:gd name="connsiteY0" fmla="*/ 0 h 10027145"/>
                <a:gd name="connsiteX1" fmla="*/ 3198724 w 3606283"/>
                <a:gd name="connsiteY1" fmla="*/ 4607455 h 10027145"/>
                <a:gd name="connsiteX2" fmla="*/ 3606283 w 3606283"/>
                <a:gd name="connsiteY2" fmla="*/ 5013572 h 10027145"/>
                <a:gd name="connsiteX3" fmla="*/ 3198724 w 3606283"/>
                <a:gd name="connsiteY3" fmla="*/ 5419689 h 10027145"/>
                <a:gd name="connsiteX4" fmla="*/ 3198724 w 3606283"/>
                <a:gd name="connsiteY4" fmla="*/ 10027145 h 10027145"/>
                <a:gd name="connsiteX5" fmla="*/ 0 w 3606283"/>
                <a:gd name="connsiteY5" fmla="*/ 10027145 h 10027145"/>
                <a:gd name="connsiteX0" fmla="*/ 0 w 407559"/>
                <a:gd name="connsiteY0" fmla="*/ 0 h 10027145"/>
                <a:gd name="connsiteX1" fmla="*/ 0 w 407559"/>
                <a:gd name="connsiteY1" fmla="*/ 4607455 h 10027145"/>
                <a:gd name="connsiteX2" fmla="*/ 407559 w 407559"/>
                <a:gd name="connsiteY2" fmla="*/ 5013572 h 10027145"/>
                <a:gd name="connsiteX3" fmla="*/ 0 w 407559"/>
                <a:gd name="connsiteY3" fmla="*/ 5419689 h 10027145"/>
                <a:gd name="connsiteX4" fmla="*/ 0 w 407559"/>
                <a:gd name="connsiteY4" fmla="*/ 10027145 h 10027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59" h="10027145">
                  <a:moveTo>
                    <a:pt x="0" y="0"/>
                  </a:moveTo>
                  <a:lnTo>
                    <a:pt x="0" y="4607455"/>
                  </a:lnTo>
                  <a:lnTo>
                    <a:pt x="407559" y="5013572"/>
                  </a:lnTo>
                  <a:lnTo>
                    <a:pt x="0" y="5419689"/>
                  </a:lnTo>
                  <a:lnTo>
                    <a:pt x="0" y="10027145"/>
                  </a:lnTo>
                </a:path>
              </a:pathLst>
            </a:custGeom>
            <a:noFill/>
            <a:ln w="1270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mn-cs"/>
              </a:endParaRPr>
            </a:p>
          </p:txBody>
        </p:sp>
        <p:sp>
          <p:nvSpPr>
            <p:cNvPr id="53" name="Полилиния 45">
              <a:extLst>
                <a:ext uri="{FF2B5EF4-FFF2-40B4-BE49-F238E27FC236}">
                  <a16:creationId xmlns:a16="http://schemas.microsoft.com/office/drawing/2014/main" id="{3BE3DDD6-7EA4-FAFC-5390-E610357818F0}"/>
                </a:ext>
              </a:extLst>
            </p:cNvPr>
            <p:cNvSpPr/>
            <p:nvPr/>
          </p:nvSpPr>
          <p:spPr>
            <a:xfrm>
              <a:off x="8156874" y="4146221"/>
              <a:ext cx="370508" cy="9115586"/>
            </a:xfrm>
            <a:custGeom>
              <a:avLst/>
              <a:gdLst>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11" fmla="*/ 91440 w 12668613"/>
                <a:gd name="connsiteY11" fmla="*/ 91440 h 10027145"/>
                <a:gd name="connsiteX0" fmla="*/ 7369051 w 12668613"/>
                <a:gd name="connsiteY0" fmla="*/ 0 h 10027145"/>
                <a:gd name="connsiteX1" fmla="*/ 9062330 w 12668613"/>
                <a:gd name="connsiteY1" fmla="*/ 0 h 10027145"/>
                <a:gd name="connsiteX2" fmla="*/ 12261054 w 12668613"/>
                <a:gd name="connsiteY2" fmla="*/ 0 h 10027145"/>
                <a:gd name="connsiteX3" fmla="*/ 12261054 w 12668613"/>
                <a:gd name="connsiteY3" fmla="*/ 4607455 h 10027145"/>
                <a:gd name="connsiteX4" fmla="*/ 12668613 w 12668613"/>
                <a:gd name="connsiteY4" fmla="*/ 5013572 h 10027145"/>
                <a:gd name="connsiteX5" fmla="*/ 12261054 w 12668613"/>
                <a:gd name="connsiteY5" fmla="*/ 5419689 h 10027145"/>
                <a:gd name="connsiteX6" fmla="*/ 12261054 w 12668613"/>
                <a:gd name="connsiteY6" fmla="*/ 10027145 h 10027145"/>
                <a:gd name="connsiteX7" fmla="*/ 9062330 w 12668613"/>
                <a:gd name="connsiteY7" fmla="*/ 10027145 h 10027145"/>
                <a:gd name="connsiteX8" fmla="*/ 7369051 w 12668613"/>
                <a:gd name="connsiteY8" fmla="*/ 10027145 h 10027145"/>
                <a:gd name="connsiteX9" fmla="*/ 0 w 12668613"/>
                <a:gd name="connsiteY9" fmla="*/ 10027145 h 10027145"/>
                <a:gd name="connsiteX10" fmla="*/ 91440 w 12668613"/>
                <a:gd name="connsiteY10" fmla="*/ 91440 h 10027145"/>
                <a:gd name="connsiteX0" fmla="*/ 9062330 w 12668613"/>
                <a:gd name="connsiteY0" fmla="*/ 0 h 10027145"/>
                <a:gd name="connsiteX1" fmla="*/ 12261054 w 12668613"/>
                <a:gd name="connsiteY1" fmla="*/ 0 h 10027145"/>
                <a:gd name="connsiteX2" fmla="*/ 12261054 w 12668613"/>
                <a:gd name="connsiteY2" fmla="*/ 4607455 h 10027145"/>
                <a:gd name="connsiteX3" fmla="*/ 12668613 w 12668613"/>
                <a:gd name="connsiteY3" fmla="*/ 5013572 h 10027145"/>
                <a:gd name="connsiteX4" fmla="*/ 12261054 w 12668613"/>
                <a:gd name="connsiteY4" fmla="*/ 5419689 h 10027145"/>
                <a:gd name="connsiteX5" fmla="*/ 12261054 w 12668613"/>
                <a:gd name="connsiteY5" fmla="*/ 10027145 h 10027145"/>
                <a:gd name="connsiteX6" fmla="*/ 9062330 w 12668613"/>
                <a:gd name="connsiteY6" fmla="*/ 10027145 h 10027145"/>
                <a:gd name="connsiteX7" fmla="*/ 7369051 w 12668613"/>
                <a:gd name="connsiteY7" fmla="*/ 10027145 h 10027145"/>
                <a:gd name="connsiteX8" fmla="*/ 0 w 12668613"/>
                <a:gd name="connsiteY8" fmla="*/ 10027145 h 10027145"/>
                <a:gd name="connsiteX9" fmla="*/ 91440 w 12668613"/>
                <a:gd name="connsiteY9"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8" fmla="*/ 91440 w 12668613"/>
                <a:gd name="connsiteY8"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0" fmla="*/ 4892003 w 5299562"/>
                <a:gd name="connsiteY0" fmla="*/ 0 h 10027145"/>
                <a:gd name="connsiteX1" fmla="*/ 4892003 w 5299562"/>
                <a:gd name="connsiteY1" fmla="*/ 4607455 h 10027145"/>
                <a:gd name="connsiteX2" fmla="*/ 5299562 w 5299562"/>
                <a:gd name="connsiteY2" fmla="*/ 5013572 h 10027145"/>
                <a:gd name="connsiteX3" fmla="*/ 4892003 w 5299562"/>
                <a:gd name="connsiteY3" fmla="*/ 5419689 h 10027145"/>
                <a:gd name="connsiteX4" fmla="*/ 4892003 w 5299562"/>
                <a:gd name="connsiteY4" fmla="*/ 10027145 h 10027145"/>
                <a:gd name="connsiteX5" fmla="*/ 1693279 w 5299562"/>
                <a:gd name="connsiteY5" fmla="*/ 10027145 h 10027145"/>
                <a:gd name="connsiteX6" fmla="*/ 0 w 5299562"/>
                <a:gd name="connsiteY6" fmla="*/ 10027145 h 10027145"/>
                <a:gd name="connsiteX0" fmla="*/ 3198724 w 3606283"/>
                <a:gd name="connsiteY0" fmla="*/ 0 h 10027145"/>
                <a:gd name="connsiteX1" fmla="*/ 3198724 w 3606283"/>
                <a:gd name="connsiteY1" fmla="*/ 4607455 h 10027145"/>
                <a:gd name="connsiteX2" fmla="*/ 3606283 w 3606283"/>
                <a:gd name="connsiteY2" fmla="*/ 5013572 h 10027145"/>
                <a:gd name="connsiteX3" fmla="*/ 3198724 w 3606283"/>
                <a:gd name="connsiteY3" fmla="*/ 5419689 h 10027145"/>
                <a:gd name="connsiteX4" fmla="*/ 3198724 w 3606283"/>
                <a:gd name="connsiteY4" fmla="*/ 10027145 h 10027145"/>
                <a:gd name="connsiteX5" fmla="*/ 0 w 3606283"/>
                <a:gd name="connsiteY5" fmla="*/ 10027145 h 10027145"/>
                <a:gd name="connsiteX0" fmla="*/ 0 w 407559"/>
                <a:gd name="connsiteY0" fmla="*/ 0 h 10027145"/>
                <a:gd name="connsiteX1" fmla="*/ 0 w 407559"/>
                <a:gd name="connsiteY1" fmla="*/ 4607455 h 10027145"/>
                <a:gd name="connsiteX2" fmla="*/ 407559 w 407559"/>
                <a:gd name="connsiteY2" fmla="*/ 5013572 h 10027145"/>
                <a:gd name="connsiteX3" fmla="*/ 0 w 407559"/>
                <a:gd name="connsiteY3" fmla="*/ 5419689 h 10027145"/>
                <a:gd name="connsiteX4" fmla="*/ 0 w 407559"/>
                <a:gd name="connsiteY4" fmla="*/ 10027145 h 10027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59" h="10027145">
                  <a:moveTo>
                    <a:pt x="0" y="0"/>
                  </a:moveTo>
                  <a:lnTo>
                    <a:pt x="0" y="4607455"/>
                  </a:lnTo>
                  <a:lnTo>
                    <a:pt x="407559" y="5013572"/>
                  </a:lnTo>
                  <a:lnTo>
                    <a:pt x="0" y="5419689"/>
                  </a:lnTo>
                  <a:lnTo>
                    <a:pt x="0" y="10027145"/>
                  </a:lnTo>
                </a:path>
              </a:pathLst>
            </a:custGeom>
            <a:noFill/>
            <a:ln w="38100">
              <a:solidFill>
                <a:schemeClr val="tx2">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mn-cs"/>
              </a:endParaRPr>
            </a:p>
          </p:txBody>
        </p:sp>
      </p:grpSp>
      <p:grpSp>
        <p:nvGrpSpPr>
          <p:cNvPr id="54" name="Группа 46">
            <a:extLst>
              <a:ext uri="{FF2B5EF4-FFF2-40B4-BE49-F238E27FC236}">
                <a16:creationId xmlns:a16="http://schemas.microsoft.com/office/drawing/2014/main" id="{5FC496D0-FCAB-3998-BD8B-CB440EE21B4E}"/>
              </a:ext>
            </a:extLst>
          </p:cNvPr>
          <p:cNvGrpSpPr/>
          <p:nvPr/>
        </p:nvGrpSpPr>
        <p:grpSpPr>
          <a:xfrm>
            <a:off x="7775856" y="1989027"/>
            <a:ext cx="219097" cy="4557200"/>
            <a:chOff x="8089131" y="4146221"/>
            <a:chExt cx="438251" cy="9115586"/>
          </a:xfrm>
        </p:grpSpPr>
        <p:sp>
          <p:nvSpPr>
            <p:cNvPr id="55" name="Полилиния 47">
              <a:extLst>
                <a:ext uri="{FF2B5EF4-FFF2-40B4-BE49-F238E27FC236}">
                  <a16:creationId xmlns:a16="http://schemas.microsoft.com/office/drawing/2014/main" id="{F2CBF3CF-CA14-94A1-783F-552DC9F73FC7}"/>
                </a:ext>
              </a:extLst>
            </p:cNvPr>
            <p:cNvSpPr/>
            <p:nvPr/>
          </p:nvSpPr>
          <p:spPr>
            <a:xfrm>
              <a:off x="8089131" y="4146221"/>
              <a:ext cx="370508" cy="9115586"/>
            </a:xfrm>
            <a:custGeom>
              <a:avLst/>
              <a:gdLst>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11" fmla="*/ 91440 w 12668613"/>
                <a:gd name="connsiteY11" fmla="*/ 91440 h 10027145"/>
                <a:gd name="connsiteX0" fmla="*/ 7369051 w 12668613"/>
                <a:gd name="connsiteY0" fmla="*/ 0 h 10027145"/>
                <a:gd name="connsiteX1" fmla="*/ 9062330 w 12668613"/>
                <a:gd name="connsiteY1" fmla="*/ 0 h 10027145"/>
                <a:gd name="connsiteX2" fmla="*/ 12261054 w 12668613"/>
                <a:gd name="connsiteY2" fmla="*/ 0 h 10027145"/>
                <a:gd name="connsiteX3" fmla="*/ 12261054 w 12668613"/>
                <a:gd name="connsiteY3" fmla="*/ 4607455 h 10027145"/>
                <a:gd name="connsiteX4" fmla="*/ 12668613 w 12668613"/>
                <a:gd name="connsiteY4" fmla="*/ 5013572 h 10027145"/>
                <a:gd name="connsiteX5" fmla="*/ 12261054 w 12668613"/>
                <a:gd name="connsiteY5" fmla="*/ 5419689 h 10027145"/>
                <a:gd name="connsiteX6" fmla="*/ 12261054 w 12668613"/>
                <a:gd name="connsiteY6" fmla="*/ 10027145 h 10027145"/>
                <a:gd name="connsiteX7" fmla="*/ 9062330 w 12668613"/>
                <a:gd name="connsiteY7" fmla="*/ 10027145 h 10027145"/>
                <a:gd name="connsiteX8" fmla="*/ 7369051 w 12668613"/>
                <a:gd name="connsiteY8" fmla="*/ 10027145 h 10027145"/>
                <a:gd name="connsiteX9" fmla="*/ 0 w 12668613"/>
                <a:gd name="connsiteY9" fmla="*/ 10027145 h 10027145"/>
                <a:gd name="connsiteX10" fmla="*/ 91440 w 12668613"/>
                <a:gd name="connsiteY10" fmla="*/ 91440 h 10027145"/>
                <a:gd name="connsiteX0" fmla="*/ 9062330 w 12668613"/>
                <a:gd name="connsiteY0" fmla="*/ 0 h 10027145"/>
                <a:gd name="connsiteX1" fmla="*/ 12261054 w 12668613"/>
                <a:gd name="connsiteY1" fmla="*/ 0 h 10027145"/>
                <a:gd name="connsiteX2" fmla="*/ 12261054 w 12668613"/>
                <a:gd name="connsiteY2" fmla="*/ 4607455 h 10027145"/>
                <a:gd name="connsiteX3" fmla="*/ 12668613 w 12668613"/>
                <a:gd name="connsiteY3" fmla="*/ 5013572 h 10027145"/>
                <a:gd name="connsiteX4" fmla="*/ 12261054 w 12668613"/>
                <a:gd name="connsiteY4" fmla="*/ 5419689 h 10027145"/>
                <a:gd name="connsiteX5" fmla="*/ 12261054 w 12668613"/>
                <a:gd name="connsiteY5" fmla="*/ 10027145 h 10027145"/>
                <a:gd name="connsiteX6" fmla="*/ 9062330 w 12668613"/>
                <a:gd name="connsiteY6" fmla="*/ 10027145 h 10027145"/>
                <a:gd name="connsiteX7" fmla="*/ 7369051 w 12668613"/>
                <a:gd name="connsiteY7" fmla="*/ 10027145 h 10027145"/>
                <a:gd name="connsiteX8" fmla="*/ 0 w 12668613"/>
                <a:gd name="connsiteY8" fmla="*/ 10027145 h 10027145"/>
                <a:gd name="connsiteX9" fmla="*/ 91440 w 12668613"/>
                <a:gd name="connsiteY9"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8" fmla="*/ 91440 w 12668613"/>
                <a:gd name="connsiteY8"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0" fmla="*/ 4892003 w 5299562"/>
                <a:gd name="connsiteY0" fmla="*/ 0 h 10027145"/>
                <a:gd name="connsiteX1" fmla="*/ 4892003 w 5299562"/>
                <a:gd name="connsiteY1" fmla="*/ 4607455 h 10027145"/>
                <a:gd name="connsiteX2" fmla="*/ 5299562 w 5299562"/>
                <a:gd name="connsiteY2" fmla="*/ 5013572 h 10027145"/>
                <a:gd name="connsiteX3" fmla="*/ 4892003 w 5299562"/>
                <a:gd name="connsiteY3" fmla="*/ 5419689 h 10027145"/>
                <a:gd name="connsiteX4" fmla="*/ 4892003 w 5299562"/>
                <a:gd name="connsiteY4" fmla="*/ 10027145 h 10027145"/>
                <a:gd name="connsiteX5" fmla="*/ 1693279 w 5299562"/>
                <a:gd name="connsiteY5" fmla="*/ 10027145 h 10027145"/>
                <a:gd name="connsiteX6" fmla="*/ 0 w 5299562"/>
                <a:gd name="connsiteY6" fmla="*/ 10027145 h 10027145"/>
                <a:gd name="connsiteX0" fmla="*/ 3198724 w 3606283"/>
                <a:gd name="connsiteY0" fmla="*/ 0 h 10027145"/>
                <a:gd name="connsiteX1" fmla="*/ 3198724 w 3606283"/>
                <a:gd name="connsiteY1" fmla="*/ 4607455 h 10027145"/>
                <a:gd name="connsiteX2" fmla="*/ 3606283 w 3606283"/>
                <a:gd name="connsiteY2" fmla="*/ 5013572 h 10027145"/>
                <a:gd name="connsiteX3" fmla="*/ 3198724 w 3606283"/>
                <a:gd name="connsiteY3" fmla="*/ 5419689 h 10027145"/>
                <a:gd name="connsiteX4" fmla="*/ 3198724 w 3606283"/>
                <a:gd name="connsiteY4" fmla="*/ 10027145 h 10027145"/>
                <a:gd name="connsiteX5" fmla="*/ 0 w 3606283"/>
                <a:gd name="connsiteY5" fmla="*/ 10027145 h 10027145"/>
                <a:gd name="connsiteX0" fmla="*/ 0 w 407559"/>
                <a:gd name="connsiteY0" fmla="*/ 0 h 10027145"/>
                <a:gd name="connsiteX1" fmla="*/ 0 w 407559"/>
                <a:gd name="connsiteY1" fmla="*/ 4607455 h 10027145"/>
                <a:gd name="connsiteX2" fmla="*/ 407559 w 407559"/>
                <a:gd name="connsiteY2" fmla="*/ 5013572 h 10027145"/>
                <a:gd name="connsiteX3" fmla="*/ 0 w 407559"/>
                <a:gd name="connsiteY3" fmla="*/ 5419689 h 10027145"/>
                <a:gd name="connsiteX4" fmla="*/ 0 w 407559"/>
                <a:gd name="connsiteY4" fmla="*/ 10027145 h 10027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59" h="10027145">
                  <a:moveTo>
                    <a:pt x="0" y="0"/>
                  </a:moveTo>
                  <a:lnTo>
                    <a:pt x="0" y="4607455"/>
                  </a:lnTo>
                  <a:lnTo>
                    <a:pt x="407559" y="5013572"/>
                  </a:lnTo>
                  <a:lnTo>
                    <a:pt x="0" y="5419689"/>
                  </a:lnTo>
                  <a:lnTo>
                    <a:pt x="0" y="10027145"/>
                  </a:lnTo>
                </a:path>
              </a:pathLst>
            </a:custGeom>
            <a:noFill/>
            <a:ln w="1270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mn-cs"/>
              </a:endParaRPr>
            </a:p>
          </p:txBody>
        </p:sp>
        <p:sp>
          <p:nvSpPr>
            <p:cNvPr id="56" name="Полилиния 48">
              <a:extLst>
                <a:ext uri="{FF2B5EF4-FFF2-40B4-BE49-F238E27FC236}">
                  <a16:creationId xmlns:a16="http://schemas.microsoft.com/office/drawing/2014/main" id="{DADD44ED-A254-F1FF-BCFF-C2426D10CFAF}"/>
                </a:ext>
              </a:extLst>
            </p:cNvPr>
            <p:cNvSpPr/>
            <p:nvPr/>
          </p:nvSpPr>
          <p:spPr>
            <a:xfrm>
              <a:off x="8156874" y="4146221"/>
              <a:ext cx="370508" cy="9115586"/>
            </a:xfrm>
            <a:custGeom>
              <a:avLst/>
              <a:gdLst>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11" fmla="*/ 91440 w 12668613"/>
                <a:gd name="connsiteY11" fmla="*/ 91440 h 10027145"/>
                <a:gd name="connsiteX0" fmla="*/ 7369051 w 12668613"/>
                <a:gd name="connsiteY0" fmla="*/ 0 h 10027145"/>
                <a:gd name="connsiteX1" fmla="*/ 9062330 w 12668613"/>
                <a:gd name="connsiteY1" fmla="*/ 0 h 10027145"/>
                <a:gd name="connsiteX2" fmla="*/ 12261054 w 12668613"/>
                <a:gd name="connsiteY2" fmla="*/ 0 h 10027145"/>
                <a:gd name="connsiteX3" fmla="*/ 12261054 w 12668613"/>
                <a:gd name="connsiteY3" fmla="*/ 4607455 h 10027145"/>
                <a:gd name="connsiteX4" fmla="*/ 12668613 w 12668613"/>
                <a:gd name="connsiteY4" fmla="*/ 5013572 h 10027145"/>
                <a:gd name="connsiteX5" fmla="*/ 12261054 w 12668613"/>
                <a:gd name="connsiteY5" fmla="*/ 5419689 h 10027145"/>
                <a:gd name="connsiteX6" fmla="*/ 12261054 w 12668613"/>
                <a:gd name="connsiteY6" fmla="*/ 10027145 h 10027145"/>
                <a:gd name="connsiteX7" fmla="*/ 9062330 w 12668613"/>
                <a:gd name="connsiteY7" fmla="*/ 10027145 h 10027145"/>
                <a:gd name="connsiteX8" fmla="*/ 7369051 w 12668613"/>
                <a:gd name="connsiteY8" fmla="*/ 10027145 h 10027145"/>
                <a:gd name="connsiteX9" fmla="*/ 0 w 12668613"/>
                <a:gd name="connsiteY9" fmla="*/ 10027145 h 10027145"/>
                <a:gd name="connsiteX10" fmla="*/ 91440 w 12668613"/>
                <a:gd name="connsiteY10" fmla="*/ 91440 h 10027145"/>
                <a:gd name="connsiteX0" fmla="*/ 9062330 w 12668613"/>
                <a:gd name="connsiteY0" fmla="*/ 0 h 10027145"/>
                <a:gd name="connsiteX1" fmla="*/ 12261054 w 12668613"/>
                <a:gd name="connsiteY1" fmla="*/ 0 h 10027145"/>
                <a:gd name="connsiteX2" fmla="*/ 12261054 w 12668613"/>
                <a:gd name="connsiteY2" fmla="*/ 4607455 h 10027145"/>
                <a:gd name="connsiteX3" fmla="*/ 12668613 w 12668613"/>
                <a:gd name="connsiteY3" fmla="*/ 5013572 h 10027145"/>
                <a:gd name="connsiteX4" fmla="*/ 12261054 w 12668613"/>
                <a:gd name="connsiteY4" fmla="*/ 5419689 h 10027145"/>
                <a:gd name="connsiteX5" fmla="*/ 12261054 w 12668613"/>
                <a:gd name="connsiteY5" fmla="*/ 10027145 h 10027145"/>
                <a:gd name="connsiteX6" fmla="*/ 9062330 w 12668613"/>
                <a:gd name="connsiteY6" fmla="*/ 10027145 h 10027145"/>
                <a:gd name="connsiteX7" fmla="*/ 7369051 w 12668613"/>
                <a:gd name="connsiteY7" fmla="*/ 10027145 h 10027145"/>
                <a:gd name="connsiteX8" fmla="*/ 0 w 12668613"/>
                <a:gd name="connsiteY8" fmla="*/ 10027145 h 10027145"/>
                <a:gd name="connsiteX9" fmla="*/ 91440 w 12668613"/>
                <a:gd name="connsiteY9"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8" fmla="*/ 91440 w 12668613"/>
                <a:gd name="connsiteY8"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0" fmla="*/ 4892003 w 5299562"/>
                <a:gd name="connsiteY0" fmla="*/ 0 h 10027145"/>
                <a:gd name="connsiteX1" fmla="*/ 4892003 w 5299562"/>
                <a:gd name="connsiteY1" fmla="*/ 4607455 h 10027145"/>
                <a:gd name="connsiteX2" fmla="*/ 5299562 w 5299562"/>
                <a:gd name="connsiteY2" fmla="*/ 5013572 h 10027145"/>
                <a:gd name="connsiteX3" fmla="*/ 4892003 w 5299562"/>
                <a:gd name="connsiteY3" fmla="*/ 5419689 h 10027145"/>
                <a:gd name="connsiteX4" fmla="*/ 4892003 w 5299562"/>
                <a:gd name="connsiteY4" fmla="*/ 10027145 h 10027145"/>
                <a:gd name="connsiteX5" fmla="*/ 1693279 w 5299562"/>
                <a:gd name="connsiteY5" fmla="*/ 10027145 h 10027145"/>
                <a:gd name="connsiteX6" fmla="*/ 0 w 5299562"/>
                <a:gd name="connsiteY6" fmla="*/ 10027145 h 10027145"/>
                <a:gd name="connsiteX0" fmla="*/ 3198724 w 3606283"/>
                <a:gd name="connsiteY0" fmla="*/ 0 h 10027145"/>
                <a:gd name="connsiteX1" fmla="*/ 3198724 w 3606283"/>
                <a:gd name="connsiteY1" fmla="*/ 4607455 h 10027145"/>
                <a:gd name="connsiteX2" fmla="*/ 3606283 w 3606283"/>
                <a:gd name="connsiteY2" fmla="*/ 5013572 h 10027145"/>
                <a:gd name="connsiteX3" fmla="*/ 3198724 w 3606283"/>
                <a:gd name="connsiteY3" fmla="*/ 5419689 h 10027145"/>
                <a:gd name="connsiteX4" fmla="*/ 3198724 w 3606283"/>
                <a:gd name="connsiteY4" fmla="*/ 10027145 h 10027145"/>
                <a:gd name="connsiteX5" fmla="*/ 0 w 3606283"/>
                <a:gd name="connsiteY5" fmla="*/ 10027145 h 10027145"/>
                <a:gd name="connsiteX0" fmla="*/ 0 w 407559"/>
                <a:gd name="connsiteY0" fmla="*/ 0 h 10027145"/>
                <a:gd name="connsiteX1" fmla="*/ 0 w 407559"/>
                <a:gd name="connsiteY1" fmla="*/ 4607455 h 10027145"/>
                <a:gd name="connsiteX2" fmla="*/ 407559 w 407559"/>
                <a:gd name="connsiteY2" fmla="*/ 5013572 h 10027145"/>
                <a:gd name="connsiteX3" fmla="*/ 0 w 407559"/>
                <a:gd name="connsiteY3" fmla="*/ 5419689 h 10027145"/>
                <a:gd name="connsiteX4" fmla="*/ 0 w 407559"/>
                <a:gd name="connsiteY4" fmla="*/ 10027145 h 10027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59" h="10027145">
                  <a:moveTo>
                    <a:pt x="0" y="0"/>
                  </a:moveTo>
                  <a:lnTo>
                    <a:pt x="0" y="4607455"/>
                  </a:lnTo>
                  <a:lnTo>
                    <a:pt x="407559" y="5013572"/>
                  </a:lnTo>
                  <a:lnTo>
                    <a:pt x="0" y="5419689"/>
                  </a:lnTo>
                  <a:lnTo>
                    <a:pt x="0" y="10027145"/>
                  </a:lnTo>
                </a:path>
              </a:pathLst>
            </a:custGeom>
            <a:noFill/>
            <a:ln w="38100">
              <a:solidFill>
                <a:schemeClr val="tx2">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mn-cs"/>
              </a:endParaRPr>
            </a:p>
          </p:txBody>
        </p:sp>
      </p:grpSp>
      <p:sp>
        <p:nvSpPr>
          <p:cNvPr id="60" name="TextBox 59">
            <a:extLst>
              <a:ext uri="{FF2B5EF4-FFF2-40B4-BE49-F238E27FC236}">
                <a16:creationId xmlns:a16="http://schemas.microsoft.com/office/drawing/2014/main" id="{3286F2CF-B66F-5FAE-4B84-04B39893670E}"/>
              </a:ext>
            </a:extLst>
          </p:cNvPr>
          <p:cNvSpPr txBox="1"/>
          <p:nvPr/>
        </p:nvSpPr>
        <p:spPr>
          <a:xfrm>
            <a:off x="2017106" y="3143204"/>
            <a:ext cx="2672499" cy="1515415"/>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Pipeline Structure Match</a:t>
            </a:r>
          </a:p>
          <a:p>
            <a:pPr marL="171450" lvl="0" indent="-171450" algn="just" defTabSz="1219079">
              <a:lnSpc>
                <a:spcPct val="150000"/>
              </a:lnSpc>
              <a:buFont typeface="Arial" panose="020B0604020202020204" pitchFamily="34" charset="0"/>
              <a:buChar char="•"/>
              <a:defRPr/>
            </a:pPr>
            <a:r>
              <a:rPr lang="en-IN" sz="900" dirty="0">
                <a:solidFill>
                  <a:srgbClr val="2A2834">
                    <a:lumMod val="75000"/>
                    <a:lumOff val="25000"/>
                  </a:srgbClr>
                </a:solidFill>
                <a:latin typeface="Poppins" panose="00000500000000000000" pitchFamily="2" charset="0"/>
                <a:ea typeface="Tahoma" charset="0"/>
                <a:cs typeface="Poppins" panose="00000500000000000000" pitchFamily="2" charset="0"/>
              </a:rPr>
              <a:t>Equivalent to Exact Match</a:t>
            </a:r>
            <a:endParaRPr lang="en-US" sz="900" dirty="0">
              <a:solidFill>
                <a:srgbClr val="2A2834">
                  <a:lumMod val="75000"/>
                  <a:lumOff val="25000"/>
                </a:srgbClr>
              </a:solidFill>
              <a:latin typeface="Poppins" panose="00000500000000000000" pitchFamily="2" charset="0"/>
              <a:ea typeface="Tahoma" charset="0"/>
              <a:cs typeface="Poppins" panose="00000500000000000000" pitchFamily="2" charset="0"/>
            </a:endParaRPr>
          </a:p>
          <a:p>
            <a:pPr marL="171450" lvl="0" indent="-171450" algn="just" defTabSz="1219079">
              <a:lnSpc>
                <a:spcPct val="150000"/>
              </a:lnSpc>
              <a:buFont typeface="Arial" panose="020B0604020202020204" pitchFamily="34" charset="0"/>
              <a:buChar char="•"/>
              <a:defRPr/>
            </a:pPr>
            <a:r>
              <a:rPr lang="en-IN" sz="900" dirty="0">
                <a:solidFill>
                  <a:srgbClr val="2A2834">
                    <a:lumMod val="75000"/>
                    <a:lumOff val="25000"/>
                  </a:srgbClr>
                </a:solidFill>
                <a:latin typeface="Poppins" panose="00000500000000000000" pitchFamily="2" charset="0"/>
                <a:ea typeface="Tahoma" charset="0"/>
                <a:cs typeface="Poppins" panose="00000500000000000000" pitchFamily="2" charset="0"/>
              </a:rPr>
              <a:t>Checks if the predicted Mongo aggregation pipeline has the same sequence of stages and same JSON structure as the gold pipeline</a:t>
            </a:r>
            <a:endParaRPr lang="en-US" sz="900" dirty="0">
              <a:solidFill>
                <a:srgbClr val="2A2834">
                  <a:lumMod val="75000"/>
                  <a:lumOff val="25000"/>
                </a:srgbClr>
              </a:solidFill>
              <a:latin typeface="Poppins" panose="00000500000000000000" pitchFamily="2" charset="0"/>
              <a:ea typeface="Tahoma" charset="0"/>
              <a:cs typeface="Poppins" panose="00000500000000000000" pitchFamily="2" charset="0"/>
            </a:endParaRPr>
          </a:p>
          <a:p>
            <a:pPr lvl="0" algn="just" defTabSz="1219079">
              <a:lnSpc>
                <a:spcPct val="150000"/>
              </a:lnSpc>
              <a:defRPr/>
            </a:pPr>
            <a:endParaRPr lang="en-IN" sz="900" dirty="0">
              <a:solidFill>
                <a:srgbClr val="2A2834">
                  <a:lumMod val="75000"/>
                  <a:lumOff val="25000"/>
                </a:srgbClr>
              </a:solidFill>
              <a:latin typeface="Poppins" panose="00000500000000000000" pitchFamily="2" charset="0"/>
              <a:ea typeface="Tahoma" charset="0"/>
              <a:cs typeface="Poppins" panose="00000500000000000000" pitchFamily="2" charset="0"/>
            </a:endParaRPr>
          </a:p>
        </p:txBody>
      </p:sp>
      <p:sp>
        <p:nvSpPr>
          <p:cNvPr id="61" name="TextBox 60">
            <a:extLst>
              <a:ext uri="{FF2B5EF4-FFF2-40B4-BE49-F238E27FC236}">
                <a16:creationId xmlns:a16="http://schemas.microsoft.com/office/drawing/2014/main" id="{794951CE-3CE1-0D44-5E99-E2E7D676F625}"/>
              </a:ext>
            </a:extLst>
          </p:cNvPr>
          <p:cNvSpPr txBox="1"/>
          <p:nvPr/>
        </p:nvSpPr>
        <p:spPr>
          <a:xfrm>
            <a:off x="2017107" y="2147400"/>
            <a:ext cx="1054924" cy="953851"/>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01</a:t>
            </a:r>
            <a:endParaRPr kumimoji="0" lang="ru-RU" sz="5000" b="0" i="0" u="none" strike="noStrike" kern="1200" cap="none" spc="0" normalizeH="0" baseline="0" noProof="0" dirty="0">
              <a:ln>
                <a:noFill/>
              </a:ln>
              <a:solidFill>
                <a:srgbClr val="2A2834">
                  <a:lumMod val="75000"/>
                  <a:lumOff val="25000"/>
                </a:srgbClr>
              </a:solidFill>
              <a:effectLst/>
              <a:uLnTx/>
              <a:uFillTx/>
              <a:latin typeface="Tahoma" charset="0"/>
              <a:ea typeface="Tahoma" charset="0"/>
              <a:cs typeface="Poppins" panose="00000500000000000000" pitchFamily="2" charset="0"/>
            </a:endParaRPr>
          </a:p>
        </p:txBody>
      </p:sp>
      <p:grpSp>
        <p:nvGrpSpPr>
          <p:cNvPr id="62" name="Group 61">
            <a:extLst>
              <a:ext uri="{FF2B5EF4-FFF2-40B4-BE49-F238E27FC236}">
                <a16:creationId xmlns:a16="http://schemas.microsoft.com/office/drawing/2014/main" id="{1CD1CD56-510B-4748-791E-A1681FCA5B71}"/>
              </a:ext>
            </a:extLst>
          </p:cNvPr>
          <p:cNvGrpSpPr/>
          <p:nvPr/>
        </p:nvGrpSpPr>
        <p:grpSpPr>
          <a:xfrm>
            <a:off x="2017106" y="4874253"/>
            <a:ext cx="2680965" cy="536263"/>
            <a:chOff x="304054" y="4874253"/>
            <a:chExt cx="2680965" cy="536263"/>
          </a:xfrm>
        </p:grpSpPr>
        <p:sp>
          <p:nvSpPr>
            <p:cNvPr id="63" name="Овал 139">
              <a:extLst>
                <a:ext uri="{FF2B5EF4-FFF2-40B4-BE49-F238E27FC236}">
                  <a16:creationId xmlns:a16="http://schemas.microsoft.com/office/drawing/2014/main" id="{AA92C143-DA6B-E1E7-785A-CEFE4A67EE0F}"/>
                </a:ext>
              </a:extLst>
            </p:cNvPr>
            <p:cNvSpPr/>
            <p:nvPr/>
          </p:nvSpPr>
          <p:spPr>
            <a:xfrm>
              <a:off x="304054" y="4960504"/>
              <a:ext cx="450012" cy="450012"/>
            </a:xfrm>
            <a:prstGeom prst="ellipse">
              <a:avLst/>
            </a:prstGeom>
            <a:solidFill>
              <a:srgbClr val="FFD5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017" rtl="0" eaLnBrk="1" fontAlgn="auto" latinLnBrk="0" hangingPunct="1">
                <a:lnSpc>
                  <a:spcPct val="120000"/>
                </a:lnSpc>
                <a:spcBef>
                  <a:spcPts val="30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A</a:t>
              </a:r>
              <a:endParaRPr kumimoji="0" lang="ru-RU" sz="1600" b="1" i="0" u="none" strike="noStrike" kern="1200" cap="none" spc="0" normalizeH="0" baseline="0" noProof="0" dirty="0">
                <a:ln>
                  <a:noFill/>
                </a:ln>
                <a:solidFill>
                  <a:srgbClr val="FFFFFF"/>
                </a:solidFill>
                <a:effectLst/>
                <a:uLnTx/>
                <a:uFillTx/>
                <a:latin typeface="Tahoma" panose="020B0604030504040204" pitchFamily="34" charset="0"/>
                <a:ea typeface="Tahoma" panose="020B0604030504040204" pitchFamily="34" charset="0"/>
                <a:cs typeface="Poppins" panose="00000500000000000000" pitchFamily="2" charset="0"/>
              </a:endParaRPr>
            </a:p>
          </p:txBody>
        </p:sp>
        <p:sp>
          <p:nvSpPr>
            <p:cNvPr id="64" name="TextBox 63">
              <a:extLst>
                <a:ext uri="{FF2B5EF4-FFF2-40B4-BE49-F238E27FC236}">
                  <a16:creationId xmlns:a16="http://schemas.microsoft.com/office/drawing/2014/main" id="{F764F5C9-36FD-D916-6C1E-B56456F81AD6}"/>
                </a:ext>
              </a:extLst>
            </p:cNvPr>
            <p:cNvSpPr txBox="1"/>
            <p:nvPr/>
          </p:nvSpPr>
          <p:spPr>
            <a:xfrm>
              <a:off x="783698" y="4874253"/>
              <a:ext cx="2201321" cy="510909"/>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Pros</a:t>
              </a:r>
            </a:p>
            <a:p>
              <a:pPr lvl="0" defTabSz="1219079">
                <a:lnSpc>
                  <a:spcPct val="120000"/>
                </a:lnSpc>
                <a:defRPr/>
              </a:pPr>
              <a:r>
                <a:rPr lang="en-IN" sz="8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Checks if the pipeline is logically aligned</a:t>
              </a:r>
              <a:endParaRPr lang="en-US" sz="8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grpSp>
        <p:nvGrpSpPr>
          <p:cNvPr id="65" name="Group 64">
            <a:extLst>
              <a:ext uri="{FF2B5EF4-FFF2-40B4-BE49-F238E27FC236}">
                <a16:creationId xmlns:a16="http://schemas.microsoft.com/office/drawing/2014/main" id="{6A0C789B-BF4B-E322-C17A-D5CC2C4D1D7F}"/>
              </a:ext>
            </a:extLst>
          </p:cNvPr>
          <p:cNvGrpSpPr/>
          <p:nvPr/>
        </p:nvGrpSpPr>
        <p:grpSpPr>
          <a:xfrm>
            <a:off x="2017106" y="5890167"/>
            <a:ext cx="2680965" cy="506630"/>
            <a:chOff x="304054" y="5890167"/>
            <a:chExt cx="2680965" cy="506630"/>
          </a:xfrm>
        </p:grpSpPr>
        <p:sp>
          <p:nvSpPr>
            <p:cNvPr id="66" name="Овал 139">
              <a:extLst>
                <a:ext uri="{FF2B5EF4-FFF2-40B4-BE49-F238E27FC236}">
                  <a16:creationId xmlns:a16="http://schemas.microsoft.com/office/drawing/2014/main" id="{93E03036-7A34-4CDD-9B6F-281887B72241}"/>
                </a:ext>
              </a:extLst>
            </p:cNvPr>
            <p:cNvSpPr/>
            <p:nvPr/>
          </p:nvSpPr>
          <p:spPr>
            <a:xfrm>
              <a:off x="304054" y="5946785"/>
              <a:ext cx="450012" cy="450012"/>
            </a:xfrm>
            <a:prstGeom prst="ellipse">
              <a:avLst/>
            </a:prstGeom>
            <a:solidFill>
              <a:srgbClr val="7CE2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017" rtl="0" eaLnBrk="1" fontAlgn="auto" latinLnBrk="0" hangingPunct="1">
                <a:lnSpc>
                  <a:spcPct val="120000"/>
                </a:lnSpc>
                <a:spcBef>
                  <a:spcPts val="30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B</a:t>
              </a:r>
              <a:endParaRPr kumimoji="0" lang="ru-RU" sz="1600" b="1" i="0" u="none" strike="noStrike" kern="1200" cap="none" spc="0" normalizeH="0" baseline="0" noProof="0" dirty="0">
                <a:ln>
                  <a:noFill/>
                </a:ln>
                <a:solidFill>
                  <a:srgbClr val="FFFFFF"/>
                </a:solidFill>
                <a:effectLst/>
                <a:uLnTx/>
                <a:uFillTx/>
                <a:latin typeface="Tahoma" panose="020B0604030504040204" pitchFamily="34" charset="0"/>
                <a:ea typeface="Tahoma" panose="020B0604030504040204" pitchFamily="34" charset="0"/>
                <a:cs typeface="Poppins" panose="00000500000000000000" pitchFamily="2" charset="0"/>
              </a:endParaRPr>
            </a:p>
          </p:txBody>
        </p:sp>
        <p:sp>
          <p:nvSpPr>
            <p:cNvPr id="67" name="TextBox 66">
              <a:extLst>
                <a:ext uri="{FF2B5EF4-FFF2-40B4-BE49-F238E27FC236}">
                  <a16:creationId xmlns:a16="http://schemas.microsoft.com/office/drawing/2014/main" id="{A45874CC-193C-D5F3-5E78-C280132D3677}"/>
                </a:ext>
              </a:extLst>
            </p:cNvPr>
            <p:cNvSpPr txBox="1"/>
            <p:nvPr/>
          </p:nvSpPr>
          <p:spPr>
            <a:xfrm>
              <a:off x="783698" y="5890167"/>
              <a:ext cx="2201321" cy="362600"/>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lang="en-US" sz="700" b="1"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Cons</a:t>
              </a:r>
              <a:endParaRPr kumimoji="0" lang="en-US" sz="7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endParaRPr>
            </a:p>
            <a:p>
              <a:pPr lvl="0" defTabSz="1219079">
                <a:lnSpc>
                  <a:spcPct val="120000"/>
                </a:lnSpc>
                <a:defRPr/>
              </a:pPr>
              <a:r>
                <a:rPr lang="en-IN" sz="8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Does not verify execution correctness</a:t>
              </a:r>
              <a:endParaRPr lang="en-US" sz="8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sp>
        <p:nvSpPr>
          <p:cNvPr id="68" name="TextBox 67">
            <a:extLst>
              <a:ext uri="{FF2B5EF4-FFF2-40B4-BE49-F238E27FC236}">
                <a16:creationId xmlns:a16="http://schemas.microsoft.com/office/drawing/2014/main" id="{6F2E6864-8840-38AE-0B5B-31BE691237E2}"/>
              </a:ext>
            </a:extLst>
          </p:cNvPr>
          <p:cNvSpPr txBox="1"/>
          <p:nvPr/>
        </p:nvSpPr>
        <p:spPr>
          <a:xfrm>
            <a:off x="4994359" y="3143204"/>
            <a:ext cx="2672499" cy="892167"/>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Execution Accuracy</a:t>
            </a:r>
          </a:p>
          <a:p>
            <a:pPr lvl="0" algn="just" defTabSz="1219079">
              <a:lnSpc>
                <a:spcPct val="150000"/>
              </a:lnSpc>
              <a:defRPr/>
            </a:pPr>
            <a:r>
              <a:rPr lang="en-IN" sz="900" dirty="0">
                <a:solidFill>
                  <a:srgbClr val="2A2834">
                    <a:lumMod val="75000"/>
                    <a:lumOff val="25000"/>
                  </a:srgbClr>
                </a:solidFill>
                <a:latin typeface="Poppins" panose="00000500000000000000" pitchFamily="2" charset="0"/>
                <a:ea typeface="Tahoma" charset="0"/>
                <a:cs typeface="Poppins" panose="00000500000000000000" pitchFamily="2" charset="0"/>
              </a:rPr>
              <a:t>Whether the predicted Mongo pipeline returns the same result set as the SQL query (gold)</a:t>
            </a:r>
            <a:endParaRPr lang="ru-RU" sz="900" dirty="0">
              <a:solidFill>
                <a:srgbClr val="2A2834">
                  <a:lumMod val="75000"/>
                  <a:lumOff val="25000"/>
                </a:srgbClr>
              </a:solidFill>
              <a:latin typeface="Poppins" panose="00000500000000000000" pitchFamily="2" charset="0"/>
              <a:ea typeface="Tahoma" charset="0"/>
              <a:cs typeface="Poppins" panose="00000500000000000000" pitchFamily="2" charset="0"/>
            </a:endParaRPr>
          </a:p>
        </p:txBody>
      </p:sp>
      <p:sp>
        <p:nvSpPr>
          <p:cNvPr id="69" name="TextBox 68">
            <a:extLst>
              <a:ext uri="{FF2B5EF4-FFF2-40B4-BE49-F238E27FC236}">
                <a16:creationId xmlns:a16="http://schemas.microsoft.com/office/drawing/2014/main" id="{9BFAB38A-7675-8C32-10D9-62C5202A8A1F}"/>
              </a:ext>
            </a:extLst>
          </p:cNvPr>
          <p:cNvSpPr txBox="1"/>
          <p:nvPr/>
        </p:nvSpPr>
        <p:spPr>
          <a:xfrm>
            <a:off x="4994360" y="2147400"/>
            <a:ext cx="1054924" cy="953851"/>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02</a:t>
            </a:r>
            <a:endParaRPr kumimoji="0" lang="ru-RU" sz="5000" b="0" i="0" u="none" strike="noStrike" kern="1200" cap="none" spc="0" normalizeH="0" baseline="0" noProof="0" dirty="0">
              <a:ln>
                <a:noFill/>
              </a:ln>
              <a:solidFill>
                <a:srgbClr val="2A2834">
                  <a:lumMod val="75000"/>
                  <a:lumOff val="25000"/>
                </a:srgbClr>
              </a:solidFill>
              <a:effectLst/>
              <a:uLnTx/>
              <a:uFillTx/>
              <a:latin typeface="Tahoma" charset="0"/>
              <a:ea typeface="Tahoma" charset="0"/>
              <a:cs typeface="Poppins" panose="00000500000000000000" pitchFamily="2" charset="0"/>
            </a:endParaRPr>
          </a:p>
        </p:txBody>
      </p:sp>
      <p:grpSp>
        <p:nvGrpSpPr>
          <p:cNvPr id="70" name="Group 69">
            <a:extLst>
              <a:ext uri="{FF2B5EF4-FFF2-40B4-BE49-F238E27FC236}">
                <a16:creationId xmlns:a16="http://schemas.microsoft.com/office/drawing/2014/main" id="{19159CA0-8297-3BBB-5F7A-D91229E98955}"/>
              </a:ext>
            </a:extLst>
          </p:cNvPr>
          <p:cNvGrpSpPr/>
          <p:nvPr/>
        </p:nvGrpSpPr>
        <p:grpSpPr>
          <a:xfrm>
            <a:off x="4994359" y="4874253"/>
            <a:ext cx="2680965" cy="713272"/>
            <a:chOff x="3281307" y="4874253"/>
            <a:chExt cx="2680965" cy="713272"/>
          </a:xfrm>
        </p:grpSpPr>
        <p:sp>
          <p:nvSpPr>
            <p:cNvPr id="71" name="Овал 139">
              <a:extLst>
                <a:ext uri="{FF2B5EF4-FFF2-40B4-BE49-F238E27FC236}">
                  <a16:creationId xmlns:a16="http://schemas.microsoft.com/office/drawing/2014/main" id="{2E79782A-E748-3609-E342-A4232AF8A148}"/>
                </a:ext>
              </a:extLst>
            </p:cNvPr>
            <p:cNvSpPr/>
            <p:nvPr/>
          </p:nvSpPr>
          <p:spPr>
            <a:xfrm>
              <a:off x="3281307" y="4960504"/>
              <a:ext cx="450012" cy="450012"/>
            </a:xfrm>
            <a:prstGeom prst="ellipse">
              <a:avLst/>
            </a:prstGeom>
            <a:solidFill>
              <a:srgbClr val="FFD5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017" rtl="0" eaLnBrk="1" fontAlgn="auto" latinLnBrk="0" hangingPunct="1">
                <a:lnSpc>
                  <a:spcPct val="120000"/>
                </a:lnSpc>
                <a:spcBef>
                  <a:spcPts val="30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A</a:t>
              </a:r>
              <a:endParaRPr kumimoji="0" lang="ru-RU" sz="1600" b="1" i="0" u="none" strike="noStrike" kern="1200" cap="none" spc="0" normalizeH="0" baseline="0" noProof="0" dirty="0">
                <a:ln>
                  <a:noFill/>
                </a:ln>
                <a:solidFill>
                  <a:srgbClr val="FFFFFF"/>
                </a:solidFill>
                <a:effectLst/>
                <a:uLnTx/>
                <a:uFillTx/>
                <a:latin typeface="Tahoma" panose="020B0604030504040204" pitchFamily="34" charset="0"/>
                <a:ea typeface="Tahoma" panose="020B0604030504040204" pitchFamily="34" charset="0"/>
                <a:cs typeface="Poppins" panose="00000500000000000000" pitchFamily="2" charset="0"/>
              </a:endParaRPr>
            </a:p>
          </p:txBody>
        </p:sp>
        <p:sp>
          <p:nvSpPr>
            <p:cNvPr id="72" name="TextBox 71">
              <a:extLst>
                <a:ext uri="{FF2B5EF4-FFF2-40B4-BE49-F238E27FC236}">
                  <a16:creationId xmlns:a16="http://schemas.microsoft.com/office/drawing/2014/main" id="{FF60F44A-EDA8-A21C-713B-2546A649E98B}"/>
                </a:ext>
              </a:extLst>
            </p:cNvPr>
            <p:cNvSpPr txBox="1"/>
            <p:nvPr/>
          </p:nvSpPr>
          <p:spPr>
            <a:xfrm>
              <a:off x="3760951" y="4874253"/>
              <a:ext cx="2201321" cy="713272"/>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Pros</a:t>
              </a:r>
            </a:p>
            <a:p>
              <a:pPr marL="171450" lvl="0" indent="-171450" defTabSz="1219079">
                <a:lnSpc>
                  <a:spcPct val="120000"/>
                </a:lnSpc>
                <a:buFont typeface="Arial" panose="020B0604020202020204" pitchFamily="34" charset="0"/>
                <a:buChar char="•"/>
                <a:defRPr/>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Semantic correctness</a:t>
              </a:r>
            </a:p>
            <a:p>
              <a:pPr marL="171450" lvl="0" indent="-171450" defTabSz="1219079">
                <a:lnSpc>
                  <a:spcPct val="120000"/>
                </a:lnSpc>
                <a:buFont typeface="Arial" panose="020B0604020202020204" pitchFamily="34" charset="0"/>
                <a:buChar char="•"/>
                <a:defRPr/>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Ignores formatting differences</a:t>
              </a:r>
            </a:p>
            <a:p>
              <a:pPr marL="171450" lvl="0" indent="-171450" defTabSz="1219079">
                <a:lnSpc>
                  <a:spcPct val="120000"/>
                </a:lnSpc>
                <a:buFont typeface="Arial" panose="020B0604020202020204" pitchFamily="34" charset="0"/>
                <a:buChar char="•"/>
                <a:defRPr/>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Very realistic.</a:t>
              </a:r>
              <a:endParaRPr lang="en-US"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grpSp>
        <p:nvGrpSpPr>
          <p:cNvPr id="73" name="Group 72">
            <a:extLst>
              <a:ext uri="{FF2B5EF4-FFF2-40B4-BE49-F238E27FC236}">
                <a16:creationId xmlns:a16="http://schemas.microsoft.com/office/drawing/2014/main" id="{EBACFF71-9E57-5273-C619-470DD739743D}"/>
              </a:ext>
            </a:extLst>
          </p:cNvPr>
          <p:cNvGrpSpPr/>
          <p:nvPr/>
        </p:nvGrpSpPr>
        <p:grpSpPr>
          <a:xfrm>
            <a:off x="4994359" y="5890167"/>
            <a:ext cx="2680965" cy="879472"/>
            <a:chOff x="3281307" y="5890167"/>
            <a:chExt cx="2680965" cy="879472"/>
          </a:xfrm>
        </p:grpSpPr>
        <p:sp>
          <p:nvSpPr>
            <p:cNvPr id="74" name="Овал 139">
              <a:extLst>
                <a:ext uri="{FF2B5EF4-FFF2-40B4-BE49-F238E27FC236}">
                  <a16:creationId xmlns:a16="http://schemas.microsoft.com/office/drawing/2014/main" id="{5EC01346-3DB1-2437-9F1B-A5D81691AB5B}"/>
                </a:ext>
              </a:extLst>
            </p:cNvPr>
            <p:cNvSpPr/>
            <p:nvPr/>
          </p:nvSpPr>
          <p:spPr>
            <a:xfrm>
              <a:off x="3281307" y="5946785"/>
              <a:ext cx="450012" cy="450012"/>
            </a:xfrm>
            <a:prstGeom prst="ellipse">
              <a:avLst/>
            </a:prstGeom>
            <a:solidFill>
              <a:srgbClr val="7CE2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017" rtl="0" eaLnBrk="1" fontAlgn="auto" latinLnBrk="0" hangingPunct="1">
                <a:lnSpc>
                  <a:spcPct val="120000"/>
                </a:lnSpc>
                <a:spcBef>
                  <a:spcPts val="30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B</a:t>
              </a:r>
              <a:endParaRPr kumimoji="0" lang="ru-RU" sz="1600" b="1" i="0" u="none" strike="noStrike" kern="1200" cap="none" spc="0" normalizeH="0" baseline="0" noProof="0" dirty="0">
                <a:ln>
                  <a:noFill/>
                </a:ln>
                <a:solidFill>
                  <a:srgbClr val="FFFFFF"/>
                </a:solidFill>
                <a:effectLst/>
                <a:uLnTx/>
                <a:uFillTx/>
                <a:latin typeface="Tahoma" panose="020B0604030504040204" pitchFamily="34" charset="0"/>
                <a:ea typeface="Tahoma" panose="020B0604030504040204" pitchFamily="34" charset="0"/>
                <a:cs typeface="Poppins" panose="00000500000000000000" pitchFamily="2" charset="0"/>
              </a:endParaRPr>
            </a:p>
          </p:txBody>
        </p:sp>
        <p:sp>
          <p:nvSpPr>
            <p:cNvPr id="75" name="TextBox 74">
              <a:extLst>
                <a:ext uri="{FF2B5EF4-FFF2-40B4-BE49-F238E27FC236}">
                  <a16:creationId xmlns:a16="http://schemas.microsoft.com/office/drawing/2014/main" id="{9483D052-C30A-79A6-56D5-216A6AF9F74F}"/>
                </a:ext>
              </a:extLst>
            </p:cNvPr>
            <p:cNvSpPr txBox="1"/>
            <p:nvPr/>
          </p:nvSpPr>
          <p:spPr>
            <a:xfrm>
              <a:off x="3760951" y="5890167"/>
              <a:ext cx="2201321" cy="879472"/>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Cons</a:t>
              </a:r>
            </a:p>
            <a:p>
              <a:pPr lvl="0" defTabSz="1219079">
                <a:lnSpc>
                  <a:spcPct val="120000"/>
                </a:lnSpc>
                <a:defRPr/>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Can have false positives (different logic, same result on this DB) and false negatives (correct query but corner-case DB)</a:t>
              </a:r>
              <a:endParaRPr lang="en-US"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sp>
        <p:nvSpPr>
          <p:cNvPr id="76" name="TextBox 75">
            <a:extLst>
              <a:ext uri="{FF2B5EF4-FFF2-40B4-BE49-F238E27FC236}">
                <a16:creationId xmlns:a16="http://schemas.microsoft.com/office/drawing/2014/main" id="{2CFEA4E5-E21C-2007-9C52-67B13B672905}"/>
              </a:ext>
            </a:extLst>
          </p:cNvPr>
          <p:cNvSpPr txBox="1"/>
          <p:nvPr/>
        </p:nvSpPr>
        <p:spPr>
          <a:xfrm>
            <a:off x="7971612" y="3143204"/>
            <a:ext cx="2672499" cy="1723164"/>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Efficiency Ratio</a:t>
            </a:r>
          </a:p>
          <a:p>
            <a:pPr marL="171450" indent="-171450" algn="just" defTabSz="1219079">
              <a:lnSpc>
                <a:spcPct val="150000"/>
              </a:lnSpc>
              <a:buFont typeface="Arial" panose="020B0604020202020204" pitchFamily="34" charset="0"/>
              <a:buChar char="•"/>
              <a:defRPr/>
            </a:pPr>
            <a:r>
              <a:rPr lang="en-IN" sz="900" dirty="0">
                <a:solidFill>
                  <a:srgbClr val="2A2834">
                    <a:lumMod val="75000"/>
                    <a:lumOff val="25000"/>
                  </a:srgbClr>
                </a:solidFill>
                <a:latin typeface="Poppins" panose="00000500000000000000" pitchFamily="2" charset="0"/>
                <a:ea typeface="Tahoma" charset="0"/>
                <a:cs typeface="Poppins" panose="00000500000000000000" pitchFamily="2" charset="0"/>
              </a:rPr>
              <a:t>Equivalent to Valid Efficiency Score</a:t>
            </a:r>
          </a:p>
          <a:p>
            <a:pPr marL="171450" indent="-171450" algn="just" defTabSz="1219079">
              <a:lnSpc>
                <a:spcPct val="150000"/>
              </a:lnSpc>
              <a:buFont typeface="Arial" panose="020B0604020202020204" pitchFamily="34" charset="0"/>
              <a:buChar char="•"/>
              <a:defRPr/>
            </a:pPr>
            <a:r>
              <a:rPr lang="en-IN" sz="900" dirty="0">
                <a:solidFill>
                  <a:srgbClr val="2A2834">
                    <a:lumMod val="75000"/>
                    <a:lumOff val="25000"/>
                  </a:srgbClr>
                </a:solidFill>
                <a:latin typeface="Poppins" panose="00000500000000000000" pitchFamily="2" charset="0"/>
                <a:ea typeface="Tahoma" charset="0"/>
                <a:cs typeface="Poppins" panose="00000500000000000000" pitchFamily="2" charset="0"/>
              </a:rPr>
              <a:t>How efficient the generated Mongo pipeline is compared to a reference pipeline</a:t>
            </a:r>
          </a:p>
          <a:p>
            <a:pPr algn="just" defTabSz="1219079">
              <a:lnSpc>
                <a:spcPct val="150000"/>
              </a:lnSpc>
              <a:defRPr/>
            </a:pPr>
            <a:r>
              <a:rPr lang="en-IN" sz="900" dirty="0">
                <a:solidFill>
                  <a:srgbClr val="2A2834">
                    <a:lumMod val="75000"/>
                    <a:lumOff val="25000"/>
                  </a:srgbClr>
                </a:solidFill>
                <a:latin typeface="Poppins" panose="00000500000000000000" pitchFamily="2" charset="0"/>
                <a:ea typeface="Tahoma" charset="0"/>
                <a:cs typeface="Poppins" panose="00000500000000000000" pitchFamily="2" charset="0"/>
              </a:rPr>
              <a:t>ER = (Gold Execution Time) / (Predicted Execution Time)</a:t>
            </a:r>
          </a:p>
          <a:p>
            <a:pPr algn="just" defTabSz="1219079">
              <a:lnSpc>
                <a:spcPct val="150000"/>
              </a:lnSpc>
              <a:defRPr/>
            </a:pPr>
            <a:endParaRPr lang="ru-RU" sz="900" dirty="0">
              <a:solidFill>
                <a:srgbClr val="2A2834">
                  <a:lumMod val="75000"/>
                  <a:lumOff val="25000"/>
                </a:srgbClr>
              </a:solidFill>
              <a:latin typeface="Poppins" panose="00000500000000000000" pitchFamily="2" charset="0"/>
              <a:ea typeface="Tahoma" charset="0"/>
              <a:cs typeface="Poppins" panose="00000500000000000000" pitchFamily="2" charset="0"/>
            </a:endParaRPr>
          </a:p>
        </p:txBody>
      </p:sp>
      <p:sp>
        <p:nvSpPr>
          <p:cNvPr id="77" name="TextBox 76">
            <a:extLst>
              <a:ext uri="{FF2B5EF4-FFF2-40B4-BE49-F238E27FC236}">
                <a16:creationId xmlns:a16="http://schemas.microsoft.com/office/drawing/2014/main" id="{9EBC240F-75A0-D9CF-47E6-6CD2E97D646D}"/>
              </a:ext>
            </a:extLst>
          </p:cNvPr>
          <p:cNvSpPr txBox="1"/>
          <p:nvPr/>
        </p:nvSpPr>
        <p:spPr>
          <a:xfrm>
            <a:off x="7971613" y="2147400"/>
            <a:ext cx="1054924" cy="953851"/>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03</a:t>
            </a:r>
            <a:endParaRPr kumimoji="0" lang="ru-RU" sz="5000" b="0" i="0" u="none" strike="noStrike" kern="1200" cap="none" spc="0" normalizeH="0" baseline="0" noProof="0" dirty="0">
              <a:ln>
                <a:noFill/>
              </a:ln>
              <a:solidFill>
                <a:srgbClr val="2A2834">
                  <a:lumMod val="75000"/>
                  <a:lumOff val="25000"/>
                </a:srgbClr>
              </a:solidFill>
              <a:effectLst/>
              <a:uLnTx/>
              <a:uFillTx/>
              <a:latin typeface="Tahoma" charset="0"/>
              <a:ea typeface="Tahoma" charset="0"/>
              <a:cs typeface="Poppins" panose="00000500000000000000" pitchFamily="2" charset="0"/>
            </a:endParaRPr>
          </a:p>
        </p:txBody>
      </p:sp>
      <p:grpSp>
        <p:nvGrpSpPr>
          <p:cNvPr id="78" name="Group 77">
            <a:extLst>
              <a:ext uri="{FF2B5EF4-FFF2-40B4-BE49-F238E27FC236}">
                <a16:creationId xmlns:a16="http://schemas.microsoft.com/office/drawing/2014/main" id="{985627E3-E5CD-88C4-8F5B-8E5B22C7006E}"/>
              </a:ext>
            </a:extLst>
          </p:cNvPr>
          <p:cNvGrpSpPr/>
          <p:nvPr/>
        </p:nvGrpSpPr>
        <p:grpSpPr>
          <a:xfrm>
            <a:off x="7971612" y="4874253"/>
            <a:ext cx="2680965" cy="547073"/>
            <a:chOff x="6258560" y="4874253"/>
            <a:chExt cx="2680965" cy="547073"/>
          </a:xfrm>
        </p:grpSpPr>
        <p:sp>
          <p:nvSpPr>
            <p:cNvPr id="79" name="Овал 139">
              <a:extLst>
                <a:ext uri="{FF2B5EF4-FFF2-40B4-BE49-F238E27FC236}">
                  <a16:creationId xmlns:a16="http://schemas.microsoft.com/office/drawing/2014/main" id="{0A6D2394-87D1-3175-5176-AC1D14449762}"/>
                </a:ext>
              </a:extLst>
            </p:cNvPr>
            <p:cNvSpPr/>
            <p:nvPr/>
          </p:nvSpPr>
          <p:spPr>
            <a:xfrm>
              <a:off x="6258560" y="4960504"/>
              <a:ext cx="450012" cy="450012"/>
            </a:xfrm>
            <a:prstGeom prst="ellipse">
              <a:avLst/>
            </a:prstGeom>
            <a:solidFill>
              <a:srgbClr val="FFD5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017" rtl="0" eaLnBrk="1" fontAlgn="auto" latinLnBrk="0" hangingPunct="1">
                <a:lnSpc>
                  <a:spcPct val="120000"/>
                </a:lnSpc>
                <a:spcBef>
                  <a:spcPts val="30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A</a:t>
              </a:r>
              <a:endParaRPr kumimoji="0" lang="ru-RU" sz="1600" b="1" i="0" u="none" strike="noStrike" kern="1200" cap="none" spc="0" normalizeH="0" baseline="0" noProof="0" dirty="0">
                <a:ln>
                  <a:noFill/>
                </a:ln>
                <a:solidFill>
                  <a:srgbClr val="FFFFFF"/>
                </a:solidFill>
                <a:effectLst/>
                <a:uLnTx/>
                <a:uFillTx/>
                <a:latin typeface="Tahoma" panose="020B0604030504040204" pitchFamily="34" charset="0"/>
                <a:ea typeface="Tahoma" panose="020B0604030504040204" pitchFamily="34" charset="0"/>
                <a:cs typeface="Poppins" panose="00000500000000000000" pitchFamily="2" charset="0"/>
              </a:endParaRPr>
            </a:p>
          </p:txBody>
        </p:sp>
        <p:sp>
          <p:nvSpPr>
            <p:cNvPr id="80" name="TextBox 79">
              <a:extLst>
                <a:ext uri="{FF2B5EF4-FFF2-40B4-BE49-F238E27FC236}">
                  <a16:creationId xmlns:a16="http://schemas.microsoft.com/office/drawing/2014/main" id="{6825C57D-E0B8-77B4-1EB7-3BE8372E2E59}"/>
                </a:ext>
              </a:extLst>
            </p:cNvPr>
            <p:cNvSpPr txBox="1"/>
            <p:nvPr/>
          </p:nvSpPr>
          <p:spPr>
            <a:xfrm>
              <a:off x="6738204" y="4874253"/>
              <a:ext cx="2201321" cy="547073"/>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Pros</a:t>
              </a:r>
            </a:p>
            <a:p>
              <a:pPr lvl="0" defTabSz="1219079">
                <a:lnSpc>
                  <a:spcPct val="120000"/>
                </a:lnSpc>
                <a:defRPr/>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Best-known automatic proxy for true semantic correctness</a:t>
              </a:r>
              <a:endParaRPr lang="en-US"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grpSp>
        <p:nvGrpSpPr>
          <p:cNvPr id="81" name="Group 80">
            <a:extLst>
              <a:ext uri="{FF2B5EF4-FFF2-40B4-BE49-F238E27FC236}">
                <a16:creationId xmlns:a16="http://schemas.microsoft.com/office/drawing/2014/main" id="{23B6C1E1-71EC-4442-4BFA-DEB143E7A1C1}"/>
              </a:ext>
            </a:extLst>
          </p:cNvPr>
          <p:cNvGrpSpPr/>
          <p:nvPr/>
        </p:nvGrpSpPr>
        <p:grpSpPr>
          <a:xfrm>
            <a:off x="7971612" y="5890167"/>
            <a:ext cx="2680965" cy="547073"/>
            <a:chOff x="6258560" y="5890167"/>
            <a:chExt cx="2680965" cy="547073"/>
          </a:xfrm>
        </p:grpSpPr>
        <p:sp>
          <p:nvSpPr>
            <p:cNvPr id="82" name="Овал 139">
              <a:extLst>
                <a:ext uri="{FF2B5EF4-FFF2-40B4-BE49-F238E27FC236}">
                  <a16:creationId xmlns:a16="http://schemas.microsoft.com/office/drawing/2014/main" id="{F2F8777E-E53F-8194-60A2-D955C3D2F607}"/>
                </a:ext>
              </a:extLst>
            </p:cNvPr>
            <p:cNvSpPr/>
            <p:nvPr/>
          </p:nvSpPr>
          <p:spPr>
            <a:xfrm>
              <a:off x="6258560" y="5946785"/>
              <a:ext cx="450012" cy="450012"/>
            </a:xfrm>
            <a:prstGeom prst="ellipse">
              <a:avLst/>
            </a:prstGeom>
            <a:solidFill>
              <a:srgbClr val="7CE2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017" rtl="0" eaLnBrk="1" fontAlgn="auto" latinLnBrk="0" hangingPunct="1">
                <a:lnSpc>
                  <a:spcPct val="120000"/>
                </a:lnSpc>
                <a:spcBef>
                  <a:spcPts val="30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B</a:t>
              </a:r>
              <a:endParaRPr kumimoji="0" lang="ru-RU" sz="1600" b="1" i="0" u="none" strike="noStrike" kern="1200" cap="none" spc="0" normalizeH="0" baseline="0" noProof="0" dirty="0">
                <a:ln>
                  <a:noFill/>
                </a:ln>
                <a:solidFill>
                  <a:srgbClr val="FFFFFF"/>
                </a:solidFill>
                <a:effectLst/>
                <a:uLnTx/>
                <a:uFillTx/>
                <a:latin typeface="Tahoma" panose="020B0604030504040204" pitchFamily="34" charset="0"/>
                <a:ea typeface="Tahoma" panose="020B0604030504040204" pitchFamily="34" charset="0"/>
                <a:cs typeface="Poppins" panose="00000500000000000000" pitchFamily="2" charset="0"/>
              </a:endParaRPr>
            </a:p>
          </p:txBody>
        </p:sp>
        <p:sp>
          <p:nvSpPr>
            <p:cNvPr id="83" name="TextBox 82">
              <a:extLst>
                <a:ext uri="{FF2B5EF4-FFF2-40B4-BE49-F238E27FC236}">
                  <a16:creationId xmlns:a16="http://schemas.microsoft.com/office/drawing/2014/main" id="{A75159A4-D31F-1D94-5BEA-BE19044B4082}"/>
                </a:ext>
              </a:extLst>
            </p:cNvPr>
            <p:cNvSpPr txBox="1"/>
            <p:nvPr/>
          </p:nvSpPr>
          <p:spPr>
            <a:xfrm>
              <a:off x="6738204" y="5890167"/>
              <a:ext cx="2201321" cy="547073"/>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Cons</a:t>
              </a:r>
            </a:p>
            <a:p>
              <a:pPr lvl="0" defTabSz="1219079">
                <a:lnSpc>
                  <a:spcPct val="120000"/>
                </a:lnSpc>
                <a:defRPr/>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More expensive to compute; requires pre-built test suites</a:t>
              </a:r>
              <a:endParaRPr lang="en-US"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pic>
        <p:nvPicPr>
          <p:cNvPr id="3" name="Graphic 2">
            <a:extLst>
              <a:ext uri="{FF2B5EF4-FFF2-40B4-BE49-F238E27FC236}">
                <a16:creationId xmlns:a16="http://schemas.microsoft.com/office/drawing/2014/main" id="{8252C383-601E-D6B5-12EB-82E9ACE5D20D}"/>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10273980" y="0"/>
            <a:ext cx="289387" cy="349581"/>
          </a:xfrm>
          <a:prstGeom prst="rect">
            <a:avLst/>
          </a:prstGeom>
        </p:spPr>
      </p:pic>
      <p:sp>
        <p:nvSpPr>
          <p:cNvPr id="4" name="TextBox 3">
            <a:extLst>
              <a:ext uri="{FF2B5EF4-FFF2-40B4-BE49-F238E27FC236}">
                <a16:creationId xmlns:a16="http://schemas.microsoft.com/office/drawing/2014/main" id="{C6B6A44E-6298-B825-9DFA-4344752CF0C2}"/>
              </a:ext>
            </a:extLst>
          </p:cNvPr>
          <p:cNvSpPr txBox="1"/>
          <p:nvPr/>
        </p:nvSpPr>
        <p:spPr>
          <a:xfrm>
            <a:off x="10563367" y="0"/>
            <a:ext cx="1091821" cy="382137"/>
          </a:xfrm>
          <a:prstGeom prst="rect">
            <a:avLst/>
          </a:prstGeom>
          <a:noFill/>
        </p:spPr>
        <p:txBody>
          <a:bodyPr wrap="square" rtlCol="0">
            <a:spAutoFit/>
          </a:bodyPr>
          <a:lstStyle/>
          <a:p>
            <a:r>
              <a:rPr lang="en-US" dirty="0"/>
              <a:t>Saurabh</a:t>
            </a:r>
          </a:p>
        </p:txBody>
      </p:sp>
    </p:spTree>
    <p:extLst>
      <p:ext uri="{BB962C8B-B14F-4D97-AF65-F5344CB8AC3E}">
        <p14:creationId xmlns:p14="http://schemas.microsoft.com/office/powerpoint/2010/main" val="2327187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up)">
                                      <p:cBhvr>
                                        <p:cTn id="7" dur="500"/>
                                        <p:tgtEl>
                                          <p:spTgt spid="54"/>
                                        </p:tgtEl>
                                      </p:cBhvr>
                                    </p:animEffect>
                                  </p:childTnLst>
                                </p:cTn>
                              </p:par>
                              <p:par>
                                <p:cTn id="8" presetID="22" presetClass="entr" presetSubtype="1" fill="hold"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wipe(up)">
                                      <p:cBhvr>
                                        <p:cTn id="10" dur="500"/>
                                        <p:tgtEl>
                                          <p:spTgt spid="51"/>
                                        </p:tgtEl>
                                      </p:cBhvr>
                                    </p:animEffect>
                                  </p:childTnLst>
                                </p:cTn>
                              </p:par>
                            </p:childTnLst>
                          </p:cTn>
                        </p:par>
                        <p:par>
                          <p:cTn id="11" fill="hold">
                            <p:stCondLst>
                              <p:cond delay="500"/>
                            </p:stCondLst>
                            <p:childTnLst>
                              <p:par>
                                <p:cTn id="12" presetID="31" presetClass="entr" presetSubtype="0" fill="hold" grpId="0" nodeType="afterEffect">
                                  <p:stCondLst>
                                    <p:cond delay="0"/>
                                  </p:stCondLst>
                                  <p:childTnLst>
                                    <p:set>
                                      <p:cBhvr>
                                        <p:cTn id="13" dur="1" fill="hold">
                                          <p:stCondLst>
                                            <p:cond delay="0"/>
                                          </p:stCondLst>
                                        </p:cTn>
                                        <p:tgtEl>
                                          <p:spTgt spid="61"/>
                                        </p:tgtEl>
                                        <p:attrNameLst>
                                          <p:attrName>style.visibility</p:attrName>
                                        </p:attrNameLst>
                                      </p:cBhvr>
                                      <p:to>
                                        <p:strVal val="visible"/>
                                      </p:to>
                                    </p:set>
                                    <p:anim calcmode="lin" valueType="num">
                                      <p:cBhvr>
                                        <p:cTn id="14" dur="500" fill="hold"/>
                                        <p:tgtEl>
                                          <p:spTgt spid="61"/>
                                        </p:tgtEl>
                                        <p:attrNameLst>
                                          <p:attrName>ppt_w</p:attrName>
                                        </p:attrNameLst>
                                      </p:cBhvr>
                                      <p:tavLst>
                                        <p:tav tm="0">
                                          <p:val>
                                            <p:fltVal val="0"/>
                                          </p:val>
                                        </p:tav>
                                        <p:tav tm="100000">
                                          <p:val>
                                            <p:strVal val="#ppt_w"/>
                                          </p:val>
                                        </p:tav>
                                      </p:tavLst>
                                    </p:anim>
                                    <p:anim calcmode="lin" valueType="num">
                                      <p:cBhvr>
                                        <p:cTn id="15" dur="500" fill="hold"/>
                                        <p:tgtEl>
                                          <p:spTgt spid="61"/>
                                        </p:tgtEl>
                                        <p:attrNameLst>
                                          <p:attrName>ppt_h</p:attrName>
                                        </p:attrNameLst>
                                      </p:cBhvr>
                                      <p:tavLst>
                                        <p:tav tm="0">
                                          <p:val>
                                            <p:fltVal val="0"/>
                                          </p:val>
                                        </p:tav>
                                        <p:tav tm="100000">
                                          <p:val>
                                            <p:strVal val="#ppt_h"/>
                                          </p:val>
                                        </p:tav>
                                      </p:tavLst>
                                    </p:anim>
                                    <p:anim calcmode="lin" valueType="num">
                                      <p:cBhvr>
                                        <p:cTn id="16" dur="500" fill="hold"/>
                                        <p:tgtEl>
                                          <p:spTgt spid="61"/>
                                        </p:tgtEl>
                                        <p:attrNameLst>
                                          <p:attrName>style.rotation</p:attrName>
                                        </p:attrNameLst>
                                      </p:cBhvr>
                                      <p:tavLst>
                                        <p:tav tm="0">
                                          <p:val>
                                            <p:fltVal val="90"/>
                                          </p:val>
                                        </p:tav>
                                        <p:tav tm="100000">
                                          <p:val>
                                            <p:fltVal val="0"/>
                                          </p:val>
                                        </p:tav>
                                      </p:tavLst>
                                    </p:anim>
                                    <p:animEffect transition="in" filter="fade">
                                      <p:cBhvr>
                                        <p:cTn id="17" dur="500"/>
                                        <p:tgtEl>
                                          <p:spTgt spid="61"/>
                                        </p:tgtEl>
                                      </p:cBhvr>
                                    </p:animEffect>
                                  </p:childTnLst>
                                </p:cTn>
                              </p:par>
                              <p:par>
                                <p:cTn id="18" presetID="31" presetClass="entr" presetSubtype="0" fill="hold" grpId="0" nodeType="withEffect">
                                  <p:stCondLst>
                                    <p:cond delay="0"/>
                                  </p:stCondLst>
                                  <p:childTnLst>
                                    <p:set>
                                      <p:cBhvr>
                                        <p:cTn id="19" dur="1" fill="hold">
                                          <p:stCondLst>
                                            <p:cond delay="0"/>
                                          </p:stCondLst>
                                        </p:cTn>
                                        <p:tgtEl>
                                          <p:spTgt spid="69"/>
                                        </p:tgtEl>
                                        <p:attrNameLst>
                                          <p:attrName>style.visibility</p:attrName>
                                        </p:attrNameLst>
                                      </p:cBhvr>
                                      <p:to>
                                        <p:strVal val="visible"/>
                                      </p:to>
                                    </p:set>
                                    <p:anim calcmode="lin" valueType="num">
                                      <p:cBhvr>
                                        <p:cTn id="20" dur="500" fill="hold"/>
                                        <p:tgtEl>
                                          <p:spTgt spid="69"/>
                                        </p:tgtEl>
                                        <p:attrNameLst>
                                          <p:attrName>ppt_w</p:attrName>
                                        </p:attrNameLst>
                                      </p:cBhvr>
                                      <p:tavLst>
                                        <p:tav tm="0">
                                          <p:val>
                                            <p:fltVal val="0"/>
                                          </p:val>
                                        </p:tav>
                                        <p:tav tm="100000">
                                          <p:val>
                                            <p:strVal val="#ppt_w"/>
                                          </p:val>
                                        </p:tav>
                                      </p:tavLst>
                                    </p:anim>
                                    <p:anim calcmode="lin" valueType="num">
                                      <p:cBhvr>
                                        <p:cTn id="21" dur="500" fill="hold"/>
                                        <p:tgtEl>
                                          <p:spTgt spid="69"/>
                                        </p:tgtEl>
                                        <p:attrNameLst>
                                          <p:attrName>ppt_h</p:attrName>
                                        </p:attrNameLst>
                                      </p:cBhvr>
                                      <p:tavLst>
                                        <p:tav tm="0">
                                          <p:val>
                                            <p:fltVal val="0"/>
                                          </p:val>
                                        </p:tav>
                                        <p:tav tm="100000">
                                          <p:val>
                                            <p:strVal val="#ppt_h"/>
                                          </p:val>
                                        </p:tav>
                                      </p:tavLst>
                                    </p:anim>
                                    <p:anim calcmode="lin" valueType="num">
                                      <p:cBhvr>
                                        <p:cTn id="22" dur="500" fill="hold"/>
                                        <p:tgtEl>
                                          <p:spTgt spid="69"/>
                                        </p:tgtEl>
                                        <p:attrNameLst>
                                          <p:attrName>style.rotation</p:attrName>
                                        </p:attrNameLst>
                                      </p:cBhvr>
                                      <p:tavLst>
                                        <p:tav tm="0">
                                          <p:val>
                                            <p:fltVal val="90"/>
                                          </p:val>
                                        </p:tav>
                                        <p:tav tm="100000">
                                          <p:val>
                                            <p:fltVal val="0"/>
                                          </p:val>
                                        </p:tav>
                                      </p:tavLst>
                                    </p:anim>
                                    <p:animEffect transition="in" filter="fade">
                                      <p:cBhvr>
                                        <p:cTn id="23" dur="500"/>
                                        <p:tgtEl>
                                          <p:spTgt spid="69"/>
                                        </p:tgtEl>
                                      </p:cBhvr>
                                    </p:animEffect>
                                  </p:childTnLst>
                                </p:cTn>
                              </p:par>
                              <p:par>
                                <p:cTn id="24" presetID="31" presetClass="entr" presetSubtype="0" fill="hold" grpId="0" nodeType="withEffect">
                                  <p:stCondLst>
                                    <p:cond delay="0"/>
                                  </p:stCondLst>
                                  <p:childTnLst>
                                    <p:set>
                                      <p:cBhvr>
                                        <p:cTn id="25" dur="1" fill="hold">
                                          <p:stCondLst>
                                            <p:cond delay="0"/>
                                          </p:stCondLst>
                                        </p:cTn>
                                        <p:tgtEl>
                                          <p:spTgt spid="77"/>
                                        </p:tgtEl>
                                        <p:attrNameLst>
                                          <p:attrName>style.visibility</p:attrName>
                                        </p:attrNameLst>
                                      </p:cBhvr>
                                      <p:to>
                                        <p:strVal val="visible"/>
                                      </p:to>
                                    </p:set>
                                    <p:anim calcmode="lin" valueType="num">
                                      <p:cBhvr>
                                        <p:cTn id="26" dur="500" fill="hold"/>
                                        <p:tgtEl>
                                          <p:spTgt spid="77"/>
                                        </p:tgtEl>
                                        <p:attrNameLst>
                                          <p:attrName>ppt_w</p:attrName>
                                        </p:attrNameLst>
                                      </p:cBhvr>
                                      <p:tavLst>
                                        <p:tav tm="0">
                                          <p:val>
                                            <p:fltVal val="0"/>
                                          </p:val>
                                        </p:tav>
                                        <p:tav tm="100000">
                                          <p:val>
                                            <p:strVal val="#ppt_w"/>
                                          </p:val>
                                        </p:tav>
                                      </p:tavLst>
                                    </p:anim>
                                    <p:anim calcmode="lin" valueType="num">
                                      <p:cBhvr>
                                        <p:cTn id="27" dur="500" fill="hold"/>
                                        <p:tgtEl>
                                          <p:spTgt spid="77"/>
                                        </p:tgtEl>
                                        <p:attrNameLst>
                                          <p:attrName>ppt_h</p:attrName>
                                        </p:attrNameLst>
                                      </p:cBhvr>
                                      <p:tavLst>
                                        <p:tav tm="0">
                                          <p:val>
                                            <p:fltVal val="0"/>
                                          </p:val>
                                        </p:tav>
                                        <p:tav tm="100000">
                                          <p:val>
                                            <p:strVal val="#ppt_h"/>
                                          </p:val>
                                        </p:tav>
                                      </p:tavLst>
                                    </p:anim>
                                    <p:anim calcmode="lin" valueType="num">
                                      <p:cBhvr>
                                        <p:cTn id="28" dur="500" fill="hold"/>
                                        <p:tgtEl>
                                          <p:spTgt spid="77"/>
                                        </p:tgtEl>
                                        <p:attrNameLst>
                                          <p:attrName>style.rotation</p:attrName>
                                        </p:attrNameLst>
                                      </p:cBhvr>
                                      <p:tavLst>
                                        <p:tav tm="0">
                                          <p:val>
                                            <p:fltVal val="90"/>
                                          </p:val>
                                        </p:tav>
                                        <p:tav tm="100000">
                                          <p:val>
                                            <p:fltVal val="0"/>
                                          </p:val>
                                        </p:tav>
                                      </p:tavLst>
                                    </p:anim>
                                    <p:animEffect transition="in" filter="fade">
                                      <p:cBhvr>
                                        <p:cTn id="29" dur="500"/>
                                        <p:tgtEl>
                                          <p:spTgt spid="77"/>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60"/>
                                        </p:tgtEl>
                                        <p:attrNameLst>
                                          <p:attrName>style.visibility</p:attrName>
                                        </p:attrNameLst>
                                      </p:cBhvr>
                                      <p:to>
                                        <p:strVal val="visible"/>
                                      </p:to>
                                    </p:set>
                                    <p:animEffect transition="in" filter="wipe(left)">
                                      <p:cBhvr>
                                        <p:cTn id="33" dur="500"/>
                                        <p:tgtEl>
                                          <p:spTgt spid="60"/>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68"/>
                                        </p:tgtEl>
                                        <p:attrNameLst>
                                          <p:attrName>style.visibility</p:attrName>
                                        </p:attrNameLst>
                                      </p:cBhvr>
                                      <p:to>
                                        <p:strVal val="visible"/>
                                      </p:to>
                                    </p:set>
                                    <p:animEffect transition="in" filter="wipe(left)">
                                      <p:cBhvr>
                                        <p:cTn id="36" dur="500"/>
                                        <p:tgtEl>
                                          <p:spTgt spid="68"/>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76"/>
                                        </p:tgtEl>
                                        <p:attrNameLst>
                                          <p:attrName>style.visibility</p:attrName>
                                        </p:attrNameLst>
                                      </p:cBhvr>
                                      <p:to>
                                        <p:strVal val="visible"/>
                                      </p:to>
                                    </p:set>
                                    <p:animEffect transition="in" filter="wipe(left)">
                                      <p:cBhvr>
                                        <p:cTn id="39" dur="500"/>
                                        <p:tgtEl>
                                          <p:spTgt spid="76"/>
                                        </p:tgtEl>
                                      </p:cBhvr>
                                    </p:animEffect>
                                  </p:childTnLst>
                                </p:cTn>
                              </p:par>
                            </p:childTnLst>
                          </p:cTn>
                        </p:par>
                        <p:par>
                          <p:cTn id="40" fill="hold">
                            <p:stCondLst>
                              <p:cond delay="1500"/>
                            </p:stCondLst>
                            <p:childTnLst>
                              <p:par>
                                <p:cTn id="41" presetID="37" presetClass="entr" presetSubtype="0" fill="hold" nodeType="after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fade">
                                      <p:cBhvr>
                                        <p:cTn id="43" dur="1000"/>
                                        <p:tgtEl>
                                          <p:spTgt spid="62"/>
                                        </p:tgtEl>
                                      </p:cBhvr>
                                    </p:animEffect>
                                    <p:anim calcmode="lin" valueType="num">
                                      <p:cBhvr>
                                        <p:cTn id="44" dur="1000" fill="hold"/>
                                        <p:tgtEl>
                                          <p:spTgt spid="62"/>
                                        </p:tgtEl>
                                        <p:attrNameLst>
                                          <p:attrName>ppt_x</p:attrName>
                                        </p:attrNameLst>
                                      </p:cBhvr>
                                      <p:tavLst>
                                        <p:tav tm="0">
                                          <p:val>
                                            <p:strVal val="#ppt_x"/>
                                          </p:val>
                                        </p:tav>
                                        <p:tav tm="100000">
                                          <p:val>
                                            <p:strVal val="#ppt_x"/>
                                          </p:val>
                                        </p:tav>
                                      </p:tavLst>
                                    </p:anim>
                                    <p:anim calcmode="lin" valueType="num">
                                      <p:cBhvr>
                                        <p:cTn id="45" dur="900" decel="100000" fill="hold"/>
                                        <p:tgtEl>
                                          <p:spTgt spid="62"/>
                                        </p:tgtEl>
                                        <p:attrNameLst>
                                          <p:attrName>ppt_y</p:attrName>
                                        </p:attrNameLst>
                                      </p:cBhvr>
                                      <p:tavLst>
                                        <p:tav tm="0">
                                          <p:val>
                                            <p:strVal val="#ppt_y+1"/>
                                          </p:val>
                                        </p:tav>
                                        <p:tav tm="100000">
                                          <p:val>
                                            <p:strVal val="#ppt_y-.03"/>
                                          </p:val>
                                        </p:tav>
                                      </p:tavLst>
                                    </p:anim>
                                    <p:anim calcmode="lin" valueType="num">
                                      <p:cBhvr>
                                        <p:cTn id="46" dur="100" accel="100000" fill="hold">
                                          <p:stCondLst>
                                            <p:cond delay="900"/>
                                          </p:stCondLst>
                                        </p:cTn>
                                        <p:tgtEl>
                                          <p:spTgt spid="62"/>
                                        </p:tgtEl>
                                        <p:attrNameLst>
                                          <p:attrName>ppt_y</p:attrName>
                                        </p:attrNameLst>
                                      </p:cBhvr>
                                      <p:tavLst>
                                        <p:tav tm="0">
                                          <p:val>
                                            <p:strVal val="#ppt_y-.03"/>
                                          </p:val>
                                        </p:tav>
                                        <p:tav tm="100000">
                                          <p:val>
                                            <p:strVal val="#ppt_y"/>
                                          </p:val>
                                        </p:tav>
                                      </p:tavLst>
                                    </p:anim>
                                  </p:childTnLst>
                                </p:cTn>
                              </p:par>
                              <p:par>
                                <p:cTn id="47" presetID="37" presetClass="entr" presetSubtype="0" fill="hold" nodeType="withEffect">
                                  <p:stCondLst>
                                    <p:cond delay="0"/>
                                  </p:stCondLst>
                                  <p:childTnLst>
                                    <p:set>
                                      <p:cBhvr>
                                        <p:cTn id="48" dur="1" fill="hold">
                                          <p:stCondLst>
                                            <p:cond delay="0"/>
                                          </p:stCondLst>
                                        </p:cTn>
                                        <p:tgtEl>
                                          <p:spTgt spid="70"/>
                                        </p:tgtEl>
                                        <p:attrNameLst>
                                          <p:attrName>style.visibility</p:attrName>
                                        </p:attrNameLst>
                                      </p:cBhvr>
                                      <p:to>
                                        <p:strVal val="visible"/>
                                      </p:to>
                                    </p:set>
                                    <p:animEffect transition="in" filter="fade">
                                      <p:cBhvr>
                                        <p:cTn id="49" dur="1000"/>
                                        <p:tgtEl>
                                          <p:spTgt spid="70"/>
                                        </p:tgtEl>
                                      </p:cBhvr>
                                    </p:animEffect>
                                    <p:anim calcmode="lin" valueType="num">
                                      <p:cBhvr>
                                        <p:cTn id="50" dur="1000" fill="hold"/>
                                        <p:tgtEl>
                                          <p:spTgt spid="70"/>
                                        </p:tgtEl>
                                        <p:attrNameLst>
                                          <p:attrName>ppt_x</p:attrName>
                                        </p:attrNameLst>
                                      </p:cBhvr>
                                      <p:tavLst>
                                        <p:tav tm="0">
                                          <p:val>
                                            <p:strVal val="#ppt_x"/>
                                          </p:val>
                                        </p:tav>
                                        <p:tav tm="100000">
                                          <p:val>
                                            <p:strVal val="#ppt_x"/>
                                          </p:val>
                                        </p:tav>
                                      </p:tavLst>
                                    </p:anim>
                                    <p:anim calcmode="lin" valueType="num">
                                      <p:cBhvr>
                                        <p:cTn id="51" dur="900" decel="100000" fill="hold"/>
                                        <p:tgtEl>
                                          <p:spTgt spid="70"/>
                                        </p:tgtEl>
                                        <p:attrNameLst>
                                          <p:attrName>ppt_y</p:attrName>
                                        </p:attrNameLst>
                                      </p:cBhvr>
                                      <p:tavLst>
                                        <p:tav tm="0">
                                          <p:val>
                                            <p:strVal val="#ppt_y+1"/>
                                          </p:val>
                                        </p:tav>
                                        <p:tav tm="100000">
                                          <p:val>
                                            <p:strVal val="#ppt_y-.03"/>
                                          </p:val>
                                        </p:tav>
                                      </p:tavLst>
                                    </p:anim>
                                    <p:anim calcmode="lin" valueType="num">
                                      <p:cBhvr>
                                        <p:cTn id="52" dur="100" accel="100000" fill="hold">
                                          <p:stCondLst>
                                            <p:cond delay="900"/>
                                          </p:stCondLst>
                                        </p:cTn>
                                        <p:tgtEl>
                                          <p:spTgt spid="70"/>
                                        </p:tgtEl>
                                        <p:attrNameLst>
                                          <p:attrName>ppt_y</p:attrName>
                                        </p:attrNameLst>
                                      </p:cBhvr>
                                      <p:tavLst>
                                        <p:tav tm="0">
                                          <p:val>
                                            <p:strVal val="#ppt_y-.03"/>
                                          </p:val>
                                        </p:tav>
                                        <p:tav tm="100000">
                                          <p:val>
                                            <p:strVal val="#ppt_y"/>
                                          </p:val>
                                        </p:tav>
                                      </p:tavLst>
                                    </p:anim>
                                  </p:childTnLst>
                                </p:cTn>
                              </p:par>
                              <p:par>
                                <p:cTn id="53" presetID="37" presetClass="entr" presetSubtype="0" fill="hold" nodeType="withEffect">
                                  <p:stCondLst>
                                    <p:cond delay="0"/>
                                  </p:stCondLst>
                                  <p:childTnLst>
                                    <p:set>
                                      <p:cBhvr>
                                        <p:cTn id="54" dur="1" fill="hold">
                                          <p:stCondLst>
                                            <p:cond delay="0"/>
                                          </p:stCondLst>
                                        </p:cTn>
                                        <p:tgtEl>
                                          <p:spTgt spid="78"/>
                                        </p:tgtEl>
                                        <p:attrNameLst>
                                          <p:attrName>style.visibility</p:attrName>
                                        </p:attrNameLst>
                                      </p:cBhvr>
                                      <p:to>
                                        <p:strVal val="visible"/>
                                      </p:to>
                                    </p:set>
                                    <p:animEffect transition="in" filter="fade">
                                      <p:cBhvr>
                                        <p:cTn id="55" dur="1000"/>
                                        <p:tgtEl>
                                          <p:spTgt spid="78"/>
                                        </p:tgtEl>
                                      </p:cBhvr>
                                    </p:animEffect>
                                    <p:anim calcmode="lin" valueType="num">
                                      <p:cBhvr>
                                        <p:cTn id="56" dur="1000" fill="hold"/>
                                        <p:tgtEl>
                                          <p:spTgt spid="78"/>
                                        </p:tgtEl>
                                        <p:attrNameLst>
                                          <p:attrName>ppt_x</p:attrName>
                                        </p:attrNameLst>
                                      </p:cBhvr>
                                      <p:tavLst>
                                        <p:tav tm="0">
                                          <p:val>
                                            <p:strVal val="#ppt_x"/>
                                          </p:val>
                                        </p:tav>
                                        <p:tav tm="100000">
                                          <p:val>
                                            <p:strVal val="#ppt_x"/>
                                          </p:val>
                                        </p:tav>
                                      </p:tavLst>
                                    </p:anim>
                                    <p:anim calcmode="lin" valueType="num">
                                      <p:cBhvr>
                                        <p:cTn id="57" dur="900" decel="100000" fill="hold"/>
                                        <p:tgtEl>
                                          <p:spTgt spid="78"/>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78"/>
                                        </p:tgtEl>
                                        <p:attrNameLst>
                                          <p:attrName>ppt_y</p:attrName>
                                        </p:attrNameLst>
                                      </p:cBhvr>
                                      <p:tavLst>
                                        <p:tav tm="0">
                                          <p:val>
                                            <p:strVal val="#ppt_y-.03"/>
                                          </p:val>
                                        </p:tav>
                                        <p:tav tm="100000">
                                          <p:val>
                                            <p:strVal val="#ppt_y"/>
                                          </p:val>
                                        </p:tav>
                                      </p:tavLst>
                                    </p:anim>
                                  </p:childTnLst>
                                </p:cTn>
                              </p:par>
                            </p:childTnLst>
                          </p:cTn>
                        </p:par>
                        <p:par>
                          <p:cTn id="59" fill="hold">
                            <p:stCondLst>
                              <p:cond delay="2500"/>
                            </p:stCondLst>
                            <p:childTnLst>
                              <p:par>
                                <p:cTn id="60" presetID="37" presetClass="entr" presetSubtype="0" fill="hold" nodeType="afterEffect">
                                  <p:stCondLst>
                                    <p:cond delay="0"/>
                                  </p:stCondLst>
                                  <p:childTnLst>
                                    <p:set>
                                      <p:cBhvr>
                                        <p:cTn id="61" dur="1" fill="hold">
                                          <p:stCondLst>
                                            <p:cond delay="0"/>
                                          </p:stCondLst>
                                        </p:cTn>
                                        <p:tgtEl>
                                          <p:spTgt spid="65"/>
                                        </p:tgtEl>
                                        <p:attrNameLst>
                                          <p:attrName>style.visibility</p:attrName>
                                        </p:attrNameLst>
                                      </p:cBhvr>
                                      <p:to>
                                        <p:strVal val="visible"/>
                                      </p:to>
                                    </p:set>
                                    <p:animEffect transition="in" filter="fade">
                                      <p:cBhvr>
                                        <p:cTn id="62" dur="1000"/>
                                        <p:tgtEl>
                                          <p:spTgt spid="65"/>
                                        </p:tgtEl>
                                      </p:cBhvr>
                                    </p:animEffect>
                                    <p:anim calcmode="lin" valueType="num">
                                      <p:cBhvr>
                                        <p:cTn id="63" dur="1000" fill="hold"/>
                                        <p:tgtEl>
                                          <p:spTgt spid="65"/>
                                        </p:tgtEl>
                                        <p:attrNameLst>
                                          <p:attrName>ppt_x</p:attrName>
                                        </p:attrNameLst>
                                      </p:cBhvr>
                                      <p:tavLst>
                                        <p:tav tm="0">
                                          <p:val>
                                            <p:strVal val="#ppt_x"/>
                                          </p:val>
                                        </p:tav>
                                        <p:tav tm="100000">
                                          <p:val>
                                            <p:strVal val="#ppt_x"/>
                                          </p:val>
                                        </p:tav>
                                      </p:tavLst>
                                    </p:anim>
                                    <p:anim calcmode="lin" valueType="num">
                                      <p:cBhvr>
                                        <p:cTn id="64" dur="900" decel="100000" fill="hold"/>
                                        <p:tgtEl>
                                          <p:spTgt spid="65"/>
                                        </p:tgtEl>
                                        <p:attrNameLst>
                                          <p:attrName>ppt_y</p:attrName>
                                        </p:attrNameLst>
                                      </p:cBhvr>
                                      <p:tavLst>
                                        <p:tav tm="0">
                                          <p:val>
                                            <p:strVal val="#ppt_y+1"/>
                                          </p:val>
                                        </p:tav>
                                        <p:tav tm="100000">
                                          <p:val>
                                            <p:strVal val="#ppt_y-.03"/>
                                          </p:val>
                                        </p:tav>
                                      </p:tavLst>
                                    </p:anim>
                                    <p:anim calcmode="lin" valueType="num">
                                      <p:cBhvr>
                                        <p:cTn id="65" dur="100" accel="100000" fill="hold">
                                          <p:stCondLst>
                                            <p:cond delay="900"/>
                                          </p:stCondLst>
                                        </p:cTn>
                                        <p:tgtEl>
                                          <p:spTgt spid="65"/>
                                        </p:tgtEl>
                                        <p:attrNameLst>
                                          <p:attrName>ppt_y</p:attrName>
                                        </p:attrNameLst>
                                      </p:cBhvr>
                                      <p:tavLst>
                                        <p:tav tm="0">
                                          <p:val>
                                            <p:strVal val="#ppt_y-.03"/>
                                          </p:val>
                                        </p:tav>
                                        <p:tav tm="100000">
                                          <p:val>
                                            <p:strVal val="#ppt_y"/>
                                          </p:val>
                                        </p:tav>
                                      </p:tavLst>
                                    </p:anim>
                                  </p:childTnLst>
                                </p:cTn>
                              </p:par>
                              <p:par>
                                <p:cTn id="66" presetID="37" presetClass="entr" presetSubtype="0" fill="hold" nodeType="withEffect">
                                  <p:stCondLst>
                                    <p:cond delay="0"/>
                                  </p:stCondLst>
                                  <p:childTnLst>
                                    <p:set>
                                      <p:cBhvr>
                                        <p:cTn id="67" dur="1" fill="hold">
                                          <p:stCondLst>
                                            <p:cond delay="0"/>
                                          </p:stCondLst>
                                        </p:cTn>
                                        <p:tgtEl>
                                          <p:spTgt spid="73"/>
                                        </p:tgtEl>
                                        <p:attrNameLst>
                                          <p:attrName>style.visibility</p:attrName>
                                        </p:attrNameLst>
                                      </p:cBhvr>
                                      <p:to>
                                        <p:strVal val="visible"/>
                                      </p:to>
                                    </p:set>
                                    <p:animEffect transition="in" filter="fade">
                                      <p:cBhvr>
                                        <p:cTn id="68" dur="1000"/>
                                        <p:tgtEl>
                                          <p:spTgt spid="73"/>
                                        </p:tgtEl>
                                      </p:cBhvr>
                                    </p:animEffect>
                                    <p:anim calcmode="lin" valueType="num">
                                      <p:cBhvr>
                                        <p:cTn id="69" dur="1000" fill="hold"/>
                                        <p:tgtEl>
                                          <p:spTgt spid="73"/>
                                        </p:tgtEl>
                                        <p:attrNameLst>
                                          <p:attrName>ppt_x</p:attrName>
                                        </p:attrNameLst>
                                      </p:cBhvr>
                                      <p:tavLst>
                                        <p:tav tm="0">
                                          <p:val>
                                            <p:strVal val="#ppt_x"/>
                                          </p:val>
                                        </p:tav>
                                        <p:tav tm="100000">
                                          <p:val>
                                            <p:strVal val="#ppt_x"/>
                                          </p:val>
                                        </p:tav>
                                      </p:tavLst>
                                    </p:anim>
                                    <p:anim calcmode="lin" valueType="num">
                                      <p:cBhvr>
                                        <p:cTn id="70" dur="900" decel="100000" fill="hold"/>
                                        <p:tgtEl>
                                          <p:spTgt spid="73"/>
                                        </p:tgtEl>
                                        <p:attrNameLst>
                                          <p:attrName>ppt_y</p:attrName>
                                        </p:attrNameLst>
                                      </p:cBhvr>
                                      <p:tavLst>
                                        <p:tav tm="0">
                                          <p:val>
                                            <p:strVal val="#ppt_y+1"/>
                                          </p:val>
                                        </p:tav>
                                        <p:tav tm="100000">
                                          <p:val>
                                            <p:strVal val="#ppt_y-.03"/>
                                          </p:val>
                                        </p:tav>
                                      </p:tavLst>
                                    </p:anim>
                                    <p:anim calcmode="lin" valueType="num">
                                      <p:cBhvr>
                                        <p:cTn id="71" dur="100" accel="100000" fill="hold">
                                          <p:stCondLst>
                                            <p:cond delay="900"/>
                                          </p:stCondLst>
                                        </p:cTn>
                                        <p:tgtEl>
                                          <p:spTgt spid="73"/>
                                        </p:tgtEl>
                                        <p:attrNameLst>
                                          <p:attrName>ppt_y</p:attrName>
                                        </p:attrNameLst>
                                      </p:cBhvr>
                                      <p:tavLst>
                                        <p:tav tm="0">
                                          <p:val>
                                            <p:strVal val="#ppt_y-.03"/>
                                          </p:val>
                                        </p:tav>
                                        <p:tav tm="100000">
                                          <p:val>
                                            <p:strVal val="#ppt_y"/>
                                          </p:val>
                                        </p:tav>
                                      </p:tavLst>
                                    </p:anim>
                                  </p:childTnLst>
                                </p:cTn>
                              </p:par>
                              <p:par>
                                <p:cTn id="72" presetID="37" presetClass="entr" presetSubtype="0" fill="hold" nodeType="withEffect">
                                  <p:stCondLst>
                                    <p:cond delay="0"/>
                                  </p:stCondLst>
                                  <p:childTnLst>
                                    <p:set>
                                      <p:cBhvr>
                                        <p:cTn id="73" dur="1" fill="hold">
                                          <p:stCondLst>
                                            <p:cond delay="0"/>
                                          </p:stCondLst>
                                        </p:cTn>
                                        <p:tgtEl>
                                          <p:spTgt spid="81"/>
                                        </p:tgtEl>
                                        <p:attrNameLst>
                                          <p:attrName>style.visibility</p:attrName>
                                        </p:attrNameLst>
                                      </p:cBhvr>
                                      <p:to>
                                        <p:strVal val="visible"/>
                                      </p:to>
                                    </p:set>
                                    <p:animEffect transition="in" filter="fade">
                                      <p:cBhvr>
                                        <p:cTn id="74" dur="1000"/>
                                        <p:tgtEl>
                                          <p:spTgt spid="81"/>
                                        </p:tgtEl>
                                      </p:cBhvr>
                                    </p:animEffect>
                                    <p:anim calcmode="lin" valueType="num">
                                      <p:cBhvr>
                                        <p:cTn id="75" dur="1000" fill="hold"/>
                                        <p:tgtEl>
                                          <p:spTgt spid="81"/>
                                        </p:tgtEl>
                                        <p:attrNameLst>
                                          <p:attrName>ppt_x</p:attrName>
                                        </p:attrNameLst>
                                      </p:cBhvr>
                                      <p:tavLst>
                                        <p:tav tm="0">
                                          <p:val>
                                            <p:strVal val="#ppt_x"/>
                                          </p:val>
                                        </p:tav>
                                        <p:tav tm="100000">
                                          <p:val>
                                            <p:strVal val="#ppt_x"/>
                                          </p:val>
                                        </p:tav>
                                      </p:tavLst>
                                    </p:anim>
                                    <p:anim calcmode="lin" valueType="num">
                                      <p:cBhvr>
                                        <p:cTn id="76" dur="900" decel="100000" fill="hold"/>
                                        <p:tgtEl>
                                          <p:spTgt spid="81"/>
                                        </p:tgtEl>
                                        <p:attrNameLst>
                                          <p:attrName>ppt_y</p:attrName>
                                        </p:attrNameLst>
                                      </p:cBhvr>
                                      <p:tavLst>
                                        <p:tav tm="0">
                                          <p:val>
                                            <p:strVal val="#ppt_y+1"/>
                                          </p:val>
                                        </p:tav>
                                        <p:tav tm="100000">
                                          <p:val>
                                            <p:strVal val="#ppt_y-.03"/>
                                          </p:val>
                                        </p:tav>
                                      </p:tavLst>
                                    </p:anim>
                                    <p:anim calcmode="lin" valueType="num">
                                      <p:cBhvr>
                                        <p:cTn id="77" dur="100" accel="100000" fill="hold">
                                          <p:stCondLst>
                                            <p:cond delay="900"/>
                                          </p:stCondLst>
                                        </p:cTn>
                                        <p:tgtEl>
                                          <p:spTgt spid="81"/>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P spid="68" grpId="0"/>
      <p:bldP spid="69" grpId="0"/>
      <p:bldP spid="76" grpId="0"/>
      <p:bldP spid="7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6DDFD-F813-390F-0628-7BCEF6721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3C90B6-1914-7174-8044-6127317E3D41}"/>
              </a:ext>
            </a:extLst>
          </p:cNvPr>
          <p:cNvSpPr>
            <a:spLocks noGrp="1"/>
          </p:cNvSpPr>
          <p:nvPr>
            <p:ph type="ctrTitle"/>
          </p:nvPr>
        </p:nvSpPr>
        <p:spPr>
          <a:xfrm>
            <a:off x="1149566" y="183907"/>
            <a:ext cx="10668000" cy="1189429"/>
          </a:xfrm>
        </p:spPr>
        <p:txBody>
          <a:bodyPr>
            <a:normAutofit fontScale="90000"/>
          </a:bodyPr>
          <a:lstStyle/>
          <a:p>
            <a:r>
              <a:rPr lang="en-US" sz="6700" dirty="0"/>
              <a:t>Additional Concepts : </a:t>
            </a:r>
            <a:r>
              <a:rPr lang="en-US" sz="3600" dirty="0"/>
              <a:t>Evaluation Metrics SQL2NoSQL – LLM Based Models </a:t>
            </a:r>
          </a:p>
        </p:txBody>
      </p:sp>
      <p:grpSp>
        <p:nvGrpSpPr>
          <p:cNvPr id="51" name="Группа 43">
            <a:extLst>
              <a:ext uri="{FF2B5EF4-FFF2-40B4-BE49-F238E27FC236}">
                <a16:creationId xmlns:a16="http://schemas.microsoft.com/office/drawing/2014/main" id="{268CDBEE-FE7C-FF06-A9ED-5929ECBBAEDC}"/>
              </a:ext>
            </a:extLst>
          </p:cNvPr>
          <p:cNvGrpSpPr/>
          <p:nvPr/>
        </p:nvGrpSpPr>
        <p:grpSpPr>
          <a:xfrm>
            <a:off x="4731926" y="1989027"/>
            <a:ext cx="219097" cy="4557200"/>
            <a:chOff x="8089131" y="4146221"/>
            <a:chExt cx="438251" cy="9115586"/>
          </a:xfrm>
        </p:grpSpPr>
        <p:sp>
          <p:nvSpPr>
            <p:cNvPr id="52" name="Полилиния 44">
              <a:extLst>
                <a:ext uri="{FF2B5EF4-FFF2-40B4-BE49-F238E27FC236}">
                  <a16:creationId xmlns:a16="http://schemas.microsoft.com/office/drawing/2014/main" id="{150FC9B9-5AAF-CE00-AA4C-D9B3FE3A0B49}"/>
                </a:ext>
              </a:extLst>
            </p:cNvPr>
            <p:cNvSpPr/>
            <p:nvPr/>
          </p:nvSpPr>
          <p:spPr>
            <a:xfrm>
              <a:off x="8089131" y="4146221"/>
              <a:ext cx="370508" cy="9115586"/>
            </a:xfrm>
            <a:custGeom>
              <a:avLst/>
              <a:gdLst>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11" fmla="*/ 91440 w 12668613"/>
                <a:gd name="connsiteY11" fmla="*/ 91440 h 10027145"/>
                <a:gd name="connsiteX0" fmla="*/ 7369051 w 12668613"/>
                <a:gd name="connsiteY0" fmla="*/ 0 h 10027145"/>
                <a:gd name="connsiteX1" fmla="*/ 9062330 w 12668613"/>
                <a:gd name="connsiteY1" fmla="*/ 0 h 10027145"/>
                <a:gd name="connsiteX2" fmla="*/ 12261054 w 12668613"/>
                <a:gd name="connsiteY2" fmla="*/ 0 h 10027145"/>
                <a:gd name="connsiteX3" fmla="*/ 12261054 w 12668613"/>
                <a:gd name="connsiteY3" fmla="*/ 4607455 h 10027145"/>
                <a:gd name="connsiteX4" fmla="*/ 12668613 w 12668613"/>
                <a:gd name="connsiteY4" fmla="*/ 5013572 h 10027145"/>
                <a:gd name="connsiteX5" fmla="*/ 12261054 w 12668613"/>
                <a:gd name="connsiteY5" fmla="*/ 5419689 h 10027145"/>
                <a:gd name="connsiteX6" fmla="*/ 12261054 w 12668613"/>
                <a:gd name="connsiteY6" fmla="*/ 10027145 h 10027145"/>
                <a:gd name="connsiteX7" fmla="*/ 9062330 w 12668613"/>
                <a:gd name="connsiteY7" fmla="*/ 10027145 h 10027145"/>
                <a:gd name="connsiteX8" fmla="*/ 7369051 w 12668613"/>
                <a:gd name="connsiteY8" fmla="*/ 10027145 h 10027145"/>
                <a:gd name="connsiteX9" fmla="*/ 0 w 12668613"/>
                <a:gd name="connsiteY9" fmla="*/ 10027145 h 10027145"/>
                <a:gd name="connsiteX10" fmla="*/ 91440 w 12668613"/>
                <a:gd name="connsiteY10" fmla="*/ 91440 h 10027145"/>
                <a:gd name="connsiteX0" fmla="*/ 9062330 w 12668613"/>
                <a:gd name="connsiteY0" fmla="*/ 0 h 10027145"/>
                <a:gd name="connsiteX1" fmla="*/ 12261054 w 12668613"/>
                <a:gd name="connsiteY1" fmla="*/ 0 h 10027145"/>
                <a:gd name="connsiteX2" fmla="*/ 12261054 w 12668613"/>
                <a:gd name="connsiteY2" fmla="*/ 4607455 h 10027145"/>
                <a:gd name="connsiteX3" fmla="*/ 12668613 w 12668613"/>
                <a:gd name="connsiteY3" fmla="*/ 5013572 h 10027145"/>
                <a:gd name="connsiteX4" fmla="*/ 12261054 w 12668613"/>
                <a:gd name="connsiteY4" fmla="*/ 5419689 h 10027145"/>
                <a:gd name="connsiteX5" fmla="*/ 12261054 w 12668613"/>
                <a:gd name="connsiteY5" fmla="*/ 10027145 h 10027145"/>
                <a:gd name="connsiteX6" fmla="*/ 9062330 w 12668613"/>
                <a:gd name="connsiteY6" fmla="*/ 10027145 h 10027145"/>
                <a:gd name="connsiteX7" fmla="*/ 7369051 w 12668613"/>
                <a:gd name="connsiteY7" fmla="*/ 10027145 h 10027145"/>
                <a:gd name="connsiteX8" fmla="*/ 0 w 12668613"/>
                <a:gd name="connsiteY8" fmla="*/ 10027145 h 10027145"/>
                <a:gd name="connsiteX9" fmla="*/ 91440 w 12668613"/>
                <a:gd name="connsiteY9"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8" fmla="*/ 91440 w 12668613"/>
                <a:gd name="connsiteY8"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0" fmla="*/ 4892003 w 5299562"/>
                <a:gd name="connsiteY0" fmla="*/ 0 h 10027145"/>
                <a:gd name="connsiteX1" fmla="*/ 4892003 w 5299562"/>
                <a:gd name="connsiteY1" fmla="*/ 4607455 h 10027145"/>
                <a:gd name="connsiteX2" fmla="*/ 5299562 w 5299562"/>
                <a:gd name="connsiteY2" fmla="*/ 5013572 h 10027145"/>
                <a:gd name="connsiteX3" fmla="*/ 4892003 w 5299562"/>
                <a:gd name="connsiteY3" fmla="*/ 5419689 h 10027145"/>
                <a:gd name="connsiteX4" fmla="*/ 4892003 w 5299562"/>
                <a:gd name="connsiteY4" fmla="*/ 10027145 h 10027145"/>
                <a:gd name="connsiteX5" fmla="*/ 1693279 w 5299562"/>
                <a:gd name="connsiteY5" fmla="*/ 10027145 h 10027145"/>
                <a:gd name="connsiteX6" fmla="*/ 0 w 5299562"/>
                <a:gd name="connsiteY6" fmla="*/ 10027145 h 10027145"/>
                <a:gd name="connsiteX0" fmla="*/ 3198724 w 3606283"/>
                <a:gd name="connsiteY0" fmla="*/ 0 h 10027145"/>
                <a:gd name="connsiteX1" fmla="*/ 3198724 w 3606283"/>
                <a:gd name="connsiteY1" fmla="*/ 4607455 h 10027145"/>
                <a:gd name="connsiteX2" fmla="*/ 3606283 w 3606283"/>
                <a:gd name="connsiteY2" fmla="*/ 5013572 h 10027145"/>
                <a:gd name="connsiteX3" fmla="*/ 3198724 w 3606283"/>
                <a:gd name="connsiteY3" fmla="*/ 5419689 h 10027145"/>
                <a:gd name="connsiteX4" fmla="*/ 3198724 w 3606283"/>
                <a:gd name="connsiteY4" fmla="*/ 10027145 h 10027145"/>
                <a:gd name="connsiteX5" fmla="*/ 0 w 3606283"/>
                <a:gd name="connsiteY5" fmla="*/ 10027145 h 10027145"/>
                <a:gd name="connsiteX0" fmla="*/ 0 w 407559"/>
                <a:gd name="connsiteY0" fmla="*/ 0 h 10027145"/>
                <a:gd name="connsiteX1" fmla="*/ 0 w 407559"/>
                <a:gd name="connsiteY1" fmla="*/ 4607455 h 10027145"/>
                <a:gd name="connsiteX2" fmla="*/ 407559 w 407559"/>
                <a:gd name="connsiteY2" fmla="*/ 5013572 h 10027145"/>
                <a:gd name="connsiteX3" fmla="*/ 0 w 407559"/>
                <a:gd name="connsiteY3" fmla="*/ 5419689 h 10027145"/>
                <a:gd name="connsiteX4" fmla="*/ 0 w 407559"/>
                <a:gd name="connsiteY4" fmla="*/ 10027145 h 10027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59" h="10027145">
                  <a:moveTo>
                    <a:pt x="0" y="0"/>
                  </a:moveTo>
                  <a:lnTo>
                    <a:pt x="0" y="4607455"/>
                  </a:lnTo>
                  <a:lnTo>
                    <a:pt x="407559" y="5013572"/>
                  </a:lnTo>
                  <a:lnTo>
                    <a:pt x="0" y="5419689"/>
                  </a:lnTo>
                  <a:lnTo>
                    <a:pt x="0" y="10027145"/>
                  </a:lnTo>
                </a:path>
              </a:pathLst>
            </a:custGeom>
            <a:noFill/>
            <a:ln w="1270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mn-cs"/>
              </a:endParaRPr>
            </a:p>
          </p:txBody>
        </p:sp>
        <p:sp>
          <p:nvSpPr>
            <p:cNvPr id="53" name="Полилиния 45">
              <a:extLst>
                <a:ext uri="{FF2B5EF4-FFF2-40B4-BE49-F238E27FC236}">
                  <a16:creationId xmlns:a16="http://schemas.microsoft.com/office/drawing/2014/main" id="{57CFBFA7-C3B7-CB9D-3504-30C225C25F08}"/>
                </a:ext>
              </a:extLst>
            </p:cNvPr>
            <p:cNvSpPr/>
            <p:nvPr/>
          </p:nvSpPr>
          <p:spPr>
            <a:xfrm>
              <a:off x="8156874" y="4146221"/>
              <a:ext cx="370508" cy="9115586"/>
            </a:xfrm>
            <a:custGeom>
              <a:avLst/>
              <a:gdLst>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11" fmla="*/ 91440 w 12668613"/>
                <a:gd name="connsiteY11" fmla="*/ 91440 h 10027145"/>
                <a:gd name="connsiteX0" fmla="*/ 7369051 w 12668613"/>
                <a:gd name="connsiteY0" fmla="*/ 0 h 10027145"/>
                <a:gd name="connsiteX1" fmla="*/ 9062330 w 12668613"/>
                <a:gd name="connsiteY1" fmla="*/ 0 h 10027145"/>
                <a:gd name="connsiteX2" fmla="*/ 12261054 w 12668613"/>
                <a:gd name="connsiteY2" fmla="*/ 0 h 10027145"/>
                <a:gd name="connsiteX3" fmla="*/ 12261054 w 12668613"/>
                <a:gd name="connsiteY3" fmla="*/ 4607455 h 10027145"/>
                <a:gd name="connsiteX4" fmla="*/ 12668613 w 12668613"/>
                <a:gd name="connsiteY4" fmla="*/ 5013572 h 10027145"/>
                <a:gd name="connsiteX5" fmla="*/ 12261054 w 12668613"/>
                <a:gd name="connsiteY5" fmla="*/ 5419689 h 10027145"/>
                <a:gd name="connsiteX6" fmla="*/ 12261054 w 12668613"/>
                <a:gd name="connsiteY6" fmla="*/ 10027145 h 10027145"/>
                <a:gd name="connsiteX7" fmla="*/ 9062330 w 12668613"/>
                <a:gd name="connsiteY7" fmla="*/ 10027145 h 10027145"/>
                <a:gd name="connsiteX8" fmla="*/ 7369051 w 12668613"/>
                <a:gd name="connsiteY8" fmla="*/ 10027145 h 10027145"/>
                <a:gd name="connsiteX9" fmla="*/ 0 w 12668613"/>
                <a:gd name="connsiteY9" fmla="*/ 10027145 h 10027145"/>
                <a:gd name="connsiteX10" fmla="*/ 91440 w 12668613"/>
                <a:gd name="connsiteY10" fmla="*/ 91440 h 10027145"/>
                <a:gd name="connsiteX0" fmla="*/ 9062330 w 12668613"/>
                <a:gd name="connsiteY0" fmla="*/ 0 h 10027145"/>
                <a:gd name="connsiteX1" fmla="*/ 12261054 w 12668613"/>
                <a:gd name="connsiteY1" fmla="*/ 0 h 10027145"/>
                <a:gd name="connsiteX2" fmla="*/ 12261054 w 12668613"/>
                <a:gd name="connsiteY2" fmla="*/ 4607455 h 10027145"/>
                <a:gd name="connsiteX3" fmla="*/ 12668613 w 12668613"/>
                <a:gd name="connsiteY3" fmla="*/ 5013572 h 10027145"/>
                <a:gd name="connsiteX4" fmla="*/ 12261054 w 12668613"/>
                <a:gd name="connsiteY4" fmla="*/ 5419689 h 10027145"/>
                <a:gd name="connsiteX5" fmla="*/ 12261054 w 12668613"/>
                <a:gd name="connsiteY5" fmla="*/ 10027145 h 10027145"/>
                <a:gd name="connsiteX6" fmla="*/ 9062330 w 12668613"/>
                <a:gd name="connsiteY6" fmla="*/ 10027145 h 10027145"/>
                <a:gd name="connsiteX7" fmla="*/ 7369051 w 12668613"/>
                <a:gd name="connsiteY7" fmla="*/ 10027145 h 10027145"/>
                <a:gd name="connsiteX8" fmla="*/ 0 w 12668613"/>
                <a:gd name="connsiteY8" fmla="*/ 10027145 h 10027145"/>
                <a:gd name="connsiteX9" fmla="*/ 91440 w 12668613"/>
                <a:gd name="connsiteY9"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8" fmla="*/ 91440 w 12668613"/>
                <a:gd name="connsiteY8"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0" fmla="*/ 4892003 w 5299562"/>
                <a:gd name="connsiteY0" fmla="*/ 0 h 10027145"/>
                <a:gd name="connsiteX1" fmla="*/ 4892003 w 5299562"/>
                <a:gd name="connsiteY1" fmla="*/ 4607455 h 10027145"/>
                <a:gd name="connsiteX2" fmla="*/ 5299562 w 5299562"/>
                <a:gd name="connsiteY2" fmla="*/ 5013572 h 10027145"/>
                <a:gd name="connsiteX3" fmla="*/ 4892003 w 5299562"/>
                <a:gd name="connsiteY3" fmla="*/ 5419689 h 10027145"/>
                <a:gd name="connsiteX4" fmla="*/ 4892003 w 5299562"/>
                <a:gd name="connsiteY4" fmla="*/ 10027145 h 10027145"/>
                <a:gd name="connsiteX5" fmla="*/ 1693279 w 5299562"/>
                <a:gd name="connsiteY5" fmla="*/ 10027145 h 10027145"/>
                <a:gd name="connsiteX6" fmla="*/ 0 w 5299562"/>
                <a:gd name="connsiteY6" fmla="*/ 10027145 h 10027145"/>
                <a:gd name="connsiteX0" fmla="*/ 3198724 w 3606283"/>
                <a:gd name="connsiteY0" fmla="*/ 0 h 10027145"/>
                <a:gd name="connsiteX1" fmla="*/ 3198724 w 3606283"/>
                <a:gd name="connsiteY1" fmla="*/ 4607455 h 10027145"/>
                <a:gd name="connsiteX2" fmla="*/ 3606283 w 3606283"/>
                <a:gd name="connsiteY2" fmla="*/ 5013572 h 10027145"/>
                <a:gd name="connsiteX3" fmla="*/ 3198724 w 3606283"/>
                <a:gd name="connsiteY3" fmla="*/ 5419689 h 10027145"/>
                <a:gd name="connsiteX4" fmla="*/ 3198724 w 3606283"/>
                <a:gd name="connsiteY4" fmla="*/ 10027145 h 10027145"/>
                <a:gd name="connsiteX5" fmla="*/ 0 w 3606283"/>
                <a:gd name="connsiteY5" fmla="*/ 10027145 h 10027145"/>
                <a:gd name="connsiteX0" fmla="*/ 0 w 407559"/>
                <a:gd name="connsiteY0" fmla="*/ 0 h 10027145"/>
                <a:gd name="connsiteX1" fmla="*/ 0 w 407559"/>
                <a:gd name="connsiteY1" fmla="*/ 4607455 h 10027145"/>
                <a:gd name="connsiteX2" fmla="*/ 407559 w 407559"/>
                <a:gd name="connsiteY2" fmla="*/ 5013572 h 10027145"/>
                <a:gd name="connsiteX3" fmla="*/ 0 w 407559"/>
                <a:gd name="connsiteY3" fmla="*/ 5419689 h 10027145"/>
                <a:gd name="connsiteX4" fmla="*/ 0 w 407559"/>
                <a:gd name="connsiteY4" fmla="*/ 10027145 h 10027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59" h="10027145">
                  <a:moveTo>
                    <a:pt x="0" y="0"/>
                  </a:moveTo>
                  <a:lnTo>
                    <a:pt x="0" y="4607455"/>
                  </a:lnTo>
                  <a:lnTo>
                    <a:pt x="407559" y="5013572"/>
                  </a:lnTo>
                  <a:lnTo>
                    <a:pt x="0" y="5419689"/>
                  </a:lnTo>
                  <a:lnTo>
                    <a:pt x="0" y="10027145"/>
                  </a:lnTo>
                </a:path>
              </a:pathLst>
            </a:custGeom>
            <a:noFill/>
            <a:ln w="38100">
              <a:solidFill>
                <a:schemeClr val="tx2">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mn-cs"/>
              </a:endParaRPr>
            </a:p>
          </p:txBody>
        </p:sp>
      </p:grpSp>
      <p:grpSp>
        <p:nvGrpSpPr>
          <p:cNvPr id="54" name="Группа 46">
            <a:extLst>
              <a:ext uri="{FF2B5EF4-FFF2-40B4-BE49-F238E27FC236}">
                <a16:creationId xmlns:a16="http://schemas.microsoft.com/office/drawing/2014/main" id="{632F1A66-22E6-074D-4A74-6BE5BD2DFB68}"/>
              </a:ext>
            </a:extLst>
          </p:cNvPr>
          <p:cNvGrpSpPr/>
          <p:nvPr/>
        </p:nvGrpSpPr>
        <p:grpSpPr>
          <a:xfrm>
            <a:off x="7775856" y="1989027"/>
            <a:ext cx="219097" cy="4557200"/>
            <a:chOff x="8089131" y="4146221"/>
            <a:chExt cx="438251" cy="9115586"/>
          </a:xfrm>
        </p:grpSpPr>
        <p:sp>
          <p:nvSpPr>
            <p:cNvPr id="55" name="Полилиния 47">
              <a:extLst>
                <a:ext uri="{FF2B5EF4-FFF2-40B4-BE49-F238E27FC236}">
                  <a16:creationId xmlns:a16="http://schemas.microsoft.com/office/drawing/2014/main" id="{2E0E7A62-6DD9-DF1B-26A6-F03F0491515B}"/>
                </a:ext>
              </a:extLst>
            </p:cNvPr>
            <p:cNvSpPr/>
            <p:nvPr/>
          </p:nvSpPr>
          <p:spPr>
            <a:xfrm>
              <a:off x="8089131" y="4146221"/>
              <a:ext cx="370508" cy="9115586"/>
            </a:xfrm>
            <a:custGeom>
              <a:avLst/>
              <a:gdLst>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11" fmla="*/ 91440 w 12668613"/>
                <a:gd name="connsiteY11" fmla="*/ 91440 h 10027145"/>
                <a:gd name="connsiteX0" fmla="*/ 7369051 w 12668613"/>
                <a:gd name="connsiteY0" fmla="*/ 0 h 10027145"/>
                <a:gd name="connsiteX1" fmla="*/ 9062330 w 12668613"/>
                <a:gd name="connsiteY1" fmla="*/ 0 h 10027145"/>
                <a:gd name="connsiteX2" fmla="*/ 12261054 w 12668613"/>
                <a:gd name="connsiteY2" fmla="*/ 0 h 10027145"/>
                <a:gd name="connsiteX3" fmla="*/ 12261054 w 12668613"/>
                <a:gd name="connsiteY3" fmla="*/ 4607455 h 10027145"/>
                <a:gd name="connsiteX4" fmla="*/ 12668613 w 12668613"/>
                <a:gd name="connsiteY4" fmla="*/ 5013572 h 10027145"/>
                <a:gd name="connsiteX5" fmla="*/ 12261054 w 12668613"/>
                <a:gd name="connsiteY5" fmla="*/ 5419689 h 10027145"/>
                <a:gd name="connsiteX6" fmla="*/ 12261054 w 12668613"/>
                <a:gd name="connsiteY6" fmla="*/ 10027145 h 10027145"/>
                <a:gd name="connsiteX7" fmla="*/ 9062330 w 12668613"/>
                <a:gd name="connsiteY7" fmla="*/ 10027145 h 10027145"/>
                <a:gd name="connsiteX8" fmla="*/ 7369051 w 12668613"/>
                <a:gd name="connsiteY8" fmla="*/ 10027145 h 10027145"/>
                <a:gd name="connsiteX9" fmla="*/ 0 w 12668613"/>
                <a:gd name="connsiteY9" fmla="*/ 10027145 h 10027145"/>
                <a:gd name="connsiteX10" fmla="*/ 91440 w 12668613"/>
                <a:gd name="connsiteY10" fmla="*/ 91440 h 10027145"/>
                <a:gd name="connsiteX0" fmla="*/ 9062330 w 12668613"/>
                <a:gd name="connsiteY0" fmla="*/ 0 h 10027145"/>
                <a:gd name="connsiteX1" fmla="*/ 12261054 w 12668613"/>
                <a:gd name="connsiteY1" fmla="*/ 0 h 10027145"/>
                <a:gd name="connsiteX2" fmla="*/ 12261054 w 12668613"/>
                <a:gd name="connsiteY2" fmla="*/ 4607455 h 10027145"/>
                <a:gd name="connsiteX3" fmla="*/ 12668613 w 12668613"/>
                <a:gd name="connsiteY3" fmla="*/ 5013572 h 10027145"/>
                <a:gd name="connsiteX4" fmla="*/ 12261054 w 12668613"/>
                <a:gd name="connsiteY4" fmla="*/ 5419689 h 10027145"/>
                <a:gd name="connsiteX5" fmla="*/ 12261054 w 12668613"/>
                <a:gd name="connsiteY5" fmla="*/ 10027145 h 10027145"/>
                <a:gd name="connsiteX6" fmla="*/ 9062330 w 12668613"/>
                <a:gd name="connsiteY6" fmla="*/ 10027145 h 10027145"/>
                <a:gd name="connsiteX7" fmla="*/ 7369051 w 12668613"/>
                <a:gd name="connsiteY7" fmla="*/ 10027145 h 10027145"/>
                <a:gd name="connsiteX8" fmla="*/ 0 w 12668613"/>
                <a:gd name="connsiteY8" fmla="*/ 10027145 h 10027145"/>
                <a:gd name="connsiteX9" fmla="*/ 91440 w 12668613"/>
                <a:gd name="connsiteY9"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8" fmla="*/ 91440 w 12668613"/>
                <a:gd name="connsiteY8"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0" fmla="*/ 4892003 w 5299562"/>
                <a:gd name="connsiteY0" fmla="*/ 0 h 10027145"/>
                <a:gd name="connsiteX1" fmla="*/ 4892003 w 5299562"/>
                <a:gd name="connsiteY1" fmla="*/ 4607455 h 10027145"/>
                <a:gd name="connsiteX2" fmla="*/ 5299562 w 5299562"/>
                <a:gd name="connsiteY2" fmla="*/ 5013572 h 10027145"/>
                <a:gd name="connsiteX3" fmla="*/ 4892003 w 5299562"/>
                <a:gd name="connsiteY3" fmla="*/ 5419689 h 10027145"/>
                <a:gd name="connsiteX4" fmla="*/ 4892003 w 5299562"/>
                <a:gd name="connsiteY4" fmla="*/ 10027145 h 10027145"/>
                <a:gd name="connsiteX5" fmla="*/ 1693279 w 5299562"/>
                <a:gd name="connsiteY5" fmla="*/ 10027145 h 10027145"/>
                <a:gd name="connsiteX6" fmla="*/ 0 w 5299562"/>
                <a:gd name="connsiteY6" fmla="*/ 10027145 h 10027145"/>
                <a:gd name="connsiteX0" fmla="*/ 3198724 w 3606283"/>
                <a:gd name="connsiteY0" fmla="*/ 0 h 10027145"/>
                <a:gd name="connsiteX1" fmla="*/ 3198724 w 3606283"/>
                <a:gd name="connsiteY1" fmla="*/ 4607455 h 10027145"/>
                <a:gd name="connsiteX2" fmla="*/ 3606283 w 3606283"/>
                <a:gd name="connsiteY2" fmla="*/ 5013572 h 10027145"/>
                <a:gd name="connsiteX3" fmla="*/ 3198724 w 3606283"/>
                <a:gd name="connsiteY3" fmla="*/ 5419689 h 10027145"/>
                <a:gd name="connsiteX4" fmla="*/ 3198724 w 3606283"/>
                <a:gd name="connsiteY4" fmla="*/ 10027145 h 10027145"/>
                <a:gd name="connsiteX5" fmla="*/ 0 w 3606283"/>
                <a:gd name="connsiteY5" fmla="*/ 10027145 h 10027145"/>
                <a:gd name="connsiteX0" fmla="*/ 0 w 407559"/>
                <a:gd name="connsiteY0" fmla="*/ 0 h 10027145"/>
                <a:gd name="connsiteX1" fmla="*/ 0 w 407559"/>
                <a:gd name="connsiteY1" fmla="*/ 4607455 h 10027145"/>
                <a:gd name="connsiteX2" fmla="*/ 407559 w 407559"/>
                <a:gd name="connsiteY2" fmla="*/ 5013572 h 10027145"/>
                <a:gd name="connsiteX3" fmla="*/ 0 w 407559"/>
                <a:gd name="connsiteY3" fmla="*/ 5419689 h 10027145"/>
                <a:gd name="connsiteX4" fmla="*/ 0 w 407559"/>
                <a:gd name="connsiteY4" fmla="*/ 10027145 h 10027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59" h="10027145">
                  <a:moveTo>
                    <a:pt x="0" y="0"/>
                  </a:moveTo>
                  <a:lnTo>
                    <a:pt x="0" y="4607455"/>
                  </a:lnTo>
                  <a:lnTo>
                    <a:pt x="407559" y="5013572"/>
                  </a:lnTo>
                  <a:lnTo>
                    <a:pt x="0" y="5419689"/>
                  </a:lnTo>
                  <a:lnTo>
                    <a:pt x="0" y="10027145"/>
                  </a:lnTo>
                </a:path>
              </a:pathLst>
            </a:custGeom>
            <a:noFill/>
            <a:ln w="1270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mn-cs"/>
              </a:endParaRPr>
            </a:p>
          </p:txBody>
        </p:sp>
        <p:sp>
          <p:nvSpPr>
            <p:cNvPr id="56" name="Полилиния 48">
              <a:extLst>
                <a:ext uri="{FF2B5EF4-FFF2-40B4-BE49-F238E27FC236}">
                  <a16:creationId xmlns:a16="http://schemas.microsoft.com/office/drawing/2014/main" id="{57C7CFA2-58D0-33C2-4D70-5DCBBECFB70B}"/>
                </a:ext>
              </a:extLst>
            </p:cNvPr>
            <p:cNvSpPr/>
            <p:nvPr/>
          </p:nvSpPr>
          <p:spPr>
            <a:xfrm>
              <a:off x="8156874" y="4146221"/>
              <a:ext cx="370508" cy="9115586"/>
            </a:xfrm>
            <a:custGeom>
              <a:avLst/>
              <a:gdLst>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0" fmla="*/ 0 w 12668613"/>
                <a:gd name="connsiteY0" fmla="*/ 0 h 10027145"/>
                <a:gd name="connsiteX1" fmla="*/ 7369051 w 12668613"/>
                <a:gd name="connsiteY1" fmla="*/ 0 h 10027145"/>
                <a:gd name="connsiteX2" fmla="*/ 9062330 w 12668613"/>
                <a:gd name="connsiteY2" fmla="*/ 0 h 10027145"/>
                <a:gd name="connsiteX3" fmla="*/ 12261054 w 12668613"/>
                <a:gd name="connsiteY3" fmla="*/ 0 h 10027145"/>
                <a:gd name="connsiteX4" fmla="*/ 12261054 w 12668613"/>
                <a:gd name="connsiteY4" fmla="*/ 4607455 h 10027145"/>
                <a:gd name="connsiteX5" fmla="*/ 12668613 w 12668613"/>
                <a:gd name="connsiteY5" fmla="*/ 5013572 h 10027145"/>
                <a:gd name="connsiteX6" fmla="*/ 12261054 w 12668613"/>
                <a:gd name="connsiteY6" fmla="*/ 5419689 h 10027145"/>
                <a:gd name="connsiteX7" fmla="*/ 12261054 w 12668613"/>
                <a:gd name="connsiteY7" fmla="*/ 10027145 h 10027145"/>
                <a:gd name="connsiteX8" fmla="*/ 9062330 w 12668613"/>
                <a:gd name="connsiteY8" fmla="*/ 10027145 h 10027145"/>
                <a:gd name="connsiteX9" fmla="*/ 7369051 w 12668613"/>
                <a:gd name="connsiteY9" fmla="*/ 10027145 h 10027145"/>
                <a:gd name="connsiteX10" fmla="*/ 0 w 12668613"/>
                <a:gd name="connsiteY10" fmla="*/ 10027145 h 10027145"/>
                <a:gd name="connsiteX11" fmla="*/ 91440 w 12668613"/>
                <a:gd name="connsiteY11" fmla="*/ 91440 h 10027145"/>
                <a:gd name="connsiteX0" fmla="*/ 7369051 w 12668613"/>
                <a:gd name="connsiteY0" fmla="*/ 0 h 10027145"/>
                <a:gd name="connsiteX1" fmla="*/ 9062330 w 12668613"/>
                <a:gd name="connsiteY1" fmla="*/ 0 h 10027145"/>
                <a:gd name="connsiteX2" fmla="*/ 12261054 w 12668613"/>
                <a:gd name="connsiteY2" fmla="*/ 0 h 10027145"/>
                <a:gd name="connsiteX3" fmla="*/ 12261054 w 12668613"/>
                <a:gd name="connsiteY3" fmla="*/ 4607455 h 10027145"/>
                <a:gd name="connsiteX4" fmla="*/ 12668613 w 12668613"/>
                <a:gd name="connsiteY4" fmla="*/ 5013572 h 10027145"/>
                <a:gd name="connsiteX5" fmla="*/ 12261054 w 12668613"/>
                <a:gd name="connsiteY5" fmla="*/ 5419689 h 10027145"/>
                <a:gd name="connsiteX6" fmla="*/ 12261054 w 12668613"/>
                <a:gd name="connsiteY6" fmla="*/ 10027145 h 10027145"/>
                <a:gd name="connsiteX7" fmla="*/ 9062330 w 12668613"/>
                <a:gd name="connsiteY7" fmla="*/ 10027145 h 10027145"/>
                <a:gd name="connsiteX8" fmla="*/ 7369051 w 12668613"/>
                <a:gd name="connsiteY8" fmla="*/ 10027145 h 10027145"/>
                <a:gd name="connsiteX9" fmla="*/ 0 w 12668613"/>
                <a:gd name="connsiteY9" fmla="*/ 10027145 h 10027145"/>
                <a:gd name="connsiteX10" fmla="*/ 91440 w 12668613"/>
                <a:gd name="connsiteY10" fmla="*/ 91440 h 10027145"/>
                <a:gd name="connsiteX0" fmla="*/ 9062330 w 12668613"/>
                <a:gd name="connsiteY0" fmla="*/ 0 h 10027145"/>
                <a:gd name="connsiteX1" fmla="*/ 12261054 w 12668613"/>
                <a:gd name="connsiteY1" fmla="*/ 0 h 10027145"/>
                <a:gd name="connsiteX2" fmla="*/ 12261054 w 12668613"/>
                <a:gd name="connsiteY2" fmla="*/ 4607455 h 10027145"/>
                <a:gd name="connsiteX3" fmla="*/ 12668613 w 12668613"/>
                <a:gd name="connsiteY3" fmla="*/ 5013572 h 10027145"/>
                <a:gd name="connsiteX4" fmla="*/ 12261054 w 12668613"/>
                <a:gd name="connsiteY4" fmla="*/ 5419689 h 10027145"/>
                <a:gd name="connsiteX5" fmla="*/ 12261054 w 12668613"/>
                <a:gd name="connsiteY5" fmla="*/ 10027145 h 10027145"/>
                <a:gd name="connsiteX6" fmla="*/ 9062330 w 12668613"/>
                <a:gd name="connsiteY6" fmla="*/ 10027145 h 10027145"/>
                <a:gd name="connsiteX7" fmla="*/ 7369051 w 12668613"/>
                <a:gd name="connsiteY7" fmla="*/ 10027145 h 10027145"/>
                <a:gd name="connsiteX8" fmla="*/ 0 w 12668613"/>
                <a:gd name="connsiteY8" fmla="*/ 10027145 h 10027145"/>
                <a:gd name="connsiteX9" fmla="*/ 91440 w 12668613"/>
                <a:gd name="connsiteY9"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8" fmla="*/ 91440 w 12668613"/>
                <a:gd name="connsiteY8" fmla="*/ 91440 h 10027145"/>
                <a:gd name="connsiteX0" fmla="*/ 12261054 w 12668613"/>
                <a:gd name="connsiteY0" fmla="*/ 0 h 10027145"/>
                <a:gd name="connsiteX1" fmla="*/ 12261054 w 12668613"/>
                <a:gd name="connsiteY1" fmla="*/ 4607455 h 10027145"/>
                <a:gd name="connsiteX2" fmla="*/ 12668613 w 12668613"/>
                <a:gd name="connsiteY2" fmla="*/ 5013572 h 10027145"/>
                <a:gd name="connsiteX3" fmla="*/ 12261054 w 12668613"/>
                <a:gd name="connsiteY3" fmla="*/ 5419689 h 10027145"/>
                <a:gd name="connsiteX4" fmla="*/ 12261054 w 12668613"/>
                <a:gd name="connsiteY4" fmla="*/ 10027145 h 10027145"/>
                <a:gd name="connsiteX5" fmla="*/ 9062330 w 12668613"/>
                <a:gd name="connsiteY5" fmla="*/ 10027145 h 10027145"/>
                <a:gd name="connsiteX6" fmla="*/ 7369051 w 12668613"/>
                <a:gd name="connsiteY6" fmla="*/ 10027145 h 10027145"/>
                <a:gd name="connsiteX7" fmla="*/ 0 w 12668613"/>
                <a:gd name="connsiteY7" fmla="*/ 10027145 h 10027145"/>
                <a:gd name="connsiteX0" fmla="*/ 4892003 w 5299562"/>
                <a:gd name="connsiteY0" fmla="*/ 0 h 10027145"/>
                <a:gd name="connsiteX1" fmla="*/ 4892003 w 5299562"/>
                <a:gd name="connsiteY1" fmla="*/ 4607455 h 10027145"/>
                <a:gd name="connsiteX2" fmla="*/ 5299562 w 5299562"/>
                <a:gd name="connsiteY2" fmla="*/ 5013572 h 10027145"/>
                <a:gd name="connsiteX3" fmla="*/ 4892003 w 5299562"/>
                <a:gd name="connsiteY3" fmla="*/ 5419689 h 10027145"/>
                <a:gd name="connsiteX4" fmla="*/ 4892003 w 5299562"/>
                <a:gd name="connsiteY4" fmla="*/ 10027145 h 10027145"/>
                <a:gd name="connsiteX5" fmla="*/ 1693279 w 5299562"/>
                <a:gd name="connsiteY5" fmla="*/ 10027145 h 10027145"/>
                <a:gd name="connsiteX6" fmla="*/ 0 w 5299562"/>
                <a:gd name="connsiteY6" fmla="*/ 10027145 h 10027145"/>
                <a:gd name="connsiteX0" fmla="*/ 3198724 w 3606283"/>
                <a:gd name="connsiteY0" fmla="*/ 0 h 10027145"/>
                <a:gd name="connsiteX1" fmla="*/ 3198724 w 3606283"/>
                <a:gd name="connsiteY1" fmla="*/ 4607455 h 10027145"/>
                <a:gd name="connsiteX2" fmla="*/ 3606283 w 3606283"/>
                <a:gd name="connsiteY2" fmla="*/ 5013572 h 10027145"/>
                <a:gd name="connsiteX3" fmla="*/ 3198724 w 3606283"/>
                <a:gd name="connsiteY3" fmla="*/ 5419689 h 10027145"/>
                <a:gd name="connsiteX4" fmla="*/ 3198724 w 3606283"/>
                <a:gd name="connsiteY4" fmla="*/ 10027145 h 10027145"/>
                <a:gd name="connsiteX5" fmla="*/ 0 w 3606283"/>
                <a:gd name="connsiteY5" fmla="*/ 10027145 h 10027145"/>
                <a:gd name="connsiteX0" fmla="*/ 0 w 407559"/>
                <a:gd name="connsiteY0" fmla="*/ 0 h 10027145"/>
                <a:gd name="connsiteX1" fmla="*/ 0 w 407559"/>
                <a:gd name="connsiteY1" fmla="*/ 4607455 h 10027145"/>
                <a:gd name="connsiteX2" fmla="*/ 407559 w 407559"/>
                <a:gd name="connsiteY2" fmla="*/ 5013572 h 10027145"/>
                <a:gd name="connsiteX3" fmla="*/ 0 w 407559"/>
                <a:gd name="connsiteY3" fmla="*/ 5419689 h 10027145"/>
                <a:gd name="connsiteX4" fmla="*/ 0 w 407559"/>
                <a:gd name="connsiteY4" fmla="*/ 10027145 h 10027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59" h="10027145">
                  <a:moveTo>
                    <a:pt x="0" y="0"/>
                  </a:moveTo>
                  <a:lnTo>
                    <a:pt x="0" y="4607455"/>
                  </a:lnTo>
                  <a:lnTo>
                    <a:pt x="407559" y="5013572"/>
                  </a:lnTo>
                  <a:lnTo>
                    <a:pt x="0" y="5419689"/>
                  </a:lnTo>
                  <a:lnTo>
                    <a:pt x="0" y="10027145"/>
                  </a:lnTo>
                </a:path>
              </a:pathLst>
            </a:custGeom>
            <a:noFill/>
            <a:ln w="38100">
              <a:solidFill>
                <a:schemeClr val="tx2">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mn-cs"/>
              </a:endParaRPr>
            </a:p>
          </p:txBody>
        </p:sp>
      </p:grpSp>
      <p:sp>
        <p:nvSpPr>
          <p:cNvPr id="68" name="TextBox 67">
            <a:extLst>
              <a:ext uri="{FF2B5EF4-FFF2-40B4-BE49-F238E27FC236}">
                <a16:creationId xmlns:a16="http://schemas.microsoft.com/office/drawing/2014/main" id="{296FB023-655B-C2F2-C7F3-FA3C81E3C696}"/>
              </a:ext>
            </a:extLst>
          </p:cNvPr>
          <p:cNvSpPr txBox="1"/>
          <p:nvPr/>
        </p:nvSpPr>
        <p:spPr>
          <a:xfrm>
            <a:off x="4994359" y="3143204"/>
            <a:ext cx="2672499" cy="892167"/>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Execution Accuracy</a:t>
            </a:r>
          </a:p>
          <a:p>
            <a:pPr lvl="0" algn="just" defTabSz="1219079">
              <a:lnSpc>
                <a:spcPct val="150000"/>
              </a:lnSpc>
              <a:defRPr/>
            </a:pPr>
            <a:r>
              <a:rPr lang="en-IN" sz="900" dirty="0">
                <a:solidFill>
                  <a:srgbClr val="2A2834">
                    <a:lumMod val="75000"/>
                    <a:lumOff val="25000"/>
                  </a:srgbClr>
                </a:solidFill>
                <a:latin typeface="Poppins" panose="00000500000000000000" pitchFamily="2" charset="0"/>
                <a:ea typeface="Tahoma" charset="0"/>
                <a:cs typeface="Poppins" panose="00000500000000000000" pitchFamily="2" charset="0"/>
              </a:rPr>
              <a:t>Whether the predicted Mongo pipeline returns the same result set as the SQL query (gold)</a:t>
            </a:r>
            <a:endParaRPr lang="ru-RU" sz="900" dirty="0">
              <a:solidFill>
                <a:srgbClr val="2A2834">
                  <a:lumMod val="75000"/>
                  <a:lumOff val="25000"/>
                </a:srgbClr>
              </a:solidFill>
              <a:latin typeface="Poppins" panose="00000500000000000000" pitchFamily="2" charset="0"/>
              <a:ea typeface="Tahoma" charset="0"/>
              <a:cs typeface="Poppins" panose="00000500000000000000" pitchFamily="2" charset="0"/>
            </a:endParaRPr>
          </a:p>
        </p:txBody>
      </p:sp>
      <p:sp>
        <p:nvSpPr>
          <p:cNvPr id="69" name="TextBox 68">
            <a:extLst>
              <a:ext uri="{FF2B5EF4-FFF2-40B4-BE49-F238E27FC236}">
                <a16:creationId xmlns:a16="http://schemas.microsoft.com/office/drawing/2014/main" id="{8217D88B-9583-2F87-21D9-B3764613214B}"/>
              </a:ext>
            </a:extLst>
          </p:cNvPr>
          <p:cNvSpPr txBox="1"/>
          <p:nvPr/>
        </p:nvSpPr>
        <p:spPr>
          <a:xfrm>
            <a:off x="4994360" y="2147400"/>
            <a:ext cx="1054924" cy="953851"/>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50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01</a:t>
            </a:r>
            <a:endParaRPr kumimoji="0" lang="ru-RU" sz="5000" b="0" i="0" u="none" strike="noStrike" kern="1200" cap="none" spc="0" normalizeH="0" baseline="0" noProof="0" dirty="0">
              <a:ln>
                <a:noFill/>
              </a:ln>
              <a:solidFill>
                <a:srgbClr val="2A2834">
                  <a:lumMod val="75000"/>
                  <a:lumOff val="25000"/>
                </a:srgbClr>
              </a:solidFill>
              <a:effectLst/>
              <a:uLnTx/>
              <a:uFillTx/>
              <a:latin typeface="Tahoma" charset="0"/>
              <a:ea typeface="Tahoma" charset="0"/>
              <a:cs typeface="Poppins" panose="00000500000000000000" pitchFamily="2" charset="0"/>
            </a:endParaRPr>
          </a:p>
        </p:txBody>
      </p:sp>
      <p:grpSp>
        <p:nvGrpSpPr>
          <p:cNvPr id="70" name="Group 69">
            <a:extLst>
              <a:ext uri="{FF2B5EF4-FFF2-40B4-BE49-F238E27FC236}">
                <a16:creationId xmlns:a16="http://schemas.microsoft.com/office/drawing/2014/main" id="{FEEF21DA-B81C-0FC2-E709-212F90E35275}"/>
              </a:ext>
            </a:extLst>
          </p:cNvPr>
          <p:cNvGrpSpPr/>
          <p:nvPr/>
        </p:nvGrpSpPr>
        <p:grpSpPr>
          <a:xfrm>
            <a:off x="4994359" y="4874253"/>
            <a:ext cx="2680965" cy="713272"/>
            <a:chOff x="3281307" y="4874253"/>
            <a:chExt cx="2680965" cy="713272"/>
          </a:xfrm>
        </p:grpSpPr>
        <p:sp>
          <p:nvSpPr>
            <p:cNvPr id="71" name="Овал 139">
              <a:extLst>
                <a:ext uri="{FF2B5EF4-FFF2-40B4-BE49-F238E27FC236}">
                  <a16:creationId xmlns:a16="http://schemas.microsoft.com/office/drawing/2014/main" id="{B4BAC8B6-F1F4-B865-687B-BDBFCCA2C833}"/>
                </a:ext>
              </a:extLst>
            </p:cNvPr>
            <p:cNvSpPr/>
            <p:nvPr/>
          </p:nvSpPr>
          <p:spPr>
            <a:xfrm>
              <a:off x="3281307" y="4960504"/>
              <a:ext cx="450012" cy="450012"/>
            </a:xfrm>
            <a:prstGeom prst="ellipse">
              <a:avLst/>
            </a:prstGeom>
            <a:solidFill>
              <a:srgbClr val="FFD5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017" rtl="0" eaLnBrk="1" fontAlgn="auto" latinLnBrk="0" hangingPunct="1">
                <a:lnSpc>
                  <a:spcPct val="120000"/>
                </a:lnSpc>
                <a:spcBef>
                  <a:spcPts val="30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A</a:t>
              </a:r>
              <a:endParaRPr kumimoji="0" lang="ru-RU" sz="1600" b="1" i="0" u="none" strike="noStrike" kern="1200" cap="none" spc="0" normalizeH="0" baseline="0" noProof="0" dirty="0">
                <a:ln>
                  <a:noFill/>
                </a:ln>
                <a:solidFill>
                  <a:srgbClr val="FFFFFF"/>
                </a:solidFill>
                <a:effectLst/>
                <a:uLnTx/>
                <a:uFillTx/>
                <a:latin typeface="Tahoma" panose="020B0604030504040204" pitchFamily="34" charset="0"/>
                <a:ea typeface="Tahoma" panose="020B0604030504040204" pitchFamily="34" charset="0"/>
                <a:cs typeface="Poppins" panose="00000500000000000000" pitchFamily="2" charset="0"/>
              </a:endParaRPr>
            </a:p>
          </p:txBody>
        </p:sp>
        <p:sp>
          <p:nvSpPr>
            <p:cNvPr id="72" name="TextBox 71">
              <a:extLst>
                <a:ext uri="{FF2B5EF4-FFF2-40B4-BE49-F238E27FC236}">
                  <a16:creationId xmlns:a16="http://schemas.microsoft.com/office/drawing/2014/main" id="{DAF5D893-2698-4C6D-D3F9-90735CC88B15}"/>
                </a:ext>
              </a:extLst>
            </p:cNvPr>
            <p:cNvSpPr txBox="1"/>
            <p:nvPr/>
          </p:nvSpPr>
          <p:spPr>
            <a:xfrm>
              <a:off x="3760951" y="4874253"/>
              <a:ext cx="2201321" cy="713272"/>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Pros</a:t>
              </a:r>
            </a:p>
            <a:p>
              <a:pPr marL="171450" lvl="0" indent="-171450" defTabSz="1219079">
                <a:lnSpc>
                  <a:spcPct val="120000"/>
                </a:lnSpc>
                <a:buFont typeface="Arial" panose="020B0604020202020204" pitchFamily="34" charset="0"/>
                <a:buChar char="•"/>
                <a:defRPr/>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Semantic correctness</a:t>
              </a:r>
            </a:p>
            <a:p>
              <a:pPr marL="171450" lvl="0" indent="-171450" defTabSz="1219079">
                <a:lnSpc>
                  <a:spcPct val="120000"/>
                </a:lnSpc>
                <a:buFont typeface="Arial" panose="020B0604020202020204" pitchFamily="34" charset="0"/>
                <a:buChar char="•"/>
                <a:defRPr/>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Ignores formatting differences</a:t>
              </a:r>
            </a:p>
            <a:p>
              <a:pPr marL="171450" lvl="0" indent="-171450" defTabSz="1219079">
                <a:lnSpc>
                  <a:spcPct val="120000"/>
                </a:lnSpc>
                <a:buFont typeface="Arial" panose="020B0604020202020204" pitchFamily="34" charset="0"/>
                <a:buChar char="•"/>
                <a:defRPr/>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Very realistic.</a:t>
              </a:r>
              <a:endParaRPr lang="en-US"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grpSp>
        <p:nvGrpSpPr>
          <p:cNvPr id="73" name="Group 72">
            <a:extLst>
              <a:ext uri="{FF2B5EF4-FFF2-40B4-BE49-F238E27FC236}">
                <a16:creationId xmlns:a16="http://schemas.microsoft.com/office/drawing/2014/main" id="{80B8B4BB-0FF0-1841-79E4-15FE1255D0A5}"/>
              </a:ext>
            </a:extLst>
          </p:cNvPr>
          <p:cNvGrpSpPr/>
          <p:nvPr/>
        </p:nvGrpSpPr>
        <p:grpSpPr>
          <a:xfrm>
            <a:off x="4994359" y="5890167"/>
            <a:ext cx="2680965" cy="879472"/>
            <a:chOff x="3281307" y="5890167"/>
            <a:chExt cx="2680965" cy="879472"/>
          </a:xfrm>
        </p:grpSpPr>
        <p:sp>
          <p:nvSpPr>
            <p:cNvPr id="74" name="Овал 139">
              <a:extLst>
                <a:ext uri="{FF2B5EF4-FFF2-40B4-BE49-F238E27FC236}">
                  <a16:creationId xmlns:a16="http://schemas.microsoft.com/office/drawing/2014/main" id="{A262D131-61F5-8521-BDA0-E5DE2233C778}"/>
                </a:ext>
              </a:extLst>
            </p:cNvPr>
            <p:cNvSpPr/>
            <p:nvPr/>
          </p:nvSpPr>
          <p:spPr>
            <a:xfrm>
              <a:off x="3281307" y="5946785"/>
              <a:ext cx="450012" cy="450012"/>
            </a:xfrm>
            <a:prstGeom prst="ellipse">
              <a:avLst/>
            </a:prstGeom>
            <a:solidFill>
              <a:srgbClr val="7CE20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017" rtl="0" eaLnBrk="1" fontAlgn="auto" latinLnBrk="0" hangingPunct="1">
                <a:lnSpc>
                  <a:spcPct val="120000"/>
                </a:lnSpc>
                <a:spcBef>
                  <a:spcPts val="30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B</a:t>
              </a:r>
              <a:endParaRPr kumimoji="0" lang="ru-RU" sz="1600" b="1" i="0" u="none" strike="noStrike" kern="1200" cap="none" spc="0" normalizeH="0" baseline="0" noProof="0" dirty="0">
                <a:ln>
                  <a:noFill/>
                </a:ln>
                <a:solidFill>
                  <a:srgbClr val="FFFFFF"/>
                </a:solidFill>
                <a:effectLst/>
                <a:uLnTx/>
                <a:uFillTx/>
                <a:latin typeface="Tahoma" panose="020B0604030504040204" pitchFamily="34" charset="0"/>
                <a:ea typeface="Tahoma" panose="020B0604030504040204" pitchFamily="34" charset="0"/>
                <a:cs typeface="Poppins" panose="00000500000000000000" pitchFamily="2" charset="0"/>
              </a:endParaRPr>
            </a:p>
          </p:txBody>
        </p:sp>
        <p:sp>
          <p:nvSpPr>
            <p:cNvPr id="75" name="TextBox 74">
              <a:extLst>
                <a:ext uri="{FF2B5EF4-FFF2-40B4-BE49-F238E27FC236}">
                  <a16:creationId xmlns:a16="http://schemas.microsoft.com/office/drawing/2014/main" id="{172D68A6-28E8-E95B-BE13-69E9525A8FC3}"/>
                </a:ext>
              </a:extLst>
            </p:cNvPr>
            <p:cNvSpPr txBox="1"/>
            <p:nvPr/>
          </p:nvSpPr>
          <p:spPr>
            <a:xfrm>
              <a:off x="3760951" y="5890167"/>
              <a:ext cx="2201321" cy="879472"/>
            </a:xfrm>
            <a:prstGeom prst="rect">
              <a:avLst/>
            </a:prstGeom>
            <a:noFill/>
          </p:spPr>
          <p:txBody>
            <a:bodyPr wrap="square" rtlCol="0">
              <a:spAutoFit/>
            </a:bodyPr>
            <a:lstStyle/>
            <a:p>
              <a:pPr marL="0" marR="0" lvl="0" indent="0" algn="just" defTabSz="1219079" rtl="0" eaLnBrk="1" fontAlgn="auto" latinLnBrk="0" hangingPunct="1">
                <a:lnSpc>
                  <a:spcPct val="12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Cons</a:t>
              </a:r>
            </a:p>
            <a:p>
              <a:pPr lvl="0" defTabSz="1219079">
                <a:lnSpc>
                  <a:spcPct val="120000"/>
                </a:lnSpc>
                <a:defRPr/>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Can have false positives (different logic, same result on this DB) and false negatives (correct query but corner-case DB)</a:t>
              </a:r>
              <a:endParaRPr lang="en-US"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pic>
        <p:nvPicPr>
          <p:cNvPr id="3" name="Graphic 2">
            <a:extLst>
              <a:ext uri="{FF2B5EF4-FFF2-40B4-BE49-F238E27FC236}">
                <a16:creationId xmlns:a16="http://schemas.microsoft.com/office/drawing/2014/main" id="{29ACFF0B-90AA-A38C-0787-676C24B05243}"/>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10273980" y="0"/>
            <a:ext cx="289387" cy="349581"/>
          </a:xfrm>
          <a:prstGeom prst="rect">
            <a:avLst/>
          </a:prstGeom>
        </p:spPr>
      </p:pic>
      <p:sp>
        <p:nvSpPr>
          <p:cNvPr id="4" name="TextBox 3">
            <a:extLst>
              <a:ext uri="{FF2B5EF4-FFF2-40B4-BE49-F238E27FC236}">
                <a16:creationId xmlns:a16="http://schemas.microsoft.com/office/drawing/2014/main" id="{C92F458F-0FAA-9B83-7CAB-3C4CF833979E}"/>
              </a:ext>
            </a:extLst>
          </p:cNvPr>
          <p:cNvSpPr txBox="1"/>
          <p:nvPr/>
        </p:nvSpPr>
        <p:spPr>
          <a:xfrm>
            <a:off x="10563367" y="0"/>
            <a:ext cx="1091821" cy="382137"/>
          </a:xfrm>
          <a:prstGeom prst="rect">
            <a:avLst/>
          </a:prstGeom>
          <a:noFill/>
        </p:spPr>
        <p:txBody>
          <a:bodyPr wrap="square" rtlCol="0">
            <a:spAutoFit/>
          </a:bodyPr>
          <a:lstStyle/>
          <a:p>
            <a:r>
              <a:rPr lang="en-US" dirty="0"/>
              <a:t>Saurabh</a:t>
            </a:r>
          </a:p>
        </p:txBody>
      </p:sp>
    </p:spTree>
    <p:extLst>
      <p:ext uri="{BB962C8B-B14F-4D97-AF65-F5344CB8AC3E}">
        <p14:creationId xmlns:p14="http://schemas.microsoft.com/office/powerpoint/2010/main" val="2201387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up)">
                                      <p:cBhvr>
                                        <p:cTn id="7" dur="500"/>
                                        <p:tgtEl>
                                          <p:spTgt spid="54"/>
                                        </p:tgtEl>
                                      </p:cBhvr>
                                    </p:animEffect>
                                  </p:childTnLst>
                                </p:cTn>
                              </p:par>
                              <p:par>
                                <p:cTn id="8" presetID="22" presetClass="entr" presetSubtype="1" fill="hold"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wipe(up)">
                                      <p:cBhvr>
                                        <p:cTn id="10" dur="500"/>
                                        <p:tgtEl>
                                          <p:spTgt spid="51"/>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69"/>
                                        </p:tgtEl>
                                        <p:attrNameLst>
                                          <p:attrName>style.visibility</p:attrName>
                                        </p:attrNameLst>
                                      </p:cBhvr>
                                      <p:to>
                                        <p:strVal val="visible"/>
                                      </p:to>
                                    </p:set>
                                    <p:anim calcmode="lin" valueType="num">
                                      <p:cBhvr>
                                        <p:cTn id="13" dur="500" fill="hold"/>
                                        <p:tgtEl>
                                          <p:spTgt spid="69"/>
                                        </p:tgtEl>
                                        <p:attrNameLst>
                                          <p:attrName>ppt_w</p:attrName>
                                        </p:attrNameLst>
                                      </p:cBhvr>
                                      <p:tavLst>
                                        <p:tav tm="0">
                                          <p:val>
                                            <p:fltVal val="0"/>
                                          </p:val>
                                        </p:tav>
                                        <p:tav tm="100000">
                                          <p:val>
                                            <p:strVal val="#ppt_w"/>
                                          </p:val>
                                        </p:tav>
                                      </p:tavLst>
                                    </p:anim>
                                    <p:anim calcmode="lin" valueType="num">
                                      <p:cBhvr>
                                        <p:cTn id="14" dur="500" fill="hold"/>
                                        <p:tgtEl>
                                          <p:spTgt spid="69"/>
                                        </p:tgtEl>
                                        <p:attrNameLst>
                                          <p:attrName>ppt_h</p:attrName>
                                        </p:attrNameLst>
                                      </p:cBhvr>
                                      <p:tavLst>
                                        <p:tav tm="0">
                                          <p:val>
                                            <p:fltVal val="0"/>
                                          </p:val>
                                        </p:tav>
                                        <p:tav tm="100000">
                                          <p:val>
                                            <p:strVal val="#ppt_h"/>
                                          </p:val>
                                        </p:tav>
                                      </p:tavLst>
                                    </p:anim>
                                    <p:anim calcmode="lin" valueType="num">
                                      <p:cBhvr>
                                        <p:cTn id="15" dur="500" fill="hold"/>
                                        <p:tgtEl>
                                          <p:spTgt spid="69"/>
                                        </p:tgtEl>
                                        <p:attrNameLst>
                                          <p:attrName>style.rotation</p:attrName>
                                        </p:attrNameLst>
                                      </p:cBhvr>
                                      <p:tavLst>
                                        <p:tav tm="0">
                                          <p:val>
                                            <p:fltVal val="90"/>
                                          </p:val>
                                        </p:tav>
                                        <p:tav tm="100000">
                                          <p:val>
                                            <p:fltVal val="0"/>
                                          </p:val>
                                        </p:tav>
                                      </p:tavLst>
                                    </p:anim>
                                    <p:animEffect transition="in" filter="fade">
                                      <p:cBhvr>
                                        <p:cTn id="16" dur="500"/>
                                        <p:tgtEl>
                                          <p:spTgt spid="69"/>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animEffect transition="in" filter="wipe(left)">
                                      <p:cBhvr>
                                        <p:cTn id="19" dur="500"/>
                                        <p:tgtEl>
                                          <p:spTgt spid="68"/>
                                        </p:tgtEl>
                                      </p:cBhvr>
                                    </p:animEffect>
                                  </p:childTnLst>
                                </p:cTn>
                              </p:par>
                              <p:par>
                                <p:cTn id="20" presetID="37" presetClass="entr" presetSubtype="0" fill="hold" nodeType="with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fade">
                                      <p:cBhvr>
                                        <p:cTn id="22" dur="1000"/>
                                        <p:tgtEl>
                                          <p:spTgt spid="70"/>
                                        </p:tgtEl>
                                      </p:cBhvr>
                                    </p:animEffect>
                                    <p:anim calcmode="lin" valueType="num">
                                      <p:cBhvr>
                                        <p:cTn id="23" dur="1000" fill="hold"/>
                                        <p:tgtEl>
                                          <p:spTgt spid="70"/>
                                        </p:tgtEl>
                                        <p:attrNameLst>
                                          <p:attrName>ppt_x</p:attrName>
                                        </p:attrNameLst>
                                      </p:cBhvr>
                                      <p:tavLst>
                                        <p:tav tm="0">
                                          <p:val>
                                            <p:strVal val="#ppt_x"/>
                                          </p:val>
                                        </p:tav>
                                        <p:tav tm="100000">
                                          <p:val>
                                            <p:strVal val="#ppt_x"/>
                                          </p:val>
                                        </p:tav>
                                      </p:tavLst>
                                    </p:anim>
                                    <p:anim calcmode="lin" valueType="num">
                                      <p:cBhvr>
                                        <p:cTn id="24" dur="900" decel="100000" fill="hold"/>
                                        <p:tgtEl>
                                          <p:spTgt spid="70"/>
                                        </p:tgtEl>
                                        <p:attrNameLst>
                                          <p:attrName>ppt_y</p:attrName>
                                        </p:attrNameLst>
                                      </p:cBhvr>
                                      <p:tavLst>
                                        <p:tav tm="0">
                                          <p:val>
                                            <p:strVal val="#ppt_y+1"/>
                                          </p:val>
                                        </p:tav>
                                        <p:tav tm="100000">
                                          <p:val>
                                            <p:strVal val="#ppt_y-.03"/>
                                          </p:val>
                                        </p:tav>
                                      </p:tavLst>
                                    </p:anim>
                                    <p:anim calcmode="lin" valueType="num">
                                      <p:cBhvr>
                                        <p:cTn id="25" dur="100" accel="100000" fill="hold">
                                          <p:stCondLst>
                                            <p:cond delay="900"/>
                                          </p:stCondLst>
                                        </p:cTn>
                                        <p:tgtEl>
                                          <p:spTgt spid="70"/>
                                        </p:tgtEl>
                                        <p:attrNameLst>
                                          <p:attrName>ppt_y</p:attrName>
                                        </p:attrNameLst>
                                      </p:cBhvr>
                                      <p:tavLst>
                                        <p:tav tm="0">
                                          <p:val>
                                            <p:strVal val="#ppt_y-.03"/>
                                          </p:val>
                                        </p:tav>
                                        <p:tav tm="100000">
                                          <p:val>
                                            <p:strVal val="#ppt_y"/>
                                          </p:val>
                                        </p:tav>
                                      </p:tavLst>
                                    </p:anim>
                                  </p:childTnLst>
                                </p:cTn>
                              </p:par>
                              <p:par>
                                <p:cTn id="26" presetID="37" presetClass="entr" presetSubtype="0" fill="hold" nodeType="withEffect">
                                  <p:stCondLst>
                                    <p:cond delay="0"/>
                                  </p:stCondLst>
                                  <p:childTnLst>
                                    <p:set>
                                      <p:cBhvr>
                                        <p:cTn id="27" dur="1" fill="hold">
                                          <p:stCondLst>
                                            <p:cond delay="0"/>
                                          </p:stCondLst>
                                        </p:cTn>
                                        <p:tgtEl>
                                          <p:spTgt spid="73"/>
                                        </p:tgtEl>
                                        <p:attrNameLst>
                                          <p:attrName>style.visibility</p:attrName>
                                        </p:attrNameLst>
                                      </p:cBhvr>
                                      <p:to>
                                        <p:strVal val="visible"/>
                                      </p:to>
                                    </p:set>
                                    <p:animEffect transition="in" filter="fade">
                                      <p:cBhvr>
                                        <p:cTn id="28" dur="1000"/>
                                        <p:tgtEl>
                                          <p:spTgt spid="73"/>
                                        </p:tgtEl>
                                      </p:cBhvr>
                                    </p:animEffect>
                                    <p:anim calcmode="lin" valueType="num">
                                      <p:cBhvr>
                                        <p:cTn id="29" dur="1000" fill="hold"/>
                                        <p:tgtEl>
                                          <p:spTgt spid="73"/>
                                        </p:tgtEl>
                                        <p:attrNameLst>
                                          <p:attrName>ppt_x</p:attrName>
                                        </p:attrNameLst>
                                      </p:cBhvr>
                                      <p:tavLst>
                                        <p:tav tm="0">
                                          <p:val>
                                            <p:strVal val="#ppt_x"/>
                                          </p:val>
                                        </p:tav>
                                        <p:tav tm="100000">
                                          <p:val>
                                            <p:strVal val="#ppt_x"/>
                                          </p:val>
                                        </p:tav>
                                      </p:tavLst>
                                    </p:anim>
                                    <p:anim calcmode="lin" valueType="num">
                                      <p:cBhvr>
                                        <p:cTn id="30" dur="900" decel="100000" fill="hold"/>
                                        <p:tgtEl>
                                          <p:spTgt spid="73"/>
                                        </p:tgtEl>
                                        <p:attrNameLst>
                                          <p:attrName>ppt_y</p:attrName>
                                        </p:attrNameLst>
                                      </p:cBhvr>
                                      <p:tavLst>
                                        <p:tav tm="0">
                                          <p:val>
                                            <p:strVal val="#ppt_y+1"/>
                                          </p:val>
                                        </p:tav>
                                        <p:tav tm="100000">
                                          <p:val>
                                            <p:strVal val="#ppt_y-.03"/>
                                          </p:val>
                                        </p:tav>
                                      </p:tavLst>
                                    </p:anim>
                                    <p:anim calcmode="lin" valueType="num">
                                      <p:cBhvr>
                                        <p:cTn id="31" dur="100" accel="100000" fill="hold">
                                          <p:stCondLst>
                                            <p:cond delay="900"/>
                                          </p:stCondLst>
                                        </p:cTn>
                                        <p:tgtEl>
                                          <p:spTgt spid="7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F771B4-6D62-19C4-E664-FDEAA76889A9}"/>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990E00F-D0C5-15FB-6262-7935D8463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8BA0553-35B1-FF66-F913-240DBAFD11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01772A44-212F-59AD-A1DC-847CC8041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2" name="Freeform: Shape 11">
              <a:extLst>
                <a:ext uri="{FF2B5EF4-FFF2-40B4-BE49-F238E27FC236}">
                  <a16:creationId xmlns:a16="http://schemas.microsoft.com/office/drawing/2014/main" id="{2379EFBB-4122-6DC7-ED55-A4DA15ABA7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96C85BBF-9144-B6CF-147C-A9E8B3384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C0FD3A24-B329-D366-D15B-799D2418D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3EEE0283-336E-1B71-B544-5A5CECC02F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34DDBC8E-7C65-1EBC-44E2-2E34FB039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7" name="Freeform: Shape 16">
              <a:extLst>
                <a:ext uri="{FF2B5EF4-FFF2-40B4-BE49-F238E27FC236}">
                  <a16:creationId xmlns:a16="http://schemas.microsoft.com/office/drawing/2014/main" id="{80F1AF19-4F9D-30A1-8084-EBF5C2B67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88D237B7-4DA2-72E4-8F13-D23162F2C2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081BA810-41AD-1094-9A80-5C4896C693FD}"/>
              </a:ext>
            </a:extLst>
          </p:cNvPr>
          <p:cNvSpPr>
            <a:spLocks noGrp="1"/>
          </p:cNvSpPr>
          <p:nvPr>
            <p:ph type="ctrTitle"/>
          </p:nvPr>
        </p:nvSpPr>
        <p:spPr>
          <a:xfrm>
            <a:off x="3215729" y="1764407"/>
            <a:ext cx="5760846" cy="2310312"/>
          </a:xfrm>
        </p:spPr>
        <p:txBody>
          <a:bodyPr>
            <a:normAutofit/>
          </a:bodyPr>
          <a:lstStyle/>
          <a:p>
            <a:r>
              <a:rPr lang="en-US" sz="5200" dirty="0">
                <a:solidFill>
                  <a:schemeClr val="tx2"/>
                </a:solidFill>
              </a:rPr>
              <a:t>Traditional Methods</a:t>
            </a:r>
          </a:p>
        </p:txBody>
      </p:sp>
    </p:spTree>
    <p:extLst>
      <p:ext uri="{BB962C8B-B14F-4D97-AF65-F5344CB8AC3E}">
        <p14:creationId xmlns:p14="http://schemas.microsoft.com/office/powerpoint/2010/main" val="2344833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AE40D-765F-2304-4C95-B18716B6F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2DA85E-20C9-69D6-42DC-31CBF7C8A616}"/>
              </a:ext>
            </a:extLst>
          </p:cNvPr>
          <p:cNvSpPr>
            <a:spLocks noGrp="1"/>
          </p:cNvSpPr>
          <p:nvPr>
            <p:ph type="ctrTitle"/>
          </p:nvPr>
        </p:nvSpPr>
        <p:spPr>
          <a:xfrm>
            <a:off x="1524000" y="104798"/>
            <a:ext cx="9144000" cy="1189429"/>
          </a:xfrm>
        </p:spPr>
        <p:txBody>
          <a:bodyPr>
            <a:normAutofit/>
          </a:bodyPr>
          <a:lstStyle/>
          <a:p>
            <a:r>
              <a:rPr lang="en-US" dirty="0"/>
              <a:t>Our Approach – Text-&gt;SQL</a:t>
            </a:r>
          </a:p>
        </p:txBody>
      </p:sp>
      <p:grpSp>
        <p:nvGrpSpPr>
          <p:cNvPr id="94" name="Group 93">
            <a:extLst>
              <a:ext uri="{FF2B5EF4-FFF2-40B4-BE49-F238E27FC236}">
                <a16:creationId xmlns:a16="http://schemas.microsoft.com/office/drawing/2014/main" id="{6482B775-AFE9-22D6-2907-5B2E88C7F397}"/>
              </a:ext>
            </a:extLst>
          </p:cNvPr>
          <p:cNvGrpSpPr/>
          <p:nvPr/>
        </p:nvGrpSpPr>
        <p:grpSpPr>
          <a:xfrm>
            <a:off x="840100" y="1629034"/>
            <a:ext cx="4852005" cy="2210566"/>
            <a:chOff x="840100" y="1629034"/>
            <a:chExt cx="4852005" cy="2210566"/>
          </a:xfrm>
        </p:grpSpPr>
        <p:pic>
          <p:nvPicPr>
            <p:cNvPr id="95" name="Рисунок 8">
              <a:extLst>
                <a:ext uri="{FF2B5EF4-FFF2-40B4-BE49-F238E27FC236}">
                  <a16:creationId xmlns:a16="http://schemas.microsoft.com/office/drawing/2014/main" id="{E4D54B9C-848D-3B31-82C8-717D37032A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0100" y="1629034"/>
              <a:ext cx="4852005" cy="2210566"/>
            </a:xfrm>
            <a:prstGeom prst="rect">
              <a:avLst/>
            </a:prstGeom>
          </p:spPr>
        </p:pic>
        <p:sp>
          <p:nvSpPr>
            <p:cNvPr id="98" name="TextBox 97">
              <a:extLst>
                <a:ext uri="{FF2B5EF4-FFF2-40B4-BE49-F238E27FC236}">
                  <a16:creationId xmlns:a16="http://schemas.microsoft.com/office/drawing/2014/main" id="{F118BC80-7BEB-ECBE-41D2-34E11B3DF177}"/>
                </a:ext>
              </a:extLst>
            </p:cNvPr>
            <p:cNvSpPr txBox="1"/>
            <p:nvPr/>
          </p:nvSpPr>
          <p:spPr>
            <a:xfrm>
              <a:off x="1065481" y="1727456"/>
              <a:ext cx="3101936" cy="1661993"/>
            </a:xfrm>
            <a:prstGeom prst="rect">
              <a:avLst/>
            </a:prstGeom>
            <a:noFill/>
          </p:spPr>
          <p:txBody>
            <a:bodyPr wrap="square" rtlCol="0">
              <a:spAutoFit/>
            </a:bodyPr>
            <a:lstStyle/>
            <a:p>
              <a:pPr marL="0" marR="0" lvl="0" indent="0" algn="l" defTabSz="121907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Problem Understanding</a:t>
              </a:r>
            </a:p>
            <a:p>
              <a:pPr marL="171450"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Enable users to query databases using natural language instead of SQL.</a:t>
              </a:r>
            </a:p>
            <a:p>
              <a:pPr marL="171450"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Requires understanding:</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User intent</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Database schema (tables, columns, PK/FK relations)</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Query structure (joins, filters, grouping, nesting)</a:t>
              </a:r>
            </a:p>
            <a:p>
              <a:pPr marL="171450"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Must generalize across unseen schemas, not just memorize queries.</a:t>
              </a:r>
              <a:endParaRPr lang="en-US"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grpSp>
        <p:nvGrpSpPr>
          <p:cNvPr id="102" name="Group 101">
            <a:extLst>
              <a:ext uri="{FF2B5EF4-FFF2-40B4-BE49-F238E27FC236}">
                <a16:creationId xmlns:a16="http://schemas.microsoft.com/office/drawing/2014/main" id="{C7912152-C3C4-5B01-37F2-B114B66271D3}"/>
              </a:ext>
            </a:extLst>
          </p:cNvPr>
          <p:cNvGrpSpPr/>
          <p:nvPr/>
        </p:nvGrpSpPr>
        <p:grpSpPr>
          <a:xfrm>
            <a:off x="6527992" y="1629034"/>
            <a:ext cx="4852005" cy="2210566"/>
            <a:chOff x="6527992" y="1629034"/>
            <a:chExt cx="4852005" cy="2210566"/>
          </a:xfrm>
        </p:grpSpPr>
        <p:pic>
          <p:nvPicPr>
            <p:cNvPr id="103" name="Рисунок 9">
              <a:extLst>
                <a:ext uri="{FF2B5EF4-FFF2-40B4-BE49-F238E27FC236}">
                  <a16:creationId xmlns:a16="http://schemas.microsoft.com/office/drawing/2014/main" id="{529D56E3-D19B-DE65-F9D7-082C07723CE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992" y="1629034"/>
              <a:ext cx="4852005" cy="2210566"/>
            </a:xfrm>
            <a:prstGeom prst="rect">
              <a:avLst/>
            </a:prstGeom>
          </p:spPr>
        </p:pic>
        <p:sp>
          <p:nvSpPr>
            <p:cNvPr id="106" name="TextBox 105">
              <a:extLst>
                <a:ext uri="{FF2B5EF4-FFF2-40B4-BE49-F238E27FC236}">
                  <a16:creationId xmlns:a16="http://schemas.microsoft.com/office/drawing/2014/main" id="{12353628-4FAB-0DE8-C6DC-E9E471F64005}"/>
                </a:ext>
              </a:extLst>
            </p:cNvPr>
            <p:cNvSpPr txBox="1"/>
            <p:nvPr/>
          </p:nvSpPr>
          <p:spPr>
            <a:xfrm>
              <a:off x="6738167" y="1727456"/>
              <a:ext cx="3130228" cy="1599669"/>
            </a:xfrm>
            <a:prstGeom prst="rect">
              <a:avLst/>
            </a:prstGeom>
            <a:noFill/>
          </p:spPr>
          <p:txBody>
            <a:bodyPr wrap="square" rtlCol="0">
              <a:spAutoFit/>
            </a:bodyPr>
            <a:lstStyle/>
            <a:p>
              <a:pPr marL="0" marR="0" lvl="0" indent="0" algn="l" defTabSz="121907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Model Build</a:t>
              </a:r>
            </a:p>
            <a:p>
              <a:pPr marL="171450" marR="0" lvl="0" indent="-171450" algn="l" defTabSz="1219079" rtl="0" eaLnBrk="1" fontAlgn="auto" latinLnBrk="0" hangingPunct="1">
                <a:lnSpc>
                  <a:spcPct val="120000"/>
                </a:lnSpc>
                <a:spcBef>
                  <a:spcPts val="0"/>
                </a:spcBef>
                <a:spcAft>
                  <a:spcPts val="0"/>
                </a:spcAft>
                <a:buClrTx/>
                <a:buSzTx/>
                <a:buFont typeface="Wingdings" pitchFamily="2" charset="2"/>
                <a:buChar char="Ø"/>
                <a:tabLst/>
                <a:defRPr/>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SQLNet (LSTM baseline) — implemented from scratch</a:t>
              </a:r>
            </a:p>
            <a:p>
              <a:pPr marL="171450"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T5-Base Fine-Tuned — trained from scratch on Spider</a:t>
              </a:r>
            </a:p>
            <a:p>
              <a:pPr marL="171450" indent="-171450">
                <a:buFont typeface="Wingdings" pitchFamily="2" charset="2"/>
                <a:buChar char="Ø"/>
              </a:pPr>
              <a:r>
                <a:rPr lang="en-IN" sz="900" dirty="0" err="1">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GaussAlgo</a:t>
              </a: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 T5-Large — </a:t>
              </a:r>
              <a:r>
                <a:rPr lang="en-IN" sz="900" dirty="0" err="1">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HuggingFace</a:t>
              </a: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 SOTA benchmark</a:t>
              </a:r>
            </a:p>
            <a:p>
              <a:pPr marL="171450"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 RAT-SQL-Lite-T5 (Custom Model) — schema graph + PK/FK + T5 decoder</a:t>
              </a:r>
            </a:p>
            <a:p>
              <a:pPr marL="0" marR="0" lvl="0" indent="0" algn="l" defTabSz="1219079" rtl="0" eaLnBrk="1" fontAlgn="auto" latinLnBrk="0" hangingPunct="1">
                <a:lnSpc>
                  <a:spcPct val="12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endParaRPr>
            </a:p>
          </p:txBody>
        </p:sp>
      </p:grpSp>
      <p:grpSp>
        <p:nvGrpSpPr>
          <p:cNvPr id="110" name="Group 109">
            <a:extLst>
              <a:ext uri="{FF2B5EF4-FFF2-40B4-BE49-F238E27FC236}">
                <a16:creationId xmlns:a16="http://schemas.microsoft.com/office/drawing/2014/main" id="{667225BD-4EF4-9C56-ECF5-68F932EAA57D}"/>
              </a:ext>
            </a:extLst>
          </p:cNvPr>
          <p:cNvGrpSpPr/>
          <p:nvPr/>
        </p:nvGrpSpPr>
        <p:grpSpPr>
          <a:xfrm>
            <a:off x="849421" y="4098379"/>
            <a:ext cx="4852005" cy="2210566"/>
            <a:chOff x="849421" y="4098379"/>
            <a:chExt cx="4852005" cy="2210566"/>
          </a:xfrm>
        </p:grpSpPr>
        <p:pic>
          <p:nvPicPr>
            <p:cNvPr id="111" name="Рисунок 7">
              <a:extLst>
                <a:ext uri="{FF2B5EF4-FFF2-40B4-BE49-F238E27FC236}">
                  <a16:creationId xmlns:a16="http://schemas.microsoft.com/office/drawing/2014/main" id="{7335AD24-A72A-5436-4197-03ECE8B416D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9421" y="4098379"/>
              <a:ext cx="4852005" cy="2210566"/>
            </a:xfrm>
            <a:prstGeom prst="rect">
              <a:avLst/>
            </a:prstGeom>
          </p:spPr>
        </p:pic>
        <p:sp>
          <p:nvSpPr>
            <p:cNvPr id="114" name="TextBox 113">
              <a:extLst>
                <a:ext uri="{FF2B5EF4-FFF2-40B4-BE49-F238E27FC236}">
                  <a16:creationId xmlns:a16="http://schemas.microsoft.com/office/drawing/2014/main" id="{26CADEAD-26F1-B0AA-39F5-882A73BB2971}"/>
                </a:ext>
              </a:extLst>
            </p:cNvPr>
            <p:cNvSpPr txBox="1"/>
            <p:nvPr/>
          </p:nvSpPr>
          <p:spPr>
            <a:xfrm>
              <a:off x="1065480" y="4184835"/>
              <a:ext cx="3934031" cy="1938992"/>
            </a:xfrm>
            <a:prstGeom prst="rect">
              <a:avLst/>
            </a:prstGeom>
            <a:noFill/>
          </p:spPr>
          <p:txBody>
            <a:bodyPr wrap="square" rtlCol="0">
              <a:spAutoFit/>
            </a:bodyPr>
            <a:lstStyle/>
            <a:p>
              <a:pPr marL="0" marR="0" lvl="0" indent="0" algn="l" defTabSz="121907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Dataset Curation</a:t>
              </a:r>
            </a:p>
            <a:p>
              <a:pPr marL="171450"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Used Spider (10,181 NL ↔ SQL pairs across 200 databases).</a:t>
              </a:r>
            </a:p>
            <a:p>
              <a:pPr marL="171450"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Per example, extracted:</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Natural language question</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Ground truth SQL query</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Database schema (tables, columns, constraints)</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SQLite database for actual execution</a:t>
              </a:r>
            </a:p>
            <a:p>
              <a:pPr marL="171450"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Built custom loaders to:</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Parse schema JSON</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Map PK/FK relationships</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Prepare inputs for each model (flat text vs. graph-based)</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Handle batching, tokenization, and truncation</a:t>
              </a:r>
            </a:p>
          </p:txBody>
        </p:sp>
      </p:grpSp>
      <p:grpSp>
        <p:nvGrpSpPr>
          <p:cNvPr id="118" name="Group 117">
            <a:extLst>
              <a:ext uri="{FF2B5EF4-FFF2-40B4-BE49-F238E27FC236}">
                <a16:creationId xmlns:a16="http://schemas.microsoft.com/office/drawing/2014/main" id="{E32F258F-1337-BA7F-1F25-A89B20A6CA87}"/>
              </a:ext>
            </a:extLst>
          </p:cNvPr>
          <p:cNvGrpSpPr/>
          <p:nvPr/>
        </p:nvGrpSpPr>
        <p:grpSpPr>
          <a:xfrm>
            <a:off x="6527992" y="4098379"/>
            <a:ext cx="4852005" cy="2210566"/>
            <a:chOff x="6527992" y="4098379"/>
            <a:chExt cx="4852005" cy="2210566"/>
          </a:xfrm>
        </p:grpSpPr>
        <p:pic>
          <p:nvPicPr>
            <p:cNvPr id="119" name="Рисунок 10">
              <a:extLst>
                <a:ext uri="{FF2B5EF4-FFF2-40B4-BE49-F238E27FC236}">
                  <a16:creationId xmlns:a16="http://schemas.microsoft.com/office/drawing/2014/main" id="{D6277EDB-CB2B-37F7-EDA4-DCE9545EFAC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27992" y="4098379"/>
              <a:ext cx="4852005" cy="2210566"/>
            </a:xfrm>
            <a:prstGeom prst="rect">
              <a:avLst/>
            </a:prstGeom>
          </p:spPr>
        </p:pic>
        <p:sp>
          <p:nvSpPr>
            <p:cNvPr id="122" name="TextBox 121">
              <a:extLst>
                <a:ext uri="{FF2B5EF4-FFF2-40B4-BE49-F238E27FC236}">
                  <a16:creationId xmlns:a16="http://schemas.microsoft.com/office/drawing/2014/main" id="{BF0E4B49-0720-2DE2-ED72-C5E54F8DEB76}"/>
                </a:ext>
              </a:extLst>
            </p:cNvPr>
            <p:cNvSpPr txBox="1"/>
            <p:nvPr/>
          </p:nvSpPr>
          <p:spPr>
            <a:xfrm>
              <a:off x="6738166" y="4184835"/>
              <a:ext cx="3795247" cy="2077492"/>
            </a:xfrm>
            <a:prstGeom prst="rect">
              <a:avLst/>
            </a:prstGeom>
            <a:noFill/>
          </p:spPr>
          <p:txBody>
            <a:bodyPr wrap="square" rtlCol="0">
              <a:spAutoFit/>
            </a:bodyPr>
            <a:lstStyle/>
            <a:p>
              <a:pPr marL="0" marR="0" lvl="0" indent="0" algn="l" defTabSz="121907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Evaluation &amp; Benchmarking</a:t>
              </a:r>
            </a:p>
            <a:p>
              <a:pPr marL="171450"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Computed:</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Exact Match (EM) → strict match with gold SQL</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Execution Accuracy (EX) → output equivalence using SQLite</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Test-Suite Accuracy (TSA) → functional SQL correctness</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Valid Efficiency Score (VES) → correctness + compactness</a:t>
              </a:r>
            </a:p>
            <a:p>
              <a:pPr marL="171450"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Benchmarked all 4 models under identical conditions.</a:t>
              </a:r>
            </a:p>
            <a:p>
              <a:endPar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a:p>
              <a:pPr marL="171450" indent="-171450">
                <a:buFont typeface="Wingdings" pitchFamily="2" charset="2"/>
                <a:buChar char="Ø"/>
              </a:pPr>
              <a:r>
                <a:rPr lang="en-IN" sz="900" b="1" dirty="0">
                  <a:solidFill>
                    <a:srgbClr val="FFC000"/>
                  </a:solidFill>
                  <a:latin typeface="Poppins" panose="00000500000000000000" pitchFamily="2" charset="0"/>
                  <a:ea typeface="Tahoma" panose="020B0604030504040204" pitchFamily="34" charset="0"/>
                  <a:cs typeface="Poppins" panose="00000500000000000000" pitchFamily="2" charset="0"/>
                </a:rPr>
                <a:t>RAT-SQL-T5 achieved the best EM and Execution Accuracy, proving that schema graphs significantly improve performance.</a:t>
              </a:r>
            </a:p>
          </p:txBody>
        </p:sp>
      </p:grpSp>
      <p:pic>
        <p:nvPicPr>
          <p:cNvPr id="3" name="Graphic 2">
            <a:extLst>
              <a:ext uri="{FF2B5EF4-FFF2-40B4-BE49-F238E27FC236}">
                <a16:creationId xmlns:a16="http://schemas.microsoft.com/office/drawing/2014/main" id="{E0DA2F05-3B2D-CABC-05B6-96DB8D2ADD00}"/>
              </a:ext>
            </a:extLst>
          </p:cNvPr>
          <p:cNvPicPr>
            <a:picLocks noChangeAspect="1"/>
          </p:cNvPicPr>
          <p:nvPr/>
        </p:nvPicPr>
        <p:blipFill>
          <a:blip r:embed="rId10">
            <a:extLst>
              <a:ext uri="{96DAC541-7B7A-43D3-8B79-37D633B846F1}">
                <asvg:svgBlip xmlns:asvg="http://schemas.microsoft.com/office/drawing/2016/SVG/main" r:embed="rId11"/>
              </a:ext>
              <a:ext uri="{837473B0-CC2E-450A-ABE3-18F120FF3D39}">
                <a1611:picAttrSrcUrl xmlns:a1611="http://schemas.microsoft.com/office/drawing/2016/11/main" r:id="rId12"/>
              </a:ext>
            </a:extLst>
          </a:blip>
          <a:stretch>
            <a:fillRect/>
          </a:stretch>
        </p:blipFill>
        <p:spPr>
          <a:xfrm>
            <a:off x="10273980" y="0"/>
            <a:ext cx="289387" cy="349581"/>
          </a:xfrm>
          <a:prstGeom prst="rect">
            <a:avLst/>
          </a:prstGeom>
        </p:spPr>
      </p:pic>
      <p:sp>
        <p:nvSpPr>
          <p:cNvPr id="4" name="TextBox 3">
            <a:extLst>
              <a:ext uri="{FF2B5EF4-FFF2-40B4-BE49-F238E27FC236}">
                <a16:creationId xmlns:a16="http://schemas.microsoft.com/office/drawing/2014/main" id="{0420ACEC-5DDA-957D-43BF-DF49BE64569A}"/>
              </a:ext>
            </a:extLst>
          </p:cNvPr>
          <p:cNvSpPr txBox="1"/>
          <p:nvPr/>
        </p:nvSpPr>
        <p:spPr>
          <a:xfrm>
            <a:off x="10563367" y="0"/>
            <a:ext cx="1091821" cy="382137"/>
          </a:xfrm>
          <a:prstGeom prst="rect">
            <a:avLst/>
          </a:prstGeom>
          <a:noFill/>
        </p:spPr>
        <p:txBody>
          <a:bodyPr wrap="square" rtlCol="0">
            <a:spAutoFit/>
          </a:bodyPr>
          <a:lstStyle/>
          <a:p>
            <a:r>
              <a:rPr lang="en-US" dirty="0"/>
              <a:t>Saurabh</a:t>
            </a:r>
          </a:p>
        </p:txBody>
      </p:sp>
    </p:spTree>
    <p:extLst>
      <p:ext uri="{BB962C8B-B14F-4D97-AF65-F5344CB8AC3E}">
        <p14:creationId xmlns:p14="http://schemas.microsoft.com/office/powerpoint/2010/main" val="2066153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nodeType="after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1000"/>
                                        <p:tgtEl>
                                          <p:spTgt spid="94"/>
                                        </p:tgtEl>
                                      </p:cBhvr>
                                    </p:animEffect>
                                    <p:anim calcmode="lin" valueType="num">
                                      <p:cBhvr>
                                        <p:cTn id="8" dur="1000" fill="hold"/>
                                        <p:tgtEl>
                                          <p:spTgt spid="94"/>
                                        </p:tgtEl>
                                        <p:attrNameLst>
                                          <p:attrName>ppt_x</p:attrName>
                                        </p:attrNameLst>
                                      </p:cBhvr>
                                      <p:tavLst>
                                        <p:tav tm="0">
                                          <p:val>
                                            <p:strVal val="#ppt_x"/>
                                          </p:val>
                                        </p:tav>
                                        <p:tav tm="100000">
                                          <p:val>
                                            <p:strVal val="#ppt_x"/>
                                          </p:val>
                                        </p:tav>
                                      </p:tavLst>
                                    </p:anim>
                                    <p:anim calcmode="lin" valueType="num">
                                      <p:cBhvr>
                                        <p:cTn id="9" dur="900" decel="100000" fill="hold"/>
                                        <p:tgtEl>
                                          <p:spTgt spid="94"/>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94"/>
                                        </p:tgtEl>
                                        <p:attrNameLst>
                                          <p:attrName>ppt_y</p:attrName>
                                        </p:attrNameLst>
                                      </p:cBhvr>
                                      <p:tavLst>
                                        <p:tav tm="0">
                                          <p:val>
                                            <p:strVal val="#ppt_y-.03"/>
                                          </p:val>
                                        </p:tav>
                                        <p:tav tm="100000">
                                          <p:val>
                                            <p:strVal val="#ppt_y"/>
                                          </p:val>
                                        </p:tav>
                                      </p:tavLst>
                                    </p:anim>
                                  </p:childTnLst>
                                </p:cTn>
                              </p:par>
                            </p:childTnLst>
                          </p:cTn>
                        </p:par>
                        <p:par>
                          <p:cTn id="11" fill="hold">
                            <p:stCondLst>
                              <p:cond delay="1000"/>
                            </p:stCondLst>
                            <p:childTnLst>
                              <p:par>
                                <p:cTn id="12" presetID="37" presetClass="entr" presetSubtype="0" fill="hold" nodeType="afterEffect">
                                  <p:stCondLst>
                                    <p:cond delay="0"/>
                                  </p:stCondLst>
                                  <p:childTnLst>
                                    <p:set>
                                      <p:cBhvr>
                                        <p:cTn id="13" dur="1" fill="hold">
                                          <p:stCondLst>
                                            <p:cond delay="0"/>
                                          </p:stCondLst>
                                        </p:cTn>
                                        <p:tgtEl>
                                          <p:spTgt spid="110"/>
                                        </p:tgtEl>
                                        <p:attrNameLst>
                                          <p:attrName>style.visibility</p:attrName>
                                        </p:attrNameLst>
                                      </p:cBhvr>
                                      <p:to>
                                        <p:strVal val="visible"/>
                                      </p:to>
                                    </p:set>
                                    <p:animEffect transition="in" filter="fade">
                                      <p:cBhvr>
                                        <p:cTn id="14" dur="1000"/>
                                        <p:tgtEl>
                                          <p:spTgt spid="110"/>
                                        </p:tgtEl>
                                      </p:cBhvr>
                                    </p:animEffect>
                                    <p:anim calcmode="lin" valueType="num">
                                      <p:cBhvr>
                                        <p:cTn id="15" dur="1000" fill="hold"/>
                                        <p:tgtEl>
                                          <p:spTgt spid="110"/>
                                        </p:tgtEl>
                                        <p:attrNameLst>
                                          <p:attrName>ppt_x</p:attrName>
                                        </p:attrNameLst>
                                      </p:cBhvr>
                                      <p:tavLst>
                                        <p:tav tm="0">
                                          <p:val>
                                            <p:strVal val="#ppt_x"/>
                                          </p:val>
                                        </p:tav>
                                        <p:tav tm="100000">
                                          <p:val>
                                            <p:strVal val="#ppt_x"/>
                                          </p:val>
                                        </p:tav>
                                      </p:tavLst>
                                    </p:anim>
                                    <p:anim calcmode="lin" valueType="num">
                                      <p:cBhvr>
                                        <p:cTn id="16" dur="900" decel="100000" fill="hold"/>
                                        <p:tgtEl>
                                          <p:spTgt spid="110"/>
                                        </p:tgtEl>
                                        <p:attrNameLst>
                                          <p:attrName>ppt_y</p:attrName>
                                        </p:attrNameLst>
                                      </p:cBhvr>
                                      <p:tavLst>
                                        <p:tav tm="0">
                                          <p:val>
                                            <p:strVal val="#ppt_y+1"/>
                                          </p:val>
                                        </p:tav>
                                        <p:tav tm="100000">
                                          <p:val>
                                            <p:strVal val="#ppt_y-.03"/>
                                          </p:val>
                                        </p:tav>
                                      </p:tavLst>
                                    </p:anim>
                                    <p:anim calcmode="lin" valueType="num">
                                      <p:cBhvr>
                                        <p:cTn id="17" dur="100" accel="100000" fill="hold">
                                          <p:stCondLst>
                                            <p:cond delay="900"/>
                                          </p:stCondLst>
                                        </p:cTn>
                                        <p:tgtEl>
                                          <p:spTgt spid="110"/>
                                        </p:tgtEl>
                                        <p:attrNameLst>
                                          <p:attrName>ppt_y</p:attrName>
                                        </p:attrNameLst>
                                      </p:cBhvr>
                                      <p:tavLst>
                                        <p:tav tm="0">
                                          <p:val>
                                            <p:strVal val="#ppt_y-.03"/>
                                          </p:val>
                                        </p:tav>
                                        <p:tav tm="100000">
                                          <p:val>
                                            <p:strVal val="#ppt_y"/>
                                          </p:val>
                                        </p:tav>
                                      </p:tavLst>
                                    </p:anim>
                                  </p:childTnLst>
                                </p:cTn>
                              </p:par>
                            </p:childTnLst>
                          </p:cTn>
                        </p:par>
                        <p:par>
                          <p:cTn id="18" fill="hold">
                            <p:stCondLst>
                              <p:cond delay="2000"/>
                            </p:stCondLst>
                            <p:childTnLst>
                              <p:par>
                                <p:cTn id="19" presetID="37" presetClass="entr" presetSubtype="0" fill="hold" nodeType="after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1000"/>
                                        <p:tgtEl>
                                          <p:spTgt spid="102"/>
                                        </p:tgtEl>
                                      </p:cBhvr>
                                    </p:animEffect>
                                    <p:anim calcmode="lin" valueType="num">
                                      <p:cBhvr>
                                        <p:cTn id="22" dur="1000" fill="hold"/>
                                        <p:tgtEl>
                                          <p:spTgt spid="102"/>
                                        </p:tgtEl>
                                        <p:attrNameLst>
                                          <p:attrName>ppt_x</p:attrName>
                                        </p:attrNameLst>
                                      </p:cBhvr>
                                      <p:tavLst>
                                        <p:tav tm="0">
                                          <p:val>
                                            <p:strVal val="#ppt_x"/>
                                          </p:val>
                                        </p:tav>
                                        <p:tav tm="100000">
                                          <p:val>
                                            <p:strVal val="#ppt_x"/>
                                          </p:val>
                                        </p:tav>
                                      </p:tavLst>
                                    </p:anim>
                                    <p:anim calcmode="lin" valueType="num">
                                      <p:cBhvr>
                                        <p:cTn id="23" dur="900" decel="100000" fill="hold"/>
                                        <p:tgtEl>
                                          <p:spTgt spid="102"/>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102"/>
                                        </p:tgtEl>
                                        <p:attrNameLst>
                                          <p:attrName>ppt_y</p:attrName>
                                        </p:attrNameLst>
                                      </p:cBhvr>
                                      <p:tavLst>
                                        <p:tav tm="0">
                                          <p:val>
                                            <p:strVal val="#ppt_y-.03"/>
                                          </p:val>
                                        </p:tav>
                                        <p:tav tm="100000">
                                          <p:val>
                                            <p:strVal val="#ppt_y"/>
                                          </p:val>
                                        </p:tav>
                                      </p:tavLst>
                                    </p:anim>
                                  </p:childTnLst>
                                </p:cTn>
                              </p:par>
                            </p:childTnLst>
                          </p:cTn>
                        </p:par>
                        <p:par>
                          <p:cTn id="25" fill="hold">
                            <p:stCondLst>
                              <p:cond delay="3000"/>
                            </p:stCondLst>
                            <p:childTnLst>
                              <p:par>
                                <p:cTn id="26" presetID="37" presetClass="entr" presetSubtype="0" fill="hold" nodeType="afterEffect">
                                  <p:stCondLst>
                                    <p:cond delay="0"/>
                                  </p:stCondLst>
                                  <p:childTnLst>
                                    <p:set>
                                      <p:cBhvr>
                                        <p:cTn id="27" dur="1" fill="hold">
                                          <p:stCondLst>
                                            <p:cond delay="0"/>
                                          </p:stCondLst>
                                        </p:cTn>
                                        <p:tgtEl>
                                          <p:spTgt spid="118"/>
                                        </p:tgtEl>
                                        <p:attrNameLst>
                                          <p:attrName>style.visibility</p:attrName>
                                        </p:attrNameLst>
                                      </p:cBhvr>
                                      <p:to>
                                        <p:strVal val="visible"/>
                                      </p:to>
                                    </p:set>
                                    <p:animEffect transition="in" filter="fade">
                                      <p:cBhvr>
                                        <p:cTn id="28" dur="1000"/>
                                        <p:tgtEl>
                                          <p:spTgt spid="118"/>
                                        </p:tgtEl>
                                      </p:cBhvr>
                                    </p:animEffect>
                                    <p:anim calcmode="lin" valueType="num">
                                      <p:cBhvr>
                                        <p:cTn id="29" dur="1000" fill="hold"/>
                                        <p:tgtEl>
                                          <p:spTgt spid="118"/>
                                        </p:tgtEl>
                                        <p:attrNameLst>
                                          <p:attrName>ppt_x</p:attrName>
                                        </p:attrNameLst>
                                      </p:cBhvr>
                                      <p:tavLst>
                                        <p:tav tm="0">
                                          <p:val>
                                            <p:strVal val="#ppt_x"/>
                                          </p:val>
                                        </p:tav>
                                        <p:tav tm="100000">
                                          <p:val>
                                            <p:strVal val="#ppt_x"/>
                                          </p:val>
                                        </p:tav>
                                      </p:tavLst>
                                    </p:anim>
                                    <p:anim calcmode="lin" valueType="num">
                                      <p:cBhvr>
                                        <p:cTn id="30" dur="900" decel="100000" fill="hold"/>
                                        <p:tgtEl>
                                          <p:spTgt spid="118"/>
                                        </p:tgtEl>
                                        <p:attrNameLst>
                                          <p:attrName>ppt_y</p:attrName>
                                        </p:attrNameLst>
                                      </p:cBhvr>
                                      <p:tavLst>
                                        <p:tav tm="0">
                                          <p:val>
                                            <p:strVal val="#ppt_y+1"/>
                                          </p:val>
                                        </p:tav>
                                        <p:tav tm="100000">
                                          <p:val>
                                            <p:strVal val="#ppt_y-.03"/>
                                          </p:val>
                                        </p:tav>
                                      </p:tavLst>
                                    </p:anim>
                                    <p:anim calcmode="lin" valueType="num">
                                      <p:cBhvr>
                                        <p:cTn id="31" dur="100" accel="100000" fill="hold">
                                          <p:stCondLst>
                                            <p:cond delay="900"/>
                                          </p:stCondLst>
                                        </p:cTn>
                                        <p:tgtEl>
                                          <p:spTgt spid="118"/>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12A83-5881-1A65-C127-9E101DEAF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18A935-34B4-646C-A789-D9B2F3E7B254}"/>
              </a:ext>
            </a:extLst>
          </p:cNvPr>
          <p:cNvSpPr>
            <a:spLocks noGrp="1"/>
          </p:cNvSpPr>
          <p:nvPr>
            <p:ph type="ctrTitle"/>
          </p:nvPr>
        </p:nvSpPr>
        <p:spPr>
          <a:xfrm>
            <a:off x="1524000" y="104798"/>
            <a:ext cx="9144000" cy="1189429"/>
          </a:xfrm>
        </p:spPr>
        <p:txBody>
          <a:bodyPr>
            <a:normAutofit fontScale="90000"/>
          </a:bodyPr>
          <a:lstStyle/>
          <a:p>
            <a:r>
              <a:rPr lang="en-US" dirty="0"/>
              <a:t>Our Approach – SQL-&gt;NoSQL</a:t>
            </a:r>
          </a:p>
        </p:txBody>
      </p:sp>
      <p:grpSp>
        <p:nvGrpSpPr>
          <p:cNvPr id="94" name="Group 93">
            <a:extLst>
              <a:ext uri="{FF2B5EF4-FFF2-40B4-BE49-F238E27FC236}">
                <a16:creationId xmlns:a16="http://schemas.microsoft.com/office/drawing/2014/main" id="{9E481BD1-D03B-6400-8F3F-E42ADFBF2ACD}"/>
              </a:ext>
            </a:extLst>
          </p:cNvPr>
          <p:cNvGrpSpPr/>
          <p:nvPr/>
        </p:nvGrpSpPr>
        <p:grpSpPr>
          <a:xfrm>
            <a:off x="840100" y="1629034"/>
            <a:ext cx="4852005" cy="2210566"/>
            <a:chOff x="840100" y="1629034"/>
            <a:chExt cx="4852005" cy="2210566"/>
          </a:xfrm>
        </p:grpSpPr>
        <p:pic>
          <p:nvPicPr>
            <p:cNvPr id="95" name="Рисунок 8">
              <a:extLst>
                <a:ext uri="{FF2B5EF4-FFF2-40B4-BE49-F238E27FC236}">
                  <a16:creationId xmlns:a16="http://schemas.microsoft.com/office/drawing/2014/main" id="{254BCB74-85C5-B86F-39CA-A6E9E139F3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0100" y="1629034"/>
              <a:ext cx="4852005" cy="2210566"/>
            </a:xfrm>
            <a:prstGeom prst="rect">
              <a:avLst/>
            </a:prstGeom>
          </p:spPr>
        </p:pic>
        <p:sp>
          <p:nvSpPr>
            <p:cNvPr id="98" name="TextBox 97">
              <a:extLst>
                <a:ext uri="{FF2B5EF4-FFF2-40B4-BE49-F238E27FC236}">
                  <a16:creationId xmlns:a16="http://schemas.microsoft.com/office/drawing/2014/main" id="{4CBDB7B5-2A24-2B99-698B-94587135923E}"/>
                </a:ext>
              </a:extLst>
            </p:cNvPr>
            <p:cNvSpPr txBox="1"/>
            <p:nvPr/>
          </p:nvSpPr>
          <p:spPr>
            <a:xfrm>
              <a:off x="1065481" y="1727456"/>
              <a:ext cx="3101936" cy="1920526"/>
            </a:xfrm>
            <a:prstGeom prst="rect">
              <a:avLst/>
            </a:prstGeom>
            <a:noFill/>
          </p:spPr>
          <p:txBody>
            <a:bodyPr wrap="square" rtlCol="0">
              <a:spAutoFit/>
            </a:bodyPr>
            <a:lstStyle/>
            <a:p>
              <a:pPr marL="0" marR="0" lvl="0" indent="0" algn="l" defTabSz="121907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Problem Understanding</a:t>
              </a:r>
            </a:p>
            <a:p>
              <a:pPr marL="171450"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Enable users to query databases using natural language instead of SQL.</a:t>
              </a:r>
            </a:p>
            <a:p>
              <a:pPr marL="171450"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Requires understanding:</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User intent</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Database schema (tables, columns, PK/FK relations)</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Query structure (joins, filters, grouping, nesting)</a:t>
              </a:r>
            </a:p>
            <a:p>
              <a:pPr marL="171450"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Must generalize across unseen schemas, not just memorize queries.</a:t>
              </a:r>
              <a:endParaRPr lang="en-US"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a:p>
              <a:pPr marL="171450"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Spider dataset chosen because it reflects real enterprise SQL complexity.</a:t>
              </a:r>
            </a:p>
          </p:txBody>
        </p:sp>
      </p:grpSp>
      <p:grpSp>
        <p:nvGrpSpPr>
          <p:cNvPr id="102" name="Group 101">
            <a:extLst>
              <a:ext uri="{FF2B5EF4-FFF2-40B4-BE49-F238E27FC236}">
                <a16:creationId xmlns:a16="http://schemas.microsoft.com/office/drawing/2014/main" id="{752CF4A9-59B2-4783-8D04-FC8FEEAB0F6F}"/>
              </a:ext>
            </a:extLst>
          </p:cNvPr>
          <p:cNvGrpSpPr/>
          <p:nvPr/>
        </p:nvGrpSpPr>
        <p:grpSpPr>
          <a:xfrm>
            <a:off x="6527992" y="1629034"/>
            <a:ext cx="4852005" cy="2210566"/>
            <a:chOff x="6527992" y="1629034"/>
            <a:chExt cx="4852005" cy="2210566"/>
          </a:xfrm>
        </p:grpSpPr>
        <p:pic>
          <p:nvPicPr>
            <p:cNvPr id="103" name="Рисунок 9">
              <a:extLst>
                <a:ext uri="{FF2B5EF4-FFF2-40B4-BE49-F238E27FC236}">
                  <a16:creationId xmlns:a16="http://schemas.microsoft.com/office/drawing/2014/main" id="{EDD68232-5690-F620-C29E-CC3A20C160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992" y="1629034"/>
              <a:ext cx="4852005" cy="2210566"/>
            </a:xfrm>
            <a:prstGeom prst="rect">
              <a:avLst/>
            </a:prstGeom>
          </p:spPr>
        </p:pic>
        <p:sp>
          <p:nvSpPr>
            <p:cNvPr id="106" name="TextBox 105">
              <a:extLst>
                <a:ext uri="{FF2B5EF4-FFF2-40B4-BE49-F238E27FC236}">
                  <a16:creationId xmlns:a16="http://schemas.microsoft.com/office/drawing/2014/main" id="{FC760B9F-3AC6-A0D5-A535-D900375C05CC}"/>
                </a:ext>
              </a:extLst>
            </p:cNvPr>
            <p:cNvSpPr txBox="1"/>
            <p:nvPr/>
          </p:nvSpPr>
          <p:spPr>
            <a:xfrm>
              <a:off x="6738167" y="1727456"/>
              <a:ext cx="3130228" cy="934871"/>
            </a:xfrm>
            <a:prstGeom prst="rect">
              <a:avLst/>
            </a:prstGeom>
            <a:noFill/>
          </p:spPr>
          <p:txBody>
            <a:bodyPr wrap="square" rtlCol="0">
              <a:spAutoFit/>
            </a:bodyPr>
            <a:lstStyle/>
            <a:p>
              <a:pPr marL="0" marR="0" lvl="0" indent="0" algn="l" defTabSz="121907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Model Build</a:t>
              </a:r>
            </a:p>
            <a:p>
              <a:pPr marL="171450" lvl="0" indent="-171450" defTabSz="1219079">
                <a:lnSpc>
                  <a:spcPct val="120000"/>
                </a:lnSpc>
                <a:buFont typeface="Wingdings" pitchFamily="2" charset="2"/>
                <a:buChar char="Ø"/>
                <a:defRPr/>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Model 1 — Rule-Based SQL → MongoDB Converter (Baseline)</a:t>
              </a:r>
            </a:p>
            <a:p>
              <a:pPr marL="171450" lvl="0" indent="-171450" defTabSz="1219079">
                <a:lnSpc>
                  <a:spcPct val="120000"/>
                </a:lnSpc>
                <a:buFont typeface="Wingdings" pitchFamily="2" charset="2"/>
                <a:buChar char="Ø"/>
                <a:defRPr/>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T5-Small Finetuned for SQL → MongoDB</a:t>
              </a:r>
            </a:p>
            <a:p>
              <a:pPr marL="0" marR="0" lvl="0" indent="0" algn="l" defTabSz="1219079" rtl="0" eaLnBrk="1" fontAlgn="auto" latinLnBrk="0" hangingPunct="1">
                <a:lnSpc>
                  <a:spcPct val="12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endParaRPr>
            </a:p>
          </p:txBody>
        </p:sp>
      </p:grpSp>
      <p:grpSp>
        <p:nvGrpSpPr>
          <p:cNvPr id="110" name="Group 109">
            <a:extLst>
              <a:ext uri="{FF2B5EF4-FFF2-40B4-BE49-F238E27FC236}">
                <a16:creationId xmlns:a16="http://schemas.microsoft.com/office/drawing/2014/main" id="{754B3D29-2A5A-D6C3-9A48-0D94FD2BBAF6}"/>
              </a:ext>
            </a:extLst>
          </p:cNvPr>
          <p:cNvGrpSpPr/>
          <p:nvPr/>
        </p:nvGrpSpPr>
        <p:grpSpPr>
          <a:xfrm>
            <a:off x="849421" y="4098379"/>
            <a:ext cx="4852005" cy="2210566"/>
            <a:chOff x="849421" y="4098379"/>
            <a:chExt cx="4852005" cy="2210566"/>
          </a:xfrm>
        </p:grpSpPr>
        <p:pic>
          <p:nvPicPr>
            <p:cNvPr id="111" name="Рисунок 7">
              <a:extLst>
                <a:ext uri="{FF2B5EF4-FFF2-40B4-BE49-F238E27FC236}">
                  <a16:creationId xmlns:a16="http://schemas.microsoft.com/office/drawing/2014/main" id="{854786A1-7FB0-5DE0-751B-DDF3CDDAC17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9421" y="4098379"/>
              <a:ext cx="4852005" cy="2210566"/>
            </a:xfrm>
            <a:prstGeom prst="rect">
              <a:avLst/>
            </a:prstGeom>
          </p:spPr>
        </p:pic>
        <p:sp>
          <p:nvSpPr>
            <p:cNvPr id="114" name="TextBox 113">
              <a:extLst>
                <a:ext uri="{FF2B5EF4-FFF2-40B4-BE49-F238E27FC236}">
                  <a16:creationId xmlns:a16="http://schemas.microsoft.com/office/drawing/2014/main" id="{D720BEAD-37C3-6115-FF66-5DC0173BF11E}"/>
                </a:ext>
              </a:extLst>
            </p:cNvPr>
            <p:cNvSpPr txBox="1"/>
            <p:nvPr/>
          </p:nvSpPr>
          <p:spPr>
            <a:xfrm>
              <a:off x="1065480" y="4184835"/>
              <a:ext cx="4135912" cy="1685077"/>
            </a:xfrm>
            <a:prstGeom prst="rect">
              <a:avLst/>
            </a:prstGeom>
            <a:noFill/>
          </p:spPr>
          <p:txBody>
            <a:bodyPr wrap="square" rtlCol="0">
              <a:spAutoFit/>
            </a:bodyPr>
            <a:lstStyle/>
            <a:p>
              <a:pPr marL="0" marR="0" lvl="0" indent="0" algn="l" defTabSz="121907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Dataset Curation</a:t>
              </a:r>
            </a:p>
            <a:p>
              <a:pPr marL="171450" indent="-171450">
                <a:buFont typeface="Wingdings" pitchFamily="2" charset="2"/>
                <a:buChar char="Ø"/>
              </a:pPr>
              <a:r>
                <a:rPr lang="en-IN" sz="1000" dirty="0"/>
                <a:t>Dataset v1 – Minimal Base Dataset (500 samples)</a:t>
              </a:r>
            </a:p>
            <a:p>
              <a:pPr marL="171450" indent="-171450">
                <a:buFont typeface="Wingdings" pitchFamily="2" charset="2"/>
                <a:buChar char="Ø"/>
              </a:pPr>
              <a:r>
                <a:rPr lang="en-IN" sz="1000" dirty="0"/>
                <a:t>Dataset v2 – Expanded SQL2Mongo (7,000 samples)</a:t>
              </a:r>
            </a:p>
            <a:p>
              <a:r>
                <a:rPr lang="en-IN" sz="1000" dirty="0"/>
                <a:t>Source: Fully synthetic dataset generated by our custom Python generator</a:t>
              </a:r>
            </a:p>
            <a:p>
              <a:pPr marL="171450" indent="-171450">
                <a:buFont typeface="Wingdings" pitchFamily="2" charset="2"/>
                <a:buChar char="Ø"/>
              </a:pPr>
              <a:r>
                <a:rPr lang="en-IN" sz="1000" dirty="0"/>
                <a:t>Dataset v3 – Large High-Quality Dataset (9,386 samples)</a:t>
              </a:r>
            </a:p>
            <a:p>
              <a:r>
                <a:rPr lang="en-IN" sz="1000" dirty="0"/>
                <a:t>Source: Our new synthetic generator designed to produce more realistic, diverse queries.</a:t>
              </a:r>
            </a:p>
            <a:p>
              <a:pPr marL="171450" indent="-171450">
                <a:buFont typeface="Wingdings" pitchFamily="2" charset="2"/>
                <a:buChar char="Ø"/>
              </a:pPr>
              <a:r>
                <a:rPr lang="en-IN" sz="1000" dirty="0"/>
                <a:t>Future Dataset v4 (Planned) – SOTA-Quality Dataset (~15k samples)</a:t>
              </a:r>
            </a:p>
            <a:p>
              <a:pPr marL="0" marR="0" lvl="0" indent="0" algn="l" defTabSz="1219079" rtl="0" eaLnBrk="1" fontAlgn="auto" latinLnBrk="0" hangingPunct="1">
                <a:lnSpc>
                  <a:spcPct val="12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endParaRPr>
            </a:p>
          </p:txBody>
        </p:sp>
      </p:grpSp>
      <p:grpSp>
        <p:nvGrpSpPr>
          <p:cNvPr id="118" name="Group 117">
            <a:extLst>
              <a:ext uri="{FF2B5EF4-FFF2-40B4-BE49-F238E27FC236}">
                <a16:creationId xmlns:a16="http://schemas.microsoft.com/office/drawing/2014/main" id="{FC7A32EE-7072-0DD6-7C2E-EC038DA1C491}"/>
              </a:ext>
            </a:extLst>
          </p:cNvPr>
          <p:cNvGrpSpPr/>
          <p:nvPr/>
        </p:nvGrpSpPr>
        <p:grpSpPr>
          <a:xfrm>
            <a:off x="6527992" y="4098379"/>
            <a:ext cx="4852005" cy="2210566"/>
            <a:chOff x="6527992" y="4098379"/>
            <a:chExt cx="4852005" cy="2210566"/>
          </a:xfrm>
        </p:grpSpPr>
        <p:pic>
          <p:nvPicPr>
            <p:cNvPr id="119" name="Рисунок 10">
              <a:extLst>
                <a:ext uri="{FF2B5EF4-FFF2-40B4-BE49-F238E27FC236}">
                  <a16:creationId xmlns:a16="http://schemas.microsoft.com/office/drawing/2014/main" id="{88B78A78-9389-512A-DA3B-1A2C02C32C1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27992" y="4098379"/>
              <a:ext cx="4852005" cy="2210566"/>
            </a:xfrm>
            <a:prstGeom prst="rect">
              <a:avLst/>
            </a:prstGeom>
          </p:spPr>
        </p:pic>
        <p:sp>
          <p:nvSpPr>
            <p:cNvPr id="122" name="TextBox 121">
              <a:extLst>
                <a:ext uri="{FF2B5EF4-FFF2-40B4-BE49-F238E27FC236}">
                  <a16:creationId xmlns:a16="http://schemas.microsoft.com/office/drawing/2014/main" id="{56B6196A-6C38-9467-25E5-CA426754D894}"/>
                </a:ext>
              </a:extLst>
            </p:cNvPr>
            <p:cNvSpPr txBox="1"/>
            <p:nvPr/>
          </p:nvSpPr>
          <p:spPr>
            <a:xfrm>
              <a:off x="6738166" y="4184835"/>
              <a:ext cx="3795247" cy="1384995"/>
            </a:xfrm>
            <a:prstGeom prst="rect">
              <a:avLst/>
            </a:prstGeom>
            <a:noFill/>
          </p:spPr>
          <p:txBody>
            <a:bodyPr wrap="square" rtlCol="0">
              <a:spAutoFit/>
            </a:bodyPr>
            <a:lstStyle/>
            <a:p>
              <a:pPr marL="0" marR="0" lvl="0" indent="0" algn="l" defTabSz="121907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A2834">
                      <a:lumMod val="90000"/>
                      <a:lumOff val="10000"/>
                    </a:srgbClr>
                  </a:solidFill>
                  <a:effectLst/>
                  <a:uLnTx/>
                  <a:uFillTx/>
                  <a:latin typeface="Poppins" panose="00000500000000000000" pitchFamily="2" charset="0"/>
                  <a:ea typeface="Tahoma" panose="020B0604030504040204" pitchFamily="34" charset="0"/>
                  <a:cs typeface="Poppins" panose="00000500000000000000" pitchFamily="2" charset="0"/>
                </a:rPr>
                <a:t>Evaluation &amp; Benchmarking</a:t>
              </a:r>
            </a:p>
            <a:p>
              <a:pPr marL="171450"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Automatic Evaluation:</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BLEU Score</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Exact Match Accuracy</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Stage-Level Accuracy</a:t>
              </a:r>
            </a:p>
            <a:p>
              <a:pPr marL="171450"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Structural Evaluation (Important for MongoDB)</a:t>
              </a:r>
            </a:p>
            <a:p>
              <a:pPr marL="628650" lvl="1"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Semantic Equivalence (Execution-Based)</a:t>
              </a:r>
            </a:p>
            <a:p>
              <a:pPr marL="171450" indent="-171450">
                <a:buFont typeface="Wingdings" pitchFamily="2" charset="2"/>
                <a:buChar char="Ø"/>
              </a:pPr>
              <a:r>
                <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rPr>
                <a:t>Human Evaluation</a:t>
              </a:r>
            </a:p>
            <a:p>
              <a:endParaRPr lang="en-IN" sz="900" dirty="0">
                <a:solidFill>
                  <a:srgbClr val="2A2834">
                    <a:lumMod val="90000"/>
                    <a:lumOff val="10000"/>
                  </a:srgbClr>
                </a:solidFill>
                <a:latin typeface="Poppins" panose="00000500000000000000" pitchFamily="2" charset="0"/>
                <a:ea typeface="Tahoma" panose="020B0604030504040204" pitchFamily="34" charset="0"/>
                <a:cs typeface="Poppins" panose="00000500000000000000" pitchFamily="2" charset="0"/>
              </a:endParaRPr>
            </a:p>
          </p:txBody>
        </p:sp>
      </p:grpSp>
      <p:pic>
        <p:nvPicPr>
          <p:cNvPr id="3" name="Graphic 2">
            <a:extLst>
              <a:ext uri="{FF2B5EF4-FFF2-40B4-BE49-F238E27FC236}">
                <a16:creationId xmlns:a16="http://schemas.microsoft.com/office/drawing/2014/main" id="{CEFC8EF9-0C0A-139C-A75E-D934A98A569C}"/>
              </a:ext>
            </a:extLst>
          </p:cNvPr>
          <p:cNvPicPr>
            <a:picLocks noChangeAspect="1"/>
          </p:cNvPicPr>
          <p:nvPr/>
        </p:nvPicPr>
        <p:blipFill>
          <a:blip r:embed="rId10">
            <a:extLst>
              <a:ext uri="{96DAC541-7B7A-43D3-8B79-37D633B846F1}">
                <asvg:svgBlip xmlns:asvg="http://schemas.microsoft.com/office/drawing/2016/SVG/main" r:embed="rId11"/>
              </a:ext>
              <a:ext uri="{837473B0-CC2E-450A-ABE3-18F120FF3D39}">
                <a1611:picAttrSrcUrl xmlns:a1611="http://schemas.microsoft.com/office/drawing/2016/11/main" r:id="rId12"/>
              </a:ext>
            </a:extLst>
          </a:blip>
          <a:stretch>
            <a:fillRect/>
          </a:stretch>
        </p:blipFill>
        <p:spPr>
          <a:xfrm>
            <a:off x="10273980" y="0"/>
            <a:ext cx="289387" cy="349581"/>
          </a:xfrm>
          <a:prstGeom prst="rect">
            <a:avLst/>
          </a:prstGeom>
        </p:spPr>
      </p:pic>
      <p:sp>
        <p:nvSpPr>
          <p:cNvPr id="4" name="TextBox 3">
            <a:extLst>
              <a:ext uri="{FF2B5EF4-FFF2-40B4-BE49-F238E27FC236}">
                <a16:creationId xmlns:a16="http://schemas.microsoft.com/office/drawing/2014/main" id="{A2363405-999F-17EF-BABA-DE1D3F74782C}"/>
              </a:ext>
            </a:extLst>
          </p:cNvPr>
          <p:cNvSpPr txBox="1"/>
          <p:nvPr/>
        </p:nvSpPr>
        <p:spPr>
          <a:xfrm>
            <a:off x="10563367" y="0"/>
            <a:ext cx="1091821" cy="382137"/>
          </a:xfrm>
          <a:prstGeom prst="rect">
            <a:avLst/>
          </a:prstGeom>
          <a:noFill/>
        </p:spPr>
        <p:txBody>
          <a:bodyPr wrap="square" rtlCol="0">
            <a:spAutoFit/>
          </a:bodyPr>
          <a:lstStyle/>
          <a:p>
            <a:r>
              <a:rPr lang="en-US" dirty="0"/>
              <a:t>Saurabh</a:t>
            </a:r>
          </a:p>
        </p:txBody>
      </p:sp>
    </p:spTree>
    <p:extLst>
      <p:ext uri="{BB962C8B-B14F-4D97-AF65-F5344CB8AC3E}">
        <p14:creationId xmlns:p14="http://schemas.microsoft.com/office/powerpoint/2010/main" val="3982912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nodeType="after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1000"/>
                                        <p:tgtEl>
                                          <p:spTgt spid="94"/>
                                        </p:tgtEl>
                                      </p:cBhvr>
                                    </p:animEffect>
                                    <p:anim calcmode="lin" valueType="num">
                                      <p:cBhvr>
                                        <p:cTn id="8" dur="1000" fill="hold"/>
                                        <p:tgtEl>
                                          <p:spTgt spid="94"/>
                                        </p:tgtEl>
                                        <p:attrNameLst>
                                          <p:attrName>ppt_x</p:attrName>
                                        </p:attrNameLst>
                                      </p:cBhvr>
                                      <p:tavLst>
                                        <p:tav tm="0">
                                          <p:val>
                                            <p:strVal val="#ppt_x"/>
                                          </p:val>
                                        </p:tav>
                                        <p:tav tm="100000">
                                          <p:val>
                                            <p:strVal val="#ppt_x"/>
                                          </p:val>
                                        </p:tav>
                                      </p:tavLst>
                                    </p:anim>
                                    <p:anim calcmode="lin" valueType="num">
                                      <p:cBhvr>
                                        <p:cTn id="9" dur="900" decel="100000" fill="hold"/>
                                        <p:tgtEl>
                                          <p:spTgt spid="94"/>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94"/>
                                        </p:tgtEl>
                                        <p:attrNameLst>
                                          <p:attrName>ppt_y</p:attrName>
                                        </p:attrNameLst>
                                      </p:cBhvr>
                                      <p:tavLst>
                                        <p:tav tm="0">
                                          <p:val>
                                            <p:strVal val="#ppt_y-.03"/>
                                          </p:val>
                                        </p:tav>
                                        <p:tav tm="100000">
                                          <p:val>
                                            <p:strVal val="#ppt_y"/>
                                          </p:val>
                                        </p:tav>
                                      </p:tavLst>
                                    </p:anim>
                                  </p:childTnLst>
                                </p:cTn>
                              </p:par>
                            </p:childTnLst>
                          </p:cTn>
                        </p:par>
                        <p:par>
                          <p:cTn id="11" fill="hold">
                            <p:stCondLst>
                              <p:cond delay="1000"/>
                            </p:stCondLst>
                            <p:childTnLst>
                              <p:par>
                                <p:cTn id="12" presetID="37" presetClass="entr" presetSubtype="0" fill="hold" nodeType="afterEffect">
                                  <p:stCondLst>
                                    <p:cond delay="0"/>
                                  </p:stCondLst>
                                  <p:childTnLst>
                                    <p:set>
                                      <p:cBhvr>
                                        <p:cTn id="13" dur="1" fill="hold">
                                          <p:stCondLst>
                                            <p:cond delay="0"/>
                                          </p:stCondLst>
                                        </p:cTn>
                                        <p:tgtEl>
                                          <p:spTgt spid="110"/>
                                        </p:tgtEl>
                                        <p:attrNameLst>
                                          <p:attrName>style.visibility</p:attrName>
                                        </p:attrNameLst>
                                      </p:cBhvr>
                                      <p:to>
                                        <p:strVal val="visible"/>
                                      </p:to>
                                    </p:set>
                                    <p:animEffect transition="in" filter="fade">
                                      <p:cBhvr>
                                        <p:cTn id="14" dur="1000"/>
                                        <p:tgtEl>
                                          <p:spTgt spid="110"/>
                                        </p:tgtEl>
                                      </p:cBhvr>
                                    </p:animEffect>
                                    <p:anim calcmode="lin" valueType="num">
                                      <p:cBhvr>
                                        <p:cTn id="15" dur="1000" fill="hold"/>
                                        <p:tgtEl>
                                          <p:spTgt spid="110"/>
                                        </p:tgtEl>
                                        <p:attrNameLst>
                                          <p:attrName>ppt_x</p:attrName>
                                        </p:attrNameLst>
                                      </p:cBhvr>
                                      <p:tavLst>
                                        <p:tav tm="0">
                                          <p:val>
                                            <p:strVal val="#ppt_x"/>
                                          </p:val>
                                        </p:tav>
                                        <p:tav tm="100000">
                                          <p:val>
                                            <p:strVal val="#ppt_x"/>
                                          </p:val>
                                        </p:tav>
                                      </p:tavLst>
                                    </p:anim>
                                    <p:anim calcmode="lin" valueType="num">
                                      <p:cBhvr>
                                        <p:cTn id="16" dur="900" decel="100000" fill="hold"/>
                                        <p:tgtEl>
                                          <p:spTgt spid="110"/>
                                        </p:tgtEl>
                                        <p:attrNameLst>
                                          <p:attrName>ppt_y</p:attrName>
                                        </p:attrNameLst>
                                      </p:cBhvr>
                                      <p:tavLst>
                                        <p:tav tm="0">
                                          <p:val>
                                            <p:strVal val="#ppt_y+1"/>
                                          </p:val>
                                        </p:tav>
                                        <p:tav tm="100000">
                                          <p:val>
                                            <p:strVal val="#ppt_y-.03"/>
                                          </p:val>
                                        </p:tav>
                                      </p:tavLst>
                                    </p:anim>
                                    <p:anim calcmode="lin" valueType="num">
                                      <p:cBhvr>
                                        <p:cTn id="17" dur="100" accel="100000" fill="hold">
                                          <p:stCondLst>
                                            <p:cond delay="900"/>
                                          </p:stCondLst>
                                        </p:cTn>
                                        <p:tgtEl>
                                          <p:spTgt spid="110"/>
                                        </p:tgtEl>
                                        <p:attrNameLst>
                                          <p:attrName>ppt_y</p:attrName>
                                        </p:attrNameLst>
                                      </p:cBhvr>
                                      <p:tavLst>
                                        <p:tav tm="0">
                                          <p:val>
                                            <p:strVal val="#ppt_y-.03"/>
                                          </p:val>
                                        </p:tav>
                                        <p:tav tm="100000">
                                          <p:val>
                                            <p:strVal val="#ppt_y"/>
                                          </p:val>
                                        </p:tav>
                                      </p:tavLst>
                                    </p:anim>
                                  </p:childTnLst>
                                </p:cTn>
                              </p:par>
                            </p:childTnLst>
                          </p:cTn>
                        </p:par>
                        <p:par>
                          <p:cTn id="18" fill="hold">
                            <p:stCondLst>
                              <p:cond delay="2000"/>
                            </p:stCondLst>
                            <p:childTnLst>
                              <p:par>
                                <p:cTn id="19" presetID="37" presetClass="entr" presetSubtype="0" fill="hold" nodeType="after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1000"/>
                                        <p:tgtEl>
                                          <p:spTgt spid="102"/>
                                        </p:tgtEl>
                                      </p:cBhvr>
                                    </p:animEffect>
                                    <p:anim calcmode="lin" valueType="num">
                                      <p:cBhvr>
                                        <p:cTn id="22" dur="1000" fill="hold"/>
                                        <p:tgtEl>
                                          <p:spTgt spid="102"/>
                                        </p:tgtEl>
                                        <p:attrNameLst>
                                          <p:attrName>ppt_x</p:attrName>
                                        </p:attrNameLst>
                                      </p:cBhvr>
                                      <p:tavLst>
                                        <p:tav tm="0">
                                          <p:val>
                                            <p:strVal val="#ppt_x"/>
                                          </p:val>
                                        </p:tav>
                                        <p:tav tm="100000">
                                          <p:val>
                                            <p:strVal val="#ppt_x"/>
                                          </p:val>
                                        </p:tav>
                                      </p:tavLst>
                                    </p:anim>
                                    <p:anim calcmode="lin" valueType="num">
                                      <p:cBhvr>
                                        <p:cTn id="23" dur="900" decel="100000" fill="hold"/>
                                        <p:tgtEl>
                                          <p:spTgt spid="102"/>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102"/>
                                        </p:tgtEl>
                                        <p:attrNameLst>
                                          <p:attrName>ppt_y</p:attrName>
                                        </p:attrNameLst>
                                      </p:cBhvr>
                                      <p:tavLst>
                                        <p:tav tm="0">
                                          <p:val>
                                            <p:strVal val="#ppt_y-.03"/>
                                          </p:val>
                                        </p:tav>
                                        <p:tav tm="100000">
                                          <p:val>
                                            <p:strVal val="#ppt_y"/>
                                          </p:val>
                                        </p:tav>
                                      </p:tavLst>
                                    </p:anim>
                                  </p:childTnLst>
                                </p:cTn>
                              </p:par>
                            </p:childTnLst>
                          </p:cTn>
                        </p:par>
                        <p:par>
                          <p:cTn id="25" fill="hold">
                            <p:stCondLst>
                              <p:cond delay="3000"/>
                            </p:stCondLst>
                            <p:childTnLst>
                              <p:par>
                                <p:cTn id="26" presetID="37" presetClass="entr" presetSubtype="0" fill="hold" nodeType="afterEffect">
                                  <p:stCondLst>
                                    <p:cond delay="0"/>
                                  </p:stCondLst>
                                  <p:childTnLst>
                                    <p:set>
                                      <p:cBhvr>
                                        <p:cTn id="27" dur="1" fill="hold">
                                          <p:stCondLst>
                                            <p:cond delay="0"/>
                                          </p:stCondLst>
                                        </p:cTn>
                                        <p:tgtEl>
                                          <p:spTgt spid="118"/>
                                        </p:tgtEl>
                                        <p:attrNameLst>
                                          <p:attrName>style.visibility</p:attrName>
                                        </p:attrNameLst>
                                      </p:cBhvr>
                                      <p:to>
                                        <p:strVal val="visible"/>
                                      </p:to>
                                    </p:set>
                                    <p:animEffect transition="in" filter="fade">
                                      <p:cBhvr>
                                        <p:cTn id="28" dur="1000"/>
                                        <p:tgtEl>
                                          <p:spTgt spid="118"/>
                                        </p:tgtEl>
                                      </p:cBhvr>
                                    </p:animEffect>
                                    <p:anim calcmode="lin" valueType="num">
                                      <p:cBhvr>
                                        <p:cTn id="29" dur="1000" fill="hold"/>
                                        <p:tgtEl>
                                          <p:spTgt spid="118"/>
                                        </p:tgtEl>
                                        <p:attrNameLst>
                                          <p:attrName>ppt_x</p:attrName>
                                        </p:attrNameLst>
                                      </p:cBhvr>
                                      <p:tavLst>
                                        <p:tav tm="0">
                                          <p:val>
                                            <p:strVal val="#ppt_x"/>
                                          </p:val>
                                        </p:tav>
                                        <p:tav tm="100000">
                                          <p:val>
                                            <p:strVal val="#ppt_x"/>
                                          </p:val>
                                        </p:tav>
                                      </p:tavLst>
                                    </p:anim>
                                    <p:anim calcmode="lin" valueType="num">
                                      <p:cBhvr>
                                        <p:cTn id="30" dur="900" decel="100000" fill="hold"/>
                                        <p:tgtEl>
                                          <p:spTgt spid="118"/>
                                        </p:tgtEl>
                                        <p:attrNameLst>
                                          <p:attrName>ppt_y</p:attrName>
                                        </p:attrNameLst>
                                      </p:cBhvr>
                                      <p:tavLst>
                                        <p:tav tm="0">
                                          <p:val>
                                            <p:strVal val="#ppt_y+1"/>
                                          </p:val>
                                        </p:tav>
                                        <p:tav tm="100000">
                                          <p:val>
                                            <p:strVal val="#ppt_y-.03"/>
                                          </p:val>
                                        </p:tav>
                                      </p:tavLst>
                                    </p:anim>
                                    <p:anim calcmode="lin" valueType="num">
                                      <p:cBhvr>
                                        <p:cTn id="31" dur="100" accel="100000" fill="hold">
                                          <p:stCondLst>
                                            <p:cond delay="900"/>
                                          </p:stCondLst>
                                        </p:cTn>
                                        <p:tgtEl>
                                          <p:spTgt spid="118"/>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3BB7C9-B3F4-560B-01C8-E9B9C75A9EE2}"/>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7B4439B-88DC-D38C-C18E-DD773113B5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B35C4EE-592A-E9D6-6A32-166DF2691D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7BD1CFB-DD37-3BAF-A7DB-F3CF86E10C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2" name="Freeform: Shape 11">
              <a:extLst>
                <a:ext uri="{FF2B5EF4-FFF2-40B4-BE49-F238E27FC236}">
                  <a16:creationId xmlns:a16="http://schemas.microsoft.com/office/drawing/2014/main" id="{6F46FC08-E65A-74C7-EC52-F58BAFF20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BDDEC07E-A185-5944-35D2-590279C15B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0674A954-CE82-370E-BED5-D50BE26002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C6C6C049-C834-3BB1-B0FE-B74087702F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38BB8842-9E0D-412D-4FA7-9CA16A6BB1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7" name="Freeform: Shape 16">
              <a:extLst>
                <a:ext uri="{FF2B5EF4-FFF2-40B4-BE49-F238E27FC236}">
                  <a16:creationId xmlns:a16="http://schemas.microsoft.com/office/drawing/2014/main" id="{6A9A9F90-BD77-0C37-307D-8A47DB1A99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28376C1E-0CC9-B987-149A-AAD71E8E5C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5A3345A9-822D-A7CC-99AB-06B7DD1D70FC}"/>
              </a:ext>
            </a:extLst>
          </p:cNvPr>
          <p:cNvSpPr>
            <a:spLocks noGrp="1"/>
          </p:cNvSpPr>
          <p:nvPr>
            <p:ph type="ctrTitle"/>
          </p:nvPr>
        </p:nvSpPr>
        <p:spPr>
          <a:xfrm>
            <a:off x="3215729" y="1764407"/>
            <a:ext cx="5760846" cy="2310312"/>
          </a:xfrm>
        </p:spPr>
        <p:txBody>
          <a:bodyPr>
            <a:normAutofit/>
          </a:bodyPr>
          <a:lstStyle/>
          <a:p>
            <a:r>
              <a:rPr lang="en-US" sz="5200" dirty="0">
                <a:solidFill>
                  <a:schemeClr val="tx2"/>
                </a:solidFill>
              </a:rPr>
              <a:t>LLM Based Methods</a:t>
            </a:r>
          </a:p>
        </p:txBody>
      </p:sp>
    </p:spTree>
    <p:extLst>
      <p:ext uri="{BB962C8B-B14F-4D97-AF65-F5344CB8AC3E}">
        <p14:creationId xmlns:p14="http://schemas.microsoft.com/office/powerpoint/2010/main" val="1728082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0932B-7996-3673-96D1-FF2B25C43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340D7-1AB8-D230-D2A2-59E2B05AAA79}"/>
              </a:ext>
            </a:extLst>
          </p:cNvPr>
          <p:cNvSpPr>
            <a:spLocks noGrp="1"/>
          </p:cNvSpPr>
          <p:nvPr>
            <p:ph type="ctrTitle"/>
          </p:nvPr>
        </p:nvSpPr>
        <p:spPr>
          <a:xfrm>
            <a:off x="1524000" y="104798"/>
            <a:ext cx="9144000" cy="1189429"/>
          </a:xfrm>
        </p:spPr>
        <p:txBody>
          <a:bodyPr>
            <a:normAutofit/>
          </a:bodyPr>
          <a:lstStyle/>
          <a:p>
            <a:r>
              <a:rPr lang="en-US" dirty="0"/>
              <a:t>Motivation</a:t>
            </a:r>
          </a:p>
        </p:txBody>
      </p:sp>
      <p:sp>
        <p:nvSpPr>
          <p:cNvPr id="19" name="TextBox 18">
            <a:extLst>
              <a:ext uri="{FF2B5EF4-FFF2-40B4-BE49-F238E27FC236}">
                <a16:creationId xmlns:a16="http://schemas.microsoft.com/office/drawing/2014/main" id="{2F7FD0A8-D680-0789-FB5F-50DFD127CF0E}"/>
              </a:ext>
            </a:extLst>
          </p:cNvPr>
          <p:cNvSpPr txBox="1"/>
          <p:nvPr/>
        </p:nvSpPr>
        <p:spPr>
          <a:xfrm>
            <a:off x="579911" y="6346764"/>
            <a:ext cx="6097978" cy="261610"/>
          </a:xfrm>
          <a:prstGeom prst="rect">
            <a:avLst/>
          </a:prstGeom>
          <a:noFill/>
        </p:spPr>
        <p:txBody>
          <a:bodyPr wrap="square">
            <a:spAutoFit/>
          </a:bodyPr>
          <a:lstStyle/>
          <a:p>
            <a:r>
              <a:rPr lang="en-US" sz="1050" dirty="0"/>
              <a:t>Link to paper : https://</a:t>
            </a:r>
            <a:r>
              <a:rPr lang="en-US" sz="1050" dirty="0" err="1"/>
              <a:t>arxiv.org</a:t>
            </a:r>
            <a:r>
              <a:rPr lang="en-US" sz="1050" dirty="0"/>
              <a:t>/pdf/2502.11201</a:t>
            </a:r>
          </a:p>
        </p:txBody>
      </p:sp>
      <p:pic>
        <p:nvPicPr>
          <p:cNvPr id="4" name="Picture 3" descr="A screenshot of a computer&#10;&#10;AI-generated content may be incorrect.">
            <a:extLst>
              <a:ext uri="{FF2B5EF4-FFF2-40B4-BE49-F238E27FC236}">
                <a16:creationId xmlns:a16="http://schemas.microsoft.com/office/drawing/2014/main" id="{C3E36AF7-5248-0C12-0B1D-FE8CA6386BB9}"/>
              </a:ext>
            </a:extLst>
          </p:cNvPr>
          <p:cNvPicPr>
            <a:picLocks noChangeAspect="1"/>
          </p:cNvPicPr>
          <p:nvPr/>
        </p:nvPicPr>
        <p:blipFill>
          <a:blip r:embed="rId2"/>
          <a:stretch>
            <a:fillRect/>
          </a:stretch>
        </p:blipFill>
        <p:spPr>
          <a:xfrm>
            <a:off x="266013" y="1969049"/>
            <a:ext cx="10088089" cy="3590153"/>
          </a:xfrm>
          <a:prstGeom prst="rect">
            <a:avLst/>
          </a:prstGeom>
        </p:spPr>
      </p:pic>
      <p:sp>
        <p:nvSpPr>
          <p:cNvPr id="5" name="TextBox 4">
            <a:extLst>
              <a:ext uri="{FF2B5EF4-FFF2-40B4-BE49-F238E27FC236}">
                <a16:creationId xmlns:a16="http://schemas.microsoft.com/office/drawing/2014/main" id="{A6D854BF-0E74-0FB8-A417-4516E15E8BBA}"/>
              </a:ext>
            </a:extLst>
          </p:cNvPr>
          <p:cNvSpPr txBox="1"/>
          <p:nvPr/>
        </p:nvSpPr>
        <p:spPr>
          <a:xfrm>
            <a:off x="579911" y="1346896"/>
            <a:ext cx="10262260" cy="738664"/>
          </a:xfrm>
          <a:prstGeom prst="rect">
            <a:avLst/>
          </a:prstGeom>
          <a:noFill/>
        </p:spPr>
        <p:txBody>
          <a:bodyPr wrap="square">
            <a:spAutoFit/>
          </a:bodyPr>
          <a:lstStyle/>
          <a:p>
            <a:r>
              <a:rPr lang="en-IN" sz="1400" dirty="0"/>
              <a:t>System uses schema-aware RAG to guide an LLM in generating MongoDB queries and validates correctness through execution-guided feedback.</a:t>
            </a:r>
          </a:p>
          <a:p>
            <a:pPr marL="742950" lvl="1" indent="-285750">
              <a:buFont typeface="Wingdings" pitchFamily="2" charset="2"/>
              <a:buChar char="§"/>
            </a:pPr>
            <a:endParaRPr lang="en-IN" sz="1400" dirty="0"/>
          </a:p>
        </p:txBody>
      </p:sp>
      <p:pic>
        <p:nvPicPr>
          <p:cNvPr id="3" name="Graphic 2">
            <a:extLst>
              <a:ext uri="{FF2B5EF4-FFF2-40B4-BE49-F238E27FC236}">
                <a16:creationId xmlns:a16="http://schemas.microsoft.com/office/drawing/2014/main" id="{7B1C80BA-4672-B46D-A9E9-4118B489C2AD}"/>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10273980" y="0"/>
            <a:ext cx="289387" cy="349581"/>
          </a:xfrm>
          <a:prstGeom prst="rect">
            <a:avLst/>
          </a:prstGeom>
        </p:spPr>
      </p:pic>
      <p:sp>
        <p:nvSpPr>
          <p:cNvPr id="6" name="TextBox 5">
            <a:extLst>
              <a:ext uri="{FF2B5EF4-FFF2-40B4-BE49-F238E27FC236}">
                <a16:creationId xmlns:a16="http://schemas.microsoft.com/office/drawing/2014/main" id="{4B9474C7-3AA0-DBEC-8B2A-751482882177}"/>
              </a:ext>
            </a:extLst>
          </p:cNvPr>
          <p:cNvSpPr txBox="1"/>
          <p:nvPr/>
        </p:nvSpPr>
        <p:spPr>
          <a:xfrm>
            <a:off x="10563367" y="0"/>
            <a:ext cx="1091821" cy="382137"/>
          </a:xfrm>
          <a:prstGeom prst="rect">
            <a:avLst/>
          </a:prstGeom>
          <a:noFill/>
        </p:spPr>
        <p:txBody>
          <a:bodyPr wrap="square" rtlCol="0">
            <a:spAutoFit/>
          </a:bodyPr>
          <a:lstStyle/>
          <a:p>
            <a:r>
              <a:rPr lang="en-US" dirty="0"/>
              <a:t>Saurabh</a:t>
            </a:r>
          </a:p>
        </p:txBody>
      </p:sp>
    </p:spTree>
    <p:extLst>
      <p:ext uri="{BB962C8B-B14F-4D97-AF65-F5344CB8AC3E}">
        <p14:creationId xmlns:p14="http://schemas.microsoft.com/office/powerpoint/2010/main" val="4098882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32477-AAA5-E41D-8DD4-3B1D604690E6}"/>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0AAF33E7-A16E-81FF-40DA-DBB7F8F7EAA6}"/>
              </a:ext>
            </a:extLst>
          </p:cNvPr>
          <p:cNvSpPr/>
          <p:nvPr/>
        </p:nvSpPr>
        <p:spPr>
          <a:xfrm>
            <a:off x="3417164" y="4281343"/>
            <a:ext cx="5075077" cy="2523769"/>
          </a:xfrm>
          <a:prstGeom prst="roundRect">
            <a:avLst/>
          </a:prstGeom>
          <a:solidFill>
            <a:srgbClr val="0070C0"/>
          </a:solidFill>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endParaRPr lang="en-IN" dirty="0"/>
          </a:p>
        </p:txBody>
      </p:sp>
      <p:sp>
        <p:nvSpPr>
          <p:cNvPr id="4" name="Rounded Rectangle 3">
            <a:extLst>
              <a:ext uri="{FF2B5EF4-FFF2-40B4-BE49-F238E27FC236}">
                <a16:creationId xmlns:a16="http://schemas.microsoft.com/office/drawing/2014/main" id="{572784C4-03A6-8A69-98A9-A1A64032812C}"/>
              </a:ext>
            </a:extLst>
          </p:cNvPr>
          <p:cNvSpPr/>
          <p:nvPr/>
        </p:nvSpPr>
        <p:spPr>
          <a:xfrm>
            <a:off x="6041058" y="1416598"/>
            <a:ext cx="5075077" cy="2523769"/>
          </a:xfrm>
          <a:prstGeom prst="roundRect">
            <a:avLst/>
          </a:prstGeom>
          <a:solidFill>
            <a:srgbClr val="0070C0"/>
          </a:solidFill>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endParaRPr lang="en-IN" dirty="0"/>
          </a:p>
        </p:txBody>
      </p:sp>
      <p:sp>
        <p:nvSpPr>
          <p:cNvPr id="3" name="Rounded Rectangle 2">
            <a:extLst>
              <a:ext uri="{FF2B5EF4-FFF2-40B4-BE49-F238E27FC236}">
                <a16:creationId xmlns:a16="http://schemas.microsoft.com/office/drawing/2014/main" id="{7AAA6511-C191-65A7-A829-0E2BE12EE59D}"/>
              </a:ext>
            </a:extLst>
          </p:cNvPr>
          <p:cNvSpPr/>
          <p:nvPr/>
        </p:nvSpPr>
        <p:spPr>
          <a:xfrm>
            <a:off x="531430" y="1433932"/>
            <a:ext cx="5075077" cy="2523769"/>
          </a:xfrm>
          <a:prstGeom prst="roundRect">
            <a:avLst/>
          </a:prstGeom>
          <a:solidFill>
            <a:srgbClr val="0070C0"/>
          </a:solidFill>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endParaRPr lang="en-IN" dirty="0"/>
          </a:p>
        </p:txBody>
      </p:sp>
      <p:sp>
        <p:nvSpPr>
          <p:cNvPr id="2" name="Title 1">
            <a:extLst>
              <a:ext uri="{FF2B5EF4-FFF2-40B4-BE49-F238E27FC236}">
                <a16:creationId xmlns:a16="http://schemas.microsoft.com/office/drawing/2014/main" id="{1F659812-0565-4FC9-4661-CF0B8A58F5CC}"/>
              </a:ext>
            </a:extLst>
          </p:cNvPr>
          <p:cNvSpPr>
            <a:spLocks noGrp="1"/>
          </p:cNvSpPr>
          <p:nvPr>
            <p:ph type="ctrTitle"/>
          </p:nvPr>
        </p:nvSpPr>
        <p:spPr>
          <a:xfrm>
            <a:off x="1524000" y="104798"/>
            <a:ext cx="9144000" cy="1189429"/>
          </a:xfrm>
        </p:spPr>
        <p:txBody>
          <a:bodyPr>
            <a:normAutofit fontScale="90000"/>
          </a:bodyPr>
          <a:lstStyle/>
          <a:p>
            <a:r>
              <a:rPr lang="en-US" dirty="0"/>
              <a:t>Our Approach – SQL-&gt;NoSQL</a:t>
            </a:r>
          </a:p>
        </p:txBody>
      </p:sp>
      <p:sp>
        <p:nvSpPr>
          <p:cNvPr id="28" name="Rounded Rectangle 27">
            <a:extLst>
              <a:ext uri="{FF2B5EF4-FFF2-40B4-BE49-F238E27FC236}">
                <a16:creationId xmlns:a16="http://schemas.microsoft.com/office/drawing/2014/main" id="{B9D5270A-8C40-CE4A-7E4C-CE69E36F1CF1}"/>
              </a:ext>
            </a:extLst>
          </p:cNvPr>
          <p:cNvSpPr/>
          <p:nvPr/>
        </p:nvSpPr>
        <p:spPr>
          <a:xfrm>
            <a:off x="716726" y="1310822"/>
            <a:ext cx="5197033" cy="252376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IN" dirty="0"/>
          </a:p>
        </p:txBody>
      </p:sp>
      <p:sp>
        <p:nvSpPr>
          <p:cNvPr id="29" name="Rounded Rectangle 28">
            <a:extLst>
              <a:ext uri="{FF2B5EF4-FFF2-40B4-BE49-F238E27FC236}">
                <a16:creationId xmlns:a16="http://schemas.microsoft.com/office/drawing/2014/main" id="{E0E4D89E-FBE6-F5FD-9B38-1123B89AEC36}"/>
              </a:ext>
            </a:extLst>
          </p:cNvPr>
          <p:cNvSpPr/>
          <p:nvPr/>
        </p:nvSpPr>
        <p:spPr>
          <a:xfrm>
            <a:off x="6193481" y="1310822"/>
            <a:ext cx="5197033" cy="252376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0" name="TextBox 29">
            <a:extLst>
              <a:ext uri="{FF2B5EF4-FFF2-40B4-BE49-F238E27FC236}">
                <a16:creationId xmlns:a16="http://schemas.microsoft.com/office/drawing/2014/main" id="{310E3FA6-A32F-7120-BA1C-7BA248FD88CF}"/>
              </a:ext>
            </a:extLst>
          </p:cNvPr>
          <p:cNvSpPr txBox="1"/>
          <p:nvPr/>
        </p:nvSpPr>
        <p:spPr>
          <a:xfrm>
            <a:off x="1963100" y="1126155"/>
            <a:ext cx="2704282" cy="307777"/>
          </a:xfrm>
          <a:prstGeom prst="rect">
            <a:avLst/>
          </a:prstGeom>
          <a:solidFill>
            <a:schemeClr val="bg1"/>
          </a:solidFill>
        </p:spPr>
        <p:txBody>
          <a:bodyPr wrap="square" rtlCol="0">
            <a:spAutoFit/>
          </a:bodyPr>
          <a:lstStyle/>
          <a:p>
            <a:pPr algn="ctr"/>
            <a:r>
              <a:rPr lang="en-US" sz="1400" dirty="0"/>
              <a:t>Model 1 : LLM Baseline( No RAG)</a:t>
            </a:r>
          </a:p>
        </p:txBody>
      </p:sp>
      <p:sp>
        <p:nvSpPr>
          <p:cNvPr id="31" name="TextBox 30">
            <a:extLst>
              <a:ext uri="{FF2B5EF4-FFF2-40B4-BE49-F238E27FC236}">
                <a16:creationId xmlns:a16="http://schemas.microsoft.com/office/drawing/2014/main" id="{B172FE0A-A6E4-9C68-FF04-5508240F7109}"/>
              </a:ext>
            </a:extLst>
          </p:cNvPr>
          <p:cNvSpPr txBox="1"/>
          <p:nvPr/>
        </p:nvSpPr>
        <p:spPr>
          <a:xfrm>
            <a:off x="6760219" y="1115864"/>
            <a:ext cx="4063554" cy="338554"/>
          </a:xfrm>
          <a:prstGeom prst="rect">
            <a:avLst/>
          </a:prstGeom>
          <a:solidFill>
            <a:schemeClr val="bg1"/>
          </a:solidFill>
        </p:spPr>
        <p:txBody>
          <a:bodyPr wrap="square" rtlCol="0">
            <a:spAutoFit/>
          </a:bodyPr>
          <a:lstStyle/>
          <a:p>
            <a:pPr algn="ctr"/>
            <a:r>
              <a:rPr lang="en-US" sz="1600" dirty="0"/>
              <a:t>Model 2 : LLM + RAG (Schema Awareness)</a:t>
            </a:r>
          </a:p>
        </p:txBody>
      </p:sp>
      <p:sp>
        <p:nvSpPr>
          <p:cNvPr id="32" name="TextBox 31">
            <a:extLst>
              <a:ext uri="{FF2B5EF4-FFF2-40B4-BE49-F238E27FC236}">
                <a16:creationId xmlns:a16="http://schemas.microsoft.com/office/drawing/2014/main" id="{A326F02A-CC0E-6775-9110-2E904EDA1607}"/>
              </a:ext>
            </a:extLst>
          </p:cNvPr>
          <p:cNvSpPr txBox="1"/>
          <p:nvPr/>
        </p:nvSpPr>
        <p:spPr>
          <a:xfrm>
            <a:off x="983910" y="1663557"/>
            <a:ext cx="4662667" cy="2462213"/>
          </a:xfrm>
          <a:prstGeom prst="rect">
            <a:avLst/>
          </a:prstGeom>
          <a:noFill/>
        </p:spPr>
        <p:txBody>
          <a:bodyPr wrap="square" rtlCol="0">
            <a:spAutoFit/>
          </a:bodyPr>
          <a:lstStyle/>
          <a:p>
            <a:pPr marL="285750" indent="-285750">
              <a:buFont typeface="Courier New" panose="02070309020205020404" pitchFamily="49" charset="0"/>
              <a:buChar char="o"/>
            </a:pPr>
            <a:r>
              <a:rPr lang="en-IN" sz="1100" dirty="0"/>
              <a:t>Description</a:t>
            </a:r>
          </a:p>
          <a:p>
            <a:pPr marL="742950" lvl="1" indent="-285750">
              <a:buFont typeface="Courier New" panose="02070309020205020404" pitchFamily="49" charset="0"/>
              <a:buChar char="o"/>
            </a:pPr>
            <a:r>
              <a:rPr lang="en-IN" sz="1100" dirty="0"/>
              <a:t>Prompt-based LLM</a:t>
            </a:r>
          </a:p>
          <a:p>
            <a:pPr marL="742950" lvl="1" indent="-285750">
              <a:buFont typeface="Courier New" panose="02070309020205020404" pitchFamily="49" charset="0"/>
              <a:buChar char="o"/>
            </a:pPr>
            <a:r>
              <a:rPr lang="en-IN" sz="1100" dirty="0"/>
              <a:t>Input: SQL query only</a:t>
            </a:r>
          </a:p>
          <a:p>
            <a:pPr marL="742950" lvl="1" indent="-285750">
              <a:buFont typeface="Courier New" panose="02070309020205020404" pitchFamily="49" charset="0"/>
              <a:buChar char="o"/>
            </a:pPr>
            <a:r>
              <a:rPr lang="en-IN" sz="1100" dirty="0"/>
              <a:t>Output: MongoDB aggregation pipeline</a:t>
            </a:r>
          </a:p>
          <a:p>
            <a:pPr marL="742950" lvl="1" indent="-285750">
              <a:buFont typeface="Courier New" panose="02070309020205020404" pitchFamily="49" charset="0"/>
              <a:buChar char="o"/>
            </a:pPr>
            <a:r>
              <a:rPr lang="en-IN" sz="1100" dirty="0"/>
              <a:t>No schema, no joins, no execution context</a:t>
            </a:r>
          </a:p>
          <a:p>
            <a:pPr marL="171450" indent="-171450">
              <a:buFont typeface="Courier New" panose="02070309020205020404" pitchFamily="49" charset="0"/>
              <a:buChar char="o"/>
            </a:pPr>
            <a:r>
              <a:rPr lang="en-IN" sz="1100" dirty="0"/>
              <a:t>Characteristics</a:t>
            </a:r>
          </a:p>
          <a:p>
            <a:pPr marL="628650" lvl="1" indent="-171450">
              <a:buFont typeface="Courier New" panose="02070309020205020404" pitchFamily="49" charset="0"/>
              <a:buChar char="o"/>
            </a:pPr>
            <a:r>
              <a:rPr lang="en-IN" sz="1100" dirty="0"/>
              <a:t>No awareness of:</a:t>
            </a:r>
          </a:p>
          <a:p>
            <a:pPr marL="1085850" lvl="2" indent="-171450">
              <a:buFont typeface="Courier New" panose="02070309020205020404" pitchFamily="49" charset="0"/>
              <a:buChar char="o"/>
            </a:pPr>
            <a:r>
              <a:rPr lang="en-IN" sz="1100" dirty="0"/>
              <a:t>Database schema</a:t>
            </a:r>
          </a:p>
          <a:p>
            <a:pPr marL="1085850" lvl="2" indent="-171450">
              <a:buFont typeface="Courier New" panose="02070309020205020404" pitchFamily="49" charset="0"/>
              <a:buChar char="o"/>
            </a:pPr>
            <a:r>
              <a:rPr lang="en-IN" sz="1100" dirty="0"/>
              <a:t>Primary / foreign keys</a:t>
            </a:r>
          </a:p>
          <a:p>
            <a:pPr marL="1085850" lvl="2" indent="-171450">
              <a:buFont typeface="Courier New" panose="02070309020205020404" pitchFamily="49" charset="0"/>
              <a:buChar char="o"/>
            </a:pPr>
            <a:r>
              <a:rPr lang="en-IN" sz="1100" dirty="0"/>
              <a:t>Join paths</a:t>
            </a:r>
          </a:p>
          <a:p>
            <a:endParaRPr lang="en-IN" sz="1100" dirty="0"/>
          </a:p>
          <a:p>
            <a:r>
              <a:rPr lang="en-IN" sz="1100" dirty="0"/>
              <a:t>Relies entirely on model prior knowledge</a:t>
            </a:r>
          </a:p>
          <a:p>
            <a:endParaRPr lang="en-IN" sz="1100" dirty="0"/>
          </a:p>
          <a:p>
            <a:pPr marL="285750" indent="-285750">
              <a:buFont typeface="Courier New" panose="02070309020205020404" pitchFamily="49" charset="0"/>
              <a:buChar char="o"/>
            </a:pPr>
            <a:endParaRPr lang="en-IN" sz="1100" dirty="0"/>
          </a:p>
        </p:txBody>
      </p:sp>
      <p:sp>
        <p:nvSpPr>
          <p:cNvPr id="33" name="TextBox 32">
            <a:extLst>
              <a:ext uri="{FF2B5EF4-FFF2-40B4-BE49-F238E27FC236}">
                <a16:creationId xmlns:a16="http://schemas.microsoft.com/office/drawing/2014/main" id="{3A173A19-7571-737A-67C5-DF58C3C251EF}"/>
              </a:ext>
            </a:extLst>
          </p:cNvPr>
          <p:cNvSpPr txBox="1"/>
          <p:nvPr/>
        </p:nvSpPr>
        <p:spPr>
          <a:xfrm>
            <a:off x="6460663" y="1679094"/>
            <a:ext cx="4662667" cy="1400383"/>
          </a:xfrm>
          <a:prstGeom prst="rect">
            <a:avLst/>
          </a:prstGeom>
          <a:noFill/>
        </p:spPr>
        <p:txBody>
          <a:bodyPr wrap="square" rtlCol="0">
            <a:spAutoFit/>
          </a:bodyPr>
          <a:lstStyle/>
          <a:p>
            <a:pPr marL="285750" indent="-285750">
              <a:buFont typeface="Courier New" panose="02070309020205020404" pitchFamily="49" charset="0"/>
              <a:buChar char="o"/>
            </a:pPr>
            <a:r>
              <a:rPr lang="en-IN" sz="1100" dirty="0"/>
              <a:t>Baseline Model + RAG as LLM fails without database context </a:t>
            </a:r>
          </a:p>
          <a:p>
            <a:pPr marL="285750" indent="-285750">
              <a:buFont typeface="Courier New" panose="02070309020205020404" pitchFamily="49" charset="0"/>
              <a:buChar char="o"/>
            </a:pPr>
            <a:r>
              <a:rPr lang="en-IN" sz="1100" dirty="0"/>
              <a:t>RAG Adds </a:t>
            </a:r>
          </a:p>
          <a:p>
            <a:pPr marL="742950" lvl="1" indent="-285750">
              <a:buFont typeface="Courier New" panose="02070309020205020404" pitchFamily="49" charset="0"/>
              <a:buChar char="o"/>
            </a:pPr>
            <a:r>
              <a:rPr lang="en-IN" sz="900" dirty="0"/>
              <a:t>Retrieve database-specific information from SQL </a:t>
            </a:r>
          </a:p>
          <a:p>
            <a:pPr marL="742950" lvl="1" indent="-285750">
              <a:buFont typeface="Courier New" panose="02070309020205020404" pitchFamily="49" charset="0"/>
              <a:buChar char="o"/>
            </a:pPr>
            <a:r>
              <a:rPr lang="en-IN" sz="900" dirty="0"/>
              <a:t>Inject schema and join knowledge into prompts and Loads Database schema (PK- FK relationships)</a:t>
            </a:r>
          </a:p>
          <a:p>
            <a:pPr marL="742950" lvl="1" indent="-285750">
              <a:buFont typeface="Courier New" panose="02070309020205020404" pitchFamily="49" charset="0"/>
              <a:buChar char="o"/>
            </a:pPr>
            <a:r>
              <a:rPr lang="en-IN" sz="900" dirty="0"/>
              <a:t>Guide LLM reasoning without fine-tuning</a:t>
            </a:r>
          </a:p>
          <a:p>
            <a:pPr marL="742950" lvl="1" indent="-285750">
              <a:buFont typeface="Courier New" panose="02070309020205020404" pitchFamily="49" charset="0"/>
              <a:buChar char="o"/>
            </a:pPr>
            <a:endParaRPr lang="en-IN" sz="900" dirty="0"/>
          </a:p>
          <a:p>
            <a:pPr marL="742950" lvl="1" indent="-285750">
              <a:buFont typeface="Courier New" panose="02070309020205020404" pitchFamily="49" charset="0"/>
              <a:buChar char="o"/>
            </a:pPr>
            <a:endParaRPr lang="en-IN" dirty="0"/>
          </a:p>
        </p:txBody>
      </p:sp>
      <p:sp>
        <p:nvSpPr>
          <p:cNvPr id="34" name="Rounded Rectangle 33">
            <a:extLst>
              <a:ext uri="{FF2B5EF4-FFF2-40B4-BE49-F238E27FC236}">
                <a16:creationId xmlns:a16="http://schemas.microsoft.com/office/drawing/2014/main" id="{108A3064-08D9-C097-C99B-4ECEBE26C1B8}"/>
              </a:ext>
            </a:extLst>
          </p:cNvPr>
          <p:cNvSpPr/>
          <p:nvPr/>
        </p:nvSpPr>
        <p:spPr>
          <a:xfrm>
            <a:off x="3538427" y="4204078"/>
            <a:ext cx="5197033" cy="252376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IN" dirty="0"/>
          </a:p>
        </p:txBody>
      </p:sp>
      <p:sp>
        <p:nvSpPr>
          <p:cNvPr id="35" name="TextBox 34">
            <a:extLst>
              <a:ext uri="{FF2B5EF4-FFF2-40B4-BE49-F238E27FC236}">
                <a16:creationId xmlns:a16="http://schemas.microsoft.com/office/drawing/2014/main" id="{04D0CA85-1DF2-A754-2145-71A619CB496B}"/>
              </a:ext>
            </a:extLst>
          </p:cNvPr>
          <p:cNvSpPr txBox="1"/>
          <p:nvPr/>
        </p:nvSpPr>
        <p:spPr>
          <a:xfrm>
            <a:off x="4144369" y="4018848"/>
            <a:ext cx="3985145" cy="338554"/>
          </a:xfrm>
          <a:prstGeom prst="rect">
            <a:avLst/>
          </a:prstGeom>
          <a:solidFill>
            <a:schemeClr val="bg1"/>
          </a:solidFill>
        </p:spPr>
        <p:txBody>
          <a:bodyPr wrap="square" rtlCol="0">
            <a:spAutoFit/>
          </a:bodyPr>
          <a:lstStyle/>
          <a:p>
            <a:pPr algn="ctr"/>
            <a:r>
              <a:rPr lang="en-US" sz="1400" dirty="0"/>
              <a:t>Model 3 : LLM + RAG</a:t>
            </a:r>
            <a:r>
              <a:rPr lang="en-US" sz="1600" dirty="0"/>
              <a:t> </a:t>
            </a:r>
            <a:r>
              <a:rPr lang="en-US" sz="1100" dirty="0"/>
              <a:t>(Schema  + Join Template Injection)</a:t>
            </a:r>
            <a:endParaRPr lang="en-US" sz="1600" dirty="0"/>
          </a:p>
        </p:txBody>
      </p:sp>
      <p:sp>
        <p:nvSpPr>
          <p:cNvPr id="36" name="TextBox 35">
            <a:extLst>
              <a:ext uri="{FF2B5EF4-FFF2-40B4-BE49-F238E27FC236}">
                <a16:creationId xmlns:a16="http://schemas.microsoft.com/office/drawing/2014/main" id="{B95ED4F2-CD08-D3E9-382C-83730BCEE57C}"/>
              </a:ext>
            </a:extLst>
          </p:cNvPr>
          <p:cNvSpPr txBox="1"/>
          <p:nvPr/>
        </p:nvSpPr>
        <p:spPr>
          <a:xfrm>
            <a:off x="3805609" y="4388743"/>
            <a:ext cx="4662667" cy="2231380"/>
          </a:xfrm>
          <a:prstGeom prst="rect">
            <a:avLst/>
          </a:prstGeom>
          <a:noFill/>
        </p:spPr>
        <p:txBody>
          <a:bodyPr wrap="square" rtlCol="0">
            <a:spAutoFit/>
          </a:bodyPr>
          <a:lstStyle/>
          <a:p>
            <a:pPr marL="171450" indent="-171450">
              <a:buFont typeface="Courier New" panose="02070309020205020404" pitchFamily="49" charset="0"/>
              <a:buChar char="o"/>
            </a:pPr>
            <a:r>
              <a:rPr lang="en-IN" sz="1100" dirty="0"/>
              <a:t>Motivation</a:t>
            </a:r>
          </a:p>
          <a:p>
            <a:pPr marL="628650" lvl="1" indent="-171450">
              <a:buFont typeface="Courier New" panose="02070309020205020404" pitchFamily="49" charset="0"/>
              <a:buChar char="o"/>
            </a:pPr>
            <a:r>
              <a:rPr lang="en-IN" sz="1100" dirty="0"/>
              <a:t>MongoDB requires explicit $lookup</a:t>
            </a:r>
          </a:p>
          <a:p>
            <a:pPr marL="628650" lvl="1" indent="-171450">
              <a:buFont typeface="Courier New" panose="02070309020205020404" pitchFamily="49" charset="0"/>
              <a:buChar char="o"/>
            </a:pPr>
            <a:r>
              <a:rPr lang="en-IN" sz="1100" dirty="0"/>
              <a:t>LLMs frequently reference joined tables without defining them</a:t>
            </a:r>
          </a:p>
          <a:p>
            <a:pPr marL="628650" lvl="1" indent="-171450">
              <a:buFont typeface="Courier New" panose="02070309020205020404" pitchFamily="49" charset="0"/>
              <a:buChar char="o"/>
            </a:pPr>
            <a:r>
              <a:rPr lang="en-IN" sz="1100" dirty="0"/>
              <a:t>FK information must be operationalized</a:t>
            </a:r>
          </a:p>
          <a:p>
            <a:endParaRPr lang="en-IN" sz="1100" dirty="0"/>
          </a:p>
          <a:p>
            <a:pPr marL="171450" indent="-171450">
              <a:buFont typeface="Courier New" panose="02070309020205020404" pitchFamily="49" charset="0"/>
              <a:buChar char="o"/>
            </a:pPr>
            <a:r>
              <a:rPr lang="en-IN" sz="1100" dirty="0"/>
              <a:t>RAG v3 Enhancement</a:t>
            </a:r>
          </a:p>
          <a:p>
            <a:pPr marL="171450" indent="-171450">
              <a:buFont typeface="Courier New" panose="02070309020205020404" pitchFamily="49" charset="0"/>
              <a:buChar char="o"/>
            </a:pPr>
            <a:r>
              <a:rPr lang="en-IN" sz="1100" dirty="0"/>
              <a:t>Automatically build $lookup + $unwind templates</a:t>
            </a:r>
          </a:p>
          <a:p>
            <a:pPr marL="171450" indent="-171450">
              <a:buFont typeface="Courier New" panose="02070309020205020404" pitchFamily="49" charset="0"/>
              <a:buChar char="o"/>
            </a:pPr>
            <a:r>
              <a:rPr lang="en-IN" sz="1100" dirty="0"/>
              <a:t>Inject JOIN pipeline stages directly into prompt</a:t>
            </a:r>
          </a:p>
          <a:p>
            <a:pPr marL="171450" indent="-171450">
              <a:buFont typeface="Courier New" panose="02070309020205020404" pitchFamily="49" charset="0"/>
              <a:buChar char="o"/>
            </a:pPr>
            <a:r>
              <a:rPr lang="en-IN" sz="1100" dirty="0"/>
              <a:t>LLM completes remaining aggregation logic</a:t>
            </a:r>
          </a:p>
          <a:p>
            <a:pPr marL="171450" indent="-171450">
              <a:buFont typeface="Courier New" panose="02070309020205020404" pitchFamily="49" charset="0"/>
              <a:buChar char="o"/>
            </a:pPr>
            <a:endParaRPr lang="en-IN" sz="1100" dirty="0"/>
          </a:p>
          <a:p>
            <a:endParaRPr lang="en-IN" sz="1100" dirty="0"/>
          </a:p>
          <a:p>
            <a:pPr marL="742950" lvl="1" indent="-285750">
              <a:buFont typeface="Courier New" panose="02070309020205020404" pitchFamily="49" charset="0"/>
              <a:buChar char="o"/>
            </a:pPr>
            <a:endParaRPr lang="en-IN" dirty="0"/>
          </a:p>
        </p:txBody>
      </p:sp>
      <p:pic>
        <p:nvPicPr>
          <p:cNvPr id="6" name="Graphic 5">
            <a:extLst>
              <a:ext uri="{FF2B5EF4-FFF2-40B4-BE49-F238E27FC236}">
                <a16:creationId xmlns:a16="http://schemas.microsoft.com/office/drawing/2014/main" id="{03CFD994-3B8E-92FA-5E70-E46E11C10851}"/>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10273980" y="0"/>
            <a:ext cx="289387" cy="349581"/>
          </a:xfrm>
          <a:prstGeom prst="rect">
            <a:avLst/>
          </a:prstGeom>
        </p:spPr>
      </p:pic>
      <p:sp>
        <p:nvSpPr>
          <p:cNvPr id="7" name="TextBox 6">
            <a:extLst>
              <a:ext uri="{FF2B5EF4-FFF2-40B4-BE49-F238E27FC236}">
                <a16:creationId xmlns:a16="http://schemas.microsoft.com/office/drawing/2014/main" id="{FD91D334-54D8-FC52-2EF8-D4814BAF7C92}"/>
              </a:ext>
            </a:extLst>
          </p:cNvPr>
          <p:cNvSpPr txBox="1"/>
          <p:nvPr/>
        </p:nvSpPr>
        <p:spPr>
          <a:xfrm>
            <a:off x="10563367" y="0"/>
            <a:ext cx="1091821" cy="382137"/>
          </a:xfrm>
          <a:prstGeom prst="rect">
            <a:avLst/>
          </a:prstGeom>
          <a:noFill/>
        </p:spPr>
        <p:txBody>
          <a:bodyPr wrap="square" rtlCol="0">
            <a:spAutoFit/>
          </a:bodyPr>
          <a:lstStyle/>
          <a:p>
            <a:r>
              <a:rPr lang="en-US" dirty="0"/>
              <a:t>Saurabh</a:t>
            </a:r>
          </a:p>
        </p:txBody>
      </p:sp>
    </p:spTree>
    <p:extLst>
      <p:ext uri="{BB962C8B-B14F-4D97-AF65-F5344CB8AC3E}">
        <p14:creationId xmlns:p14="http://schemas.microsoft.com/office/powerpoint/2010/main" val="1220133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0BFCEE-E41E-171C-60A4-476F8DDDA8CB}"/>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2" name="Freeform: Shape 11">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7" name="Freeform: Shape 16">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9DFDC987-B3F7-54E9-79DF-0E9E0FD5E1BA}"/>
              </a:ext>
            </a:extLst>
          </p:cNvPr>
          <p:cNvSpPr>
            <a:spLocks noGrp="1"/>
          </p:cNvSpPr>
          <p:nvPr>
            <p:ph type="ctrTitle"/>
          </p:nvPr>
        </p:nvSpPr>
        <p:spPr>
          <a:xfrm>
            <a:off x="3215729" y="1764407"/>
            <a:ext cx="5760846" cy="2310312"/>
          </a:xfrm>
        </p:spPr>
        <p:txBody>
          <a:bodyPr>
            <a:normAutofit/>
          </a:bodyPr>
          <a:lstStyle/>
          <a:p>
            <a:r>
              <a:rPr lang="en-US" sz="5200">
                <a:solidFill>
                  <a:schemeClr val="tx2"/>
                </a:solidFill>
              </a:rPr>
              <a:t>Text2SQL</a:t>
            </a:r>
          </a:p>
        </p:txBody>
      </p:sp>
    </p:spTree>
    <p:extLst>
      <p:ext uri="{BB962C8B-B14F-4D97-AF65-F5344CB8AC3E}">
        <p14:creationId xmlns:p14="http://schemas.microsoft.com/office/powerpoint/2010/main" val="1109976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628EB-FF8D-704B-9B6F-8869BF8A73FC}"/>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BCF6A6FC-D63A-74C5-98CB-823424C8CDA5}"/>
              </a:ext>
            </a:extLst>
          </p:cNvPr>
          <p:cNvSpPr/>
          <p:nvPr/>
        </p:nvSpPr>
        <p:spPr>
          <a:xfrm>
            <a:off x="277792" y="1436914"/>
            <a:ext cx="11728161" cy="53162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BDD9C60-00D6-5543-0BFB-10F39773AF9B}"/>
              </a:ext>
            </a:extLst>
          </p:cNvPr>
          <p:cNvSpPr>
            <a:spLocks noGrp="1"/>
          </p:cNvSpPr>
          <p:nvPr>
            <p:ph type="ctrTitle"/>
          </p:nvPr>
        </p:nvSpPr>
        <p:spPr>
          <a:xfrm>
            <a:off x="1524000" y="104798"/>
            <a:ext cx="9144000" cy="1189429"/>
          </a:xfrm>
        </p:spPr>
        <p:txBody>
          <a:bodyPr>
            <a:normAutofit/>
          </a:bodyPr>
          <a:lstStyle/>
          <a:p>
            <a:r>
              <a:rPr lang="en-US" dirty="0"/>
              <a:t>Model 1: </a:t>
            </a:r>
            <a:r>
              <a:rPr lang="en-IN" sz="4000" dirty="0"/>
              <a:t>SQLNet (LSTM Baseline)</a:t>
            </a:r>
            <a:endParaRPr lang="en-US" sz="4000" dirty="0"/>
          </a:p>
        </p:txBody>
      </p:sp>
      <p:sp>
        <p:nvSpPr>
          <p:cNvPr id="3" name="Rounded Rectangle 2">
            <a:extLst>
              <a:ext uri="{FF2B5EF4-FFF2-40B4-BE49-F238E27FC236}">
                <a16:creationId xmlns:a16="http://schemas.microsoft.com/office/drawing/2014/main" id="{130B2809-2068-F6B8-2D24-FA4B1CBA8B3B}"/>
              </a:ext>
            </a:extLst>
          </p:cNvPr>
          <p:cNvSpPr/>
          <p:nvPr/>
        </p:nvSpPr>
        <p:spPr>
          <a:xfrm>
            <a:off x="717779" y="1579095"/>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User Questions</a:t>
            </a:r>
          </a:p>
        </p:txBody>
      </p:sp>
      <p:sp>
        <p:nvSpPr>
          <p:cNvPr id="4" name="Rounded Rectangle 3">
            <a:extLst>
              <a:ext uri="{FF2B5EF4-FFF2-40B4-BE49-F238E27FC236}">
                <a16:creationId xmlns:a16="http://schemas.microsoft.com/office/drawing/2014/main" id="{C01BAC83-69F3-B8EC-0D83-5B9F74AACFDD}"/>
              </a:ext>
            </a:extLst>
          </p:cNvPr>
          <p:cNvSpPr/>
          <p:nvPr/>
        </p:nvSpPr>
        <p:spPr>
          <a:xfrm>
            <a:off x="2579789" y="1579095"/>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Schema as Flattened text</a:t>
            </a:r>
          </a:p>
        </p:txBody>
      </p:sp>
      <p:sp>
        <p:nvSpPr>
          <p:cNvPr id="5" name="Rounded Rectangle 4">
            <a:extLst>
              <a:ext uri="{FF2B5EF4-FFF2-40B4-BE49-F238E27FC236}">
                <a16:creationId xmlns:a16="http://schemas.microsoft.com/office/drawing/2014/main" id="{030F4FCA-0723-CDFE-387B-00CF20AB94C3}"/>
              </a:ext>
            </a:extLst>
          </p:cNvPr>
          <p:cNvSpPr/>
          <p:nvPr/>
        </p:nvSpPr>
        <p:spPr>
          <a:xfrm>
            <a:off x="4441799" y="1579095"/>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Tokenization (T5 tokenizer</a:t>
            </a:r>
          </a:p>
          <a:p>
            <a:pPr algn="ctr"/>
            <a:r>
              <a:rPr lang="en-IN" sz="1000" dirty="0" err="1"/>
              <a:t>SentencePiece</a:t>
            </a:r>
            <a:r>
              <a:rPr lang="en-US" sz="1600" dirty="0"/>
              <a:t>)</a:t>
            </a:r>
          </a:p>
          <a:p>
            <a:pPr algn="ctr"/>
            <a:r>
              <a:rPr lang="en-US" sz="1600" dirty="0"/>
              <a:t>&amp; Embedding</a:t>
            </a:r>
            <a:endParaRPr lang="en-US" dirty="0"/>
          </a:p>
        </p:txBody>
      </p:sp>
      <p:sp>
        <p:nvSpPr>
          <p:cNvPr id="6" name="Rounded Rectangle 5">
            <a:extLst>
              <a:ext uri="{FF2B5EF4-FFF2-40B4-BE49-F238E27FC236}">
                <a16:creationId xmlns:a16="http://schemas.microsoft.com/office/drawing/2014/main" id="{71FDF730-42C6-953B-86EA-968ADAACF48A}"/>
              </a:ext>
            </a:extLst>
          </p:cNvPr>
          <p:cNvSpPr/>
          <p:nvPr/>
        </p:nvSpPr>
        <p:spPr>
          <a:xfrm>
            <a:off x="6303809" y="1579095"/>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Encoder (Bi-LSTM) </a:t>
            </a:r>
          </a:p>
        </p:txBody>
      </p:sp>
      <p:sp>
        <p:nvSpPr>
          <p:cNvPr id="7" name="Rounded Rectangle 6">
            <a:extLst>
              <a:ext uri="{FF2B5EF4-FFF2-40B4-BE49-F238E27FC236}">
                <a16:creationId xmlns:a16="http://schemas.microsoft.com/office/drawing/2014/main" id="{198F5F29-2403-1071-9E0F-2A86C48A93B6}"/>
              </a:ext>
            </a:extLst>
          </p:cNvPr>
          <p:cNvSpPr/>
          <p:nvPr/>
        </p:nvSpPr>
        <p:spPr>
          <a:xfrm>
            <a:off x="8165819" y="1579095"/>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Decoder(LSTM)</a:t>
            </a:r>
            <a:endParaRPr lang="en-US" dirty="0"/>
          </a:p>
        </p:txBody>
      </p:sp>
      <p:sp>
        <p:nvSpPr>
          <p:cNvPr id="8" name="Rounded Rectangle 7">
            <a:extLst>
              <a:ext uri="{FF2B5EF4-FFF2-40B4-BE49-F238E27FC236}">
                <a16:creationId xmlns:a16="http://schemas.microsoft.com/office/drawing/2014/main" id="{7FEC7D99-0D80-F46D-5587-ABEDFD2955CA}"/>
              </a:ext>
            </a:extLst>
          </p:cNvPr>
          <p:cNvSpPr/>
          <p:nvPr/>
        </p:nvSpPr>
        <p:spPr>
          <a:xfrm>
            <a:off x="10104483" y="1579095"/>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Output as SQL Query</a:t>
            </a:r>
          </a:p>
        </p:txBody>
      </p:sp>
      <p:sp>
        <p:nvSpPr>
          <p:cNvPr id="9" name="Right Arrow 8">
            <a:extLst>
              <a:ext uri="{FF2B5EF4-FFF2-40B4-BE49-F238E27FC236}">
                <a16:creationId xmlns:a16="http://schemas.microsoft.com/office/drawing/2014/main" id="{520FA352-C8B9-F320-CE4B-9F78B2D74036}"/>
              </a:ext>
            </a:extLst>
          </p:cNvPr>
          <p:cNvSpPr/>
          <p:nvPr/>
        </p:nvSpPr>
        <p:spPr>
          <a:xfrm>
            <a:off x="2209934" y="2125005"/>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60EC5928-FDD7-8A24-102B-C791810FE855}"/>
              </a:ext>
            </a:extLst>
          </p:cNvPr>
          <p:cNvSpPr/>
          <p:nvPr/>
        </p:nvSpPr>
        <p:spPr>
          <a:xfrm>
            <a:off x="4071943" y="2125004"/>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a:extLst>
              <a:ext uri="{FF2B5EF4-FFF2-40B4-BE49-F238E27FC236}">
                <a16:creationId xmlns:a16="http://schemas.microsoft.com/office/drawing/2014/main" id="{D9F6B6A1-1D1B-8DE5-7CE7-6EF34DAFF3D8}"/>
              </a:ext>
            </a:extLst>
          </p:cNvPr>
          <p:cNvSpPr/>
          <p:nvPr/>
        </p:nvSpPr>
        <p:spPr>
          <a:xfrm>
            <a:off x="5933953" y="2125004"/>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a:extLst>
              <a:ext uri="{FF2B5EF4-FFF2-40B4-BE49-F238E27FC236}">
                <a16:creationId xmlns:a16="http://schemas.microsoft.com/office/drawing/2014/main" id="{61053AE3-2567-4230-00E2-FFF29A6BEB78}"/>
              </a:ext>
            </a:extLst>
          </p:cNvPr>
          <p:cNvSpPr/>
          <p:nvPr/>
        </p:nvSpPr>
        <p:spPr>
          <a:xfrm>
            <a:off x="7795963" y="2125004"/>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1A424746-04F5-9AE1-8665-588C28B7F61F}"/>
              </a:ext>
            </a:extLst>
          </p:cNvPr>
          <p:cNvSpPr/>
          <p:nvPr/>
        </p:nvSpPr>
        <p:spPr>
          <a:xfrm>
            <a:off x="9657974" y="2132865"/>
            <a:ext cx="446509" cy="1968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Группа 8">
            <a:extLst>
              <a:ext uri="{FF2B5EF4-FFF2-40B4-BE49-F238E27FC236}">
                <a16:creationId xmlns:a16="http://schemas.microsoft.com/office/drawing/2014/main" id="{4B972BC0-6D58-1034-FAC8-1F9490828106}"/>
              </a:ext>
            </a:extLst>
          </p:cNvPr>
          <p:cNvGrpSpPr/>
          <p:nvPr/>
        </p:nvGrpSpPr>
        <p:grpSpPr>
          <a:xfrm>
            <a:off x="505700" y="3307889"/>
            <a:ext cx="4682176" cy="1393894"/>
            <a:chOff x="0" y="1881025"/>
            <a:chExt cx="9365571" cy="2788150"/>
          </a:xfrm>
        </p:grpSpPr>
        <p:sp>
          <p:nvSpPr>
            <p:cNvPr id="17" name="Freeform 16">
              <a:extLst>
                <a:ext uri="{FF2B5EF4-FFF2-40B4-BE49-F238E27FC236}">
                  <a16:creationId xmlns:a16="http://schemas.microsoft.com/office/drawing/2014/main" id="{6CA2857C-BB17-7976-F9A4-DB81B723EACF}"/>
                </a:ext>
              </a:extLst>
            </p:cNvPr>
            <p:cNvSpPr/>
            <p:nvPr/>
          </p:nvSpPr>
          <p:spPr>
            <a:xfrm flipH="1">
              <a:off x="0" y="1881025"/>
              <a:ext cx="9365571" cy="2788150"/>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19" name="Текст 2">
              <a:extLst>
                <a:ext uri="{FF2B5EF4-FFF2-40B4-BE49-F238E27FC236}">
                  <a16:creationId xmlns:a16="http://schemas.microsoft.com/office/drawing/2014/main" id="{4961252E-2CAE-BE4C-DB58-22121527B6A0}"/>
                </a:ext>
              </a:extLst>
            </p:cNvPr>
            <p:cNvSpPr txBox="1">
              <a:spLocks/>
            </p:cNvSpPr>
            <p:nvPr/>
          </p:nvSpPr>
          <p:spPr>
            <a:xfrm flipH="1">
              <a:off x="451423" y="1889162"/>
              <a:ext cx="8168433" cy="2737383"/>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Motivation</a:t>
              </a:r>
            </a:p>
            <a:p>
              <a:pPr marL="285750" indent="-285750">
                <a:buFont typeface="Wingdings" pitchFamily="2" charset="2"/>
                <a:buChar char="Ø"/>
              </a:pPr>
              <a:r>
                <a:rPr lang="en-IN" sz="900" dirty="0" err="1"/>
                <a:t>Text→SQL</a:t>
              </a:r>
              <a:r>
                <a:rPr lang="en-IN" sz="900" dirty="0"/>
                <a:t> is basically </a:t>
              </a:r>
              <a:r>
                <a:rPr lang="en-IN" sz="900" b="1" dirty="0"/>
                <a:t>translation from English → SQL</a:t>
              </a:r>
              <a:r>
                <a:rPr lang="en-IN" sz="900" dirty="0"/>
                <a:t>.</a:t>
              </a:r>
              <a:br>
                <a:rPr lang="en-IN" sz="900" dirty="0"/>
              </a:br>
              <a:r>
                <a:rPr lang="en-IN" sz="900" dirty="0"/>
                <a:t>So an LSTM with encoder–decoder architecture was a natural starting point.</a:t>
              </a:r>
            </a:p>
            <a:p>
              <a:pPr marL="285750" indent="-285750">
                <a:buFont typeface="Wingdings" pitchFamily="2" charset="2"/>
                <a:buChar char="Ø"/>
              </a:pPr>
              <a:r>
                <a:rPr lang="en-IN" sz="900" dirty="0"/>
                <a:t>To understand core seq2seq mechanics</a:t>
              </a:r>
            </a:p>
            <a:p>
              <a:pPr marL="285750" indent="-285750">
                <a:buFont typeface="Wingdings" pitchFamily="2" charset="2"/>
                <a:buChar char="Ø"/>
              </a:pPr>
              <a:r>
                <a:rPr lang="en-IN" sz="900" dirty="0"/>
                <a:t>Historically used in early </a:t>
              </a:r>
              <a:r>
                <a:rPr lang="en-IN" sz="900" dirty="0" err="1"/>
                <a:t>Text→SQL</a:t>
              </a:r>
              <a:r>
                <a:rPr lang="en-IN" sz="900" dirty="0"/>
                <a:t> research</a:t>
              </a:r>
            </a:p>
          </p:txBody>
        </p:sp>
      </p:grpSp>
      <p:grpSp>
        <p:nvGrpSpPr>
          <p:cNvPr id="21" name="Группа 8">
            <a:extLst>
              <a:ext uri="{FF2B5EF4-FFF2-40B4-BE49-F238E27FC236}">
                <a16:creationId xmlns:a16="http://schemas.microsoft.com/office/drawing/2014/main" id="{2415CBB5-4BA5-89B9-3515-A6396CC218D2}"/>
              </a:ext>
            </a:extLst>
          </p:cNvPr>
          <p:cNvGrpSpPr/>
          <p:nvPr/>
        </p:nvGrpSpPr>
        <p:grpSpPr>
          <a:xfrm>
            <a:off x="505700" y="4943516"/>
            <a:ext cx="4682176" cy="1675199"/>
            <a:chOff x="0" y="1706944"/>
            <a:chExt cx="9365571" cy="3350833"/>
          </a:xfrm>
        </p:grpSpPr>
        <p:sp>
          <p:nvSpPr>
            <p:cNvPr id="22" name="Freeform 21">
              <a:extLst>
                <a:ext uri="{FF2B5EF4-FFF2-40B4-BE49-F238E27FC236}">
                  <a16:creationId xmlns:a16="http://schemas.microsoft.com/office/drawing/2014/main" id="{A8736A00-E3DD-1CE2-02D2-0A0B8F8951C4}"/>
                </a:ext>
              </a:extLst>
            </p:cNvPr>
            <p:cNvSpPr/>
            <p:nvPr/>
          </p:nvSpPr>
          <p:spPr>
            <a:xfrm flipH="1">
              <a:off x="0" y="1881023"/>
              <a:ext cx="9365571" cy="3176754"/>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3" name="Текст 2">
              <a:extLst>
                <a:ext uri="{FF2B5EF4-FFF2-40B4-BE49-F238E27FC236}">
                  <a16:creationId xmlns:a16="http://schemas.microsoft.com/office/drawing/2014/main" id="{8ACBE327-41EA-FC5C-4060-0B67516C211B}"/>
                </a:ext>
              </a:extLst>
            </p:cNvPr>
            <p:cNvSpPr txBox="1">
              <a:spLocks/>
            </p:cNvSpPr>
            <p:nvPr/>
          </p:nvSpPr>
          <p:spPr>
            <a:xfrm flipH="1">
              <a:off x="451421" y="1706944"/>
              <a:ext cx="8168433" cy="3065424"/>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How it worked</a:t>
              </a:r>
            </a:p>
            <a:p>
              <a:pPr marL="0" indent="0">
                <a:buNone/>
              </a:pPr>
              <a:r>
                <a:rPr lang="en-IN" sz="900" dirty="0"/>
                <a:t>Model-1 is a classic sequence-to-sequence model (encoder–decoder) built with LSTMs, using T5 tokenizer.</a:t>
              </a:r>
            </a:p>
            <a:p>
              <a:pPr marL="0" indent="0">
                <a:buNone/>
              </a:pPr>
              <a:br>
                <a:rPr lang="en-IN" sz="900" dirty="0"/>
              </a:br>
              <a:r>
                <a:rPr lang="en-IN" sz="900" b="1" dirty="0"/>
                <a:t>Input text is tokenized → embedded → encoded by LSTM → decoded into SQL tokens step-by-step</a:t>
              </a:r>
            </a:p>
            <a:p>
              <a:pPr marL="0" indent="0">
                <a:buNone/>
              </a:pPr>
              <a:endParaRPr lang="en-IN" sz="700" b="1" dirty="0"/>
            </a:p>
            <a:p>
              <a:pPr marL="0" indent="0">
                <a:buNone/>
              </a:pPr>
              <a:r>
                <a:rPr lang="en-IN" sz="700" b="1" dirty="0"/>
                <a:t>Model-1 uses an embedding layer, LSTM encoder, LSTM decoder, and a SoftMax head</a:t>
              </a:r>
              <a:endParaRPr lang="ru-RU" sz="700" b="1" dirty="0"/>
            </a:p>
          </p:txBody>
        </p:sp>
      </p:grpSp>
      <p:grpSp>
        <p:nvGrpSpPr>
          <p:cNvPr id="27" name="Группа 8">
            <a:extLst>
              <a:ext uri="{FF2B5EF4-FFF2-40B4-BE49-F238E27FC236}">
                <a16:creationId xmlns:a16="http://schemas.microsoft.com/office/drawing/2014/main" id="{BDB544EF-D056-1CE7-0452-0933019C16F3}"/>
              </a:ext>
            </a:extLst>
          </p:cNvPr>
          <p:cNvGrpSpPr/>
          <p:nvPr/>
        </p:nvGrpSpPr>
        <p:grpSpPr>
          <a:xfrm>
            <a:off x="5639802" y="5030544"/>
            <a:ext cx="4682176" cy="1484031"/>
            <a:chOff x="0" y="1881023"/>
            <a:chExt cx="9365571" cy="2968447"/>
          </a:xfrm>
        </p:grpSpPr>
        <p:sp>
          <p:nvSpPr>
            <p:cNvPr id="28" name="Freeform 27">
              <a:extLst>
                <a:ext uri="{FF2B5EF4-FFF2-40B4-BE49-F238E27FC236}">
                  <a16:creationId xmlns:a16="http://schemas.microsoft.com/office/drawing/2014/main" id="{361507D9-48E0-AC35-8B2A-F534DE867761}"/>
                </a:ext>
              </a:extLst>
            </p:cNvPr>
            <p:cNvSpPr/>
            <p:nvPr/>
          </p:nvSpPr>
          <p:spPr>
            <a:xfrm flipH="1">
              <a:off x="0" y="1881023"/>
              <a:ext cx="9365571" cy="2968447"/>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9" name="Текст 2">
              <a:extLst>
                <a:ext uri="{FF2B5EF4-FFF2-40B4-BE49-F238E27FC236}">
                  <a16:creationId xmlns:a16="http://schemas.microsoft.com/office/drawing/2014/main" id="{2844B3B0-A96B-048F-64AF-78204D5F05CF}"/>
                </a:ext>
              </a:extLst>
            </p:cNvPr>
            <p:cNvSpPr txBox="1">
              <a:spLocks/>
            </p:cNvSpPr>
            <p:nvPr/>
          </p:nvSpPr>
          <p:spPr>
            <a:xfrm flipH="1">
              <a:off x="451423" y="1889162"/>
              <a:ext cx="8168433" cy="2737383"/>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Why It failed</a:t>
              </a:r>
            </a:p>
            <a:p>
              <a:pPr marL="171450" indent="-171450">
                <a:buFont typeface="Wingdings" pitchFamily="2" charset="2"/>
                <a:buChar char="Ø"/>
              </a:pPr>
              <a:r>
                <a:rPr lang="en-IN" sz="900" dirty="0"/>
                <a:t>Cannot handle Spider’s complexity</a:t>
              </a:r>
            </a:p>
            <a:p>
              <a:pPr marL="171450" indent="-171450">
                <a:buFont typeface="Wingdings" pitchFamily="2" charset="2"/>
                <a:buChar char="Ø"/>
              </a:pPr>
              <a:r>
                <a:rPr lang="en-IN" sz="900" dirty="0"/>
                <a:t>No schema understanding</a:t>
              </a:r>
            </a:p>
            <a:p>
              <a:pPr marL="171450" indent="-171450">
                <a:buFont typeface="Wingdings" pitchFamily="2" charset="2"/>
                <a:buChar char="Ø"/>
              </a:pPr>
              <a:r>
                <a:rPr lang="en-IN" sz="900" dirty="0"/>
                <a:t>Bottleneck compression</a:t>
              </a:r>
            </a:p>
            <a:p>
              <a:pPr marL="171450" indent="-171450">
                <a:buFont typeface="Wingdings" pitchFamily="2" charset="2"/>
                <a:buChar char="Ø"/>
              </a:pPr>
              <a:r>
                <a:rPr lang="en-IN" sz="900" dirty="0"/>
                <a:t>No pretraining</a:t>
              </a:r>
            </a:p>
            <a:p>
              <a:pPr marL="171450" indent="-171450">
                <a:buFont typeface="Wingdings" pitchFamily="2" charset="2"/>
                <a:buChar char="Ø"/>
              </a:pPr>
              <a:r>
                <a:rPr lang="en-IN" sz="900" dirty="0"/>
                <a:t>No global attention</a:t>
              </a:r>
            </a:p>
            <a:p>
              <a:pPr marL="171450" indent="-171450">
                <a:buFont typeface="Wingdings" pitchFamily="2" charset="2"/>
                <a:buChar char="Ø"/>
              </a:pPr>
              <a:r>
                <a:rPr lang="en-IN" sz="900" dirty="0"/>
                <a:t>weak long-range reasoning</a:t>
              </a:r>
            </a:p>
          </p:txBody>
        </p:sp>
      </p:grpSp>
      <p:grpSp>
        <p:nvGrpSpPr>
          <p:cNvPr id="30" name="Группа 8">
            <a:extLst>
              <a:ext uri="{FF2B5EF4-FFF2-40B4-BE49-F238E27FC236}">
                <a16:creationId xmlns:a16="http://schemas.microsoft.com/office/drawing/2014/main" id="{3478770C-294C-312D-12AE-07FE1E39B190}"/>
              </a:ext>
            </a:extLst>
          </p:cNvPr>
          <p:cNvGrpSpPr/>
          <p:nvPr/>
        </p:nvGrpSpPr>
        <p:grpSpPr>
          <a:xfrm>
            <a:off x="5639802" y="3307887"/>
            <a:ext cx="4682176" cy="1484031"/>
            <a:chOff x="0" y="1881023"/>
            <a:chExt cx="9365571" cy="2968447"/>
          </a:xfrm>
        </p:grpSpPr>
        <p:sp>
          <p:nvSpPr>
            <p:cNvPr id="31" name="Freeform 30">
              <a:extLst>
                <a:ext uri="{FF2B5EF4-FFF2-40B4-BE49-F238E27FC236}">
                  <a16:creationId xmlns:a16="http://schemas.microsoft.com/office/drawing/2014/main" id="{33C6A886-7D6A-26BE-5CE0-7251CBD78B45}"/>
                </a:ext>
              </a:extLst>
            </p:cNvPr>
            <p:cNvSpPr/>
            <p:nvPr/>
          </p:nvSpPr>
          <p:spPr>
            <a:xfrm flipH="1">
              <a:off x="0" y="1881023"/>
              <a:ext cx="9365571" cy="2968447"/>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32" name="Текст 2">
              <a:extLst>
                <a:ext uri="{FF2B5EF4-FFF2-40B4-BE49-F238E27FC236}">
                  <a16:creationId xmlns:a16="http://schemas.microsoft.com/office/drawing/2014/main" id="{B1B40CA5-6F54-77ED-A89A-64977278EDB8}"/>
                </a:ext>
              </a:extLst>
            </p:cNvPr>
            <p:cNvSpPr txBox="1">
              <a:spLocks/>
            </p:cNvSpPr>
            <p:nvPr/>
          </p:nvSpPr>
          <p:spPr>
            <a:xfrm flipH="1">
              <a:off x="451421" y="1889162"/>
              <a:ext cx="8168433" cy="2780013"/>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Process</a:t>
              </a:r>
            </a:p>
            <a:p>
              <a:pPr marL="171450" indent="-171450">
                <a:buFont typeface="Wingdings" pitchFamily="2" charset="2"/>
                <a:buChar char="Ø"/>
              </a:pPr>
              <a:r>
                <a:rPr lang="en-IN" sz="900" dirty="0"/>
                <a:t>The Training dataset pairs English -&gt; SQL </a:t>
              </a:r>
            </a:p>
            <a:p>
              <a:pPr marL="171450" indent="-171450">
                <a:buFont typeface="Wingdings" pitchFamily="2" charset="2"/>
                <a:buChar char="Ø"/>
              </a:pPr>
              <a:r>
                <a:rPr lang="en-IN" sz="900" dirty="0"/>
                <a:t>Decoder Vocabulary contains SQL tokens</a:t>
              </a:r>
            </a:p>
            <a:p>
              <a:pPr marL="171450" indent="-171450">
                <a:buFont typeface="Wingdings" pitchFamily="2" charset="2"/>
                <a:buChar char="Ø"/>
              </a:pPr>
              <a:r>
                <a:rPr lang="en-IN" sz="900" dirty="0"/>
                <a:t>Teacher forcing trains SQL grammar step-by-step</a:t>
              </a:r>
            </a:p>
            <a:p>
              <a:pPr marL="171450" indent="-171450">
                <a:buFont typeface="Wingdings" pitchFamily="2" charset="2"/>
                <a:buChar char="Ø"/>
              </a:pPr>
              <a:r>
                <a:rPr lang="en-IN" sz="900" dirty="0"/>
                <a:t>Cross Entropy loss punishes SQL tokens</a:t>
              </a:r>
            </a:p>
            <a:p>
              <a:pPr marL="171450" indent="-171450">
                <a:buFont typeface="Wingdings" pitchFamily="2" charset="2"/>
                <a:buChar char="Ø"/>
              </a:pPr>
              <a:r>
                <a:rPr lang="en-IN" sz="900" dirty="0"/>
                <a:t>Pattern repeats so model learns SQL Structure </a:t>
              </a:r>
            </a:p>
            <a:p>
              <a:pPr marL="171450" indent="-171450">
                <a:buFont typeface="Wingdings" pitchFamily="2" charset="2"/>
                <a:buChar char="Ø"/>
              </a:pPr>
              <a:r>
                <a:rPr lang="en-IN" sz="900" dirty="0"/>
                <a:t>Decoder hidden state encodes SQL grammar convention</a:t>
              </a:r>
            </a:p>
          </p:txBody>
        </p:sp>
      </p:grpSp>
      <p:pic>
        <p:nvPicPr>
          <p:cNvPr id="16" name="Graphic 15">
            <a:extLst>
              <a:ext uri="{FF2B5EF4-FFF2-40B4-BE49-F238E27FC236}">
                <a16:creationId xmlns:a16="http://schemas.microsoft.com/office/drawing/2014/main" id="{C334C919-FBBD-9505-E0AE-EB6F3F0A9CCA}"/>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10273980" y="0"/>
            <a:ext cx="289387" cy="349581"/>
          </a:xfrm>
          <a:prstGeom prst="rect">
            <a:avLst/>
          </a:prstGeom>
        </p:spPr>
      </p:pic>
      <p:sp>
        <p:nvSpPr>
          <p:cNvPr id="18" name="TextBox 17">
            <a:extLst>
              <a:ext uri="{FF2B5EF4-FFF2-40B4-BE49-F238E27FC236}">
                <a16:creationId xmlns:a16="http://schemas.microsoft.com/office/drawing/2014/main" id="{291D6E17-FD35-69DD-49B9-F057D475EE18}"/>
              </a:ext>
            </a:extLst>
          </p:cNvPr>
          <p:cNvSpPr txBox="1"/>
          <p:nvPr/>
        </p:nvSpPr>
        <p:spPr>
          <a:xfrm>
            <a:off x="10563367" y="0"/>
            <a:ext cx="1091821" cy="382137"/>
          </a:xfrm>
          <a:prstGeom prst="rect">
            <a:avLst/>
          </a:prstGeom>
          <a:noFill/>
        </p:spPr>
        <p:txBody>
          <a:bodyPr wrap="square" rtlCol="0">
            <a:spAutoFit/>
          </a:bodyPr>
          <a:lstStyle/>
          <a:p>
            <a:r>
              <a:rPr lang="en-US" dirty="0"/>
              <a:t>Sai</a:t>
            </a:r>
          </a:p>
        </p:txBody>
      </p:sp>
    </p:spTree>
    <p:extLst>
      <p:ext uri="{BB962C8B-B14F-4D97-AF65-F5344CB8AC3E}">
        <p14:creationId xmlns:p14="http://schemas.microsoft.com/office/powerpoint/2010/main" val="3217060866"/>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50000">
                                      <p:stCondLst>
                                        <p:cond delay="100"/>
                                      </p:stCondLst>
                                      <p:childTnLst>
                                        <p:set>
                                          <p:cBhvr>
                                            <p:cTn id="6" dur="1" fill="hold">
                                              <p:stCondLst>
                                                <p:cond delay="0"/>
                                              </p:stCondLst>
                                            </p:cTn>
                                            <p:tgtEl>
                                              <p:spTgt spid="15"/>
                                            </p:tgtEl>
                                            <p:attrNameLst>
                                              <p:attrName>style.visibility</p:attrName>
                                            </p:attrNameLst>
                                          </p:cBhvr>
                                          <p:to>
                                            <p:strVal val="visible"/>
                                          </p:to>
                                        </p:set>
                                        <p:anim calcmode="lin" valueType="num" p14:bounceEnd="50000">
                                          <p:cBhvr additive="base">
                                            <p:cTn id="7" dur="500" fill="hold"/>
                                            <p:tgtEl>
                                              <p:spTgt spid="15"/>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50000">
                                      <p:stCondLst>
                                        <p:cond delay="100"/>
                                      </p:stCondLst>
                                      <p:childTnLst>
                                        <p:set>
                                          <p:cBhvr>
                                            <p:cTn id="10" dur="1" fill="hold">
                                              <p:stCondLst>
                                                <p:cond delay="0"/>
                                              </p:stCondLst>
                                            </p:cTn>
                                            <p:tgtEl>
                                              <p:spTgt spid="21"/>
                                            </p:tgtEl>
                                            <p:attrNameLst>
                                              <p:attrName>style.visibility</p:attrName>
                                            </p:attrNameLst>
                                          </p:cBhvr>
                                          <p:to>
                                            <p:strVal val="visible"/>
                                          </p:to>
                                        </p:set>
                                        <p:anim calcmode="lin" valueType="num" p14:bounceEnd="50000">
                                          <p:cBhvr additive="base">
                                            <p:cTn id="11" dur="500" fill="hold"/>
                                            <p:tgtEl>
                                              <p:spTgt spid="21"/>
                                            </p:tgtEl>
                                            <p:attrNameLst>
                                              <p:attrName>ppt_x</p:attrName>
                                            </p:attrNameLst>
                                          </p:cBhvr>
                                          <p:tavLst>
                                            <p:tav tm="0">
                                              <p:val>
                                                <p:strVal val="0-#ppt_w/2"/>
                                              </p:val>
                                            </p:tav>
                                            <p:tav tm="100000">
                                              <p:val>
                                                <p:strVal val="#ppt_x"/>
                                              </p:val>
                                            </p:tav>
                                          </p:tavLst>
                                        </p:anim>
                                        <p:anim calcmode="lin" valueType="num" p14:bounceEnd="50000">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50000">
                                      <p:stCondLst>
                                        <p:cond delay="100"/>
                                      </p:stCondLst>
                                      <p:childTnLst>
                                        <p:set>
                                          <p:cBhvr>
                                            <p:cTn id="14" dur="1" fill="hold">
                                              <p:stCondLst>
                                                <p:cond delay="0"/>
                                              </p:stCondLst>
                                            </p:cTn>
                                            <p:tgtEl>
                                              <p:spTgt spid="27"/>
                                            </p:tgtEl>
                                            <p:attrNameLst>
                                              <p:attrName>style.visibility</p:attrName>
                                            </p:attrNameLst>
                                          </p:cBhvr>
                                          <p:to>
                                            <p:strVal val="visible"/>
                                          </p:to>
                                        </p:set>
                                        <p:anim calcmode="lin" valueType="num" p14:bounceEnd="50000">
                                          <p:cBhvr additive="base">
                                            <p:cTn id="15" dur="500" fill="hold"/>
                                            <p:tgtEl>
                                              <p:spTgt spid="27"/>
                                            </p:tgtEl>
                                            <p:attrNameLst>
                                              <p:attrName>ppt_x</p:attrName>
                                            </p:attrNameLst>
                                          </p:cBhvr>
                                          <p:tavLst>
                                            <p:tav tm="0">
                                              <p:val>
                                                <p:strVal val="0-#ppt_w/2"/>
                                              </p:val>
                                            </p:tav>
                                            <p:tav tm="100000">
                                              <p:val>
                                                <p:strVal val="#ppt_x"/>
                                              </p:val>
                                            </p:tav>
                                          </p:tavLst>
                                        </p:anim>
                                        <p:anim calcmode="lin" valueType="num" p14:bounceEnd="50000">
                                          <p:cBhvr additive="base">
                                            <p:cTn id="16" dur="500" fill="hold"/>
                                            <p:tgtEl>
                                              <p:spTgt spid="27"/>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14:presetBounceEnd="50000">
                                      <p:stCondLst>
                                        <p:cond delay="100"/>
                                      </p:stCondLst>
                                      <p:childTnLst>
                                        <p:set>
                                          <p:cBhvr>
                                            <p:cTn id="18" dur="1" fill="hold">
                                              <p:stCondLst>
                                                <p:cond delay="0"/>
                                              </p:stCondLst>
                                            </p:cTn>
                                            <p:tgtEl>
                                              <p:spTgt spid="30"/>
                                            </p:tgtEl>
                                            <p:attrNameLst>
                                              <p:attrName>style.visibility</p:attrName>
                                            </p:attrNameLst>
                                          </p:cBhvr>
                                          <p:to>
                                            <p:strVal val="visible"/>
                                          </p:to>
                                        </p:set>
                                        <p:anim calcmode="lin" valueType="num" p14:bounceEnd="50000">
                                          <p:cBhvr additive="base">
                                            <p:cTn id="19" dur="500" fill="hold"/>
                                            <p:tgtEl>
                                              <p:spTgt spid="30"/>
                                            </p:tgtEl>
                                            <p:attrNameLst>
                                              <p:attrName>ppt_x</p:attrName>
                                            </p:attrNameLst>
                                          </p:cBhvr>
                                          <p:tavLst>
                                            <p:tav tm="0">
                                              <p:val>
                                                <p:strVal val="0-#ppt_w/2"/>
                                              </p:val>
                                            </p:tav>
                                            <p:tav tm="100000">
                                              <p:val>
                                                <p:strVal val="#ppt_x"/>
                                              </p:val>
                                            </p:tav>
                                          </p:tavLst>
                                        </p:anim>
                                        <p:anim calcmode="lin" valueType="num" p14:bounceEnd="50000">
                                          <p:cBhvr additive="base">
                                            <p:cTn id="20"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10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1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100"/>
                                      </p:stCondLst>
                                      <p:childTnLst>
                                        <p:set>
                                          <p:cBhvr>
                                            <p:cTn id="14" dur="1" fill="hold">
                                              <p:stCondLst>
                                                <p:cond delay="0"/>
                                              </p:stCondLst>
                                            </p:cTn>
                                            <p:tgtEl>
                                              <p:spTgt spid="27"/>
                                            </p:tgtEl>
                                            <p:attrNameLst>
                                              <p:attrName>style.visibility</p:attrName>
                                            </p:attrNameLst>
                                          </p:cBhvr>
                                          <p:to>
                                            <p:strVal val="visible"/>
                                          </p:to>
                                        </p:set>
                                        <p:anim calcmode="lin" valueType="num">
                                          <p:cBhvr additive="base">
                                            <p:cTn id="15" dur="500" fill="hold"/>
                                            <p:tgtEl>
                                              <p:spTgt spid="27"/>
                                            </p:tgtEl>
                                            <p:attrNameLst>
                                              <p:attrName>ppt_x</p:attrName>
                                            </p:attrNameLst>
                                          </p:cBhvr>
                                          <p:tavLst>
                                            <p:tav tm="0">
                                              <p:val>
                                                <p:strVal val="0-#ppt_w/2"/>
                                              </p:val>
                                            </p:tav>
                                            <p:tav tm="100000">
                                              <p:val>
                                                <p:strVal val="#ppt_x"/>
                                              </p:val>
                                            </p:tav>
                                          </p:tavLst>
                                        </p:anim>
                                        <p:anim calcmode="lin" valueType="num">
                                          <p:cBhvr additive="base">
                                            <p:cTn id="16" dur="500" fill="hold"/>
                                            <p:tgtEl>
                                              <p:spTgt spid="27"/>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10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0-#ppt_w/2"/>
                                              </p:val>
                                            </p:tav>
                                            <p:tav tm="100000">
                                              <p:val>
                                                <p:strVal val="#ppt_x"/>
                                              </p:val>
                                            </p:tav>
                                          </p:tavLst>
                                        </p:anim>
                                        <p:anim calcmode="lin" valueType="num">
                                          <p:cBhvr additive="base">
                                            <p:cTn id="20"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CB2AF-BA40-E5BA-0DFE-8C993C7E26B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81E1B11-8BA6-AD1F-40A9-DCCD07A87DED}"/>
              </a:ext>
            </a:extLst>
          </p:cNvPr>
          <p:cNvSpPr/>
          <p:nvPr/>
        </p:nvSpPr>
        <p:spPr>
          <a:xfrm>
            <a:off x="196770" y="1340733"/>
            <a:ext cx="11739922" cy="53147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1E8D82BB-1DCD-58D5-EB7C-39147EF9EB2C}"/>
              </a:ext>
            </a:extLst>
          </p:cNvPr>
          <p:cNvSpPr txBox="1">
            <a:spLocks/>
          </p:cNvSpPr>
          <p:nvPr/>
        </p:nvSpPr>
        <p:spPr>
          <a:xfrm>
            <a:off x="1524000" y="104798"/>
            <a:ext cx="9144000" cy="1189429"/>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6500" dirty="0"/>
              <a:t>Model 2</a:t>
            </a:r>
            <a:r>
              <a:rPr lang="en-US" dirty="0"/>
              <a:t>: </a:t>
            </a:r>
            <a:r>
              <a:rPr lang="en-IN" sz="4000" dirty="0"/>
              <a:t>T5 Base (Fine Tuned on Spider)</a:t>
            </a:r>
            <a:endParaRPr lang="en-US" sz="4000" dirty="0"/>
          </a:p>
        </p:txBody>
      </p:sp>
      <p:sp>
        <p:nvSpPr>
          <p:cNvPr id="6" name="Rounded Rectangle 5">
            <a:extLst>
              <a:ext uri="{FF2B5EF4-FFF2-40B4-BE49-F238E27FC236}">
                <a16:creationId xmlns:a16="http://schemas.microsoft.com/office/drawing/2014/main" id="{A5AA7C55-9EDD-E7C1-7C03-BC172F8C9AAC}"/>
              </a:ext>
            </a:extLst>
          </p:cNvPr>
          <p:cNvSpPr/>
          <p:nvPr/>
        </p:nvSpPr>
        <p:spPr>
          <a:xfrm>
            <a:off x="622356" y="1588867"/>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User Questions</a:t>
            </a:r>
          </a:p>
        </p:txBody>
      </p:sp>
      <p:sp>
        <p:nvSpPr>
          <p:cNvPr id="7" name="Rounded Rectangle 6">
            <a:extLst>
              <a:ext uri="{FF2B5EF4-FFF2-40B4-BE49-F238E27FC236}">
                <a16:creationId xmlns:a16="http://schemas.microsoft.com/office/drawing/2014/main" id="{87FBB345-655E-1A9D-870E-920230F6E0C8}"/>
              </a:ext>
            </a:extLst>
          </p:cNvPr>
          <p:cNvSpPr/>
          <p:nvPr/>
        </p:nvSpPr>
        <p:spPr>
          <a:xfrm>
            <a:off x="2484366" y="1588867"/>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Questions + Schema Text</a:t>
            </a:r>
          </a:p>
        </p:txBody>
      </p:sp>
      <p:sp>
        <p:nvSpPr>
          <p:cNvPr id="8" name="Rounded Rectangle 7">
            <a:extLst>
              <a:ext uri="{FF2B5EF4-FFF2-40B4-BE49-F238E27FC236}">
                <a16:creationId xmlns:a16="http://schemas.microsoft.com/office/drawing/2014/main" id="{12B1DAB8-4D65-AC3C-61F4-CF578FB4BBB8}"/>
              </a:ext>
            </a:extLst>
          </p:cNvPr>
          <p:cNvSpPr/>
          <p:nvPr/>
        </p:nvSpPr>
        <p:spPr>
          <a:xfrm>
            <a:off x="4346376" y="1588867"/>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Tokenization (T5 tokenizer</a:t>
            </a:r>
          </a:p>
          <a:p>
            <a:pPr algn="ctr"/>
            <a:r>
              <a:rPr lang="en-IN" sz="1000" dirty="0" err="1"/>
              <a:t>SentencePiece</a:t>
            </a:r>
            <a:r>
              <a:rPr lang="en-US" sz="1600" dirty="0"/>
              <a:t>)</a:t>
            </a:r>
            <a:endParaRPr lang="en-US" dirty="0"/>
          </a:p>
        </p:txBody>
      </p:sp>
      <p:sp>
        <p:nvSpPr>
          <p:cNvPr id="9" name="Rounded Rectangle 8">
            <a:extLst>
              <a:ext uri="{FF2B5EF4-FFF2-40B4-BE49-F238E27FC236}">
                <a16:creationId xmlns:a16="http://schemas.microsoft.com/office/drawing/2014/main" id="{6DDF1256-1251-5CC3-7A3D-A1E8B4CA8E6D}"/>
              </a:ext>
            </a:extLst>
          </p:cNvPr>
          <p:cNvSpPr/>
          <p:nvPr/>
        </p:nvSpPr>
        <p:spPr>
          <a:xfrm>
            <a:off x="6208386" y="1588867"/>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T5 Encoder </a:t>
            </a:r>
          </a:p>
          <a:p>
            <a:pPr algn="ctr"/>
            <a:r>
              <a:rPr lang="en-US" sz="1100" dirty="0"/>
              <a:t>Self Attention Layer</a:t>
            </a:r>
          </a:p>
          <a:p>
            <a:pPr algn="ctr"/>
            <a:r>
              <a:rPr lang="en-US" sz="1100" dirty="0"/>
              <a:t>Question – Schema Mapping</a:t>
            </a:r>
          </a:p>
        </p:txBody>
      </p:sp>
      <p:sp>
        <p:nvSpPr>
          <p:cNvPr id="10" name="Rounded Rectangle 9">
            <a:extLst>
              <a:ext uri="{FF2B5EF4-FFF2-40B4-BE49-F238E27FC236}">
                <a16:creationId xmlns:a16="http://schemas.microsoft.com/office/drawing/2014/main" id="{67E80860-F91F-42EC-2368-5CD894CF43C6}"/>
              </a:ext>
            </a:extLst>
          </p:cNvPr>
          <p:cNvSpPr/>
          <p:nvPr/>
        </p:nvSpPr>
        <p:spPr>
          <a:xfrm>
            <a:off x="8070396" y="1588867"/>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T5 Decoder</a:t>
            </a:r>
          </a:p>
          <a:p>
            <a:pPr algn="ctr"/>
            <a:r>
              <a:rPr lang="en-US" sz="1400" dirty="0"/>
              <a:t>Autoregressive SQL generation</a:t>
            </a:r>
            <a:endParaRPr lang="en-US" dirty="0"/>
          </a:p>
        </p:txBody>
      </p:sp>
      <p:sp>
        <p:nvSpPr>
          <p:cNvPr id="11" name="Rounded Rectangle 10">
            <a:extLst>
              <a:ext uri="{FF2B5EF4-FFF2-40B4-BE49-F238E27FC236}">
                <a16:creationId xmlns:a16="http://schemas.microsoft.com/office/drawing/2014/main" id="{7186D5B2-9637-0B1E-5EE8-0C1BC1F28798}"/>
              </a:ext>
            </a:extLst>
          </p:cNvPr>
          <p:cNvSpPr/>
          <p:nvPr/>
        </p:nvSpPr>
        <p:spPr>
          <a:xfrm>
            <a:off x="10009060" y="1588867"/>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Output as SQL Query</a:t>
            </a:r>
          </a:p>
        </p:txBody>
      </p:sp>
      <p:sp>
        <p:nvSpPr>
          <p:cNvPr id="12" name="Right Arrow 11">
            <a:extLst>
              <a:ext uri="{FF2B5EF4-FFF2-40B4-BE49-F238E27FC236}">
                <a16:creationId xmlns:a16="http://schemas.microsoft.com/office/drawing/2014/main" id="{11C892A1-3F53-4C58-D054-C5F47719C4F7}"/>
              </a:ext>
            </a:extLst>
          </p:cNvPr>
          <p:cNvSpPr/>
          <p:nvPr/>
        </p:nvSpPr>
        <p:spPr>
          <a:xfrm>
            <a:off x="2114511" y="2134777"/>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11789E08-1CD4-0A7F-59C7-EC8555B42BBA}"/>
              </a:ext>
            </a:extLst>
          </p:cNvPr>
          <p:cNvSpPr/>
          <p:nvPr/>
        </p:nvSpPr>
        <p:spPr>
          <a:xfrm>
            <a:off x="3976520" y="2134776"/>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a:extLst>
              <a:ext uri="{FF2B5EF4-FFF2-40B4-BE49-F238E27FC236}">
                <a16:creationId xmlns:a16="http://schemas.microsoft.com/office/drawing/2014/main" id="{51F170E5-526E-DF51-8AF0-32DD42111265}"/>
              </a:ext>
            </a:extLst>
          </p:cNvPr>
          <p:cNvSpPr/>
          <p:nvPr/>
        </p:nvSpPr>
        <p:spPr>
          <a:xfrm>
            <a:off x="5838530" y="2134776"/>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43F11549-6B1C-7A66-BF3B-EFC207894695}"/>
              </a:ext>
            </a:extLst>
          </p:cNvPr>
          <p:cNvSpPr/>
          <p:nvPr/>
        </p:nvSpPr>
        <p:spPr>
          <a:xfrm>
            <a:off x="7700540" y="2134776"/>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91D37572-5647-C669-F7C1-80B61424BF9A}"/>
              </a:ext>
            </a:extLst>
          </p:cNvPr>
          <p:cNvSpPr/>
          <p:nvPr/>
        </p:nvSpPr>
        <p:spPr>
          <a:xfrm>
            <a:off x="9562551" y="2142637"/>
            <a:ext cx="446509" cy="1968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Группа 8">
            <a:extLst>
              <a:ext uri="{FF2B5EF4-FFF2-40B4-BE49-F238E27FC236}">
                <a16:creationId xmlns:a16="http://schemas.microsoft.com/office/drawing/2014/main" id="{7C10A73A-ACE8-A802-7BE8-20A37E5C7E40}"/>
              </a:ext>
            </a:extLst>
          </p:cNvPr>
          <p:cNvGrpSpPr/>
          <p:nvPr/>
        </p:nvGrpSpPr>
        <p:grpSpPr>
          <a:xfrm>
            <a:off x="505700" y="3220163"/>
            <a:ext cx="4682176" cy="1571754"/>
            <a:chOff x="0" y="1705550"/>
            <a:chExt cx="9365571" cy="3143916"/>
          </a:xfrm>
        </p:grpSpPr>
        <p:sp>
          <p:nvSpPr>
            <p:cNvPr id="4" name="Freeform 3">
              <a:extLst>
                <a:ext uri="{FF2B5EF4-FFF2-40B4-BE49-F238E27FC236}">
                  <a16:creationId xmlns:a16="http://schemas.microsoft.com/office/drawing/2014/main" id="{9A9D9B80-6860-0E10-53EA-3E8CF774B1C0}"/>
                </a:ext>
              </a:extLst>
            </p:cNvPr>
            <p:cNvSpPr/>
            <p:nvPr/>
          </p:nvSpPr>
          <p:spPr>
            <a:xfrm flipH="1">
              <a:off x="0" y="1881023"/>
              <a:ext cx="9365571" cy="2968443"/>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17" name="Текст 2">
              <a:extLst>
                <a:ext uri="{FF2B5EF4-FFF2-40B4-BE49-F238E27FC236}">
                  <a16:creationId xmlns:a16="http://schemas.microsoft.com/office/drawing/2014/main" id="{625BFF56-C3F9-0796-C046-7F7C4388C9DE}"/>
                </a:ext>
              </a:extLst>
            </p:cNvPr>
            <p:cNvSpPr txBox="1">
              <a:spLocks/>
            </p:cNvSpPr>
            <p:nvPr/>
          </p:nvSpPr>
          <p:spPr>
            <a:xfrm flipH="1">
              <a:off x="451417" y="1705550"/>
              <a:ext cx="8168433" cy="3065422"/>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Motivation</a:t>
              </a:r>
            </a:p>
            <a:p>
              <a:pPr marL="285750" indent="-285750">
                <a:buFont typeface="Wingdings" pitchFamily="2" charset="2"/>
                <a:buChar char="Ø"/>
              </a:pPr>
              <a:r>
                <a:rPr lang="en-IN" sz="850" dirty="0"/>
                <a:t>Fully Transformer-based, Uses </a:t>
              </a:r>
              <a:r>
                <a:rPr lang="en-IN" sz="850" b="1" dirty="0"/>
                <a:t>self-attention</a:t>
              </a:r>
              <a:r>
                <a:rPr lang="en-IN" sz="850" dirty="0"/>
                <a:t> + </a:t>
              </a:r>
              <a:r>
                <a:rPr lang="en-IN" sz="850" b="1" dirty="0"/>
                <a:t>cross-attention. </a:t>
              </a:r>
              <a:r>
                <a:rPr lang="en-IN" sz="850" dirty="0"/>
                <a:t>Pretrained on massive datasets (C4 corpus)</a:t>
              </a:r>
            </a:p>
            <a:p>
              <a:pPr marL="285750" indent="-285750">
                <a:buFont typeface="Wingdings" pitchFamily="2" charset="2"/>
                <a:buChar char="Ø"/>
              </a:pPr>
              <a:r>
                <a:rPr lang="en-IN" sz="850" dirty="0"/>
                <a:t>Encoder: 12 Transformer layers , Decoder: 12 Transformer layers , Hidden size: 768 , Attention heads: 12</a:t>
              </a:r>
            </a:p>
            <a:p>
              <a:pPr marL="285750" indent="-285750">
                <a:buFont typeface="Wingdings" pitchFamily="2" charset="2"/>
                <a:buChar char="Ø"/>
              </a:pPr>
              <a:r>
                <a:rPr lang="en-IN" sz="850" dirty="0"/>
                <a:t>Standard T5-base architecture</a:t>
              </a:r>
            </a:p>
            <a:p>
              <a:pPr marL="285750" indent="-285750">
                <a:buFont typeface="Wingdings" pitchFamily="2" charset="2"/>
                <a:buChar char="Ø"/>
              </a:pPr>
              <a:r>
                <a:rPr lang="en-IN" sz="850" dirty="0"/>
                <a:t>Pretrained on Colossal Clean Crawled Corpus (C4) so we are not starting at any random weights </a:t>
              </a:r>
            </a:p>
          </p:txBody>
        </p:sp>
      </p:grpSp>
      <p:grpSp>
        <p:nvGrpSpPr>
          <p:cNvPr id="21" name="Группа 8">
            <a:extLst>
              <a:ext uri="{FF2B5EF4-FFF2-40B4-BE49-F238E27FC236}">
                <a16:creationId xmlns:a16="http://schemas.microsoft.com/office/drawing/2014/main" id="{E5EA74EA-5D6E-CC8E-8D8C-F9341D1CA69B}"/>
              </a:ext>
            </a:extLst>
          </p:cNvPr>
          <p:cNvGrpSpPr/>
          <p:nvPr/>
        </p:nvGrpSpPr>
        <p:grpSpPr>
          <a:xfrm>
            <a:off x="5639802" y="5030545"/>
            <a:ext cx="4682176" cy="1393894"/>
            <a:chOff x="0" y="1881025"/>
            <a:chExt cx="9365571" cy="2788150"/>
          </a:xfrm>
        </p:grpSpPr>
        <p:sp>
          <p:nvSpPr>
            <p:cNvPr id="22" name="Freeform 21">
              <a:extLst>
                <a:ext uri="{FF2B5EF4-FFF2-40B4-BE49-F238E27FC236}">
                  <a16:creationId xmlns:a16="http://schemas.microsoft.com/office/drawing/2014/main" id="{4B0A5D6F-F2B8-F0C4-7882-DF49F718FD1E}"/>
                </a:ext>
              </a:extLst>
            </p:cNvPr>
            <p:cNvSpPr/>
            <p:nvPr/>
          </p:nvSpPr>
          <p:spPr>
            <a:xfrm flipH="1">
              <a:off x="0" y="1881025"/>
              <a:ext cx="9365571" cy="2788150"/>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3" name="Текст 2">
              <a:extLst>
                <a:ext uri="{FF2B5EF4-FFF2-40B4-BE49-F238E27FC236}">
                  <a16:creationId xmlns:a16="http://schemas.microsoft.com/office/drawing/2014/main" id="{3242FDD3-E2AD-9BE8-8E34-FF6511AA6424}"/>
                </a:ext>
              </a:extLst>
            </p:cNvPr>
            <p:cNvSpPr txBox="1">
              <a:spLocks/>
            </p:cNvSpPr>
            <p:nvPr/>
          </p:nvSpPr>
          <p:spPr>
            <a:xfrm flipH="1">
              <a:off x="451423" y="1889162"/>
              <a:ext cx="8168433" cy="2737383"/>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Why It failed</a:t>
              </a:r>
            </a:p>
            <a:p>
              <a:pPr marL="171450" indent="-171450">
                <a:buFont typeface="Wingdings" pitchFamily="2" charset="2"/>
                <a:buChar char="Ø"/>
              </a:pPr>
              <a:r>
                <a:rPr lang="en-IN" sz="900" dirty="0"/>
                <a:t>T5 does NOT understand database schema</a:t>
              </a:r>
            </a:p>
            <a:p>
              <a:pPr marL="171450" indent="-171450">
                <a:buFont typeface="Wingdings" pitchFamily="2" charset="2"/>
                <a:buChar char="Ø"/>
              </a:pPr>
              <a:r>
                <a:rPr lang="en-IN" sz="900" dirty="0"/>
                <a:t>T5 does NOT build schema graph embeddings</a:t>
              </a:r>
            </a:p>
          </p:txBody>
        </p:sp>
      </p:grpSp>
      <p:grpSp>
        <p:nvGrpSpPr>
          <p:cNvPr id="24" name="Группа 8">
            <a:extLst>
              <a:ext uri="{FF2B5EF4-FFF2-40B4-BE49-F238E27FC236}">
                <a16:creationId xmlns:a16="http://schemas.microsoft.com/office/drawing/2014/main" id="{4D4D2620-7095-45D2-22C9-3052EB91EB92}"/>
              </a:ext>
            </a:extLst>
          </p:cNvPr>
          <p:cNvGrpSpPr/>
          <p:nvPr/>
        </p:nvGrpSpPr>
        <p:grpSpPr>
          <a:xfrm>
            <a:off x="5639802" y="3307887"/>
            <a:ext cx="4682176" cy="1484031"/>
            <a:chOff x="0" y="1881023"/>
            <a:chExt cx="9365571" cy="2968447"/>
          </a:xfrm>
        </p:grpSpPr>
        <p:sp>
          <p:nvSpPr>
            <p:cNvPr id="25" name="Freeform 24">
              <a:extLst>
                <a:ext uri="{FF2B5EF4-FFF2-40B4-BE49-F238E27FC236}">
                  <a16:creationId xmlns:a16="http://schemas.microsoft.com/office/drawing/2014/main" id="{75014C9C-C9D8-1E4F-817A-4DF5ACED8421}"/>
                </a:ext>
              </a:extLst>
            </p:cNvPr>
            <p:cNvSpPr/>
            <p:nvPr/>
          </p:nvSpPr>
          <p:spPr>
            <a:xfrm flipH="1">
              <a:off x="0" y="1881023"/>
              <a:ext cx="9365571" cy="2968447"/>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6" name="Текст 2">
              <a:extLst>
                <a:ext uri="{FF2B5EF4-FFF2-40B4-BE49-F238E27FC236}">
                  <a16:creationId xmlns:a16="http://schemas.microsoft.com/office/drawing/2014/main" id="{3F02F2F1-329A-F32A-8012-1A5A127F861E}"/>
                </a:ext>
              </a:extLst>
            </p:cNvPr>
            <p:cNvSpPr txBox="1">
              <a:spLocks/>
            </p:cNvSpPr>
            <p:nvPr/>
          </p:nvSpPr>
          <p:spPr>
            <a:xfrm flipH="1">
              <a:off x="451421" y="1889162"/>
              <a:ext cx="8168433" cy="2780013"/>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Process</a:t>
              </a:r>
            </a:p>
            <a:p>
              <a:pPr marL="171450" indent="-171450">
                <a:buFont typeface="Wingdings" pitchFamily="2" charset="2"/>
                <a:buChar char="Ø"/>
              </a:pPr>
              <a:r>
                <a:rPr lang="en-IN" sz="900" dirty="0"/>
                <a:t>The Training dataset pairs English -&gt; SQL (we train entire layer of T5-base </a:t>
              </a:r>
              <a:r>
                <a:rPr lang="en-IN" sz="900" dirty="0" err="1"/>
                <a:t>AdamW</a:t>
              </a:r>
              <a:r>
                <a:rPr lang="en-IN" sz="900"/>
                <a:t> optimizer was used )</a:t>
              </a:r>
              <a:endParaRPr lang="en-IN" sz="900" dirty="0"/>
            </a:p>
            <a:p>
              <a:pPr marL="171450" indent="-171450">
                <a:buFont typeface="Wingdings" pitchFamily="2" charset="2"/>
                <a:buChar char="Ø"/>
              </a:pPr>
              <a:r>
                <a:rPr lang="en-IN" sz="900" dirty="0"/>
                <a:t>Decoder Vocabulary contains SQL tokens</a:t>
              </a:r>
            </a:p>
            <a:p>
              <a:pPr marL="171450" indent="-171450">
                <a:buFont typeface="Wingdings" pitchFamily="2" charset="2"/>
                <a:buChar char="Ø"/>
              </a:pPr>
              <a:r>
                <a:rPr lang="en-IN" sz="900" dirty="0"/>
                <a:t>Teacher forcing trains SQL grammar step-by-step</a:t>
              </a:r>
            </a:p>
            <a:p>
              <a:pPr marL="171450" indent="-171450">
                <a:buFont typeface="Wingdings" pitchFamily="2" charset="2"/>
                <a:buChar char="Ø"/>
              </a:pPr>
              <a:r>
                <a:rPr lang="en-IN" sz="900" dirty="0"/>
                <a:t>Cross Entropy loss punishes SQL tokens</a:t>
              </a:r>
            </a:p>
            <a:p>
              <a:pPr marL="171450" indent="-171450">
                <a:buFont typeface="Wingdings" pitchFamily="2" charset="2"/>
                <a:buChar char="Ø"/>
              </a:pPr>
              <a:r>
                <a:rPr lang="en-IN" sz="900" dirty="0"/>
                <a:t>Pattern repeats so model learns SQL Structure </a:t>
              </a:r>
            </a:p>
            <a:p>
              <a:pPr marL="171450" indent="-171450">
                <a:buFont typeface="Wingdings" pitchFamily="2" charset="2"/>
                <a:buChar char="Ø"/>
              </a:pPr>
              <a:r>
                <a:rPr lang="en-IN" sz="900" dirty="0"/>
                <a:t>Decoder hidden state encodes SQL grammar convention</a:t>
              </a:r>
            </a:p>
          </p:txBody>
        </p:sp>
      </p:grpSp>
      <p:grpSp>
        <p:nvGrpSpPr>
          <p:cNvPr id="27" name="Группа 8">
            <a:extLst>
              <a:ext uri="{FF2B5EF4-FFF2-40B4-BE49-F238E27FC236}">
                <a16:creationId xmlns:a16="http://schemas.microsoft.com/office/drawing/2014/main" id="{7E5F1EE7-4A75-9445-742D-8030541F9190}"/>
              </a:ext>
            </a:extLst>
          </p:cNvPr>
          <p:cNvGrpSpPr/>
          <p:nvPr/>
        </p:nvGrpSpPr>
        <p:grpSpPr>
          <a:xfrm>
            <a:off x="505700" y="5030545"/>
            <a:ext cx="4682176" cy="1393894"/>
            <a:chOff x="0" y="1881025"/>
            <a:chExt cx="9365571" cy="2788150"/>
          </a:xfrm>
        </p:grpSpPr>
        <p:sp>
          <p:nvSpPr>
            <p:cNvPr id="28" name="Freeform 27">
              <a:extLst>
                <a:ext uri="{FF2B5EF4-FFF2-40B4-BE49-F238E27FC236}">
                  <a16:creationId xmlns:a16="http://schemas.microsoft.com/office/drawing/2014/main" id="{5B31709A-8919-ECBE-0336-7C1CF7ECF7DE}"/>
                </a:ext>
              </a:extLst>
            </p:cNvPr>
            <p:cNvSpPr/>
            <p:nvPr/>
          </p:nvSpPr>
          <p:spPr>
            <a:xfrm flipH="1">
              <a:off x="0" y="1881025"/>
              <a:ext cx="9365571" cy="2788150"/>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9" name="Текст 2">
              <a:extLst>
                <a:ext uri="{FF2B5EF4-FFF2-40B4-BE49-F238E27FC236}">
                  <a16:creationId xmlns:a16="http://schemas.microsoft.com/office/drawing/2014/main" id="{7C8A9F70-9012-F1AC-BC64-31AE3818B45B}"/>
                </a:ext>
              </a:extLst>
            </p:cNvPr>
            <p:cNvSpPr txBox="1">
              <a:spLocks/>
            </p:cNvSpPr>
            <p:nvPr/>
          </p:nvSpPr>
          <p:spPr>
            <a:xfrm flipH="1">
              <a:off x="451423" y="1889162"/>
              <a:ext cx="8168433" cy="2737383"/>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How it worked </a:t>
              </a:r>
            </a:p>
            <a:p>
              <a:pPr marL="0" indent="0">
                <a:buNone/>
              </a:pPr>
              <a:r>
                <a:rPr lang="en-IN" sz="900" b="1" dirty="0"/>
                <a:t>Encoder</a:t>
              </a:r>
              <a:r>
                <a:rPr lang="en-IN" sz="900" dirty="0"/>
                <a:t> </a:t>
              </a:r>
            </a:p>
            <a:p>
              <a:pPr marL="171450" indent="-171450">
                <a:buFont typeface="Wingdings" pitchFamily="2" charset="2"/>
                <a:buChar char="Ø"/>
              </a:pPr>
              <a:r>
                <a:rPr lang="en-IN" sz="900" dirty="0"/>
                <a:t>Reads Entire input </a:t>
              </a:r>
            </a:p>
            <a:p>
              <a:pPr marL="171450" indent="-171450">
                <a:buFont typeface="Wingdings" pitchFamily="2" charset="2"/>
                <a:buChar char="Ø"/>
              </a:pPr>
              <a:r>
                <a:rPr lang="en-IN" sz="900" dirty="0"/>
                <a:t>Builds a contextual representation  for every token</a:t>
              </a:r>
            </a:p>
            <a:p>
              <a:pPr marL="171450" indent="-171450">
                <a:buFont typeface="Wingdings" pitchFamily="2" charset="2"/>
                <a:buChar char="Ø"/>
              </a:pPr>
              <a:r>
                <a:rPr lang="en-IN" sz="900" dirty="0"/>
                <a:t>All token attend to each other </a:t>
              </a:r>
            </a:p>
            <a:p>
              <a:pPr marL="0" indent="0">
                <a:buNone/>
              </a:pPr>
              <a:r>
                <a:rPr lang="en-IN" sz="900" b="1" dirty="0"/>
                <a:t>Decoder</a:t>
              </a:r>
            </a:p>
            <a:p>
              <a:pPr marL="171450" indent="-171450">
                <a:buFont typeface="Wingdings" pitchFamily="2" charset="2"/>
                <a:buChar char="Ø"/>
              </a:pPr>
              <a:r>
                <a:rPr lang="en-IN" sz="900" dirty="0"/>
                <a:t>Generates SQL token. Uses Cross attention  to look  at all encoder states </a:t>
              </a:r>
            </a:p>
          </p:txBody>
        </p:sp>
      </p:grpSp>
      <p:pic>
        <p:nvPicPr>
          <p:cNvPr id="18" name="Graphic 17">
            <a:extLst>
              <a:ext uri="{FF2B5EF4-FFF2-40B4-BE49-F238E27FC236}">
                <a16:creationId xmlns:a16="http://schemas.microsoft.com/office/drawing/2014/main" id="{7CA938B9-D062-A828-0165-FD8383863F01}"/>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10273980" y="0"/>
            <a:ext cx="289387" cy="349581"/>
          </a:xfrm>
          <a:prstGeom prst="rect">
            <a:avLst/>
          </a:prstGeom>
        </p:spPr>
      </p:pic>
      <p:sp>
        <p:nvSpPr>
          <p:cNvPr id="19" name="TextBox 18">
            <a:extLst>
              <a:ext uri="{FF2B5EF4-FFF2-40B4-BE49-F238E27FC236}">
                <a16:creationId xmlns:a16="http://schemas.microsoft.com/office/drawing/2014/main" id="{8DEC9E6C-0C22-0DBC-B83B-B8A3E063948D}"/>
              </a:ext>
            </a:extLst>
          </p:cNvPr>
          <p:cNvSpPr txBox="1"/>
          <p:nvPr/>
        </p:nvSpPr>
        <p:spPr>
          <a:xfrm>
            <a:off x="10563367" y="0"/>
            <a:ext cx="1091821" cy="382137"/>
          </a:xfrm>
          <a:prstGeom prst="rect">
            <a:avLst/>
          </a:prstGeom>
          <a:noFill/>
        </p:spPr>
        <p:txBody>
          <a:bodyPr wrap="square" rtlCol="0">
            <a:spAutoFit/>
          </a:bodyPr>
          <a:lstStyle/>
          <a:p>
            <a:r>
              <a:rPr lang="en-US" dirty="0"/>
              <a:t>Sai</a:t>
            </a:r>
          </a:p>
        </p:txBody>
      </p:sp>
    </p:spTree>
    <p:extLst>
      <p:ext uri="{BB962C8B-B14F-4D97-AF65-F5344CB8AC3E}">
        <p14:creationId xmlns:p14="http://schemas.microsoft.com/office/powerpoint/2010/main" val="142389202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50000">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14:bounceEnd="50000">
                                          <p:cBhvr additive="base">
                                            <p:cTn id="7" dur="500" fill="hold"/>
                                            <p:tgtEl>
                                              <p:spTgt spid="3"/>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50000">
                                      <p:stCondLst>
                                        <p:cond delay="100"/>
                                      </p:stCondLst>
                                      <p:childTnLst>
                                        <p:set>
                                          <p:cBhvr>
                                            <p:cTn id="10" dur="1" fill="hold">
                                              <p:stCondLst>
                                                <p:cond delay="0"/>
                                              </p:stCondLst>
                                            </p:cTn>
                                            <p:tgtEl>
                                              <p:spTgt spid="21"/>
                                            </p:tgtEl>
                                            <p:attrNameLst>
                                              <p:attrName>style.visibility</p:attrName>
                                            </p:attrNameLst>
                                          </p:cBhvr>
                                          <p:to>
                                            <p:strVal val="visible"/>
                                          </p:to>
                                        </p:set>
                                        <p:anim calcmode="lin" valueType="num" p14:bounceEnd="50000">
                                          <p:cBhvr additive="base">
                                            <p:cTn id="11" dur="500" fill="hold"/>
                                            <p:tgtEl>
                                              <p:spTgt spid="21"/>
                                            </p:tgtEl>
                                            <p:attrNameLst>
                                              <p:attrName>ppt_x</p:attrName>
                                            </p:attrNameLst>
                                          </p:cBhvr>
                                          <p:tavLst>
                                            <p:tav tm="0">
                                              <p:val>
                                                <p:strVal val="0-#ppt_w/2"/>
                                              </p:val>
                                            </p:tav>
                                            <p:tav tm="100000">
                                              <p:val>
                                                <p:strVal val="#ppt_x"/>
                                              </p:val>
                                            </p:tav>
                                          </p:tavLst>
                                        </p:anim>
                                        <p:anim calcmode="lin" valueType="num" p14:bounceEnd="50000">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50000">
                                      <p:stCondLst>
                                        <p:cond delay="100"/>
                                      </p:stCondLst>
                                      <p:childTnLst>
                                        <p:set>
                                          <p:cBhvr>
                                            <p:cTn id="14" dur="1" fill="hold">
                                              <p:stCondLst>
                                                <p:cond delay="0"/>
                                              </p:stCondLst>
                                            </p:cTn>
                                            <p:tgtEl>
                                              <p:spTgt spid="24"/>
                                            </p:tgtEl>
                                            <p:attrNameLst>
                                              <p:attrName>style.visibility</p:attrName>
                                            </p:attrNameLst>
                                          </p:cBhvr>
                                          <p:to>
                                            <p:strVal val="visible"/>
                                          </p:to>
                                        </p:set>
                                        <p:anim calcmode="lin" valueType="num" p14:bounceEnd="50000">
                                          <p:cBhvr additive="base">
                                            <p:cTn id="15" dur="500" fill="hold"/>
                                            <p:tgtEl>
                                              <p:spTgt spid="24"/>
                                            </p:tgtEl>
                                            <p:attrNameLst>
                                              <p:attrName>ppt_x</p:attrName>
                                            </p:attrNameLst>
                                          </p:cBhvr>
                                          <p:tavLst>
                                            <p:tav tm="0">
                                              <p:val>
                                                <p:strVal val="0-#ppt_w/2"/>
                                              </p:val>
                                            </p:tav>
                                            <p:tav tm="100000">
                                              <p:val>
                                                <p:strVal val="#ppt_x"/>
                                              </p:val>
                                            </p:tav>
                                          </p:tavLst>
                                        </p:anim>
                                        <p:anim calcmode="lin" valueType="num" p14:bounceEnd="50000">
                                          <p:cBhvr additive="base">
                                            <p:cTn id="16" dur="500" fill="hold"/>
                                            <p:tgtEl>
                                              <p:spTgt spid="24"/>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14:presetBounceEnd="50000">
                                      <p:stCondLst>
                                        <p:cond delay="100"/>
                                      </p:stCondLst>
                                      <p:childTnLst>
                                        <p:set>
                                          <p:cBhvr>
                                            <p:cTn id="18" dur="1" fill="hold">
                                              <p:stCondLst>
                                                <p:cond delay="0"/>
                                              </p:stCondLst>
                                            </p:cTn>
                                            <p:tgtEl>
                                              <p:spTgt spid="27"/>
                                            </p:tgtEl>
                                            <p:attrNameLst>
                                              <p:attrName>style.visibility</p:attrName>
                                            </p:attrNameLst>
                                          </p:cBhvr>
                                          <p:to>
                                            <p:strVal val="visible"/>
                                          </p:to>
                                        </p:set>
                                        <p:anim calcmode="lin" valueType="num" p14:bounceEnd="50000">
                                          <p:cBhvr additive="base">
                                            <p:cTn id="19" dur="500" fill="hold"/>
                                            <p:tgtEl>
                                              <p:spTgt spid="27"/>
                                            </p:tgtEl>
                                            <p:attrNameLst>
                                              <p:attrName>ppt_x</p:attrName>
                                            </p:attrNameLst>
                                          </p:cBhvr>
                                          <p:tavLst>
                                            <p:tav tm="0">
                                              <p:val>
                                                <p:strVal val="0-#ppt_w/2"/>
                                              </p:val>
                                            </p:tav>
                                            <p:tav tm="100000">
                                              <p:val>
                                                <p:strVal val="#ppt_x"/>
                                              </p:val>
                                            </p:tav>
                                          </p:tavLst>
                                        </p:anim>
                                        <p:anim calcmode="lin" valueType="num" p14:bounceEnd="50000">
                                          <p:cBhvr additive="base">
                                            <p:cTn id="20"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1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10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0-#ppt_w/2"/>
                                              </p:val>
                                            </p:tav>
                                            <p:tav tm="100000">
                                              <p:val>
                                                <p:strVal val="#ppt_x"/>
                                              </p:val>
                                            </p:tav>
                                          </p:tavLst>
                                        </p:anim>
                                        <p:anim calcmode="lin" valueType="num">
                                          <p:cBhvr additive="base">
                                            <p:cTn id="16" dur="500" fill="hold"/>
                                            <p:tgtEl>
                                              <p:spTgt spid="24"/>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10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500" fill="hold"/>
                                            <p:tgtEl>
                                              <p:spTgt spid="27"/>
                                            </p:tgtEl>
                                            <p:attrNameLst>
                                              <p:attrName>ppt_x</p:attrName>
                                            </p:attrNameLst>
                                          </p:cBhvr>
                                          <p:tavLst>
                                            <p:tav tm="0">
                                              <p:val>
                                                <p:strVal val="0-#ppt_w/2"/>
                                              </p:val>
                                            </p:tav>
                                            <p:tav tm="100000">
                                              <p:val>
                                                <p:strVal val="#ppt_x"/>
                                              </p:val>
                                            </p:tav>
                                          </p:tavLst>
                                        </p:anim>
                                        <p:anim calcmode="lin" valueType="num">
                                          <p:cBhvr additive="base">
                                            <p:cTn id="20"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080C4-BF63-B495-3761-71FD3036E30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84CB8A0-0653-46F8-5935-44ACC52473EF}"/>
              </a:ext>
            </a:extLst>
          </p:cNvPr>
          <p:cNvSpPr>
            <a:spLocks/>
          </p:cNvSpPr>
          <p:nvPr/>
        </p:nvSpPr>
        <p:spPr>
          <a:xfrm>
            <a:off x="219919" y="1340733"/>
            <a:ext cx="11716773" cy="524526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91BE1922-3C4B-7566-428E-C5EEEF385AF1}"/>
              </a:ext>
            </a:extLst>
          </p:cNvPr>
          <p:cNvSpPr txBox="1">
            <a:spLocks/>
          </p:cNvSpPr>
          <p:nvPr/>
        </p:nvSpPr>
        <p:spPr>
          <a:xfrm>
            <a:off x="1524000" y="104798"/>
            <a:ext cx="9144000" cy="118942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Model 3: </a:t>
            </a:r>
            <a:r>
              <a:rPr lang="en-IN" sz="4000" dirty="0"/>
              <a:t>RAT-SQL Lite </a:t>
            </a:r>
            <a:r>
              <a:rPr lang="en-IN" sz="1800" dirty="0"/>
              <a:t>(Relation Aware Node Based Model)</a:t>
            </a:r>
            <a:endParaRPr lang="en-US" sz="4000" dirty="0"/>
          </a:p>
        </p:txBody>
      </p:sp>
      <p:sp>
        <p:nvSpPr>
          <p:cNvPr id="6" name="Rounded Rectangle 5">
            <a:extLst>
              <a:ext uri="{FF2B5EF4-FFF2-40B4-BE49-F238E27FC236}">
                <a16:creationId xmlns:a16="http://schemas.microsoft.com/office/drawing/2014/main" id="{51E3189F-7841-EFC7-1DF3-A4BFF9174775}"/>
              </a:ext>
            </a:extLst>
          </p:cNvPr>
          <p:cNvSpPr/>
          <p:nvPr/>
        </p:nvSpPr>
        <p:spPr>
          <a:xfrm>
            <a:off x="1394408" y="1494496"/>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User Questions</a:t>
            </a:r>
          </a:p>
        </p:txBody>
      </p:sp>
      <p:sp>
        <p:nvSpPr>
          <p:cNvPr id="7" name="Rounded Rectangle 6">
            <a:extLst>
              <a:ext uri="{FF2B5EF4-FFF2-40B4-BE49-F238E27FC236}">
                <a16:creationId xmlns:a16="http://schemas.microsoft.com/office/drawing/2014/main" id="{DDA4566D-6C0E-B6C5-3491-5AFC2C434DE0}"/>
              </a:ext>
            </a:extLst>
          </p:cNvPr>
          <p:cNvSpPr/>
          <p:nvPr/>
        </p:nvSpPr>
        <p:spPr>
          <a:xfrm>
            <a:off x="3256418" y="1494496"/>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Node Construction</a:t>
            </a:r>
            <a:endParaRPr lang="en-US" dirty="0"/>
          </a:p>
        </p:txBody>
      </p:sp>
      <p:sp>
        <p:nvSpPr>
          <p:cNvPr id="8" name="Rounded Rectangle 7">
            <a:extLst>
              <a:ext uri="{FF2B5EF4-FFF2-40B4-BE49-F238E27FC236}">
                <a16:creationId xmlns:a16="http://schemas.microsoft.com/office/drawing/2014/main" id="{CF869629-0744-8A84-8788-CAF0D233F2B4}"/>
              </a:ext>
            </a:extLst>
          </p:cNvPr>
          <p:cNvSpPr/>
          <p:nvPr/>
        </p:nvSpPr>
        <p:spPr>
          <a:xfrm>
            <a:off x="5118428" y="1494496"/>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Relation Transformer </a:t>
            </a:r>
          </a:p>
          <a:p>
            <a:pPr algn="ctr"/>
            <a:r>
              <a:rPr lang="en-US" sz="1600" dirty="0"/>
              <a:t>Encoder </a:t>
            </a:r>
            <a:endParaRPr lang="en-US" dirty="0"/>
          </a:p>
        </p:txBody>
      </p:sp>
      <p:sp>
        <p:nvSpPr>
          <p:cNvPr id="9" name="Rounded Rectangle 8">
            <a:extLst>
              <a:ext uri="{FF2B5EF4-FFF2-40B4-BE49-F238E27FC236}">
                <a16:creationId xmlns:a16="http://schemas.microsoft.com/office/drawing/2014/main" id="{AB051987-ADF5-B0DC-1CC0-44A370E18A34}"/>
              </a:ext>
            </a:extLst>
          </p:cNvPr>
          <p:cNvSpPr/>
          <p:nvPr/>
        </p:nvSpPr>
        <p:spPr>
          <a:xfrm>
            <a:off x="6980438" y="1494496"/>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Decoder </a:t>
            </a:r>
          </a:p>
          <a:p>
            <a:pPr algn="ctr"/>
            <a:r>
              <a:rPr lang="en-US" sz="1100" dirty="0"/>
              <a:t>LSTM</a:t>
            </a:r>
          </a:p>
        </p:txBody>
      </p:sp>
      <p:sp>
        <p:nvSpPr>
          <p:cNvPr id="11" name="Rounded Rectangle 10">
            <a:extLst>
              <a:ext uri="{FF2B5EF4-FFF2-40B4-BE49-F238E27FC236}">
                <a16:creationId xmlns:a16="http://schemas.microsoft.com/office/drawing/2014/main" id="{892A36D0-3AFC-D1F8-686E-C73F7D7BE595}"/>
              </a:ext>
            </a:extLst>
          </p:cNvPr>
          <p:cNvSpPr/>
          <p:nvPr/>
        </p:nvSpPr>
        <p:spPr>
          <a:xfrm>
            <a:off x="8842447" y="1548048"/>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Output as SQL Query</a:t>
            </a:r>
          </a:p>
        </p:txBody>
      </p:sp>
      <p:sp>
        <p:nvSpPr>
          <p:cNvPr id="12" name="Right Arrow 11">
            <a:extLst>
              <a:ext uri="{FF2B5EF4-FFF2-40B4-BE49-F238E27FC236}">
                <a16:creationId xmlns:a16="http://schemas.microsoft.com/office/drawing/2014/main" id="{F3886672-0544-755F-8065-4A26E59A2FAA}"/>
              </a:ext>
            </a:extLst>
          </p:cNvPr>
          <p:cNvSpPr/>
          <p:nvPr/>
        </p:nvSpPr>
        <p:spPr>
          <a:xfrm>
            <a:off x="2886563" y="2040406"/>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9BDE9806-65BA-E355-9F32-B7B911E2297B}"/>
              </a:ext>
            </a:extLst>
          </p:cNvPr>
          <p:cNvSpPr/>
          <p:nvPr/>
        </p:nvSpPr>
        <p:spPr>
          <a:xfrm>
            <a:off x="4748572" y="2040405"/>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a:extLst>
              <a:ext uri="{FF2B5EF4-FFF2-40B4-BE49-F238E27FC236}">
                <a16:creationId xmlns:a16="http://schemas.microsoft.com/office/drawing/2014/main" id="{51DA5BF6-0B17-2DE8-454F-5614B5FE85F4}"/>
              </a:ext>
            </a:extLst>
          </p:cNvPr>
          <p:cNvSpPr/>
          <p:nvPr/>
        </p:nvSpPr>
        <p:spPr>
          <a:xfrm>
            <a:off x="6610582" y="2040405"/>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0A1DB0EF-3C41-C9D3-5C92-D291AFEDBAB2}"/>
              </a:ext>
            </a:extLst>
          </p:cNvPr>
          <p:cNvSpPr/>
          <p:nvPr/>
        </p:nvSpPr>
        <p:spPr>
          <a:xfrm>
            <a:off x="8472592" y="2040405"/>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010FD98-D460-74B4-5123-A7AB2DD1EC17}"/>
              </a:ext>
            </a:extLst>
          </p:cNvPr>
          <p:cNvSpPr txBox="1"/>
          <p:nvPr/>
        </p:nvSpPr>
        <p:spPr>
          <a:xfrm>
            <a:off x="3071490" y="2683925"/>
            <a:ext cx="2113427" cy="461665"/>
          </a:xfrm>
          <a:prstGeom prst="rect">
            <a:avLst/>
          </a:prstGeom>
          <a:noFill/>
        </p:spPr>
        <p:txBody>
          <a:bodyPr wrap="square" rtlCol="0">
            <a:spAutoFit/>
          </a:bodyPr>
          <a:lstStyle/>
          <a:p>
            <a:pPr marL="285750" indent="-285750">
              <a:buFontTx/>
              <a:buChar char="-"/>
            </a:pPr>
            <a:r>
              <a:rPr lang="en-US" sz="600" dirty="0"/>
              <a:t>Question Tokens </a:t>
            </a:r>
          </a:p>
          <a:p>
            <a:pPr marL="285750" indent="-285750">
              <a:buFontTx/>
              <a:buChar char="-"/>
            </a:pPr>
            <a:r>
              <a:rPr lang="en-US" sz="600" dirty="0"/>
              <a:t>Table Nodes</a:t>
            </a:r>
          </a:p>
          <a:p>
            <a:pPr marL="285750" indent="-285750">
              <a:buFontTx/>
              <a:buChar char="-"/>
            </a:pPr>
            <a:r>
              <a:rPr lang="en-US" sz="600" dirty="0"/>
              <a:t>Column Nodes</a:t>
            </a:r>
          </a:p>
          <a:p>
            <a:pPr marL="285750" indent="-285750">
              <a:buFontTx/>
              <a:buChar char="-"/>
            </a:pPr>
            <a:r>
              <a:rPr lang="en-US" sz="600" dirty="0"/>
              <a:t>Relation matrix (PK -&gt;FK, table -&gt; Column)</a:t>
            </a:r>
          </a:p>
        </p:txBody>
      </p:sp>
      <p:sp>
        <p:nvSpPr>
          <p:cNvPr id="18" name="TextBox 17">
            <a:extLst>
              <a:ext uri="{FF2B5EF4-FFF2-40B4-BE49-F238E27FC236}">
                <a16:creationId xmlns:a16="http://schemas.microsoft.com/office/drawing/2014/main" id="{1EE13E73-8C0A-9D31-4540-47E83D863DDA}"/>
              </a:ext>
            </a:extLst>
          </p:cNvPr>
          <p:cNvSpPr txBox="1"/>
          <p:nvPr/>
        </p:nvSpPr>
        <p:spPr>
          <a:xfrm>
            <a:off x="5025964" y="2683925"/>
            <a:ext cx="1871338" cy="200055"/>
          </a:xfrm>
          <a:prstGeom prst="rect">
            <a:avLst/>
          </a:prstGeom>
          <a:noFill/>
        </p:spPr>
        <p:txBody>
          <a:bodyPr wrap="square" rtlCol="0">
            <a:spAutoFit/>
          </a:bodyPr>
          <a:lstStyle/>
          <a:p>
            <a:pPr marL="285750" indent="-285750">
              <a:buFontTx/>
              <a:buChar char="-"/>
            </a:pPr>
            <a:r>
              <a:rPr lang="en-US" sz="700" dirty="0"/>
              <a:t>Multi Head Attention + Relation bias </a:t>
            </a:r>
          </a:p>
        </p:txBody>
      </p:sp>
      <p:grpSp>
        <p:nvGrpSpPr>
          <p:cNvPr id="3" name="Группа 8">
            <a:extLst>
              <a:ext uri="{FF2B5EF4-FFF2-40B4-BE49-F238E27FC236}">
                <a16:creationId xmlns:a16="http://schemas.microsoft.com/office/drawing/2014/main" id="{DDCC293A-1751-EDE8-7E66-55C342960DFD}"/>
              </a:ext>
            </a:extLst>
          </p:cNvPr>
          <p:cNvGrpSpPr/>
          <p:nvPr/>
        </p:nvGrpSpPr>
        <p:grpSpPr>
          <a:xfrm>
            <a:off x="505700" y="3220163"/>
            <a:ext cx="4682176" cy="2143341"/>
            <a:chOff x="0" y="1705550"/>
            <a:chExt cx="9365571" cy="4287239"/>
          </a:xfrm>
        </p:grpSpPr>
        <p:sp>
          <p:nvSpPr>
            <p:cNvPr id="4" name="Freeform 3">
              <a:extLst>
                <a:ext uri="{FF2B5EF4-FFF2-40B4-BE49-F238E27FC236}">
                  <a16:creationId xmlns:a16="http://schemas.microsoft.com/office/drawing/2014/main" id="{DCD7FC38-0CFE-526D-DA51-50D5C995F2DE}"/>
                </a:ext>
              </a:extLst>
            </p:cNvPr>
            <p:cNvSpPr/>
            <p:nvPr/>
          </p:nvSpPr>
          <p:spPr>
            <a:xfrm flipH="1">
              <a:off x="0" y="1881023"/>
              <a:ext cx="9365571" cy="4111766"/>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10" name="Текст 2">
              <a:extLst>
                <a:ext uri="{FF2B5EF4-FFF2-40B4-BE49-F238E27FC236}">
                  <a16:creationId xmlns:a16="http://schemas.microsoft.com/office/drawing/2014/main" id="{3022983D-DD1A-5030-4CA6-2F434CF9163F}"/>
                </a:ext>
              </a:extLst>
            </p:cNvPr>
            <p:cNvSpPr txBox="1">
              <a:spLocks/>
            </p:cNvSpPr>
            <p:nvPr/>
          </p:nvSpPr>
          <p:spPr>
            <a:xfrm flipH="1">
              <a:off x="451417" y="1705550"/>
              <a:ext cx="8168433" cy="3065422"/>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Motivation</a:t>
              </a:r>
            </a:p>
            <a:p>
              <a:pPr marL="285750" indent="-285750">
                <a:buFont typeface="Wingdings" pitchFamily="2" charset="2"/>
                <a:buChar char="Ø"/>
              </a:pPr>
              <a:r>
                <a:rPr lang="en-IN" sz="900" dirty="0"/>
                <a:t>Relation-Aware Transformer for Text-to-SQL</a:t>
              </a:r>
            </a:p>
            <a:p>
              <a:pPr marL="285750" indent="-285750">
                <a:buFont typeface="Wingdings" pitchFamily="2" charset="2"/>
                <a:buChar char="Ø"/>
              </a:pPr>
              <a:r>
                <a:rPr lang="en-IN" sz="900" dirty="0"/>
                <a:t>Teach the model to understand </a:t>
              </a:r>
              <a:r>
                <a:rPr lang="en-IN" sz="900" b="1" dirty="0"/>
                <a:t>database schema structure</a:t>
              </a:r>
              <a:r>
                <a:rPr lang="en-IN" sz="900" dirty="0"/>
                <a:t> and </a:t>
              </a:r>
              <a:r>
                <a:rPr lang="en-IN" sz="900" b="1" dirty="0"/>
                <a:t>relationships</a:t>
              </a:r>
              <a:r>
                <a:rPr lang="en-IN" sz="900" dirty="0"/>
                <a:t> between tables and columns — something normal Transformers and LSTMs cannot do.</a:t>
              </a:r>
            </a:p>
            <a:p>
              <a:pPr marL="285750" indent="-285750">
                <a:buFont typeface="Wingdings" pitchFamily="2" charset="2"/>
                <a:buChar char="Ø"/>
              </a:pPr>
              <a:r>
                <a:rPr lang="en-IN" sz="900" dirty="0"/>
                <a:t>Build a </a:t>
              </a:r>
              <a:r>
                <a:rPr lang="en-IN" sz="900" b="1" dirty="0"/>
                <a:t>schema graph</a:t>
              </a:r>
            </a:p>
            <a:p>
              <a:pPr marL="285750" indent="-285750">
                <a:buFont typeface="Wingdings" pitchFamily="2" charset="2"/>
                <a:buChar char="Ø"/>
              </a:pPr>
              <a:r>
                <a:rPr lang="en-IN" sz="900" dirty="0"/>
                <a:t>Nodes = tables + columns</a:t>
              </a:r>
            </a:p>
            <a:p>
              <a:pPr marL="285750" indent="-285750">
                <a:buFont typeface="Wingdings" pitchFamily="2" charset="2"/>
                <a:buChar char="Ø"/>
              </a:pPr>
              <a:r>
                <a:rPr lang="en-IN" sz="900" dirty="0"/>
                <a:t>Edges = PK-FK relationships, same-table, foreign-key, column-type</a:t>
              </a:r>
            </a:p>
            <a:p>
              <a:pPr marL="285750" indent="-285750">
                <a:buFont typeface="Wingdings" pitchFamily="2" charset="2"/>
                <a:buChar char="Ø"/>
              </a:pPr>
              <a:r>
                <a:rPr lang="en-IN" sz="900" dirty="0"/>
                <a:t>Encode relationships using </a:t>
              </a:r>
              <a:r>
                <a:rPr lang="en-IN" sz="900" b="1" dirty="0"/>
                <a:t>Relation-Aware Attention (RAT)</a:t>
              </a:r>
            </a:p>
            <a:p>
              <a:pPr marL="285750" indent="-285750">
                <a:buFont typeface="Wingdings" pitchFamily="2" charset="2"/>
                <a:buChar char="Ø"/>
              </a:pPr>
              <a:r>
                <a:rPr lang="en-IN" sz="900" dirty="0"/>
                <a:t>Combine schema graph + question → joint representation</a:t>
              </a:r>
            </a:p>
            <a:p>
              <a:pPr marL="285750" indent="-285750">
                <a:buFont typeface="Wingdings" pitchFamily="2" charset="2"/>
                <a:buChar char="Ø"/>
              </a:pPr>
              <a:r>
                <a:rPr lang="en-IN" sz="900" dirty="0"/>
                <a:t>Use a decoder (in our case T5) to generate SQL</a:t>
              </a:r>
            </a:p>
            <a:p>
              <a:pPr marL="285750" indent="-285750">
                <a:buFont typeface="Wingdings" pitchFamily="2" charset="2"/>
                <a:buChar char="Ø"/>
              </a:pPr>
              <a:endParaRPr lang="en-IN" sz="850" dirty="0"/>
            </a:p>
          </p:txBody>
        </p:sp>
      </p:grpSp>
      <p:grpSp>
        <p:nvGrpSpPr>
          <p:cNvPr id="21" name="Группа 8">
            <a:extLst>
              <a:ext uri="{FF2B5EF4-FFF2-40B4-BE49-F238E27FC236}">
                <a16:creationId xmlns:a16="http://schemas.microsoft.com/office/drawing/2014/main" id="{3BDF986C-7403-518C-7803-BDC5EB70C1E3}"/>
              </a:ext>
            </a:extLst>
          </p:cNvPr>
          <p:cNvGrpSpPr/>
          <p:nvPr/>
        </p:nvGrpSpPr>
        <p:grpSpPr>
          <a:xfrm>
            <a:off x="5639802" y="3307887"/>
            <a:ext cx="4682176" cy="2002065"/>
            <a:chOff x="0" y="1881023"/>
            <a:chExt cx="9365571" cy="4004649"/>
          </a:xfrm>
        </p:grpSpPr>
        <p:sp>
          <p:nvSpPr>
            <p:cNvPr id="22" name="Freeform 21">
              <a:extLst>
                <a:ext uri="{FF2B5EF4-FFF2-40B4-BE49-F238E27FC236}">
                  <a16:creationId xmlns:a16="http://schemas.microsoft.com/office/drawing/2014/main" id="{39C5FAEA-7E97-32C3-02C0-F43ADE1DFFD9}"/>
                </a:ext>
              </a:extLst>
            </p:cNvPr>
            <p:cNvSpPr/>
            <p:nvPr/>
          </p:nvSpPr>
          <p:spPr>
            <a:xfrm flipH="1">
              <a:off x="0" y="1881023"/>
              <a:ext cx="9365571" cy="4004649"/>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3" name="Текст 2">
              <a:extLst>
                <a:ext uri="{FF2B5EF4-FFF2-40B4-BE49-F238E27FC236}">
                  <a16:creationId xmlns:a16="http://schemas.microsoft.com/office/drawing/2014/main" id="{A0055A66-BC27-1806-E144-AD0173FF926B}"/>
                </a:ext>
              </a:extLst>
            </p:cNvPr>
            <p:cNvSpPr txBox="1">
              <a:spLocks/>
            </p:cNvSpPr>
            <p:nvPr/>
          </p:nvSpPr>
          <p:spPr>
            <a:xfrm flipH="1">
              <a:off x="451421" y="1889162"/>
              <a:ext cx="8168433" cy="2780013"/>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How it worked</a:t>
              </a:r>
            </a:p>
            <a:p>
              <a:pPr marL="171450" indent="-171450">
                <a:buFont typeface="Wingdings" pitchFamily="2" charset="2"/>
                <a:buChar char="Ø"/>
              </a:pPr>
              <a:r>
                <a:rPr lang="en-IN" sz="900" dirty="0"/>
                <a:t>Tokenizer : T5 </a:t>
              </a:r>
              <a:r>
                <a:rPr lang="en-IN" sz="900" dirty="0" err="1"/>
                <a:t>Sentencepiece</a:t>
              </a:r>
              <a:r>
                <a:rPr lang="en-IN" sz="900" dirty="0"/>
                <a:t> </a:t>
              </a:r>
            </a:p>
            <a:p>
              <a:pPr marL="171450" indent="-171450">
                <a:buFont typeface="Wingdings" pitchFamily="2" charset="2"/>
                <a:buChar char="Ø"/>
              </a:pPr>
              <a:r>
                <a:rPr lang="en-IN" sz="900" dirty="0"/>
                <a:t>Pretrained T5 embeddings</a:t>
              </a:r>
            </a:p>
            <a:p>
              <a:pPr marL="171450" indent="-171450">
                <a:buFont typeface="Wingdings" pitchFamily="2" charset="2"/>
                <a:buChar char="Ø"/>
              </a:pPr>
              <a:r>
                <a:rPr lang="en-IN" sz="900" dirty="0"/>
                <a:t>T5-base pretrained embeddings (768-dim)</a:t>
              </a:r>
            </a:p>
            <a:p>
              <a:pPr marL="171450" indent="-171450">
                <a:buFont typeface="Wingdings" pitchFamily="2" charset="2"/>
                <a:buChar char="Ø"/>
              </a:pPr>
              <a:r>
                <a:rPr lang="en-IN" sz="900" dirty="0"/>
                <a:t>Input to encoder includes:</a:t>
              </a:r>
            </a:p>
            <a:p>
              <a:pPr marL="171450" indent="-171450">
                <a:buFont typeface="Wingdings" pitchFamily="2" charset="2"/>
                <a:buChar char="Ø"/>
              </a:pPr>
              <a:r>
                <a:rPr lang="en-IN" sz="900" dirty="0"/>
                <a:t>Natural language question</a:t>
              </a:r>
            </a:p>
            <a:p>
              <a:pPr marL="171450" indent="-171450">
                <a:buFont typeface="Wingdings" pitchFamily="2" charset="2"/>
                <a:buChar char="Ø"/>
              </a:pPr>
              <a:r>
                <a:rPr lang="en-IN" sz="900" dirty="0"/>
                <a:t>Schema linearization</a:t>
              </a:r>
            </a:p>
            <a:p>
              <a:pPr marL="171450" indent="-171450">
                <a:buFont typeface="Wingdings" pitchFamily="2" charset="2"/>
                <a:buChar char="Ø"/>
              </a:pPr>
              <a:r>
                <a:rPr lang="en-IN" sz="900" dirty="0"/>
                <a:t>Graph edges encoded as special relation tokens</a:t>
              </a:r>
            </a:p>
            <a:p>
              <a:pPr marL="171450" indent="-171450">
                <a:buFont typeface="Wingdings" pitchFamily="2" charset="2"/>
                <a:buChar char="Ø"/>
              </a:pPr>
              <a:r>
                <a:rPr lang="en-IN" sz="900" dirty="0"/>
                <a:t>Column/table type tags</a:t>
              </a:r>
            </a:p>
            <a:p>
              <a:pPr marL="171450" indent="-171450">
                <a:buFont typeface="Wingdings" pitchFamily="2" charset="2"/>
                <a:buChar char="Ø"/>
              </a:pPr>
              <a:endParaRPr lang="en-IN" sz="900" dirty="0"/>
            </a:p>
          </p:txBody>
        </p:sp>
      </p:grpSp>
      <p:pic>
        <p:nvPicPr>
          <p:cNvPr id="16" name="Graphic 15">
            <a:extLst>
              <a:ext uri="{FF2B5EF4-FFF2-40B4-BE49-F238E27FC236}">
                <a16:creationId xmlns:a16="http://schemas.microsoft.com/office/drawing/2014/main" id="{FA5B2043-4DAE-0F52-440B-296E74E15AF0}"/>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10273980" y="0"/>
            <a:ext cx="289387" cy="349581"/>
          </a:xfrm>
          <a:prstGeom prst="rect">
            <a:avLst/>
          </a:prstGeom>
        </p:spPr>
      </p:pic>
      <p:sp>
        <p:nvSpPr>
          <p:cNvPr id="19" name="TextBox 18">
            <a:extLst>
              <a:ext uri="{FF2B5EF4-FFF2-40B4-BE49-F238E27FC236}">
                <a16:creationId xmlns:a16="http://schemas.microsoft.com/office/drawing/2014/main" id="{EE7E89C3-1C06-AFA3-059F-9108413DC76C}"/>
              </a:ext>
            </a:extLst>
          </p:cNvPr>
          <p:cNvSpPr txBox="1"/>
          <p:nvPr/>
        </p:nvSpPr>
        <p:spPr>
          <a:xfrm>
            <a:off x="10563367" y="0"/>
            <a:ext cx="1091821" cy="382137"/>
          </a:xfrm>
          <a:prstGeom prst="rect">
            <a:avLst/>
          </a:prstGeom>
          <a:noFill/>
        </p:spPr>
        <p:txBody>
          <a:bodyPr wrap="square" rtlCol="0">
            <a:spAutoFit/>
          </a:bodyPr>
          <a:lstStyle/>
          <a:p>
            <a:r>
              <a:rPr lang="en-US" dirty="0"/>
              <a:t>Sai</a:t>
            </a:r>
          </a:p>
        </p:txBody>
      </p:sp>
    </p:spTree>
    <p:extLst>
      <p:ext uri="{BB962C8B-B14F-4D97-AF65-F5344CB8AC3E}">
        <p14:creationId xmlns:p14="http://schemas.microsoft.com/office/powerpoint/2010/main" val="404879911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50000">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14:bounceEnd="50000">
                                          <p:cBhvr additive="base">
                                            <p:cTn id="7" dur="500" fill="hold"/>
                                            <p:tgtEl>
                                              <p:spTgt spid="3"/>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50000">
                                      <p:stCondLst>
                                        <p:cond delay="100"/>
                                      </p:stCondLst>
                                      <p:childTnLst>
                                        <p:set>
                                          <p:cBhvr>
                                            <p:cTn id="10" dur="1" fill="hold">
                                              <p:stCondLst>
                                                <p:cond delay="0"/>
                                              </p:stCondLst>
                                            </p:cTn>
                                            <p:tgtEl>
                                              <p:spTgt spid="21"/>
                                            </p:tgtEl>
                                            <p:attrNameLst>
                                              <p:attrName>style.visibility</p:attrName>
                                            </p:attrNameLst>
                                          </p:cBhvr>
                                          <p:to>
                                            <p:strVal val="visible"/>
                                          </p:to>
                                        </p:set>
                                        <p:anim calcmode="lin" valueType="num" p14:bounceEnd="50000">
                                          <p:cBhvr additive="base">
                                            <p:cTn id="11" dur="500" fill="hold"/>
                                            <p:tgtEl>
                                              <p:spTgt spid="21"/>
                                            </p:tgtEl>
                                            <p:attrNameLst>
                                              <p:attrName>ppt_x</p:attrName>
                                            </p:attrNameLst>
                                          </p:cBhvr>
                                          <p:tavLst>
                                            <p:tav tm="0">
                                              <p:val>
                                                <p:strVal val="0-#ppt_w/2"/>
                                              </p:val>
                                            </p:tav>
                                            <p:tav tm="100000">
                                              <p:val>
                                                <p:strVal val="#ppt_x"/>
                                              </p:val>
                                            </p:tav>
                                          </p:tavLst>
                                        </p:anim>
                                        <p:anim calcmode="lin" valueType="num" p14:bounceEnd="50000">
                                          <p:cBhvr additive="base">
                                            <p:cTn id="12"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1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FAE38-3ABA-A281-22A6-AF7F9B0FC27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1446F54-75E8-F8EF-20A0-0C7052E3D3EE}"/>
              </a:ext>
            </a:extLst>
          </p:cNvPr>
          <p:cNvSpPr>
            <a:spLocks/>
          </p:cNvSpPr>
          <p:nvPr/>
        </p:nvSpPr>
        <p:spPr>
          <a:xfrm>
            <a:off x="219919" y="1340733"/>
            <a:ext cx="11716773" cy="524526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AAB1A5D8-789E-CB04-3CA2-2D3A629BB320}"/>
              </a:ext>
            </a:extLst>
          </p:cNvPr>
          <p:cNvSpPr txBox="1">
            <a:spLocks/>
          </p:cNvSpPr>
          <p:nvPr/>
        </p:nvSpPr>
        <p:spPr>
          <a:xfrm>
            <a:off x="1524000" y="104798"/>
            <a:ext cx="9144000" cy="118942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Model 3: </a:t>
            </a:r>
            <a:r>
              <a:rPr lang="en-IN" sz="4000" dirty="0"/>
              <a:t>RAT-SQL Lite </a:t>
            </a:r>
            <a:r>
              <a:rPr lang="en-IN" sz="1800" dirty="0"/>
              <a:t>(Relation Aware Node Based Model)</a:t>
            </a:r>
            <a:endParaRPr lang="en-US" sz="4000" dirty="0"/>
          </a:p>
        </p:txBody>
      </p:sp>
      <p:sp>
        <p:nvSpPr>
          <p:cNvPr id="6" name="Rounded Rectangle 5">
            <a:extLst>
              <a:ext uri="{FF2B5EF4-FFF2-40B4-BE49-F238E27FC236}">
                <a16:creationId xmlns:a16="http://schemas.microsoft.com/office/drawing/2014/main" id="{F76A9212-D7A0-FCDA-8CFD-BB4AD409D063}"/>
              </a:ext>
            </a:extLst>
          </p:cNvPr>
          <p:cNvSpPr/>
          <p:nvPr/>
        </p:nvSpPr>
        <p:spPr>
          <a:xfrm>
            <a:off x="1394408" y="1494496"/>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User Questions</a:t>
            </a:r>
          </a:p>
        </p:txBody>
      </p:sp>
      <p:sp>
        <p:nvSpPr>
          <p:cNvPr id="7" name="Rounded Rectangle 6">
            <a:extLst>
              <a:ext uri="{FF2B5EF4-FFF2-40B4-BE49-F238E27FC236}">
                <a16:creationId xmlns:a16="http://schemas.microsoft.com/office/drawing/2014/main" id="{07B55717-5B1B-0D4E-58F3-D64F79F84F2F}"/>
              </a:ext>
            </a:extLst>
          </p:cNvPr>
          <p:cNvSpPr/>
          <p:nvPr/>
        </p:nvSpPr>
        <p:spPr>
          <a:xfrm>
            <a:off x="3256418" y="1494496"/>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Node Construction</a:t>
            </a:r>
            <a:endParaRPr lang="en-US" dirty="0"/>
          </a:p>
        </p:txBody>
      </p:sp>
      <p:sp>
        <p:nvSpPr>
          <p:cNvPr id="8" name="Rounded Rectangle 7">
            <a:extLst>
              <a:ext uri="{FF2B5EF4-FFF2-40B4-BE49-F238E27FC236}">
                <a16:creationId xmlns:a16="http://schemas.microsoft.com/office/drawing/2014/main" id="{BA0AD571-1C26-AB75-116D-0B461D872A32}"/>
              </a:ext>
            </a:extLst>
          </p:cNvPr>
          <p:cNvSpPr/>
          <p:nvPr/>
        </p:nvSpPr>
        <p:spPr>
          <a:xfrm>
            <a:off x="5118428" y="1494496"/>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Relation Transformer </a:t>
            </a:r>
          </a:p>
          <a:p>
            <a:pPr algn="ctr"/>
            <a:r>
              <a:rPr lang="en-US" sz="1600" dirty="0"/>
              <a:t>Encoder </a:t>
            </a:r>
            <a:endParaRPr lang="en-US" dirty="0"/>
          </a:p>
        </p:txBody>
      </p:sp>
      <p:sp>
        <p:nvSpPr>
          <p:cNvPr id="9" name="Rounded Rectangle 8">
            <a:extLst>
              <a:ext uri="{FF2B5EF4-FFF2-40B4-BE49-F238E27FC236}">
                <a16:creationId xmlns:a16="http://schemas.microsoft.com/office/drawing/2014/main" id="{FCE3B4BA-4A1C-B74C-D54F-99859C05D73C}"/>
              </a:ext>
            </a:extLst>
          </p:cNvPr>
          <p:cNvSpPr/>
          <p:nvPr/>
        </p:nvSpPr>
        <p:spPr>
          <a:xfrm>
            <a:off x="6980438" y="1494496"/>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Decoder </a:t>
            </a:r>
          </a:p>
          <a:p>
            <a:pPr algn="ctr"/>
            <a:endParaRPr lang="en-US" sz="1100" dirty="0"/>
          </a:p>
        </p:txBody>
      </p:sp>
      <p:sp>
        <p:nvSpPr>
          <p:cNvPr id="11" name="Rounded Rectangle 10">
            <a:extLst>
              <a:ext uri="{FF2B5EF4-FFF2-40B4-BE49-F238E27FC236}">
                <a16:creationId xmlns:a16="http://schemas.microsoft.com/office/drawing/2014/main" id="{7F3AC861-C1D6-FDE4-FFD3-13A30ACBEFCB}"/>
              </a:ext>
            </a:extLst>
          </p:cNvPr>
          <p:cNvSpPr/>
          <p:nvPr/>
        </p:nvSpPr>
        <p:spPr>
          <a:xfrm>
            <a:off x="8842447" y="1548048"/>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Output as SQL Query</a:t>
            </a:r>
          </a:p>
        </p:txBody>
      </p:sp>
      <p:sp>
        <p:nvSpPr>
          <p:cNvPr id="12" name="Right Arrow 11">
            <a:extLst>
              <a:ext uri="{FF2B5EF4-FFF2-40B4-BE49-F238E27FC236}">
                <a16:creationId xmlns:a16="http://schemas.microsoft.com/office/drawing/2014/main" id="{04433038-9006-E8AB-1E66-59B06DC2F40C}"/>
              </a:ext>
            </a:extLst>
          </p:cNvPr>
          <p:cNvSpPr/>
          <p:nvPr/>
        </p:nvSpPr>
        <p:spPr>
          <a:xfrm>
            <a:off x="2886563" y="2040406"/>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5A3F46C0-835A-6075-7239-7B912910A77E}"/>
              </a:ext>
            </a:extLst>
          </p:cNvPr>
          <p:cNvSpPr/>
          <p:nvPr/>
        </p:nvSpPr>
        <p:spPr>
          <a:xfrm>
            <a:off x="4748572" y="2040405"/>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a:extLst>
              <a:ext uri="{FF2B5EF4-FFF2-40B4-BE49-F238E27FC236}">
                <a16:creationId xmlns:a16="http://schemas.microsoft.com/office/drawing/2014/main" id="{10C227EC-1B7A-53D0-130E-DE4D0FBCD292}"/>
              </a:ext>
            </a:extLst>
          </p:cNvPr>
          <p:cNvSpPr/>
          <p:nvPr/>
        </p:nvSpPr>
        <p:spPr>
          <a:xfrm>
            <a:off x="6610582" y="2040405"/>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4343768A-E940-0BB7-6FD5-9B1D14A4B1F4}"/>
              </a:ext>
            </a:extLst>
          </p:cNvPr>
          <p:cNvSpPr/>
          <p:nvPr/>
        </p:nvSpPr>
        <p:spPr>
          <a:xfrm>
            <a:off x="8472592" y="2040405"/>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1E56C3B-D780-E34C-2476-C660D79B5FED}"/>
              </a:ext>
            </a:extLst>
          </p:cNvPr>
          <p:cNvSpPr txBox="1"/>
          <p:nvPr/>
        </p:nvSpPr>
        <p:spPr>
          <a:xfrm>
            <a:off x="3071490" y="2683925"/>
            <a:ext cx="2113427" cy="461665"/>
          </a:xfrm>
          <a:prstGeom prst="rect">
            <a:avLst/>
          </a:prstGeom>
          <a:noFill/>
        </p:spPr>
        <p:txBody>
          <a:bodyPr wrap="square" rtlCol="0">
            <a:spAutoFit/>
          </a:bodyPr>
          <a:lstStyle/>
          <a:p>
            <a:pPr marL="285750" indent="-285750">
              <a:buFontTx/>
              <a:buChar char="-"/>
            </a:pPr>
            <a:r>
              <a:rPr lang="en-US" sz="600" dirty="0"/>
              <a:t>Question Tokens </a:t>
            </a:r>
          </a:p>
          <a:p>
            <a:pPr marL="285750" indent="-285750">
              <a:buFontTx/>
              <a:buChar char="-"/>
            </a:pPr>
            <a:r>
              <a:rPr lang="en-US" sz="600" dirty="0"/>
              <a:t>Table Nodes</a:t>
            </a:r>
          </a:p>
          <a:p>
            <a:pPr marL="285750" indent="-285750">
              <a:buFontTx/>
              <a:buChar char="-"/>
            </a:pPr>
            <a:r>
              <a:rPr lang="en-US" sz="600" dirty="0"/>
              <a:t>Column Nodes</a:t>
            </a:r>
          </a:p>
          <a:p>
            <a:pPr marL="285750" indent="-285750">
              <a:buFontTx/>
              <a:buChar char="-"/>
            </a:pPr>
            <a:r>
              <a:rPr lang="en-US" sz="600" dirty="0"/>
              <a:t>Relation matrix (PK -&gt;FK, table -&gt; Column)</a:t>
            </a:r>
          </a:p>
        </p:txBody>
      </p:sp>
      <p:sp>
        <p:nvSpPr>
          <p:cNvPr id="18" name="TextBox 17">
            <a:extLst>
              <a:ext uri="{FF2B5EF4-FFF2-40B4-BE49-F238E27FC236}">
                <a16:creationId xmlns:a16="http://schemas.microsoft.com/office/drawing/2014/main" id="{3A027270-D484-6D7E-4139-EB7E2FA59617}"/>
              </a:ext>
            </a:extLst>
          </p:cNvPr>
          <p:cNvSpPr txBox="1"/>
          <p:nvPr/>
        </p:nvSpPr>
        <p:spPr>
          <a:xfrm>
            <a:off x="5025964" y="2683925"/>
            <a:ext cx="1871338" cy="200055"/>
          </a:xfrm>
          <a:prstGeom prst="rect">
            <a:avLst/>
          </a:prstGeom>
          <a:noFill/>
        </p:spPr>
        <p:txBody>
          <a:bodyPr wrap="square" rtlCol="0">
            <a:spAutoFit/>
          </a:bodyPr>
          <a:lstStyle/>
          <a:p>
            <a:pPr marL="285750" indent="-285750">
              <a:buFontTx/>
              <a:buChar char="-"/>
            </a:pPr>
            <a:r>
              <a:rPr lang="en-US" sz="700" dirty="0"/>
              <a:t>Multi Head Attention + Relation bias </a:t>
            </a:r>
          </a:p>
        </p:txBody>
      </p:sp>
      <p:grpSp>
        <p:nvGrpSpPr>
          <p:cNvPr id="3" name="Группа 8">
            <a:extLst>
              <a:ext uri="{FF2B5EF4-FFF2-40B4-BE49-F238E27FC236}">
                <a16:creationId xmlns:a16="http://schemas.microsoft.com/office/drawing/2014/main" id="{146BC4D8-8800-A5C4-7D80-DDFCF493C835}"/>
              </a:ext>
            </a:extLst>
          </p:cNvPr>
          <p:cNvGrpSpPr/>
          <p:nvPr/>
        </p:nvGrpSpPr>
        <p:grpSpPr>
          <a:xfrm>
            <a:off x="505700" y="3220163"/>
            <a:ext cx="4682176" cy="2143341"/>
            <a:chOff x="0" y="1705550"/>
            <a:chExt cx="9365571" cy="4287239"/>
          </a:xfrm>
        </p:grpSpPr>
        <p:sp>
          <p:nvSpPr>
            <p:cNvPr id="4" name="Freeform 3">
              <a:extLst>
                <a:ext uri="{FF2B5EF4-FFF2-40B4-BE49-F238E27FC236}">
                  <a16:creationId xmlns:a16="http://schemas.microsoft.com/office/drawing/2014/main" id="{16BE1743-BFA5-4216-35AD-B879F17E287C}"/>
                </a:ext>
              </a:extLst>
            </p:cNvPr>
            <p:cNvSpPr/>
            <p:nvPr/>
          </p:nvSpPr>
          <p:spPr>
            <a:xfrm flipH="1">
              <a:off x="0" y="1881023"/>
              <a:ext cx="9365571" cy="4111766"/>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10" name="Текст 2">
              <a:extLst>
                <a:ext uri="{FF2B5EF4-FFF2-40B4-BE49-F238E27FC236}">
                  <a16:creationId xmlns:a16="http://schemas.microsoft.com/office/drawing/2014/main" id="{0461C610-00DB-795F-159D-A55722955C0B}"/>
                </a:ext>
              </a:extLst>
            </p:cNvPr>
            <p:cNvSpPr txBox="1">
              <a:spLocks/>
            </p:cNvSpPr>
            <p:nvPr/>
          </p:nvSpPr>
          <p:spPr>
            <a:xfrm flipH="1">
              <a:off x="451417" y="1705550"/>
              <a:ext cx="8168433" cy="3065422"/>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Process Flow </a:t>
              </a:r>
            </a:p>
            <a:p>
              <a:pPr marL="285750" indent="-285750">
                <a:buFont typeface="Wingdings" pitchFamily="2" charset="2"/>
                <a:buChar char="Ø"/>
              </a:pPr>
              <a:r>
                <a:rPr lang="en-IN" sz="900" dirty="0"/>
                <a:t>Schema Graph extraction : Parse database schema:</a:t>
              </a:r>
            </a:p>
            <a:p>
              <a:pPr marL="1352603" lvl="1" indent="-285750">
                <a:buFont typeface="Wingdings" pitchFamily="2" charset="2"/>
                <a:buChar char="Ø"/>
              </a:pPr>
              <a:r>
                <a:rPr lang="en-IN" sz="800" dirty="0"/>
                <a:t>Build table nodes</a:t>
              </a:r>
            </a:p>
            <a:p>
              <a:pPr marL="1352603" lvl="1" indent="-285750">
                <a:buFont typeface="Wingdings" pitchFamily="2" charset="2"/>
                <a:buChar char="Ø"/>
              </a:pPr>
              <a:r>
                <a:rPr lang="en-IN" sz="800" dirty="0"/>
                <a:t>Build column nodes</a:t>
              </a:r>
            </a:p>
            <a:p>
              <a:pPr marL="1352603" lvl="1" indent="-285750">
                <a:buFont typeface="Wingdings" pitchFamily="2" charset="2"/>
                <a:buChar char="Ø"/>
              </a:pPr>
              <a:r>
                <a:rPr lang="en-IN" sz="800" dirty="0"/>
                <a:t>Build PK–FK edges</a:t>
              </a:r>
            </a:p>
            <a:p>
              <a:pPr marL="1352603" lvl="1" indent="-285750">
                <a:buFont typeface="Wingdings" pitchFamily="2" charset="2"/>
                <a:buChar char="Ø"/>
              </a:pPr>
              <a:r>
                <a:rPr lang="en-IN" sz="800" dirty="0"/>
                <a:t>Capture data types</a:t>
              </a:r>
            </a:p>
            <a:p>
              <a:pPr marL="285750" indent="-285750">
                <a:buFont typeface="Wingdings" pitchFamily="2" charset="2"/>
                <a:buChar char="Ø"/>
              </a:pPr>
              <a:endParaRPr lang="en-IN" sz="100" dirty="0"/>
            </a:p>
            <a:p>
              <a:pPr marL="285750" indent="-285750">
                <a:buFont typeface="Wingdings" pitchFamily="2" charset="2"/>
                <a:buChar char="Ø"/>
              </a:pPr>
              <a:r>
                <a:rPr lang="en-IN" sz="900" dirty="0"/>
                <a:t>Graph-to-Text Encoding</a:t>
              </a:r>
            </a:p>
            <a:p>
              <a:pPr marL="285750" indent="-285750">
                <a:buFont typeface="Wingdings" pitchFamily="2" charset="2"/>
                <a:buChar char="Ø"/>
              </a:pPr>
              <a:r>
                <a:rPr lang="en-IN" sz="900" dirty="0"/>
                <a:t>Input concatenation</a:t>
              </a:r>
            </a:p>
            <a:p>
              <a:pPr marL="285750" indent="-285750">
                <a:buFont typeface="Wingdings" pitchFamily="2" charset="2"/>
                <a:buChar char="Ø"/>
              </a:pPr>
              <a:r>
                <a:rPr lang="en-IN" sz="900" dirty="0"/>
                <a:t>T5 Encoder reads all token </a:t>
              </a:r>
            </a:p>
            <a:p>
              <a:pPr marL="285750" indent="-285750">
                <a:buFont typeface="Wingdings" pitchFamily="2" charset="2"/>
                <a:buChar char="Ø"/>
              </a:pPr>
              <a:r>
                <a:rPr lang="en-IN" sz="900" dirty="0"/>
                <a:t>T5 Decoder generates SQL </a:t>
              </a:r>
            </a:p>
            <a:p>
              <a:pPr marL="285750" indent="-285750">
                <a:buFont typeface="Wingdings" pitchFamily="2" charset="2"/>
                <a:buChar char="Ø"/>
              </a:pPr>
              <a:endParaRPr lang="en-IN" sz="850" dirty="0"/>
            </a:p>
          </p:txBody>
        </p:sp>
      </p:grpSp>
      <p:grpSp>
        <p:nvGrpSpPr>
          <p:cNvPr id="21" name="Группа 8">
            <a:extLst>
              <a:ext uri="{FF2B5EF4-FFF2-40B4-BE49-F238E27FC236}">
                <a16:creationId xmlns:a16="http://schemas.microsoft.com/office/drawing/2014/main" id="{4202DB9D-8310-6374-FBDF-CB4B2967E9F0}"/>
              </a:ext>
            </a:extLst>
          </p:cNvPr>
          <p:cNvGrpSpPr/>
          <p:nvPr/>
        </p:nvGrpSpPr>
        <p:grpSpPr>
          <a:xfrm>
            <a:off x="5639802" y="3307887"/>
            <a:ext cx="4682176" cy="2002065"/>
            <a:chOff x="0" y="1881023"/>
            <a:chExt cx="9365571" cy="4004649"/>
          </a:xfrm>
        </p:grpSpPr>
        <p:sp>
          <p:nvSpPr>
            <p:cNvPr id="22" name="Freeform 21">
              <a:extLst>
                <a:ext uri="{FF2B5EF4-FFF2-40B4-BE49-F238E27FC236}">
                  <a16:creationId xmlns:a16="http://schemas.microsoft.com/office/drawing/2014/main" id="{6DEF82A5-EC5A-3A83-BA94-1A09C5127C8E}"/>
                </a:ext>
              </a:extLst>
            </p:cNvPr>
            <p:cNvSpPr/>
            <p:nvPr/>
          </p:nvSpPr>
          <p:spPr>
            <a:xfrm flipH="1">
              <a:off x="0" y="1881023"/>
              <a:ext cx="9365571" cy="4004649"/>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3" name="Текст 2">
              <a:extLst>
                <a:ext uri="{FF2B5EF4-FFF2-40B4-BE49-F238E27FC236}">
                  <a16:creationId xmlns:a16="http://schemas.microsoft.com/office/drawing/2014/main" id="{2923C1FC-2436-3F42-F32D-E46E14891ADA}"/>
                </a:ext>
              </a:extLst>
            </p:cNvPr>
            <p:cNvSpPr txBox="1">
              <a:spLocks/>
            </p:cNvSpPr>
            <p:nvPr/>
          </p:nvSpPr>
          <p:spPr>
            <a:xfrm flipH="1">
              <a:off x="451421" y="1889162"/>
              <a:ext cx="8168433" cy="2780013"/>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lvl="0" indent="0" defTabSz="1219017">
                <a:lnSpc>
                  <a:spcPct val="150000"/>
                </a:lnSpc>
                <a:buNone/>
                <a:defRPr/>
              </a:pPr>
              <a:r>
                <a:rPr lang="en-US" sz="1600" b="1" dirty="0">
                  <a:solidFill>
                    <a:srgbClr val="FFD500"/>
                  </a:solidFill>
                  <a:latin typeface="Poppins" panose="00000500000000000000" pitchFamily="2" charset="0"/>
                  <a:ea typeface="Tahoma" charset="0"/>
                  <a:cs typeface="Poppins" panose="00000500000000000000" pitchFamily="2" charset="0"/>
                </a:rPr>
                <a:t>Why it failed </a:t>
              </a:r>
            </a:p>
            <a:p>
              <a:pPr marL="171450" indent="-171450">
                <a:buFont typeface="Wingdings" pitchFamily="2" charset="2"/>
                <a:buChar char="Ø"/>
              </a:pPr>
              <a:r>
                <a:rPr lang="en-IN" sz="900" dirty="0"/>
                <a:t>Lite RAT = Still not full graph neural network</a:t>
              </a:r>
            </a:p>
            <a:p>
              <a:pPr marL="1238303" lvl="1" indent="-171450">
                <a:buFont typeface="Wingdings" pitchFamily="2" charset="2"/>
                <a:buChar char="Ø"/>
              </a:pPr>
              <a:r>
                <a:rPr lang="en-IN" sz="800" dirty="0"/>
                <a:t>We built a simplified graph encoder  and not a full graph neural network(too heavy to replicate)</a:t>
              </a:r>
            </a:p>
            <a:p>
              <a:pPr marL="171450" indent="-171450">
                <a:buFont typeface="Wingdings" pitchFamily="2" charset="2"/>
                <a:buChar char="Ø"/>
              </a:pPr>
              <a:endParaRPr lang="en-IN" sz="900" dirty="0"/>
            </a:p>
            <a:p>
              <a:pPr marL="171450" indent="-171450">
                <a:buFont typeface="Wingdings" pitchFamily="2" charset="2"/>
                <a:buChar char="Ø"/>
              </a:pPr>
              <a:r>
                <a:rPr lang="en-IN" sz="900" dirty="0"/>
                <a:t>We use T5-base is still too small </a:t>
              </a:r>
            </a:p>
            <a:p>
              <a:pPr marL="171450" indent="-171450">
                <a:buFont typeface="Wingdings" pitchFamily="2" charset="2"/>
                <a:buChar char="Ø"/>
              </a:pPr>
              <a:endParaRPr lang="en-IN" sz="900" dirty="0"/>
            </a:p>
          </p:txBody>
        </p:sp>
      </p:grpSp>
      <p:pic>
        <p:nvPicPr>
          <p:cNvPr id="16" name="Graphic 15">
            <a:extLst>
              <a:ext uri="{FF2B5EF4-FFF2-40B4-BE49-F238E27FC236}">
                <a16:creationId xmlns:a16="http://schemas.microsoft.com/office/drawing/2014/main" id="{5262FF21-028A-97C1-2B88-6B76ACA44C65}"/>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10273980" y="0"/>
            <a:ext cx="289387" cy="349581"/>
          </a:xfrm>
          <a:prstGeom prst="rect">
            <a:avLst/>
          </a:prstGeom>
        </p:spPr>
      </p:pic>
      <p:sp>
        <p:nvSpPr>
          <p:cNvPr id="19" name="TextBox 18">
            <a:extLst>
              <a:ext uri="{FF2B5EF4-FFF2-40B4-BE49-F238E27FC236}">
                <a16:creationId xmlns:a16="http://schemas.microsoft.com/office/drawing/2014/main" id="{0D33D0EE-80D1-F7DF-1151-EB09B6635E5F}"/>
              </a:ext>
            </a:extLst>
          </p:cNvPr>
          <p:cNvSpPr txBox="1"/>
          <p:nvPr/>
        </p:nvSpPr>
        <p:spPr>
          <a:xfrm>
            <a:off x="10563367" y="0"/>
            <a:ext cx="1091821" cy="382137"/>
          </a:xfrm>
          <a:prstGeom prst="rect">
            <a:avLst/>
          </a:prstGeom>
          <a:noFill/>
        </p:spPr>
        <p:txBody>
          <a:bodyPr wrap="square" rtlCol="0">
            <a:spAutoFit/>
          </a:bodyPr>
          <a:lstStyle/>
          <a:p>
            <a:r>
              <a:rPr lang="en-US" dirty="0"/>
              <a:t>Sai</a:t>
            </a:r>
          </a:p>
        </p:txBody>
      </p:sp>
    </p:spTree>
    <p:extLst>
      <p:ext uri="{BB962C8B-B14F-4D97-AF65-F5344CB8AC3E}">
        <p14:creationId xmlns:p14="http://schemas.microsoft.com/office/powerpoint/2010/main" val="424904615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50000">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14:bounceEnd="50000">
                                          <p:cBhvr additive="base">
                                            <p:cTn id="7" dur="500" fill="hold"/>
                                            <p:tgtEl>
                                              <p:spTgt spid="3"/>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50000">
                                      <p:stCondLst>
                                        <p:cond delay="100"/>
                                      </p:stCondLst>
                                      <p:childTnLst>
                                        <p:set>
                                          <p:cBhvr>
                                            <p:cTn id="10" dur="1" fill="hold">
                                              <p:stCondLst>
                                                <p:cond delay="0"/>
                                              </p:stCondLst>
                                            </p:cTn>
                                            <p:tgtEl>
                                              <p:spTgt spid="21"/>
                                            </p:tgtEl>
                                            <p:attrNameLst>
                                              <p:attrName>style.visibility</p:attrName>
                                            </p:attrNameLst>
                                          </p:cBhvr>
                                          <p:to>
                                            <p:strVal val="visible"/>
                                          </p:to>
                                        </p:set>
                                        <p:anim calcmode="lin" valueType="num" p14:bounceEnd="50000">
                                          <p:cBhvr additive="base">
                                            <p:cTn id="11" dur="500" fill="hold"/>
                                            <p:tgtEl>
                                              <p:spTgt spid="21"/>
                                            </p:tgtEl>
                                            <p:attrNameLst>
                                              <p:attrName>ppt_x</p:attrName>
                                            </p:attrNameLst>
                                          </p:cBhvr>
                                          <p:tavLst>
                                            <p:tav tm="0">
                                              <p:val>
                                                <p:strVal val="0-#ppt_w/2"/>
                                              </p:val>
                                            </p:tav>
                                            <p:tav tm="100000">
                                              <p:val>
                                                <p:strVal val="#ppt_x"/>
                                              </p:val>
                                            </p:tav>
                                          </p:tavLst>
                                        </p:anim>
                                        <p:anim calcmode="lin" valueType="num" p14:bounceEnd="50000">
                                          <p:cBhvr additive="base">
                                            <p:cTn id="12"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10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F0C5C-31EC-9C25-0239-40F8AD51F47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F93A077-5423-2AA5-9D0C-066390C9F181}"/>
              </a:ext>
            </a:extLst>
          </p:cNvPr>
          <p:cNvSpPr>
            <a:spLocks/>
          </p:cNvSpPr>
          <p:nvPr/>
        </p:nvSpPr>
        <p:spPr>
          <a:xfrm>
            <a:off x="219919" y="1340733"/>
            <a:ext cx="11716773" cy="524526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AC0E84BB-E533-FC2C-04C7-59CDED80BD4B}"/>
              </a:ext>
            </a:extLst>
          </p:cNvPr>
          <p:cNvSpPr txBox="1">
            <a:spLocks/>
          </p:cNvSpPr>
          <p:nvPr/>
        </p:nvSpPr>
        <p:spPr>
          <a:xfrm>
            <a:off x="1524000" y="104798"/>
            <a:ext cx="9144000" cy="118942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Model 3: </a:t>
            </a:r>
            <a:r>
              <a:rPr lang="en-IN" sz="4000" dirty="0"/>
              <a:t>RAT-SQL Lite </a:t>
            </a:r>
            <a:r>
              <a:rPr lang="en-IN" sz="1800" dirty="0"/>
              <a:t>(Relation Aware Node Based Model)</a:t>
            </a:r>
            <a:endParaRPr lang="en-US" sz="4000" dirty="0"/>
          </a:p>
        </p:txBody>
      </p:sp>
      <p:sp>
        <p:nvSpPr>
          <p:cNvPr id="6" name="Rounded Rectangle 5">
            <a:extLst>
              <a:ext uri="{FF2B5EF4-FFF2-40B4-BE49-F238E27FC236}">
                <a16:creationId xmlns:a16="http://schemas.microsoft.com/office/drawing/2014/main" id="{D9825E9C-4A4A-FB4A-6B46-D561A392F38E}"/>
              </a:ext>
            </a:extLst>
          </p:cNvPr>
          <p:cNvSpPr/>
          <p:nvPr/>
        </p:nvSpPr>
        <p:spPr>
          <a:xfrm>
            <a:off x="1394408" y="1494496"/>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User Questions</a:t>
            </a:r>
          </a:p>
        </p:txBody>
      </p:sp>
      <p:sp>
        <p:nvSpPr>
          <p:cNvPr id="7" name="Rounded Rectangle 6">
            <a:extLst>
              <a:ext uri="{FF2B5EF4-FFF2-40B4-BE49-F238E27FC236}">
                <a16:creationId xmlns:a16="http://schemas.microsoft.com/office/drawing/2014/main" id="{6A847492-B2FD-C59E-E785-F34A9257C6A7}"/>
              </a:ext>
            </a:extLst>
          </p:cNvPr>
          <p:cNvSpPr/>
          <p:nvPr/>
        </p:nvSpPr>
        <p:spPr>
          <a:xfrm>
            <a:off x="3256418" y="1494496"/>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Node Construction</a:t>
            </a:r>
            <a:endParaRPr lang="en-US" dirty="0"/>
          </a:p>
        </p:txBody>
      </p:sp>
      <p:sp>
        <p:nvSpPr>
          <p:cNvPr id="8" name="Rounded Rectangle 7">
            <a:extLst>
              <a:ext uri="{FF2B5EF4-FFF2-40B4-BE49-F238E27FC236}">
                <a16:creationId xmlns:a16="http://schemas.microsoft.com/office/drawing/2014/main" id="{1779C3C2-326A-E0F0-6D36-B7E6BE827DEF}"/>
              </a:ext>
            </a:extLst>
          </p:cNvPr>
          <p:cNvSpPr/>
          <p:nvPr/>
        </p:nvSpPr>
        <p:spPr>
          <a:xfrm>
            <a:off x="5118428" y="1494496"/>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Relation Transformer </a:t>
            </a:r>
          </a:p>
          <a:p>
            <a:pPr algn="ctr"/>
            <a:r>
              <a:rPr lang="en-US" sz="1600" dirty="0"/>
              <a:t>Encoder </a:t>
            </a:r>
            <a:endParaRPr lang="en-US" dirty="0"/>
          </a:p>
        </p:txBody>
      </p:sp>
      <p:sp>
        <p:nvSpPr>
          <p:cNvPr id="9" name="Rounded Rectangle 8">
            <a:extLst>
              <a:ext uri="{FF2B5EF4-FFF2-40B4-BE49-F238E27FC236}">
                <a16:creationId xmlns:a16="http://schemas.microsoft.com/office/drawing/2014/main" id="{5B4EA75C-E157-53DE-21DA-47756BE0C992}"/>
              </a:ext>
            </a:extLst>
          </p:cNvPr>
          <p:cNvSpPr/>
          <p:nvPr/>
        </p:nvSpPr>
        <p:spPr>
          <a:xfrm>
            <a:off x="6980438" y="1494496"/>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Decoder </a:t>
            </a:r>
          </a:p>
          <a:p>
            <a:pPr algn="ctr"/>
            <a:r>
              <a:rPr lang="en-US" sz="1100" dirty="0"/>
              <a:t>LSTM</a:t>
            </a:r>
          </a:p>
        </p:txBody>
      </p:sp>
      <p:sp>
        <p:nvSpPr>
          <p:cNvPr id="11" name="Rounded Rectangle 10">
            <a:extLst>
              <a:ext uri="{FF2B5EF4-FFF2-40B4-BE49-F238E27FC236}">
                <a16:creationId xmlns:a16="http://schemas.microsoft.com/office/drawing/2014/main" id="{D21CBF79-4E57-14A6-03BA-7E47B8D5B4A4}"/>
              </a:ext>
            </a:extLst>
          </p:cNvPr>
          <p:cNvSpPr/>
          <p:nvPr/>
        </p:nvSpPr>
        <p:spPr>
          <a:xfrm>
            <a:off x="8842447" y="1548048"/>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Output as SQL Query</a:t>
            </a:r>
          </a:p>
        </p:txBody>
      </p:sp>
      <p:sp>
        <p:nvSpPr>
          <p:cNvPr id="12" name="Right Arrow 11">
            <a:extLst>
              <a:ext uri="{FF2B5EF4-FFF2-40B4-BE49-F238E27FC236}">
                <a16:creationId xmlns:a16="http://schemas.microsoft.com/office/drawing/2014/main" id="{41E4D346-06DE-B8DD-D796-5B16067480F5}"/>
              </a:ext>
            </a:extLst>
          </p:cNvPr>
          <p:cNvSpPr/>
          <p:nvPr/>
        </p:nvSpPr>
        <p:spPr>
          <a:xfrm>
            <a:off x="2886563" y="2040406"/>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A6936019-B558-46F4-A359-00E82A163530}"/>
              </a:ext>
            </a:extLst>
          </p:cNvPr>
          <p:cNvSpPr/>
          <p:nvPr/>
        </p:nvSpPr>
        <p:spPr>
          <a:xfrm>
            <a:off x="4748572" y="2040405"/>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a:extLst>
              <a:ext uri="{FF2B5EF4-FFF2-40B4-BE49-F238E27FC236}">
                <a16:creationId xmlns:a16="http://schemas.microsoft.com/office/drawing/2014/main" id="{D5C9A1C1-150E-6154-F202-B8DC1FC8BAE9}"/>
              </a:ext>
            </a:extLst>
          </p:cNvPr>
          <p:cNvSpPr/>
          <p:nvPr/>
        </p:nvSpPr>
        <p:spPr>
          <a:xfrm>
            <a:off x="6610582" y="2040405"/>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273D3F99-69E9-DE6A-8979-B68540AAF84F}"/>
              </a:ext>
            </a:extLst>
          </p:cNvPr>
          <p:cNvSpPr/>
          <p:nvPr/>
        </p:nvSpPr>
        <p:spPr>
          <a:xfrm>
            <a:off x="8472592" y="2040405"/>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36F9D2B-5274-C4ED-046C-4E34A1542D5E}"/>
              </a:ext>
            </a:extLst>
          </p:cNvPr>
          <p:cNvSpPr txBox="1"/>
          <p:nvPr/>
        </p:nvSpPr>
        <p:spPr>
          <a:xfrm>
            <a:off x="3071490" y="2683925"/>
            <a:ext cx="2113427" cy="461665"/>
          </a:xfrm>
          <a:prstGeom prst="rect">
            <a:avLst/>
          </a:prstGeom>
          <a:noFill/>
        </p:spPr>
        <p:txBody>
          <a:bodyPr wrap="square" rtlCol="0">
            <a:spAutoFit/>
          </a:bodyPr>
          <a:lstStyle/>
          <a:p>
            <a:pPr marL="285750" indent="-285750">
              <a:buFontTx/>
              <a:buChar char="-"/>
            </a:pPr>
            <a:r>
              <a:rPr lang="en-US" sz="600" dirty="0"/>
              <a:t>Question Tokens </a:t>
            </a:r>
          </a:p>
          <a:p>
            <a:pPr marL="285750" indent="-285750">
              <a:buFontTx/>
              <a:buChar char="-"/>
            </a:pPr>
            <a:r>
              <a:rPr lang="en-US" sz="600" dirty="0"/>
              <a:t>Table Nodes</a:t>
            </a:r>
          </a:p>
          <a:p>
            <a:pPr marL="285750" indent="-285750">
              <a:buFontTx/>
              <a:buChar char="-"/>
            </a:pPr>
            <a:r>
              <a:rPr lang="en-US" sz="600" dirty="0"/>
              <a:t>Column Nodes</a:t>
            </a:r>
          </a:p>
          <a:p>
            <a:pPr marL="285750" indent="-285750">
              <a:buFontTx/>
              <a:buChar char="-"/>
            </a:pPr>
            <a:r>
              <a:rPr lang="en-US" sz="600" dirty="0"/>
              <a:t>Relation matrix (PK -&gt;FK, table -&gt; Column)</a:t>
            </a:r>
          </a:p>
        </p:txBody>
      </p:sp>
      <p:sp>
        <p:nvSpPr>
          <p:cNvPr id="18" name="TextBox 17">
            <a:extLst>
              <a:ext uri="{FF2B5EF4-FFF2-40B4-BE49-F238E27FC236}">
                <a16:creationId xmlns:a16="http://schemas.microsoft.com/office/drawing/2014/main" id="{DB2057F0-8D41-81A7-A0BF-B49A4074D351}"/>
              </a:ext>
            </a:extLst>
          </p:cNvPr>
          <p:cNvSpPr txBox="1"/>
          <p:nvPr/>
        </p:nvSpPr>
        <p:spPr>
          <a:xfrm>
            <a:off x="5025964" y="2683925"/>
            <a:ext cx="1871338" cy="200055"/>
          </a:xfrm>
          <a:prstGeom prst="rect">
            <a:avLst/>
          </a:prstGeom>
          <a:noFill/>
        </p:spPr>
        <p:txBody>
          <a:bodyPr wrap="square" rtlCol="0">
            <a:spAutoFit/>
          </a:bodyPr>
          <a:lstStyle/>
          <a:p>
            <a:pPr marL="285750" indent="-285750">
              <a:buFontTx/>
              <a:buChar char="-"/>
            </a:pPr>
            <a:r>
              <a:rPr lang="en-US" sz="700" dirty="0"/>
              <a:t>Multi Head Attention + Relation bias </a:t>
            </a:r>
          </a:p>
        </p:txBody>
      </p:sp>
      <p:grpSp>
        <p:nvGrpSpPr>
          <p:cNvPr id="3" name="Группа 8">
            <a:extLst>
              <a:ext uri="{FF2B5EF4-FFF2-40B4-BE49-F238E27FC236}">
                <a16:creationId xmlns:a16="http://schemas.microsoft.com/office/drawing/2014/main" id="{F7C99A52-046C-E4B6-A264-D295AB07A24A}"/>
              </a:ext>
            </a:extLst>
          </p:cNvPr>
          <p:cNvGrpSpPr/>
          <p:nvPr/>
        </p:nvGrpSpPr>
        <p:grpSpPr>
          <a:xfrm>
            <a:off x="505700" y="3220162"/>
            <a:ext cx="5728844" cy="2507552"/>
            <a:chOff x="0" y="1705548"/>
            <a:chExt cx="11459180" cy="5015756"/>
          </a:xfrm>
        </p:grpSpPr>
        <p:sp>
          <p:nvSpPr>
            <p:cNvPr id="4" name="Freeform 3">
              <a:extLst>
                <a:ext uri="{FF2B5EF4-FFF2-40B4-BE49-F238E27FC236}">
                  <a16:creationId xmlns:a16="http://schemas.microsoft.com/office/drawing/2014/main" id="{12F27029-0B20-3962-CC8A-F0032BF9F47C}"/>
                </a:ext>
              </a:extLst>
            </p:cNvPr>
            <p:cNvSpPr/>
            <p:nvPr/>
          </p:nvSpPr>
          <p:spPr>
            <a:xfrm flipH="1">
              <a:off x="0" y="1881021"/>
              <a:ext cx="9365571" cy="4840283"/>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10" name="Текст 2">
              <a:extLst>
                <a:ext uri="{FF2B5EF4-FFF2-40B4-BE49-F238E27FC236}">
                  <a16:creationId xmlns:a16="http://schemas.microsoft.com/office/drawing/2014/main" id="{A8EC61C4-34EB-3808-780E-1772B3DCCFCF}"/>
                </a:ext>
              </a:extLst>
            </p:cNvPr>
            <p:cNvSpPr txBox="1">
              <a:spLocks/>
            </p:cNvSpPr>
            <p:nvPr/>
          </p:nvSpPr>
          <p:spPr>
            <a:xfrm flipH="1">
              <a:off x="451413" y="1705548"/>
              <a:ext cx="11007767" cy="5015754"/>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SOTA PUBLIC RAT Models </a:t>
              </a:r>
            </a:p>
            <a:p>
              <a:pPr marL="0" indent="0">
                <a:buNone/>
              </a:pPr>
              <a:r>
                <a:rPr lang="en-IN" sz="1000" b="1" dirty="0"/>
                <a:t>Official RAT-SQL (from Yale NLP)</a:t>
              </a:r>
            </a:p>
            <a:p>
              <a:pPr marL="0" indent="0">
                <a:buNone/>
              </a:pPr>
              <a:r>
                <a:rPr lang="en-IN" sz="900" dirty="0"/>
                <a:t>              </a:t>
              </a:r>
              <a:r>
                <a:rPr lang="en-IN" sz="900" dirty="0">
                  <a:sym typeface="Wingdings" pitchFamily="2" charset="2"/>
                </a:rPr>
                <a:t> </a:t>
              </a:r>
              <a:r>
                <a:rPr lang="en-IN" sz="900" dirty="0"/>
                <a:t>Checkpoint is available only by email request</a:t>
              </a:r>
            </a:p>
            <a:p>
              <a:pPr marL="0" indent="0">
                <a:buNone/>
              </a:pPr>
              <a:r>
                <a:rPr lang="en-IN" sz="900" dirty="0"/>
                <a:t>              </a:t>
              </a:r>
              <a:r>
                <a:rPr lang="en-IN" sz="900" dirty="0">
                  <a:sym typeface="Wingdings" pitchFamily="2" charset="2"/>
                </a:rPr>
                <a:t></a:t>
              </a:r>
              <a:r>
                <a:rPr lang="en-IN" sz="900" dirty="0"/>
                <a:t>NOT on </a:t>
              </a:r>
              <a:r>
                <a:rPr lang="en-IN" sz="900" dirty="0" err="1"/>
                <a:t>HuggingFace</a:t>
              </a:r>
              <a:endParaRPr lang="en-IN" sz="900" dirty="0"/>
            </a:p>
            <a:p>
              <a:pPr marL="0" indent="0">
                <a:buNone/>
              </a:pPr>
              <a:r>
                <a:rPr lang="en-IN" sz="900" dirty="0"/>
                <a:t>              </a:t>
              </a:r>
              <a:r>
                <a:rPr lang="en-IN" sz="900" dirty="0">
                  <a:sym typeface="Wingdings" pitchFamily="2" charset="2"/>
                </a:rPr>
                <a:t></a:t>
              </a:r>
              <a:r>
                <a:rPr lang="en-IN" sz="900" dirty="0"/>
                <a:t>Cannot be downloaded programmatically</a:t>
              </a:r>
            </a:p>
            <a:p>
              <a:pPr>
                <a:buFont typeface="Wingdings" pitchFamily="2" charset="2"/>
                <a:buChar char="Ø"/>
              </a:pPr>
              <a:endParaRPr lang="en-IN" sz="900" dirty="0"/>
            </a:p>
            <a:p>
              <a:pPr marL="0" indent="0">
                <a:buNone/>
              </a:pPr>
              <a:r>
                <a:rPr lang="en-IN" sz="1000" b="1" dirty="0"/>
                <a:t>GRAPPA (RAT-SQL + BERT)</a:t>
              </a:r>
            </a:p>
            <a:p>
              <a:pPr marL="0" indent="0">
                <a:buNone/>
              </a:pPr>
              <a:r>
                <a:rPr lang="en-IN" sz="900" dirty="0"/>
                <a:t>             </a:t>
              </a:r>
              <a:r>
                <a:rPr lang="en-IN" sz="900" dirty="0">
                  <a:sym typeface="Wingdings" pitchFamily="2" charset="2"/>
                </a:rPr>
                <a:t></a:t>
              </a:r>
              <a:r>
                <a:rPr lang="en-IN" sz="900" dirty="0"/>
                <a:t>Also requires manual request</a:t>
              </a:r>
            </a:p>
            <a:p>
              <a:pPr marL="0" indent="0">
                <a:buNone/>
              </a:pPr>
              <a:r>
                <a:rPr lang="en-IN" sz="900" dirty="0"/>
                <a:t>             </a:t>
              </a:r>
              <a:r>
                <a:rPr lang="en-IN" sz="900" dirty="0">
                  <a:sym typeface="Wingdings" pitchFamily="2" charset="2"/>
                </a:rPr>
                <a:t></a:t>
              </a:r>
              <a:r>
                <a:rPr lang="en-IN" sz="900" dirty="0"/>
                <a:t>NOT public</a:t>
              </a:r>
            </a:p>
            <a:p>
              <a:pPr>
                <a:buFont typeface="Wingdings" pitchFamily="2" charset="2"/>
                <a:buChar char="Ø"/>
              </a:pPr>
              <a:endParaRPr lang="en-IN" sz="900" dirty="0"/>
            </a:p>
            <a:p>
              <a:pPr marL="0" indent="0">
                <a:buNone/>
              </a:pPr>
              <a:r>
                <a:rPr lang="en-IN" sz="1000" b="1" dirty="0" err="1"/>
                <a:t>Babelscape</a:t>
              </a:r>
              <a:r>
                <a:rPr lang="en-IN" sz="1000" b="1" dirty="0"/>
                <a:t> text-to-</a:t>
              </a:r>
              <a:r>
                <a:rPr lang="en-IN" sz="1000" b="1" dirty="0" err="1"/>
                <a:t>sql</a:t>
              </a:r>
              <a:r>
                <a:rPr lang="en-IN" sz="1000" b="1" dirty="0"/>
                <a:t>-spider</a:t>
              </a:r>
            </a:p>
            <a:p>
              <a:pPr marL="0" indent="0">
                <a:buNone/>
              </a:pPr>
              <a:r>
                <a:rPr lang="en-IN" sz="900" dirty="0"/>
                <a:t>             </a:t>
              </a:r>
              <a:r>
                <a:rPr lang="en-IN" sz="900" dirty="0">
                  <a:sym typeface="Wingdings" pitchFamily="2" charset="2"/>
                </a:rPr>
                <a:t></a:t>
              </a:r>
              <a:r>
                <a:rPr lang="en-IN" sz="900" dirty="0"/>
                <a:t>Also private</a:t>
              </a:r>
            </a:p>
            <a:p>
              <a:pPr marL="0" indent="0">
                <a:buNone/>
              </a:pPr>
              <a:r>
                <a:rPr lang="en-IN" sz="900" dirty="0"/>
                <a:t>             </a:t>
              </a:r>
              <a:r>
                <a:rPr lang="en-IN" sz="900" dirty="0">
                  <a:sym typeface="Wingdings" pitchFamily="2" charset="2"/>
                </a:rPr>
                <a:t></a:t>
              </a:r>
              <a:r>
                <a:rPr lang="en-IN" sz="900" dirty="0"/>
                <a:t>We cannot clone without authentication</a:t>
              </a:r>
            </a:p>
            <a:p>
              <a:endParaRPr lang="en-IN" sz="900" dirty="0"/>
            </a:p>
            <a:p>
              <a:pPr marL="0" indent="0">
                <a:buNone/>
              </a:pPr>
              <a:endParaRPr lang="en-IN" sz="800" dirty="0"/>
            </a:p>
            <a:p>
              <a:pPr marL="285750" indent="-285750">
                <a:buFont typeface="Wingdings" pitchFamily="2" charset="2"/>
                <a:buChar char="Ø"/>
              </a:pPr>
              <a:endParaRPr lang="en-IN" sz="850" dirty="0"/>
            </a:p>
          </p:txBody>
        </p:sp>
      </p:grpSp>
      <p:pic>
        <p:nvPicPr>
          <p:cNvPr id="16" name="Graphic 15">
            <a:extLst>
              <a:ext uri="{FF2B5EF4-FFF2-40B4-BE49-F238E27FC236}">
                <a16:creationId xmlns:a16="http://schemas.microsoft.com/office/drawing/2014/main" id="{999F3C9C-BDE8-EECC-7DEF-EFD94AE5716B}"/>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10273980" y="0"/>
            <a:ext cx="289387" cy="349581"/>
          </a:xfrm>
          <a:prstGeom prst="rect">
            <a:avLst/>
          </a:prstGeom>
        </p:spPr>
      </p:pic>
      <p:sp>
        <p:nvSpPr>
          <p:cNvPr id="19" name="TextBox 18">
            <a:extLst>
              <a:ext uri="{FF2B5EF4-FFF2-40B4-BE49-F238E27FC236}">
                <a16:creationId xmlns:a16="http://schemas.microsoft.com/office/drawing/2014/main" id="{4DC05A7B-ABC4-6F37-1978-11BC8BCB2381}"/>
              </a:ext>
            </a:extLst>
          </p:cNvPr>
          <p:cNvSpPr txBox="1"/>
          <p:nvPr/>
        </p:nvSpPr>
        <p:spPr>
          <a:xfrm>
            <a:off x="10563367" y="0"/>
            <a:ext cx="1091821" cy="382137"/>
          </a:xfrm>
          <a:prstGeom prst="rect">
            <a:avLst/>
          </a:prstGeom>
          <a:noFill/>
        </p:spPr>
        <p:txBody>
          <a:bodyPr wrap="square" rtlCol="0">
            <a:spAutoFit/>
          </a:bodyPr>
          <a:lstStyle/>
          <a:p>
            <a:r>
              <a:rPr lang="en-US" dirty="0"/>
              <a:t>Sai</a:t>
            </a:r>
          </a:p>
        </p:txBody>
      </p:sp>
    </p:spTree>
    <p:extLst>
      <p:ext uri="{BB962C8B-B14F-4D97-AF65-F5344CB8AC3E}">
        <p14:creationId xmlns:p14="http://schemas.microsoft.com/office/powerpoint/2010/main" val="3514412556"/>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50000">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14:bounceEnd="50000">
                                          <p:cBhvr additive="base">
                                            <p:cTn id="7" dur="500" fill="hold"/>
                                            <p:tgtEl>
                                              <p:spTgt spid="3"/>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077F0-0585-B1E7-3596-760611845FE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DDA792A-AB56-67E5-2F18-B0FE70CA00CA}"/>
              </a:ext>
            </a:extLst>
          </p:cNvPr>
          <p:cNvSpPr/>
          <p:nvPr/>
        </p:nvSpPr>
        <p:spPr>
          <a:xfrm>
            <a:off x="219919" y="1340732"/>
            <a:ext cx="11716773" cy="50947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8404F3C6-1B9C-2C0E-9AD9-D51F8A42E48A}"/>
              </a:ext>
            </a:extLst>
          </p:cNvPr>
          <p:cNvSpPr/>
          <p:nvPr/>
        </p:nvSpPr>
        <p:spPr>
          <a:xfrm>
            <a:off x="1523999" y="1529220"/>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User Questions</a:t>
            </a:r>
          </a:p>
        </p:txBody>
      </p:sp>
      <p:sp>
        <p:nvSpPr>
          <p:cNvPr id="4" name="Rounded Rectangle 3">
            <a:extLst>
              <a:ext uri="{FF2B5EF4-FFF2-40B4-BE49-F238E27FC236}">
                <a16:creationId xmlns:a16="http://schemas.microsoft.com/office/drawing/2014/main" id="{423E0E98-65B5-5A01-C070-F36DFAD757D6}"/>
              </a:ext>
            </a:extLst>
          </p:cNvPr>
          <p:cNvSpPr/>
          <p:nvPr/>
        </p:nvSpPr>
        <p:spPr>
          <a:xfrm>
            <a:off x="3386009" y="1529220"/>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T5 Larger</a:t>
            </a:r>
          </a:p>
          <a:p>
            <a:pPr algn="ctr"/>
            <a:r>
              <a:rPr lang="en-US" sz="1600" dirty="0"/>
              <a:t>Tokenizer</a:t>
            </a:r>
            <a:endParaRPr lang="en-US" dirty="0"/>
          </a:p>
        </p:txBody>
      </p:sp>
      <p:sp>
        <p:nvSpPr>
          <p:cNvPr id="5" name="Rounded Rectangle 4">
            <a:extLst>
              <a:ext uri="{FF2B5EF4-FFF2-40B4-BE49-F238E27FC236}">
                <a16:creationId xmlns:a16="http://schemas.microsoft.com/office/drawing/2014/main" id="{9FC23E6B-94B4-BE05-73F5-1D3049519BE1}"/>
              </a:ext>
            </a:extLst>
          </p:cNvPr>
          <p:cNvSpPr/>
          <p:nvPr/>
        </p:nvSpPr>
        <p:spPr>
          <a:xfrm>
            <a:off x="5248019" y="1529220"/>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Pre-Trained T5 large Encoder</a:t>
            </a:r>
            <a:endParaRPr lang="en-US" dirty="0"/>
          </a:p>
        </p:txBody>
      </p:sp>
      <p:sp>
        <p:nvSpPr>
          <p:cNvPr id="6" name="Rounded Rectangle 5">
            <a:extLst>
              <a:ext uri="{FF2B5EF4-FFF2-40B4-BE49-F238E27FC236}">
                <a16:creationId xmlns:a16="http://schemas.microsoft.com/office/drawing/2014/main" id="{97D203CB-60C3-5DBF-2552-B229898466AE}"/>
              </a:ext>
            </a:extLst>
          </p:cNvPr>
          <p:cNvSpPr/>
          <p:nvPr/>
        </p:nvSpPr>
        <p:spPr>
          <a:xfrm>
            <a:off x="7110029" y="1529220"/>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Pre-Trained T5 large Decoder</a:t>
            </a:r>
          </a:p>
        </p:txBody>
      </p:sp>
      <p:sp>
        <p:nvSpPr>
          <p:cNvPr id="7" name="Rounded Rectangle 6">
            <a:extLst>
              <a:ext uri="{FF2B5EF4-FFF2-40B4-BE49-F238E27FC236}">
                <a16:creationId xmlns:a16="http://schemas.microsoft.com/office/drawing/2014/main" id="{582D11A9-E9FE-F8BA-962B-3830EB130623}"/>
              </a:ext>
            </a:extLst>
          </p:cNvPr>
          <p:cNvSpPr/>
          <p:nvPr/>
        </p:nvSpPr>
        <p:spPr>
          <a:xfrm>
            <a:off x="8972038" y="1582772"/>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Output as SQL Query</a:t>
            </a:r>
          </a:p>
        </p:txBody>
      </p:sp>
      <p:sp>
        <p:nvSpPr>
          <p:cNvPr id="8" name="Right Arrow 7">
            <a:extLst>
              <a:ext uri="{FF2B5EF4-FFF2-40B4-BE49-F238E27FC236}">
                <a16:creationId xmlns:a16="http://schemas.microsoft.com/office/drawing/2014/main" id="{D8424157-A21D-E913-0306-E2DC21F82436}"/>
              </a:ext>
            </a:extLst>
          </p:cNvPr>
          <p:cNvSpPr/>
          <p:nvPr/>
        </p:nvSpPr>
        <p:spPr>
          <a:xfrm>
            <a:off x="3016154" y="2075130"/>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097C390E-49E7-D7CE-32DA-21BC9CC40171}"/>
              </a:ext>
            </a:extLst>
          </p:cNvPr>
          <p:cNvSpPr/>
          <p:nvPr/>
        </p:nvSpPr>
        <p:spPr>
          <a:xfrm>
            <a:off x="4878163" y="2075129"/>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D96E2004-444E-FE97-4794-2915FBCA0109}"/>
              </a:ext>
            </a:extLst>
          </p:cNvPr>
          <p:cNvSpPr/>
          <p:nvPr/>
        </p:nvSpPr>
        <p:spPr>
          <a:xfrm>
            <a:off x="6740173" y="2075129"/>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a:extLst>
              <a:ext uri="{FF2B5EF4-FFF2-40B4-BE49-F238E27FC236}">
                <a16:creationId xmlns:a16="http://schemas.microsoft.com/office/drawing/2014/main" id="{C266C8DB-EE66-41D1-5989-9BAEDA878B31}"/>
              </a:ext>
            </a:extLst>
          </p:cNvPr>
          <p:cNvSpPr/>
          <p:nvPr/>
        </p:nvSpPr>
        <p:spPr>
          <a:xfrm>
            <a:off x="8602183" y="2075129"/>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6F51C72-87E2-50C5-53D4-324D3DF4E23C}"/>
              </a:ext>
            </a:extLst>
          </p:cNvPr>
          <p:cNvSpPr txBox="1"/>
          <p:nvPr/>
        </p:nvSpPr>
        <p:spPr>
          <a:xfrm>
            <a:off x="5150892" y="2718649"/>
            <a:ext cx="1871338" cy="184666"/>
          </a:xfrm>
          <a:prstGeom prst="rect">
            <a:avLst/>
          </a:prstGeom>
          <a:noFill/>
        </p:spPr>
        <p:txBody>
          <a:bodyPr wrap="square" rtlCol="0">
            <a:spAutoFit/>
          </a:bodyPr>
          <a:lstStyle/>
          <a:p>
            <a:pPr marL="285750" indent="-285750">
              <a:buFontTx/>
              <a:buChar char="-"/>
            </a:pPr>
            <a:r>
              <a:rPr lang="en-US" sz="600" dirty="0"/>
              <a:t>Very deep Transformer Layer</a:t>
            </a:r>
          </a:p>
        </p:txBody>
      </p:sp>
      <p:sp>
        <p:nvSpPr>
          <p:cNvPr id="13" name="TextBox 12">
            <a:extLst>
              <a:ext uri="{FF2B5EF4-FFF2-40B4-BE49-F238E27FC236}">
                <a16:creationId xmlns:a16="http://schemas.microsoft.com/office/drawing/2014/main" id="{CAEB889B-14C9-1BB9-BE0D-0215CCEB7F15}"/>
              </a:ext>
            </a:extLst>
          </p:cNvPr>
          <p:cNvSpPr txBox="1"/>
          <p:nvPr/>
        </p:nvSpPr>
        <p:spPr>
          <a:xfrm>
            <a:off x="6925100" y="2718649"/>
            <a:ext cx="1871338" cy="200055"/>
          </a:xfrm>
          <a:prstGeom prst="rect">
            <a:avLst/>
          </a:prstGeom>
          <a:noFill/>
        </p:spPr>
        <p:txBody>
          <a:bodyPr wrap="square" rtlCol="0">
            <a:spAutoFit/>
          </a:bodyPr>
          <a:lstStyle/>
          <a:p>
            <a:pPr marL="285750" indent="-285750">
              <a:buFontTx/>
              <a:buChar char="-"/>
            </a:pPr>
            <a:r>
              <a:rPr lang="en-US" sz="700" dirty="0"/>
              <a:t>Multi beam SQL generator</a:t>
            </a:r>
          </a:p>
        </p:txBody>
      </p:sp>
      <p:sp>
        <p:nvSpPr>
          <p:cNvPr id="16" name="Title 1">
            <a:extLst>
              <a:ext uri="{FF2B5EF4-FFF2-40B4-BE49-F238E27FC236}">
                <a16:creationId xmlns:a16="http://schemas.microsoft.com/office/drawing/2014/main" id="{8992E5DC-DC9B-497A-2FAB-AD45F6BE1757}"/>
              </a:ext>
            </a:extLst>
          </p:cNvPr>
          <p:cNvSpPr txBox="1">
            <a:spLocks/>
          </p:cNvSpPr>
          <p:nvPr/>
        </p:nvSpPr>
        <p:spPr>
          <a:xfrm>
            <a:off x="1523999" y="104798"/>
            <a:ext cx="9598925" cy="118942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Model 4: </a:t>
            </a:r>
            <a:r>
              <a:rPr lang="en-IN" sz="4000" dirty="0" err="1"/>
              <a:t>GaussAlgo</a:t>
            </a:r>
            <a:r>
              <a:rPr lang="en-IN" sz="4000" dirty="0"/>
              <a:t>  </a:t>
            </a:r>
            <a:r>
              <a:rPr lang="en-IN" sz="1800" dirty="0"/>
              <a:t>(T5 Large -  Hugging Face SOTA Model)</a:t>
            </a:r>
            <a:endParaRPr lang="en-US" sz="4000" dirty="0"/>
          </a:p>
        </p:txBody>
      </p:sp>
      <p:grpSp>
        <p:nvGrpSpPr>
          <p:cNvPr id="14" name="Группа 8">
            <a:extLst>
              <a:ext uri="{FF2B5EF4-FFF2-40B4-BE49-F238E27FC236}">
                <a16:creationId xmlns:a16="http://schemas.microsoft.com/office/drawing/2014/main" id="{F5962889-E4E5-455F-922B-1465D3C5E501}"/>
              </a:ext>
            </a:extLst>
          </p:cNvPr>
          <p:cNvGrpSpPr/>
          <p:nvPr/>
        </p:nvGrpSpPr>
        <p:grpSpPr>
          <a:xfrm>
            <a:off x="505700" y="3220163"/>
            <a:ext cx="4682176" cy="3182964"/>
            <a:chOff x="0" y="1705550"/>
            <a:chExt cx="9365571" cy="6366755"/>
          </a:xfrm>
        </p:grpSpPr>
        <p:sp>
          <p:nvSpPr>
            <p:cNvPr id="15" name="Freeform 14">
              <a:extLst>
                <a:ext uri="{FF2B5EF4-FFF2-40B4-BE49-F238E27FC236}">
                  <a16:creationId xmlns:a16="http://schemas.microsoft.com/office/drawing/2014/main" id="{6FBA4CE0-F8F9-3B49-0519-5DCD35255E8F}"/>
                </a:ext>
              </a:extLst>
            </p:cNvPr>
            <p:cNvSpPr/>
            <p:nvPr/>
          </p:nvSpPr>
          <p:spPr>
            <a:xfrm flipH="1">
              <a:off x="0" y="1881023"/>
              <a:ext cx="9365571" cy="6191282"/>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17" name="Текст 2">
              <a:extLst>
                <a:ext uri="{FF2B5EF4-FFF2-40B4-BE49-F238E27FC236}">
                  <a16:creationId xmlns:a16="http://schemas.microsoft.com/office/drawing/2014/main" id="{54BA2D12-714D-6D98-7013-D206B6383AB0}"/>
                </a:ext>
              </a:extLst>
            </p:cNvPr>
            <p:cNvSpPr txBox="1">
              <a:spLocks/>
            </p:cNvSpPr>
            <p:nvPr/>
          </p:nvSpPr>
          <p:spPr>
            <a:xfrm flipH="1">
              <a:off x="451417" y="1705550"/>
              <a:ext cx="8168433" cy="3065422"/>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Motivation</a:t>
              </a:r>
            </a:p>
            <a:p>
              <a:pPr marL="285750" indent="-285750">
                <a:buFont typeface="Wingdings" pitchFamily="2" charset="2"/>
                <a:buChar char="Ø"/>
              </a:pPr>
              <a:r>
                <a:rPr lang="en-IN" sz="800" b="1" dirty="0" err="1"/>
                <a:t>GaussAlgo</a:t>
              </a:r>
              <a:r>
                <a:rPr lang="en-IN" sz="800" b="1" dirty="0"/>
                <a:t> T5-Large</a:t>
              </a:r>
              <a:r>
                <a:rPr lang="en-IN" sz="800" dirty="0"/>
                <a:t> is a </a:t>
              </a:r>
              <a:r>
                <a:rPr lang="en-IN" sz="800" b="1" dirty="0"/>
                <a:t>pretrained T5-Large model fine-tuned on Text-to-SQL tasks</a:t>
              </a:r>
              <a:r>
                <a:rPr lang="en-IN" sz="800" dirty="0"/>
                <a:t> by the </a:t>
              </a:r>
              <a:r>
                <a:rPr lang="en-IN" sz="800" dirty="0" err="1"/>
                <a:t>GaussAlgo</a:t>
              </a:r>
              <a:r>
                <a:rPr lang="en-IN" sz="800" dirty="0"/>
                <a:t> team and released on </a:t>
              </a:r>
              <a:r>
                <a:rPr lang="en-IN" sz="800" dirty="0" err="1"/>
                <a:t>HuggingFace</a:t>
              </a:r>
              <a:endParaRPr lang="en-IN" sz="800" dirty="0"/>
            </a:p>
            <a:p>
              <a:pPr marL="285750" indent="-285750">
                <a:buFont typeface="Wingdings" pitchFamily="2" charset="2"/>
                <a:buChar char="Ø"/>
              </a:pPr>
              <a:r>
                <a:rPr lang="en-IN" sz="800" dirty="0"/>
                <a:t>It is one of the strongest </a:t>
              </a:r>
              <a:r>
                <a:rPr lang="en-IN" sz="800" b="1" dirty="0"/>
                <a:t>ready-to-use SOTA Text2SQL models</a:t>
              </a:r>
              <a:r>
                <a:rPr lang="en-IN" sz="800" dirty="0"/>
                <a:t>, because:</a:t>
              </a:r>
            </a:p>
            <a:p>
              <a:pPr marL="285750" indent="-285750">
                <a:buFont typeface="Wingdings" pitchFamily="2" charset="2"/>
                <a:buChar char="Ø"/>
              </a:pPr>
              <a:r>
                <a:rPr lang="en-IN" sz="800" dirty="0"/>
                <a:t>It is based on </a:t>
              </a:r>
              <a:r>
                <a:rPr lang="en-IN" sz="800" b="1" dirty="0"/>
                <a:t>T5-Large</a:t>
              </a:r>
              <a:r>
                <a:rPr lang="en-IN" sz="800" dirty="0"/>
                <a:t> (770M parameters)</a:t>
              </a:r>
            </a:p>
            <a:p>
              <a:pPr marL="285750" indent="-285750">
                <a:buFont typeface="Wingdings" pitchFamily="2" charset="2"/>
                <a:buChar char="Ø"/>
              </a:pPr>
              <a:r>
                <a:rPr lang="en-IN" sz="800" dirty="0"/>
                <a:t>Fine-tuned on multiple Text-to-SQL datasets</a:t>
              </a:r>
            </a:p>
            <a:p>
              <a:pPr marL="285750" indent="-285750">
                <a:buFont typeface="Wingdings" pitchFamily="2" charset="2"/>
                <a:buChar char="Ø"/>
              </a:pPr>
              <a:r>
                <a:rPr lang="en-IN" sz="800" dirty="0"/>
                <a:t>Trained with </a:t>
              </a:r>
              <a:r>
                <a:rPr lang="en-IN" sz="800" b="1" dirty="0"/>
                <a:t>SQL-specific decoding constraints</a:t>
              </a:r>
            </a:p>
            <a:p>
              <a:pPr marL="285750" indent="-285750">
                <a:buFont typeface="Wingdings" pitchFamily="2" charset="2"/>
                <a:buChar char="Ø"/>
              </a:pPr>
              <a:r>
                <a:rPr lang="en-IN" sz="800" dirty="0"/>
                <a:t>Exposes an inference-only pipeline for </a:t>
              </a:r>
              <a:r>
                <a:rPr lang="en-IN" sz="800" dirty="0" err="1"/>
                <a:t>Text→SQL</a:t>
              </a:r>
              <a:r>
                <a:rPr lang="en-IN" sz="800" dirty="0"/>
                <a:t> translation</a:t>
              </a:r>
            </a:p>
            <a:p>
              <a:pPr marL="285750" indent="-285750">
                <a:buFont typeface="Wingdings" pitchFamily="2" charset="2"/>
                <a:buChar char="Ø"/>
              </a:pPr>
              <a:r>
                <a:rPr lang="en-IN" sz="800" dirty="0" err="1"/>
                <a:t>GaussAlgo</a:t>
              </a:r>
              <a:r>
                <a:rPr lang="en-IN" sz="800" dirty="0"/>
                <a:t> uses the </a:t>
              </a:r>
              <a:r>
                <a:rPr lang="en-IN" sz="800" b="1" dirty="0"/>
                <a:t>standard T5-Large architecture</a:t>
              </a:r>
              <a:r>
                <a:rPr lang="en-IN" sz="800" dirty="0"/>
                <a:t>:</a:t>
              </a:r>
            </a:p>
            <a:p>
              <a:pPr marL="285750" indent="-285750">
                <a:buFont typeface="Wingdings" pitchFamily="2" charset="2"/>
                <a:buChar char="Ø"/>
              </a:pPr>
              <a:r>
                <a:rPr lang="en-IN" sz="800" b="1" dirty="0"/>
                <a:t> Encoder</a:t>
              </a:r>
            </a:p>
            <a:p>
              <a:pPr marL="285750" indent="-285750">
                <a:buFont typeface="Wingdings" pitchFamily="2" charset="2"/>
                <a:buChar char="Ø"/>
              </a:pPr>
              <a:r>
                <a:rPr lang="en-IN" sz="800" b="1" dirty="0"/>
                <a:t>24 Transformer layers , </a:t>
              </a:r>
              <a:r>
                <a:rPr lang="en-IN" sz="800" dirty="0"/>
                <a:t>Hidden size: </a:t>
              </a:r>
              <a:r>
                <a:rPr lang="en-IN" sz="800" b="1" dirty="0"/>
                <a:t>1024 , </a:t>
              </a:r>
              <a:r>
                <a:rPr lang="en-IN" sz="800" dirty="0"/>
                <a:t>Attention heads: </a:t>
              </a:r>
              <a:r>
                <a:rPr lang="en-IN" sz="800" b="1" dirty="0"/>
                <a:t>16</a:t>
              </a:r>
              <a:endParaRPr lang="en-IN" sz="800" dirty="0"/>
            </a:p>
            <a:p>
              <a:pPr marL="285750" indent="-285750">
                <a:buFont typeface="Wingdings" pitchFamily="2" charset="2"/>
                <a:buChar char="Ø"/>
              </a:pPr>
              <a:r>
                <a:rPr lang="en-IN" sz="800" b="1" dirty="0"/>
                <a:t> Decoder</a:t>
              </a:r>
            </a:p>
            <a:p>
              <a:pPr marL="285750" indent="-285750">
                <a:buFont typeface="Wingdings" pitchFamily="2" charset="2"/>
                <a:buChar char="Ø"/>
              </a:pPr>
              <a:r>
                <a:rPr lang="en-IN" sz="800" b="1" dirty="0"/>
                <a:t>24 Transformer layers , </a:t>
              </a:r>
              <a:r>
                <a:rPr lang="en-IN" sz="800" dirty="0"/>
                <a:t>Auto-regressive SQL generator, Cross-attention with encoder states</a:t>
              </a:r>
            </a:p>
            <a:p>
              <a:pPr marL="285750" indent="-285750">
                <a:buFont typeface="Wingdings" pitchFamily="2" charset="2"/>
                <a:buChar char="Ø"/>
              </a:pPr>
              <a:r>
                <a:rPr lang="en-IN" sz="800" b="1" dirty="0"/>
                <a:t> Embeddings</a:t>
              </a:r>
            </a:p>
            <a:p>
              <a:pPr marL="285750" indent="-285750">
                <a:buFont typeface="Wingdings" pitchFamily="2" charset="2"/>
                <a:buChar char="Ø"/>
              </a:pPr>
              <a:r>
                <a:rPr lang="en-IN" sz="800" dirty="0"/>
                <a:t>T5-Large embeddings (1024-dimensional) , Pretrained on massive text corpus, Further refined during SQL fine-tuning</a:t>
              </a:r>
            </a:p>
            <a:p>
              <a:pPr marL="285750" indent="-285750">
                <a:buFont typeface="Wingdings" pitchFamily="2" charset="2"/>
                <a:buChar char="Ø"/>
              </a:pPr>
              <a:r>
                <a:rPr lang="en-IN" sz="800" b="1" dirty="0"/>
                <a:t>Tokenizer</a:t>
              </a:r>
            </a:p>
            <a:p>
              <a:pPr marL="285750" indent="-285750">
                <a:buFont typeface="Wingdings" pitchFamily="2" charset="2"/>
                <a:buChar char="Ø"/>
              </a:pPr>
              <a:r>
                <a:rPr lang="en-IN" sz="800" dirty="0" err="1"/>
                <a:t>SentencePiece</a:t>
              </a:r>
              <a:r>
                <a:rPr lang="en-IN" sz="800" dirty="0"/>
                <a:t> tokenizer (same family as your other T5 models), Handles SQL keywords well</a:t>
              </a:r>
            </a:p>
            <a:p>
              <a:pPr marL="285750" indent="-285750">
                <a:buFont typeface="Wingdings" pitchFamily="2" charset="2"/>
                <a:buChar char="Ø"/>
              </a:pPr>
              <a:endParaRPr lang="en-IN" sz="900" dirty="0"/>
            </a:p>
            <a:p>
              <a:pPr marL="285750" indent="-285750">
                <a:buFont typeface="Wingdings" pitchFamily="2" charset="2"/>
                <a:buChar char="Ø"/>
              </a:pPr>
              <a:endParaRPr lang="en-IN" sz="850" dirty="0"/>
            </a:p>
          </p:txBody>
        </p:sp>
      </p:grpSp>
      <p:grpSp>
        <p:nvGrpSpPr>
          <p:cNvPr id="18" name="Группа 8">
            <a:extLst>
              <a:ext uri="{FF2B5EF4-FFF2-40B4-BE49-F238E27FC236}">
                <a16:creationId xmlns:a16="http://schemas.microsoft.com/office/drawing/2014/main" id="{EA502685-2B96-ED01-1F59-6B1B8058022C}"/>
              </a:ext>
            </a:extLst>
          </p:cNvPr>
          <p:cNvGrpSpPr/>
          <p:nvPr/>
        </p:nvGrpSpPr>
        <p:grpSpPr>
          <a:xfrm>
            <a:off x="5639802" y="5030545"/>
            <a:ext cx="4682176" cy="1393894"/>
            <a:chOff x="0" y="1881025"/>
            <a:chExt cx="9365571" cy="2788150"/>
          </a:xfrm>
        </p:grpSpPr>
        <p:sp>
          <p:nvSpPr>
            <p:cNvPr id="19" name="Freeform 18">
              <a:extLst>
                <a:ext uri="{FF2B5EF4-FFF2-40B4-BE49-F238E27FC236}">
                  <a16:creationId xmlns:a16="http://schemas.microsoft.com/office/drawing/2014/main" id="{F82A5B47-474E-6D85-747B-D99B516974E5}"/>
                </a:ext>
              </a:extLst>
            </p:cNvPr>
            <p:cNvSpPr/>
            <p:nvPr/>
          </p:nvSpPr>
          <p:spPr>
            <a:xfrm flipH="1">
              <a:off x="0" y="1881025"/>
              <a:ext cx="9365571" cy="2788150"/>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0" name="Текст 2">
              <a:extLst>
                <a:ext uri="{FF2B5EF4-FFF2-40B4-BE49-F238E27FC236}">
                  <a16:creationId xmlns:a16="http://schemas.microsoft.com/office/drawing/2014/main" id="{E3E86AB1-DEF9-E491-AE6D-0B4EF69F8D79}"/>
                </a:ext>
              </a:extLst>
            </p:cNvPr>
            <p:cNvSpPr txBox="1">
              <a:spLocks/>
            </p:cNvSpPr>
            <p:nvPr/>
          </p:nvSpPr>
          <p:spPr>
            <a:xfrm flipH="1">
              <a:off x="451423" y="1889162"/>
              <a:ext cx="8168433" cy="2737383"/>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Why It failed</a:t>
              </a:r>
            </a:p>
            <a:p>
              <a:pPr marL="0" indent="0">
                <a:buNone/>
              </a:pPr>
              <a:r>
                <a:rPr lang="en-IN" sz="900" dirty="0" err="1"/>
                <a:t>GaussAlgo</a:t>
              </a:r>
              <a:r>
                <a:rPr lang="en-IN" sz="900" dirty="0"/>
                <a:t> is trained on general </a:t>
              </a:r>
              <a:r>
                <a:rPr lang="en-IN" sz="900" dirty="0" err="1"/>
                <a:t>Text→SQL</a:t>
              </a:r>
              <a:r>
                <a:rPr lang="en-IN" sz="900" dirty="0"/>
                <a:t> datasets, unseen schema generalization , PK–FK reasoning and complex join mappings</a:t>
              </a:r>
            </a:p>
            <a:p>
              <a:pPr marL="0" indent="0">
                <a:buNone/>
              </a:pPr>
              <a:endParaRPr lang="en-IN" sz="900" dirty="0"/>
            </a:p>
          </p:txBody>
        </p:sp>
      </p:grpSp>
      <p:grpSp>
        <p:nvGrpSpPr>
          <p:cNvPr id="21" name="Группа 8">
            <a:extLst>
              <a:ext uri="{FF2B5EF4-FFF2-40B4-BE49-F238E27FC236}">
                <a16:creationId xmlns:a16="http://schemas.microsoft.com/office/drawing/2014/main" id="{3BB287C6-38C8-8659-AA23-5AFD709C8AC7}"/>
              </a:ext>
            </a:extLst>
          </p:cNvPr>
          <p:cNvGrpSpPr/>
          <p:nvPr/>
        </p:nvGrpSpPr>
        <p:grpSpPr>
          <a:xfrm>
            <a:off x="5639802" y="3307887"/>
            <a:ext cx="4682176" cy="1484031"/>
            <a:chOff x="0" y="1881023"/>
            <a:chExt cx="9365571" cy="2968447"/>
          </a:xfrm>
        </p:grpSpPr>
        <p:sp>
          <p:nvSpPr>
            <p:cNvPr id="22" name="Freeform 21">
              <a:extLst>
                <a:ext uri="{FF2B5EF4-FFF2-40B4-BE49-F238E27FC236}">
                  <a16:creationId xmlns:a16="http://schemas.microsoft.com/office/drawing/2014/main" id="{F37EA4F3-6D97-021A-9F7E-106CF0F3D1FA}"/>
                </a:ext>
              </a:extLst>
            </p:cNvPr>
            <p:cNvSpPr/>
            <p:nvPr/>
          </p:nvSpPr>
          <p:spPr>
            <a:xfrm flipH="1">
              <a:off x="0" y="1881023"/>
              <a:ext cx="9365571" cy="2968447"/>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3" name="Текст 2">
              <a:extLst>
                <a:ext uri="{FF2B5EF4-FFF2-40B4-BE49-F238E27FC236}">
                  <a16:creationId xmlns:a16="http://schemas.microsoft.com/office/drawing/2014/main" id="{F7FD3B4E-DBBC-7EF4-F49C-09612CE6462F}"/>
                </a:ext>
              </a:extLst>
            </p:cNvPr>
            <p:cNvSpPr txBox="1">
              <a:spLocks/>
            </p:cNvSpPr>
            <p:nvPr/>
          </p:nvSpPr>
          <p:spPr>
            <a:xfrm flipH="1">
              <a:off x="451421" y="1889162"/>
              <a:ext cx="8168433" cy="2780013"/>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Process</a:t>
              </a:r>
            </a:p>
            <a:p>
              <a:pPr marL="171450" indent="-171450">
                <a:buFont typeface="Wingdings" pitchFamily="2" charset="2"/>
                <a:buChar char="Ø"/>
              </a:pPr>
              <a:r>
                <a:rPr lang="en-IN" sz="900" dirty="0"/>
                <a:t>Load model from </a:t>
              </a:r>
              <a:r>
                <a:rPr lang="en-IN" sz="900" dirty="0" err="1"/>
                <a:t>HuggingFace</a:t>
              </a:r>
              <a:r>
                <a:rPr lang="en-IN" sz="900" dirty="0"/>
                <a:t> (</a:t>
              </a:r>
              <a:r>
                <a:rPr lang="en-IN" sz="900" b="1" dirty="0" err="1"/>
                <a:t>gausalgo</a:t>
              </a:r>
              <a:r>
                <a:rPr lang="en-IN" sz="900" b="1" dirty="0"/>
                <a:t>/t5-large-text2sql</a:t>
              </a:r>
              <a:r>
                <a:rPr lang="en-IN" sz="900" dirty="0"/>
                <a:t>)</a:t>
              </a:r>
            </a:p>
            <a:p>
              <a:pPr marL="171450" indent="-171450">
                <a:buFont typeface="Wingdings" pitchFamily="2" charset="2"/>
                <a:buChar char="Ø"/>
              </a:pPr>
              <a:r>
                <a:rPr lang="en-IN" sz="900" dirty="0"/>
                <a:t>Provide Natural Language Input</a:t>
              </a:r>
            </a:p>
            <a:p>
              <a:pPr marL="171450" indent="-171450">
                <a:buFont typeface="Wingdings" pitchFamily="2" charset="2"/>
                <a:buChar char="Ø"/>
              </a:pPr>
              <a:r>
                <a:rPr lang="en-IN" sz="900" dirty="0"/>
                <a:t>Tokenization</a:t>
              </a:r>
            </a:p>
            <a:p>
              <a:pPr marL="171450" indent="-171450">
                <a:buFont typeface="Wingdings" pitchFamily="2" charset="2"/>
                <a:buChar char="Ø"/>
              </a:pPr>
              <a:r>
                <a:rPr lang="en-IN" sz="900" dirty="0"/>
                <a:t>Inference</a:t>
              </a:r>
            </a:p>
          </p:txBody>
        </p:sp>
      </p:grpSp>
      <p:pic>
        <p:nvPicPr>
          <p:cNvPr id="24" name="Graphic 23">
            <a:extLst>
              <a:ext uri="{FF2B5EF4-FFF2-40B4-BE49-F238E27FC236}">
                <a16:creationId xmlns:a16="http://schemas.microsoft.com/office/drawing/2014/main" id="{86FD1DDF-97D0-7047-8495-6D213D5FE0F3}"/>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10273980" y="0"/>
            <a:ext cx="289387" cy="349581"/>
          </a:xfrm>
          <a:prstGeom prst="rect">
            <a:avLst/>
          </a:prstGeom>
        </p:spPr>
      </p:pic>
      <p:sp>
        <p:nvSpPr>
          <p:cNvPr id="25" name="TextBox 24">
            <a:extLst>
              <a:ext uri="{FF2B5EF4-FFF2-40B4-BE49-F238E27FC236}">
                <a16:creationId xmlns:a16="http://schemas.microsoft.com/office/drawing/2014/main" id="{5E55ADD8-6686-054F-6124-7C6620B96D84}"/>
              </a:ext>
            </a:extLst>
          </p:cNvPr>
          <p:cNvSpPr txBox="1"/>
          <p:nvPr/>
        </p:nvSpPr>
        <p:spPr>
          <a:xfrm>
            <a:off x="10563367" y="0"/>
            <a:ext cx="1091821" cy="382137"/>
          </a:xfrm>
          <a:prstGeom prst="rect">
            <a:avLst/>
          </a:prstGeom>
          <a:noFill/>
        </p:spPr>
        <p:txBody>
          <a:bodyPr wrap="square" rtlCol="0">
            <a:spAutoFit/>
          </a:bodyPr>
          <a:lstStyle/>
          <a:p>
            <a:r>
              <a:rPr lang="en-US" dirty="0"/>
              <a:t>Sai</a:t>
            </a:r>
          </a:p>
        </p:txBody>
      </p:sp>
    </p:spTree>
    <p:extLst>
      <p:ext uri="{BB962C8B-B14F-4D97-AF65-F5344CB8AC3E}">
        <p14:creationId xmlns:p14="http://schemas.microsoft.com/office/powerpoint/2010/main" val="2531552489"/>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50000">
                                      <p:stCondLst>
                                        <p:cond delay="100"/>
                                      </p:stCondLst>
                                      <p:childTnLst>
                                        <p:set>
                                          <p:cBhvr>
                                            <p:cTn id="6" dur="1" fill="hold">
                                              <p:stCondLst>
                                                <p:cond delay="0"/>
                                              </p:stCondLst>
                                            </p:cTn>
                                            <p:tgtEl>
                                              <p:spTgt spid="14"/>
                                            </p:tgtEl>
                                            <p:attrNameLst>
                                              <p:attrName>style.visibility</p:attrName>
                                            </p:attrNameLst>
                                          </p:cBhvr>
                                          <p:to>
                                            <p:strVal val="visible"/>
                                          </p:to>
                                        </p:set>
                                        <p:anim calcmode="lin" valueType="num" p14:bounceEnd="50000">
                                          <p:cBhvr additive="base">
                                            <p:cTn id="7" dur="500" fill="hold"/>
                                            <p:tgtEl>
                                              <p:spTgt spid="14"/>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50000">
                                      <p:stCondLst>
                                        <p:cond delay="100"/>
                                      </p:stCondLst>
                                      <p:childTnLst>
                                        <p:set>
                                          <p:cBhvr>
                                            <p:cTn id="10" dur="1" fill="hold">
                                              <p:stCondLst>
                                                <p:cond delay="0"/>
                                              </p:stCondLst>
                                            </p:cTn>
                                            <p:tgtEl>
                                              <p:spTgt spid="18"/>
                                            </p:tgtEl>
                                            <p:attrNameLst>
                                              <p:attrName>style.visibility</p:attrName>
                                            </p:attrNameLst>
                                          </p:cBhvr>
                                          <p:to>
                                            <p:strVal val="visible"/>
                                          </p:to>
                                        </p:set>
                                        <p:anim calcmode="lin" valueType="num" p14:bounceEnd="50000">
                                          <p:cBhvr additive="base">
                                            <p:cTn id="11" dur="500" fill="hold"/>
                                            <p:tgtEl>
                                              <p:spTgt spid="18"/>
                                            </p:tgtEl>
                                            <p:attrNameLst>
                                              <p:attrName>ppt_x</p:attrName>
                                            </p:attrNameLst>
                                          </p:cBhvr>
                                          <p:tavLst>
                                            <p:tav tm="0">
                                              <p:val>
                                                <p:strVal val="0-#ppt_w/2"/>
                                              </p:val>
                                            </p:tav>
                                            <p:tav tm="100000">
                                              <p:val>
                                                <p:strVal val="#ppt_x"/>
                                              </p:val>
                                            </p:tav>
                                          </p:tavLst>
                                        </p:anim>
                                        <p:anim calcmode="lin" valueType="num" p14:bounceEnd="50000">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50000">
                                      <p:stCondLst>
                                        <p:cond delay="100"/>
                                      </p:stCondLst>
                                      <p:childTnLst>
                                        <p:set>
                                          <p:cBhvr>
                                            <p:cTn id="14" dur="1" fill="hold">
                                              <p:stCondLst>
                                                <p:cond delay="0"/>
                                              </p:stCondLst>
                                            </p:cTn>
                                            <p:tgtEl>
                                              <p:spTgt spid="21"/>
                                            </p:tgtEl>
                                            <p:attrNameLst>
                                              <p:attrName>style.visibility</p:attrName>
                                            </p:attrNameLst>
                                          </p:cBhvr>
                                          <p:to>
                                            <p:strVal val="visible"/>
                                          </p:to>
                                        </p:set>
                                        <p:anim calcmode="lin" valueType="num" p14:bounceEnd="50000">
                                          <p:cBhvr additive="base">
                                            <p:cTn id="15" dur="500" fill="hold"/>
                                            <p:tgtEl>
                                              <p:spTgt spid="21"/>
                                            </p:tgtEl>
                                            <p:attrNameLst>
                                              <p:attrName>ppt_x</p:attrName>
                                            </p:attrNameLst>
                                          </p:cBhvr>
                                          <p:tavLst>
                                            <p:tav tm="0">
                                              <p:val>
                                                <p:strVal val="0-#ppt_w/2"/>
                                              </p:val>
                                            </p:tav>
                                            <p:tav tm="100000">
                                              <p:val>
                                                <p:strVal val="#ppt_x"/>
                                              </p:val>
                                            </p:tav>
                                          </p:tavLst>
                                        </p:anim>
                                        <p:anim calcmode="lin" valueType="num" p14:bounceEnd="50000">
                                          <p:cBhvr additive="base">
                                            <p:cTn id="16"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10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1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0-#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1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0FC88-16AE-EEBF-8B32-4A4BB70585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CBEAD-B6B9-5F18-6F43-7C89A5D64FA1}"/>
              </a:ext>
            </a:extLst>
          </p:cNvPr>
          <p:cNvSpPr>
            <a:spLocks noGrp="1"/>
          </p:cNvSpPr>
          <p:nvPr>
            <p:ph type="ctrTitle"/>
          </p:nvPr>
        </p:nvSpPr>
        <p:spPr>
          <a:xfrm>
            <a:off x="1524000" y="104798"/>
            <a:ext cx="9144000" cy="1189429"/>
          </a:xfrm>
        </p:spPr>
        <p:txBody>
          <a:bodyPr>
            <a:normAutofit/>
          </a:bodyPr>
          <a:lstStyle/>
          <a:p>
            <a:r>
              <a:rPr lang="en-US" dirty="0"/>
              <a:t>Evaluation Metrics - </a:t>
            </a:r>
            <a:r>
              <a:rPr lang="en-US" sz="4400" dirty="0"/>
              <a:t>Outcomes</a:t>
            </a:r>
          </a:p>
        </p:txBody>
      </p:sp>
      <p:pic>
        <p:nvPicPr>
          <p:cNvPr id="19" name="Picture 18" descr="A screenshot of a computer&#10;&#10;AI-generated content may be incorrect.">
            <a:extLst>
              <a:ext uri="{FF2B5EF4-FFF2-40B4-BE49-F238E27FC236}">
                <a16:creationId xmlns:a16="http://schemas.microsoft.com/office/drawing/2014/main" id="{D2E386E7-1B1C-5169-293E-310AF2524C64}"/>
              </a:ext>
            </a:extLst>
          </p:cNvPr>
          <p:cNvPicPr>
            <a:picLocks noChangeAspect="1"/>
          </p:cNvPicPr>
          <p:nvPr/>
        </p:nvPicPr>
        <p:blipFill>
          <a:blip r:embed="rId2"/>
          <a:stretch>
            <a:fillRect/>
          </a:stretch>
        </p:blipFill>
        <p:spPr>
          <a:xfrm>
            <a:off x="6505132" y="2463271"/>
            <a:ext cx="5393643" cy="2722188"/>
          </a:xfrm>
          <a:prstGeom prst="rect">
            <a:avLst/>
          </a:prstGeom>
        </p:spPr>
      </p:pic>
      <p:sp>
        <p:nvSpPr>
          <p:cNvPr id="20" name="Rectangle 19">
            <a:extLst>
              <a:ext uri="{FF2B5EF4-FFF2-40B4-BE49-F238E27FC236}">
                <a16:creationId xmlns:a16="http://schemas.microsoft.com/office/drawing/2014/main" id="{6BF1D6DA-C5FA-BD82-8244-D321D55B34C0}"/>
              </a:ext>
            </a:extLst>
          </p:cNvPr>
          <p:cNvSpPr/>
          <p:nvPr/>
        </p:nvSpPr>
        <p:spPr>
          <a:xfrm>
            <a:off x="7675949" y="2135725"/>
            <a:ext cx="2729692" cy="327546"/>
          </a:xfrm>
          <a:prstGeom prst="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Evaluation on 100 test data</a:t>
            </a:r>
          </a:p>
        </p:txBody>
      </p:sp>
      <p:pic>
        <p:nvPicPr>
          <p:cNvPr id="22" name="Picture 21" descr="A screenshot of a computer program&#10;&#10;AI-generated content may be incorrect.">
            <a:extLst>
              <a:ext uri="{FF2B5EF4-FFF2-40B4-BE49-F238E27FC236}">
                <a16:creationId xmlns:a16="http://schemas.microsoft.com/office/drawing/2014/main" id="{A80C6EC7-99EC-87FA-6718-C25CDA5636AB}"/>
              </a:ext>
            </a:extLst>
          </p:cNvPr>
          <p:cNvPicPr>
            <a:picLocks noChangeAspect="1"/>
          </p:cNvPicPr>
          <p:nvPr/>
        </p:nvPicPr>
        <p:blipFill>
          <a:blip r:embed="rId3"/>
          <a:stretch>
            <a:fillRect/>
          </a:stretch>
        </p:blipFill>
        <p:spPr>
          <a:xfrm>
            <a:off x="112692" y="2463271"/>
            <a:ext cx="5574177" cy="2722188"/>
          </a:xfrm>
          <a:prstGeom prst="rect">
            <a:avLst/>
          </a:prstGeom>
        </p:spPr>
      </p:pic>
      <p:sp>
        <p:nvSpPr>
          <p:cNvPr id="23" name="Rectangle 22">
            <a:extLst>
              <a:ext uri="{FF2B5EF4-FFF2-40B4-BE49-F238E27FC236}">
                <a16:creationId xmlns:a16="http://schemas.microsoft.com/office/drawing/2014/main" id="{C3A0A7F9-24F8-F148-4752-E8DF78F7E9D2}"/>
              </a:ext>
            </a:extLst>
          </p:cNvPr>
          <p:cNvSpPr/>
          <p:nvPr/>
        </p:nvSpPr>
        <p:spPr>
          <a:xfrm>
            <a:off x="1080309" y="2135725"/>
            <a:ext cx="2729692" cy="327546"/>
          </a:xfrm>
          <a:prstGeom prst="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One Sample output</a:t>
            </a:r>
          </a:p>
        </p:txBody>
      </p:sp>
      <p:pic>
        <p:nvPicPr>
          <p:cNvPr id="3" name="Graphic 2">
            <a:extLst>
              <a:ext uri="{FF2B5EF4-FFF2-40B4-BE49-F238E27FC236}">
                <a16:creationId xmlns:a16="http://schemas.microsoft.com/office/drawing/2014/main" id="{3C8BA267-CA9E-5D9B-64EE-BE73B5B1BD4B}"/>
              </a:ext>
            </a:extLst>
          </p:cNvPr>
          <p:cNvPicPr>
            <a:picLocks noChangeAspect="1"/>
          </p:cNvPicPr>
          <p:nvPr/>
        </p:nvPicPr>
        <p:blipFill>
          <a:blip r:embed="rId4">
            <a:extLst>
              <a:ext uri="{96DAC541-7B7A-43D3-8B79-37D633B846F1}">
                <asvg:svgBlip xmlns:asvg="http://schemas.microsoft.com/office/drawing/2016/SVG/main" r:embed="rId5"/>
              </a:ext>
              <a:ext uri="{837473B0-CC2E-450A-ABE3-18F120FF3D39}">
                <a1611:picAttrSrcUrl xmlns:a1611="http://schemas.microsoft.com/office/drawing/2016/11/main" r:id="rId6"/>
              </a:ext>
            </a:extLst>
          </a:blip>
          <a:stretch>
            <a:fillRect/>
          </a:stretch>
        </p:blipFill>
        <p:spPr>
          <a:xfrm>
            <a:off x="10273980" y="0"/>
            <a:ext cx="289387" cy="349581"/>
          </a:xfrm>
          <a:prstGeom prst="rect">
            <a:avLst/>
          </a:prstGeom>
        </p:spPr>
      </p:pic>
      <p:sp>
        <p:nvSpPr>
          <p:cNvPr id="4" name="TextBox 3">
            <a:extLst>
              <a:ext uri="{FF2B5EF4-FFF2-40B4-BE49-F238E27FC236}">
                <a16:creationId xmlns:a16="http://schemas.microsoft.com/office/drawing/2014/main" id="{818784F9-6452-3683-865D-8FC45276890F}"/>
              </a:ext>
            </a:extLst>
          </p:cNvPr>
          <p:cNvSpPr txBox="1"/>
          <p:nvPr/>
        </p:nvSpPr>
        <p:spPr>
          <a:xfrm>
            <a:off x="10563367" y="0"/>
            <a:ext cx="1091821" cy="382137"/>
          </a:xfrm>
          <a:prstGeom prst="rect">
            <a:avLst/>
          </a:prstGeom>
          <a:noFill/>
        </p:spPr>
        <p:txBody>
          <a:bodyPr wrap="square" rtlCol="0">
            <a:spAutoFit/>
          </a:bodyPr>
          <a:lstStyle/>
          <a:p>
            <a:r>
              <a:rPr lang="en-US" dirty="0"/>
              <a:t>Sai</a:t>
            </a:r>
          </a:p>
        </p:txBody>
      </p:sp>
    </p:spTree>
    <p:extLst>
      <p:ext uri="{BB962C8B-B14F-4D97-AF65-F5344CB8AC3E}">
        <p14:creationId xmlns:p14="http://schemas.microsoft.com/office/powerpoint/2010/main" val="199026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B85F7-09D9-ED87-A51D-25E813498E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F836F8-D0C7-9A54-EBB4-BAC2CDAE59A2}"/>
              </a:ext>
            </a:extLst>
          </p:cNvPr>
          <p:cNvSpPr>
            <a:spLocks noGrp="1"/>
          </p:cNvSpPr>
          <p:nvPr>
            <p:ph type="ctrTitle"/>
          </p:nvPr>
        </p:nvSpPr>
        <p:spPr>
          <a:xfrm>
            <a:off x="1524000" y="104798"/>
            <a:ext cx="9144000" cy="1189429"/>
          </a:xfrm>
        </p:spPr>
        <p:txBody>
          <a:bodyPr>
            <a:normAutofit/>
          </a:bodyPr>
          <a:lstStyle/>
          <a:p>
            <a:r>
              <a:rPr lang="en-US" dirty="0"/>
              <a:t>Evaluation Metrics - </a:t>
            </a:r>
            <a:r>
              <a:rPr lang="en-US" sz="4400" dirty="0"/>
              <a:t>Outcomes</a:t>
            </a:r>
          </a:p>
        </p:txBody>
      </p:sp>
      <p:sp>
        <p:nvSpPr>
          <p:cNvPr id="5" name="Rounded Rectangle 4">
            <a:extLst>
              <a:ext uri="{FF2B5EF4-FFF2-40B4-BE49-F238E27FC236}">
                <a16:creationId xmlns:a16="http://schemas.microsoft.com/office/drawing/2014/main" id="{5C67A6AF-393C-3DEB-7DF7-1930EFBA7FD4}"/>
              </a:ext>
            </a:extLst>
          </p:cNvPr>
          <p:cNvSpPr/>
          <p:nvPr/>
        </p:nvSpPr>
        <p:spPr>
          <a:xfrm>
            <a:off x="479173" y="1581409"/>
            <a:ext cx="3144303" cy="201986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ed Rectangle 5">
            <a:extLst>
              <a:ext uri="{FF2B5EF4-FFF2-40B4-BE49-F238E27FC236}">
                <a16:creationId xmlns:a16="http://schemas.microsoft.com/office/drawing/2014/main" id="{0A51168E-23A0-2E8B-C2D0-1DF7D68325EE}"/>
              </a:ext>
            </a:extLst>
          </p:cNvPr>
          <p:cNvSpPr/>
          <p:nvPr/>
        </p:nvSpPr>
        <p:spPr>
          <a:xfrm>
            <a:off x="4439299" y="1581409"/>
            <a:ext cx="3142800" cy="201986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ounded Rectangle 6">
            <a:extLst>
              <a:ext uri="{FF2B5EF4-FFF2-40B4-BE49-F238E27FC236}">
                <a16:creationId xmlns:a16="http://schemas.microsoft.com/office/drawing/2014/main" id="{4EEAA935-67AE-9310-D9E5-F05550E506F3}"/>
              </a:ext>
            </a:extLst>
          </p:cNvPr>
          <p:cNvSpPr/>
          <p:nvPr/>
        </p:nvSpPr>
        <p:spPr>
          <a:xfrm>
            <a:off x="8303890" y="1581409"/>
            <a:ext cx="3142800" cy="201986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ounded Rectangle 7">
            <a:extLst>
              <a:ext uri="{FF2B5EF4-FFF2-40B4-BE49-F238E27FC236}">
                <a16:creationId xmlns:a16="http://schemas.microsoft.com/office/drawing/2014/main" id="{09C5C386-C6E0-56EF-095D-43E3BB8501E1}"/>
              </a:ext>
            </a:extLst>
          </p:cNvPr>
          <p:cNvSpPr/>
          <p:nvPr/>
        </p:nvSpPr>
        <p:spPr>
          <a:xfrm>
            <a:off x="4362636" y="4266657"/>
            <a:ext cx="3142800" cy="2019868"/>
          </a:xfrm>
          <a:prstGeom prst="roundRect">
            <a:avLst/>
          </a:prstGeom>
          <a:solidFill>
            <a:srgbClr val="92D050"/>
          </a:solidFill>
          <a:effectLst>
            <a:outerShdw blurRad="50800" dist="38100" dir="5400000" algn="t" rotWithShape="0">
              <a:prstClr val="black">
                <a:alpha val="40000"/>
              </a:prstClr>
            </a:outerShdw>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E339867-1F38-5AF3-2116-A76577FC69EC}"/>
              </a:ext>
            </a:extLst>
          </p:cNvPr>
          <p:cNvSpPr/>
          <p:nvPr/>
        </p:nvSpPr>
        <p:spPr>
          <a:xfrm>
            <a:off x="968108" y="1417636"/>
            <a:ext cx="2224585" cy="3275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SQLNet (LSTM Baseline)</a:t>
            </a:r>
            <a:endParaRPr lang="en-IN" dirty="0"/>
          </a:p>
        </p:txBody>
      </p:sp>
      <p:sp>
        <p:nvSpPr>
          <p:cNvPr id="10" name="Rectangle 9">
            <a:extLst>
              <a:ext uri="{FF2B5EF4-FFF2-40B4-BE49-F238E27FC236}">
                <a16:creationId xmlns:a16="http://schemas.microsoft.com/office/drawing/2014/main" id="{3B8151F9-AB43-7DDF-AC55-9B464F79FA42}"/>
              </a:ext>
            </a:extLst>
          </p:cNvPr>
          <p:cNvSpPr/>
          <p:nvPr/>
        </p:nvSpPr>
        <p:spPr>
          <a:xfrm>
            <a:off x="4896606" y="1417636"/>
            <a:ext cx="2224585" cy="3275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T5 Fine-Tuned (Spider)</a:t>
            </a:r>
          </a:p>
        </p:txBody>
      </p:sp>
      <p:sp>
        <p:nvSpPr>
          <p:cNvPr id="11" name="Rectangle 10">
            <a:extLst>
              <a:ext uri="{FF2B5EF4-FFF2-40B4-BE49-F238E27FC236}">
                <a16:creationId xmlns:a16="http://schemas.microsoft.com/office/drawing/2014/main" id="{3DE43523-BF37-DB6D-C5D7-AFD38A5512F0}"/>
              </a:ext>
            </a:extLst>
          </p:cNvPr>
          <p:cNvSpPr/>
          <p:nvPr/>
        </p:nvSpPr>
        <p:spPr>
          <a:xfrm>
            <a:off x="8761197" y="1417636"/>
            <a:ext cx="2224585" cy="3275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err="1"/>
              <a:t>GaussAlgo</a:t>
            </a:r>
            <a:r>
              <a:rPr lang="en-IN" sz="1400" dirty="0"/>
              <a:t> T5-Large</a:t>
            </a:r>
          </a:p>
        </p:txBody>
      </p:sp>
      <p:sp>
        <p:nvSpPr>
          <p:cNvPr id="12" name="Rectangle 11">
            <a:extLst>
              <a:ext uri="{FF2B5EF4-FFF2-40B4-BE49-F238E27FC236}">
                <a16:creationId xmlns:a16="http://schemas.microsoft.com/office/drawing/2014/main" id="{1E2F705A-E5EF-553D-97A9-D563AF11E6EA}"/>
              </a:ext>
            </a:extLst>
          </p:cNvPr>
          <p:cNvSpPr/>
          <p:nvPr/>
        </p:nvSpPr>
        <p:spPr>
          <a:xfrm>
            <a:off x="4805427" y="4102884"/>
            <a:ext cx="2224585" cy="327546"/>
          </a:xfrm>
          <a:prstGeom prst="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RAT-SQL-T5-Lite</a:t>
            </a:r>
          </a:p>
        </p:txBody>
      </p:sp>
      <p:sp>
        <p:nvSpPr>
          <p:cNvPr id="15" name="TextBox 14">
            <a:extLst>
              <a:ext uri="{FF2B5EF4-FFF2-40B4-BE49-F238E27FC236}">
                <a16:creationId xmlns:a16="http://schemas.microsoft.com/office/drawing/2014/main" id="{7BB5F411-7FF2-DF38-EA5C-ADA3F0CBD3D8}"/>
              </a:ext>
            </a:extLst>
          </p:cNvPr>
          <p:cNvSpPr txBox="1"/>
          <p:nvPr/>
        </p:nvSpPr>
        <p:spPr>
          <a:xfrm>
            <a:off x="571519" y="1945012"/>
            <a:ext cx="2910163" cy="1107996"/>
          </a:xfrm>
          <a:prstGeom prst="rect">
            <a:avLst/>
          </a:prstGeom>
          <a:noFill/>
        </p:spPr>
        <p:txBody>
          <a:bodyPr wrap="square" rtlCol="0">
            <a:spAutoFit/>
          </a:bodyPr>
          <a:lstStyle/>
          <a:p>
            <a:pPr marL="171450" indent="-171450">
              <a:buFont typeface="Wingdings" pitchFamily="2" charset="2"/>
              <a:buChar char="v"/>
            </a:pPr>
            <a:r>
              <a:rPr lang="en-IN" sz="1200" dirty="0"/>
              <a:t>Exact Match Accuracy 	: 0.0100 (0%)</a:t>
            </a:r>
          </a:p>
          <a:p>
            <a:pPr marL="171450" indent="-171450">
              <a:buFont typeface="Wingdings" pitchFamily="2" charset="2"/>
              <a:buChar char="v"/>
            </a:pPr>
            <a:r>
              <a:rPr lang="en-IN" sz="1200" dirty="0"/>
              <a:t>Execution Accuracy 	: 0.0100 (0%)</a:t>
            </a:r>
          </a:p>
          <a:p>
            <a:pPr marL="171450" indent="-171450">
              <a:buFont typeface="Wingdings" pitchFamily="2" charset="2"/>
              <a:buChar char="v"/>
            </a:pPr>
            <a:r>
              <a:rPr lang="en-IN" sz="1200" dirty="0"/>
              <a:t>Test-Suite Accuracy 	: 0.0200 (0%)</a:t>
            </a:r>
          </a:p>
          <a:p>
            <a:pPr marL="171450" indent="-171450">
              <a:buFont typeface="Wingdings" pitchFamily="2" charset="2"/>
              <a:buChar char="v"/>
            </a:pPr>
            <a:r>
              <a:rPr lang="en-IN" sz="1200" dirty="0"/>
              <a:t>Valid Efficiency Score 	: 0.0010 (0%)</a:t>
            </a:r>
          </a:p>
          <a:p>
            <a:endParaRPr lang="en-US" dirty="0"/>
          </a:p>
        </p:txBody>
      </p:sp>
      <p:sp>
        <p:nvSpPr>
          <p:cNvPr id="16" name="TextBox 15">
            <a:extLst>
              <a:ext uri="{FF2B5EF4-FFF2-40B4-BE49-F238E27FC236}">
                <a16:creationId xmlns:a16="http://schemas.microsoft.com/office/drawing/2014/main" id="{46F26505-D231-C893-1766-1CABC8422239}"/>
              </a:ext>
            </a:extLst>
          </p:cNvPr>
          <p:cNvSpPr txBox="1"/>
          <p:nvPr/>
        </p:nvSpPr>
        <p:spPr>
          <a:xfrm>
            <a:off x="4589422" y="1945012"/>
            <a:ext cx="2992677" cy="1107996"/>
          </a:xfrm>
          <a:prstGeom prst="rect">
            <a:avLst/>
          </a:prstGeom>
          <a:noFill/>
        </p:spPr>
        <p:txBody>
          <a:bodyPr wrap="square" rtlCol="0">
            <a:spAutoFit/>
          </a:bodyPr>
          <a:lstStyle/>
          <a:p>
            <a:pPr marL="171450" indent="-171450">
              <a:buFont typeface="Wingdings" pitchFamily="2" charset="2"/>
              <a:buChar char="v"/>
            </a:pPr>
            <a:r>
              <a:rPr lang="en-IN" sz="1200" dirty="0"/>
              <a:t>Exact Match Accuracy 	: 0.2400 (24%)</a:t>
            </a:r>
          </a:p>
          <a:p>
            <a:pPr marL="171450" indent="-171450">
              <a:buFont typeface="Wingdings" pitchFamily="2" charset="2"/>
              <a:buChar char="v"/>
            </a:pPr>
            <a:r>
              <a:rPr lang="en-IN" sz="1200" dirty="0"/>
              <a:t>Execution Accuracy 	: 0.3750 (38%)</a:t>
            </a:r>
          </a:p>
          <a:p>
            <a:pPr marL="171450" indent="-171450">
              <a:buFont typeface="Wingdings" pitchFamily="2" charset="2"/>
              <a:buChar char="v"/>
            </a:pPr>
            <a:r>
              <a:rPr lang="en-IN" sz="1200" dirty="0"/>
              <a:t>Test-Suite Accuracy 	: 0.3750 (38%)</a:t>
            </a:r>
          </a:p>
          <a:p>
            <a:pPr marL="171450" indent="-171450">
              <a:buFont typeface="Wingdings" pitchFamily="2" charset="2"/>
              <a:buChar char="v"/>
            </a:pPr>
            <a:r>
              <a:rPr lang="en-IN" sz="1200" dirty="0"/>
              <a:t>Valid Efficiency Score 	: 0.0313 (3%)</a:t>
            </a:r>
          </a:p>
          <a:p>
            <a:endParaRPr lang="en-US" dirty="0"/>
          </a:p>
        </p:txBody>
      </p:sp>
      <p:sp>
        <p:nvSpPr>
          <p:cNvPr id="17" name="TextBox 16">
            <a:extLst>
              <a:ext uri="{FF2B5EF4-FFF2-40B4-BE49-F238E27FC236}">
                <a16:creationId xmlns:a16="http://schemas.microsoft.com/office/drawing/2014/main" id="{509172C3-42C1-20B8-EA84-B31FA67D0D24}"/>
              </a:ext>
            </a:extLst>
          </p:cNvPr>
          <p:cNvSpPr txBox="1"/>
          <p:nvPr/>
        </p:nvSpPr>
        <p:spPr>
          <a:xfrm>
            <a:off x="8399424" y="1945012"/>
            <a:ext cx="2923222" cy="1107996"/>
          </a:xfrm>
          <a:prstGeom prst="rect">
            <a:avLst/>
          </a:prstGeom>
          <a:noFill/>
        </p:spPr>
        <p:txBody>
          <a:bodyPr wrap="square" rtlCol="0">
            <a:spAutoFit/>
          </a:bodyPr>
          <a:lstStyle/>
          <a:p>
            <a:pPr marL="171450" indent="-171450">
              <a:buFont typeface="Wingdings" pitchFamily="2" charset="2"/>
              <a:buChar char="v"/>
            </a:pPr>
            <a:r>
              <a:rPr lang="en-IN" sz="1200" dirty="0"/>
              <a:t>Exact Match Accuracy 	: 0.1450(15%)</a:t>
            </a:r>
          </a:p>
          <a:p>
            <a:pPr marL="171450" indent="-171450">
              <a:buFont typeface="Wingdings" pitchFamily="2" charset="2"/>
              <a:buChar char="v"/>
            </a:pPr>
            <a:r>
              <a:rPr lang="en-IN" sz="1200" dirty="0"/>
              <a:t>Execution Accuracy 	: 0.4050(41%)</a:t>
            </a:r>
          </a:p>
          <a:p>
            <a:pPr marL="171450" indent="-171450">
              <a:buFont typeface="Wingdings" pitchFamily="2" charset="2"/>
              <a:buChar char="v"/>
            </a:pPr>
            <a:r>
              <a:rPr lang="en-IN" sz="1200" dirty="0"/>
              <a:t>Test-Suite Accuracy 	: 0.4050(41%)</a:t>
            </a:r>
          </a:p>
          <a:p>
            <a:pPr marL="171450" indent="-171450">
              <a:buFont typeface="Wingdings" pitchFamily="2" charset="2"/>
              <a:buChar char="v"/>
            </a:pPr>
            <a:r>
              <a:rPr lang="en-IN" sz="1200" dirty="0"/>
              <a:t>Valid Efficiency Score 	: 0.0204(2%)</a:t>
            </a:r>
          </a:p>
          <a:p>
            <a:endParaRPr lang="en-US" dirty="0"/>
          </a:p>
        </p:txBody>
      </p:sp>
      <p:sp>
        <p:nvSpPr>
          <p:cNvPr id="18" name="TextBox 17">
            <a:extLst>
              <a:ext uri="{FF2B5EF4-FFF2-40B4-BE49-F238E27FC236}">
                <a16:creationId xmlns:a16="http://schemas.microsoft.com/office/drawing/2014/main" id="{050FAFB3-1765-25FF-2B33-02691043978C}"/>
              </a:ext>
            </a:extLst>
          </p:cNvPr>
          <p:cNvSpPr txBox="1"/>
          <p:nvPr/>
        </p:nvSpPr>
        <p:spPr>
          <a:xfrm>
            <a:off x="4362636" y="4722593"/>
            <a:ext cx="3022547" cy="1107996"/>
          </a:xfrm>
          <a:prstGeom prst="rect">
            <a:avLst/>
          </a:prstGeom>
          <a:noFill/>
        </p:spPr>
        <p:txBody>
          <a:bodyPr wrap="square" rtlCol="0">
            <a:spAutoFit/>
          </a:bodyPr>
          <a:lstStyle/>
          <a:p>
            <a:pPr marL="171450" indent="-171450">
              <a:buFont typeface="Wingdings" pitchFamily="2" charset="2"/>
              <a:buChar char="v"/>
            </a:pPr>
            <a:r>
              <a:rPr lang="en-IN" sz="1200" dirty="0"/>
              <a:t>Exact Match Accuracy 	: 0.2850(</a:t>
            </a:r>
            <a:r>
              <a:rPr lang="en-IN" sz="1200" b="1" dirty="0"/>
              <a:t>29</a:t>
            </a:r>
            <a:r>
              <a:rPr lang="en-IN" sz="1200" dirty="0"/>
              <a:t>%)</a:t>
            </a:r>
          </a:p>
          <a:p>
            <a:pPr marL="171450" indent="-171450">
              <a:buFont typeface="Wingdings" pitchFamily="2" charset="2"/>
              <a:buChar char="v"/>
            </a:pPr>
            <a:r>
              <a:rPr lang="en-IN" sz="1200" dirty="0"/>
              <a:t>Execution Accuracy 	: 0.4200(</a:t>
            </a:r>
            <a:r>
              <a:rPr lang="en-IN" sz="1200" b="1" dirty="0"/>
              <a:t>42</a:t>
            </a:r>
            <a:r>
              <a:rPr lang="en-IN" sz="1200" dirty="0"/>
              <a:t>%)</a:t>
            </a:r>
          </a:p>
          <a:p>
            <a:pPr marL="171450" indent="-171450">
              <a:buFont typeface="Wingdings" pitchFamily="2" charset="2"/>
              <a:buChar char="v"/>
            </a:pPr>
            <a:r>
              <a:rPr lang="en-IN" sz="1200" dirty="0"/>
              <a:t>Test-Suite Accuracy 	: 0.4200(</a:t>
            </a:r>
            <a:r>
              <a:rPr lang="en-IN" sz="1200" b="1" dirty="0"/>
              <a:t>42</a:t>
            </a:r>
            <a:r>
              <a:rPr lang="en-IN" sz="1200" dirty="0"/>
              <a:t>%)</a:t>
            </a:r>
          </a:p>
          <a:p>
            <a:pPr marL="171450" indent="-171450">
              <a:buFont typeface="Wingdings" pitchFamily="2" charset="2"/>
              <a:buChar char="v"/>
            </a:pPr>
            <a:r>
              <a:rPr lang="en-IN" sz="1200" dirty="0"/>
              <a:t>Valid Efficiency Score 	: 0.0346(</a:t>
            </a:r>
            <a:r>
              <a:rPr lang="en-IN" sz="1200" b="1" dirty="0"/>
              <a:t>3</a:t>
            </a:r>
            <a:r>
              <a:rPr lang="en-IN" sz="1200" dirty="0"/>
              <a:t>%)</a:t>
            </a:r>
          </a:p>
          <a:p>
            <a:endParaRPr lang="en-US" dirty="0"/>
          </a:p>
        </p:txBody>
      </p:sp>
      <p:sp>
        <p:nvSpPr>
          <p:cNvPr id="13" name="TextBox 12">
            <a:extLst>
              <a:ext uri="{FF2B5EF4-FFF2-40B4-BE49-F238E27FC236}">
                <a16:creationId xmlns:a16="http://schemas.microsoft.com/office/drawing/2014/main" id="{1218518A-E1BE-A020-9942-06BF4508BA77}"/>
              </a:ext>
            </a:extLst>
          </p:cNvPr>
          <p:cNvSpPr txBox="1"/>
          <p:nvPr/>
        </p:nvSpPr>
        <p:spPr>
          <a:xfrm>
            <a:off x="5984111" y="6354501"/>
            <a:ext cx="184731" cy="369332"/>
          </a:xfrm>
          <a:prstGeom prst="rect">
            <a:avLst/>
          </a:prstGeom>
          <a:noFill/>
        </p:spPr>
        <p:txBody>
          <a:bodyPr wrap="none" rtlCol="0">
            <a:spAutoFit/>
          </a:bodyPr>
          <a:lstStyle/>
          <a:p>
            <a:endParaRPr lang="en-US" dirty="0"/>
          </a:p>
        </p:txBody>
      </p:sp>
      <p:pic>
        <p:nvPicPr>
          <p:cNvPr id="3" name="Graphic 2">
            <a:extLst>
              <a:ext uri="{FF2B5EF4-FFF2-40B4-BE49-F238E27FC236}">
                <a16:creationId xmlns:a16="http://schemas.microsoft.com/office/drawing/2014/main" id="{FAEDBA2D-2FF4-3764-6D9C-469C41DD193D}"/>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10273980" y="0"/>
            <a:ext cx="289387" cy="349581"/>
          </a:xfrm>
          <a:prstGeom prst="rect">
            <a:avLst/>
          </a:prstGeom>
        </p:spPr>
      </p:pic>
      <p:sp>
        <p:nvSpPr>
          <p:cNvPr id="4" name="TextBox 3">
            <a:extLst>
              <a:ext uri="{FF2B5EF4-FFF2-40B4-BE49-F238E27FC236}">
                <a16:creationId xmlns:a16="http://schemas.microsoft.com/office/drawing/2014/main" id="{623FA564-31B0-4158-2BD1-ACA442C23E43}"/>
              </a:ext>
            </a:extLst>
          </p:cNvPr>
          <p:cNvSpPr txBox="1"/>
          <p:nvPr/>
        </p:nvSpPr>
        <p:spPr>
          <a:xfrm>
            <a:off x="10563367" y="0"/>
            <a:ext cx="1091821" cy="382137"/>
          </a:xfrm>
          <a:prstGeom prst="rect">
            <a:avLst/>
          </a:prstGeom>
          <a:noFill/>
        </p:spPr>
        <p:txBody>
          <a:bodyPr wrap="square" rtlCol="0">
            <a:spAutoFit/>
          </a:bodyPr>
          <a:lstStyle/>
          <a:p>
            <a:r>
              <a:rPr lang="en-US" dirty="0"/>
              <a:t>Sai</a:t>
            </a:r>
          </a:p>
        </p:txBody>
      </p:sp>
    </p:spTree>
    <p:extLst>
      <p:ext uri="{BB962C8B-B14F-4D97-AF65-F5344CB8AC3E}">
        <p14:creationId xmlns:p14="http://schemas.microsoft.com/office/powerpoint/2010/main" val="1818293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8AA38-749E-6077-7DB6-FD9EEEF97B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5C9C7-34D5-862B-FAE4-C8356FF9BC52}"/>
              </a:ext>
            </a:extLst>
          </p:cNvPr>
          <p:cNvSpPr>
            <a:spLocks noGrp="1"/>
          </p:cNvSpPr>
          <p:nvPr>
            <p:ph type="ctrTitle"/>
          </p:nvPr>
        </p:nvSpPr>
        <p:spPr>
          <a:xfrm>
            <a:off x="1524000" y="104798"/>
            <a:ext cx="9144000" cy="1189429"/>
          </a:xfrm>
        </p:spPr>
        <p:txBody>
          <a:bodyPr>
            <a:normAutofit/>
          </a:bodyPr>
          <a:lstStyle/>
          <a:p>
            <a:r>
              <a:rPr lang="en-US" dirty="0"/>
              <a:t>Model Architectures</a:t>
            </a:r>
            <a:endParaRPr lang="en-US" sz="4400" dirty="0"/>
          </a:p>
        </p:txBody>
      </p:sp>
      <p:sp>
        <p:nvSpPr>
          <p:cNvPr id="13" name="TextBox 12">
            <a:extLst>
              <a:ext uri="{FF2B5EF4-FFF2-40B4-BE49-F238E27FC236}">
                <a16:creationId xmlns:a16="http://schemas.microsoft.com/office/drawing/2014/main" id="{362B7B29-969A-C460-A912-BBEE37E0147A}"/>
              </a:ext>
            </a:extLst>
          </p:cNvPr>
          <p:cNvSpPr txBox="1"/>
          <p:nvPr/>
        </p:nvSpPr>
        <p:spPr>
          <a:xfrm>
            <a:off x="5984111" y="6354501"/>
            <a:ext cx="184731" cy="369332"/>
          </a:xfrm>
          <a:prstGeom prst="rect">
            <a:avLst/>
          </a:prstGeom>
          <a:noFill/>
        </p:spPr>
        <p:txBody>
          <a:bodyPr wrap="none" rtlCol="0">
            <a:spAutoFit/>
          </a:bodyPr>
          <a:lstStyle/>
          <a:p>
            <a:endParaRPr lang="en-US" dirty="0"/>
          </a:p>
        </p:txBody>
      </p:sp>
      <p:pic>
        <p:nvPicPr>
          <p:cNvPr id="3" name="Graphic 2">
            <a:extLst>
              <a:ext uri="{FF2B5EF4-FFF2-40B4-BE49-F238E27FC236}">
                <a16:creationId xmlns:a16="http://schemas.microsoft.com/office/drawing/2014/main" id="{F0620FCA-C7C4-A0D5-FB71-6D7CA55729D6}"/>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10273980" y="0"/>
            <a:ext cx="289387" cy="349581"/>
          </a:xfrm>
          <a:prstGeom prst="rect">
            <a:avLst/>
          </a:prstGeom>
        </p:spPr>
      </p:pic>
      <p:sp>
        <p:nvSpPr>
          <p:cNvPr id="4" name="TextBox 3">
            <a:extLst>
              <a:ext uri="{FF2B5EF4-FFF2-40B4-BE49-F238E27FC236}">
                <a16:creationId xmlns:a16="http://schemas.microsoft.com/office/drawing/2014/main" id="{BBD7FBFC-E5AF-D23F-8969-1EA631366040}"/>
              </a:ext>
            </a:extLst>
          </p:cNvPr>
          <p:cNvSpPr txBox="1"/>
          <p:nvPr/>
        </p:nvSpPr>
        <p:spPr>
          <a:xfrm>
            <a:off x="10563367" y="0"/>
            <a:ext cx="1091821" cy="382137"/>
          </a:xfrm>
          <a:prstGeom prst="rect">
            <a:avLst/>
          </a:prstGeom>
          <a:noFill/>
        </p:spPr>
        <p:txBody>
          <a:bodyPr wrap="square" rtlCol="0">
            <a:spAutoFit/>
          </a:bodyPr>
          <a:lstStyle/>
          <a:p>
            <a:r>
              <a:rPr lang="en-US" dirty="0"/>
              <a:t>Sai</a:t>
            </a:r>
          </a:p>
        </p:txBody>
      </p:sp>
      <p:graphicFrame>
        <p:nvGraphicFramePr>
          <p:cNvPr id="19" name="Table 18">
            <a:extLst>
              <a:ext uri="{FF2B5EF4-FFF2-40B4-BE49-F238E27FC236}">
                <a16:creationId xmlns:a16="http://schemas.microsoft.com/office/drawing/2014/main" id="{31C579BF-6993-5EE5-811A-1A650ED82640}"/>
              </a:ext>
            </a:extLst>
          </p:cNvPr>
          <p:cNvGraphicFramePr>
            <a:graphicFrameLocks noGrp="1"/>
          </p:cNvGraphicFramePr>
          <p:nvPr>
            <p:extLst>
              <p:ext uri="{D42A27DB-BD31-4B8C-83A1-F6EECF244321}">
                <p14:modId xmlns:p14="http://schemas.microsoft.com/office/powerpoint/2010/main" val="1030468599"/>
              </p:ext>
            </p:extLst>
          </p:nvPr>
        </p:nvGraphicFramePr>
        <p:xfrm>
          <a:off x="394448" y="4030048"/>
          <a:ext cx="10515600" cy="1878330"/>
        </p:xfrm>
        <a:graphic>
          <a:graphicData uri="http://schemas.openxmlformats.org/drawingml/2006/table">
            <a:tbl>
              <a:tblPr firstRow="1" firstCol="1" bandRow="1">
                <a:solidFill>
                  <a:schemeClr val="accent1"/>
                </a:solidFill>
                <a:tableStyleId>{5C22544A-7EE6-4342-B048-85BDC9FD1C3A}</a:tableStyleId>
              </a:tblPr>
              <a:tblGrid>
                <a:gridCol w="3505200">
                  <a:extLst>
                    <a:ext uri="{9D8B030D-6E8A-4147-A177-3AD203B41FA5}">
                      <a16:colId xmlns:a16="http://schemas.microsoft.com/office/drawing/2014/main" val="2026348846"/>
                    </a:ext>
                  </a:extLst>
                </a:gridCol>
                <a:gridCol w="3505200">
                  <a:extLst>
                    <a:ext uri="{9D8B030D-6E8A-4147-A177-3AD203B41FA5}">
                      <a16:colId xmlns:a16="http://schemas.microsoft.com/office/drawing/2014/main" val="4086960000"/>
                    </a:ext>
                  </a:extLst>
                </a:gridCol>
                <a:gridCol w="3505200">
                  <a:extLst>
                    <a:ext uri="{9D8B030D-6E8A-4147-A177-3AD203B41FA5}">
                      <a16:colId xmlns:a16="http://schemas.microsoft.com/office/drawing/2014/main" val="4093782206"/>
                    </a:ext>
                  </a:extLst>
                </a:gridCol>
              </a:tblGrid>
              <a:tr h="0">
                <a:tc>
                  <a:txBody>
                    <a:bodyPr/>
                    <a:lstStyle/>
                    <a:p>
                      <a:pPr indent="228600" algn="just">
                        <a:buNone/>
                      </a:pPr>
                      <a:r>
                        <a:rPr lang="en-IN" sz="1200" spc="0" dirty="0">
                          <a:effectLst/>
                        </a:rPr>
                        <a:t>Component</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indent="228600" algn="just">
                        <a:buNone/>
                      </a:pPr>
                      <a:r>
                        <a:rPr lang="en-IN" sz="1200" spc="0">
                          <a:effectLst/>
                        </a:rPr>
                        <a:t>Technical Detail</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indent="228600" algn="just">
                        <a:buNone/>
                      </a:pPr>
                      <a:r>
                        <a:rPr lang="en-IN" sz="1200" spc="0" dirty="0">
                          <a:effectLst/>
                        </a:rPr>
                        <a:t>Parameter / Value</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2780324"/>
                  </a:ext>
                </a:extLst>
              </a:tr>
              <a:tr h="0">
                <a:tc>
                  <a:txBody>
                    <a:bodyPr/>
                    <a:lstStyle/>
                    <a:p>
                      <a:pPr indent="228600" algn="just">
                        <a:buNone/>
                      </a:pPr>
                      <a:r>
                        <a:rPr lang="en-US" sz="1200" dirty="0">
                          <a:effectLst/>
                        </a:rPr>
                        <a:t>Parameters</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b="1" dirty="0">
                          <a:effectLst/>
                        </a:rPr>
                        <a:t>~220 Million</a:t>
                      </a:r>
                      <a:endParaRPr lang="en-IN" sz="1100" b="1" dirty="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a:effectLst/>
                        </a:rPr>
                        <a:t>Total learnable weights.</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4281793768"/>
                  </a:ext>
                </a:extLst>
              </a:tr>
              <a:tr h="0">
                <a:tc>
                  <a:txBody>
                    <a:bodyPr/>
                    <a:lstStyle/>
                    <a:p>
                      <a:pPr indent="228600" algn="just">
                        <a:buNone/>
                      </a:pPr>
                      <a:r>
                        <a:rPr lang="en-US" sz="1200">
                          <a:effectLst/>
                        </a:rPr>
                        <a:t>Architecture</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a:effectLst/>
                        </a:rPr>
                        <a:t>Encoder-Decoder</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a:effectLst/>
                        </a:rPr>
                        <a:t>12 Encoder layers + 12 Decoder layers.</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2500555879"/>
                  </a:ext>
                </a:extLst>
              </a:tr>
              <a:tr h="0">
                <a:tc>
                  <a:txBody>
                    <a:bodyPr/>
                    <a:lstStyle/>
                    <a:p>
                      <a:pPr indent="228600" algn="just">
                        <a:buNone/>
                      </a:pPr>
                      <a:r>
                        <a:rPr lang="en-US" sz="1200">
                          <a:effectLst/>
                        </a:rPr>
                        <a:t>Hidden Size (d</a:t>
                      </a:r>
                      <a:r>
                        <a:rPr lang="en-US" sz="1200" baseline="-25000">
                          <a:effectLst/>
                        </a:rPr>
                        <a:t>model</a:t>
                      </a:r>
                      <a:r>
                        <a:rPr lang="en-US" sz="1200">
                          <a:effectLst/>
                        </a:rPr>
                        <a:t>)</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a:effectLst/>
                        </a:rPr>
                        <a:t>768</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a:effectLst/>
                        </a:rPr>
                        <a:t>The dimension of the vector representations.</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777418672"/>
                  </a:ext>
                </a:extLst>
              </a:tr>
              <a:tr h="0">
                <a:tc>
                  <a:txBody>
                    <a:bodyPr/>
                    <a:lstStyle/>
                    <a:p>
                      <a:pPr indent="228600" algn="just">
                        <a:buNone/>
                      </a:pPr>
                      <a:r>
                        <a:rPr lang="en-US" sz="1200" dirty="0">
                          <a:effectLst/>
                        </a:rPr>
                        <a:t>Attention Heads</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a:effectLst/>
                        </a:rPr>
                        <a:t>12</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a:effectLst/>
                        </a:rPr>
                        <a:t>Number of parallel attention heads per layer.</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5788324"/>
                  </a:ext>
                </a:extLst>
              </a:tr>
              <a:tr h="0">
                <a:tc>
                  <a:txBody>
                    <a:bodyPr/>
                    <a:lstStyle/>
                    <a:p>
                      <a:pPr indent="228600" algn="just">
                        <a:buNone/>
                      </a:pPr>
                      <a:r>
                        <a:rPr lang="en-US" sz="1200" dirty="0">
                          <a:effectLst/>
                        </a:rPr>
                        <a:t>Feed-Forward Dim</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a:effectLst/>
                        </a:rPr>
                        <a:t>3072</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dirty="0">
                          <a:effectLst/>
                        </a:rPr>
                        <a:t>Size of the inner feed-forward layer (</a:t>
                      </a:r>
                      <a:r>
                        <a:rPr lang="en-US" sz="1200" dirty="0" err="1">
                          <a:effectLst/>
                        </a:rPr>
                        <a:t>d</a:t>
                      </a:r>
                      <a:r>
                        <a:rPr lang="en-US" sz="1200" baseline="-25000" dirty="0" err="1">
                          <a:effectLst/>
                        </a:rPr>
                        <a:t>ff</a:t>
                      </a:r>
                      <a:r>
                        <a:rPr lang="en-US" sz="1200" dirty="0">
                          <a:effectLst/>
                        </a:rPr>
                        <a:t>).</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748040535"/>
                  </a:ext>
                </a:extLst>
              </a:tr>
            </a:tbl>
          </a:graphicData>
        </a:graphic>
      </p:graphicFrame>
      <p:sp>
        <p:nvSpPr>
          <p:cNvPr id="20" name="Rectangle 19">
            <a:extLst>
              <a:ext uri="{FF2B5EF4-FFF2-40B4-BE49-F238E27FC236}">
                <a16:creationId xmlns:a16="http://schemas.microsoft.com/office/drawing/2014/main" id="{B643D210-04A5-BC59-FF58-B12221B5BD20}"/>
              </a:ext>
            </a:extLst>
          </p:cNvPr>
          <p:cNvSpPr/>
          <p:nvPr/>
        </p:nvSpPr>
        <p:spPr>
          <a:xfrm>
            <a:off x="394448" y="3689055"/>
            <a:ext cx="2224585" cy="3275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T5 Fine-Tuned (Spider)</a:t>
            </a:r>
          </a:p>
        </p:txBody>
      </p:sp>
      <p:graphicFrame>
        <p:nvGraphicFramePr>
          <p:cNvPr id="21" name="Table 20">
            <a:extLst>
              <a:ext uri="{FF2B5EF4-FFF2-40B4-BE49-F238E27FC236}">
                <a16:creationId xmlns:a16="http://schemas.microsoft.com/office/drawing/2014/main" id="{401FF9A8-E880-6DBB-67AE-3699CB859886}"/>
              </a:ext>
            </a:extLst>
          </p:cNvPr>
          <p:cNvGraphicFramePr>
            <a:graphicFrameLocks noGrp="1"/>
          </p:cNvGraphicFramePr>
          <p:nvPr>
            <p:extLst>
              <p:ext uri="{D42A27DB-BD31-4B8C-83A1-F6EECF244321}">
                <p14:modId xmlns:p14="http://schemas.microsoft.com/office/powerpoint/2010/main" val="1804394032"/>
              </p:ext>
            </p:extLst>
          </p:nvPr>
        </p:nvGraphicFramePr>
        <p:xfrm>
          <a:off x="394448" y="1467935"/>
          <a:ext cx="10515600" cy="1398270"/>
        </p:xfrm>
        <a:graphic>
          <a:graphicData uri="http://schemas.openxmlformats.org/drawingml/2006/table">
            <a:tbl>
              <a:tblPr firstRow="1" firstCol="1" bandRow="1">
                <a:tableStyleId>{5C22544A-7EE6-4342-B048-85BDC9FD1C3A}</a:tableStyleId>
              </a:tblPr>
              <a:tblGrid>
                <a:gridCol w="3505200">
                  <a:extLst>
                    <a:ext uri="{9D8B030D-6E8A-4147-A177-3AD203B41FA5}">
                      <a16:colId xmlns:a16="http://schemas.microsoft.com/office/drawing/2014/main" val="2074676985"/>
                    </a:ext>
                  </a:extLst>
                </a:gridCol>
                <a:gridCol w="3505200">
                  <a:extLst>
                    <a:ext uri="{9D8B030D-6E8A-4147-A177-3AD203B41FA5}">
                      <a16:colId xmlns:a16="http://schemas.microsoft.com/office/drawing/2014/main" val="3240371828"/>
                    </a:ext>
                  </a:extLst>
                </a:gridCol>
                <a:gridCol w="3505200">
                  <a:extLst>
                    <a:ext uri="{9D8B030D-6E8A-4147-A177-3AD203B41FA5}">
                      <a16:colId xmlns:a16="http://schemas.microsoft.com/office/drawing/2014/main" val="3756967533"/>
                    </a:ext>
                  </a:extLst>
                </a:gridCol>
              </a:tblGrid>
              <a:tr h="0">
                <a:tc>
                  <a:txBody>
                    <a:bodyPr/>
                    <a:lstStyle/>
                    <a:p>
                      <a:pPr indent="228600" algn="just">
                        <a:buNone/>
                      </a:pPr>
                      <a:r>
                        <a:rPr lang="en-IN" sz="1200" spc="0">
                          <a:effectLst/>
                        </a:rPr>
                        <a:t>Component</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indent="228600" algn="just">
                        <a:buNone/>
                      </a:pPr>
                      <a:r>
                        <a:rPr lang="en-IN" sz="1200" spc="0">
                          <a:effectLst/>
                        </a:rPr>
                        <a:t>Technical Detail</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indent="228600" algn="just">
                        <a:buNone/>
                      </a:pPr>
                      <a:r>
                        <a:rPr lang="en-IN" sz="1200" spc="0" dirty="0">
                          <a:effectLst/>
                        </a:rPr>
                        <a:t>Parameter / Value</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68897195"/>
                  </a:ext>
                </a:extLst>
              </a:tr>
              <a:tr h="0">
                <a:tc>
                  <a:txBody>
                    <a:bodyPr/>
                    <a:lstStyle/>
                    <a:p>
                      <a:pPr indent="228600" algn="just">
                        <a:buNone/>
                      </a:pPr>
                      <a:r>
                        <a:rPr lang="en-IN" sz="1100" dirty="0">
                          <a:effectLst/>
                          <a:latin typeface="Aptos" panose="020B0004020202020204" pitchFamily="34" charset="0"/>
                          <a:ea typeface="Times New Roman" panose="02020603050405020304" pitchFamily="18" charset="0"/>
                          <a:cs typeface="Times New Roman" panose="02020603050405020304" pitchFamily="18" charset="0"/>
                        </a:rPr>
                        <a:t>Parameters</a:t>
                      </a:r>
                    </a:p>
                  </a:txBody>
                  <a:tcPr marL="9525" marR="9525" marT="9525" marB="9525" anchor="ctr"/>
                </a:tc>
                <a:tc>
                  <a:txBody>
                    <a:bodyPr/>
                    <a:lstStyle/>
                    <a:p>
                      <a:pPr indent="228600" algn="just">
                        <a:buNone/>
                      </a:pPr>
                      <a:r>
                        <a:rPr lang="en-IN" sz="1100" b="1" dirty="0">
                          <a:effectLst/>
                          <a:latin typeface="Aptos" panose="020B0004020202020204" pitchFamily="34" charset="0"/>
                          <a:ea typeface="Times New Roman" panose="02020603050405020304" pitchFamily="18" charset="0"/>
                          <a:cs typeface="Times New Roman" panose="02020603050405020304" pitchFamily="18" charset="0"/>
                        </a:rPr>
                        <a:t>~52 million</a:t>
                      </a:r>
                    </a:p>
                  </a:txBody>
                  <a:tcPr marL="9525" marR="9525" marT="9525" marB="9525" anchor="ctr"/>
                </a:tc>
                <a:tc>
                  <a:txBody>
                    <a:bodyPr/>
                    <a:lstStyle/>
                    <a:p>
                      <a:pPr indent="228600" algn="just">
                        <a:buNone/>
                      </a:pP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75721585"/>
                  </a:ext>
                </a:extLst>
              </a:tr>
              <a:tr h="0">
                <a:tc>
                  <a:txBody>
                    <a:bodyPr/>
                    <a:lstStyle/>
                    <a:p>
                      <a:pPr indent="228600" algn="just">
                        <a:buNone/>
                      </a:pPr>
                      <a:r>
                        <a:rPr lang="en-IN" sz="1200" dirty="0">
                          <a:effectLst/>
                        </a:rPr>
                        <a:t>Architecture Type</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indent="228600" algn="just">
                        <a:buNone/>
                      </a:pPr>
                      <a:r>
                        <a:rPr lang="en-IN" sz="1200">
                          <a:effectLst/>
                        </a:rPr>
                        <a:t>Recurrent Neural Network (RNN)</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indent="228600" algn="just">
                        <a:buNone/>
                      </a:pPr>
                      <a:r>
                        <a:rPr lang="en-IN" sz="1200" dirty="0">
                          <a:effectLst/>
                        </a:rPr>
                        <a:t>Encoder-Decoder with Attention</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57224474"/>
                  </a:ext>
                </a:extLst>
              </a:tr>
              <a:tr h="0">
                <a:tc>
                  <a:txBody>
                    <a:bodyPr/>
                    <a:lstStyle/>
                    <a:p>
                      <a:pPr indent="228600" algn="just">
                        <a:buNone/>
                      </a:pPr>
                      <a:r>
                        <a:rPr lang="en-IN" sz="1200" dirty="0">
                          <a:effectLst/>
                        </a:rPr>
                        <a:t>Tokenizer</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indent="228600" algn="just">
                        <a:buNone/>
                      </a:pPr>
                      <a:r>
                        <a:rPr lang="en-IN" sz="1200" dirty="0">
                          <a:effectLst/>
                        </a:rPr>
                        <a:t>T5 Tokenizer (Fast)</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indent="228600" algn="just">
                        <a:buNone/>
                      </a:pPr>
                      <a:r>
                        <a:rPr lang="en-IN" sz="1200" dirty="0">
                          <a:effectLst/>
                        </a:rPr>
                        <a:t>Used only for vocabulary mapping</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84987301"/>
                  </a:ext>
                </a:extLst>
              </a:tr>
              <a:tr h="0">
                <a:tc>
                  <a:txBody>
                    <a:bodyPr/>
                    <a:lstStyle/>
                    <a:p>
                      <a:pPr indent="228600" algn="just">
                        <a:buNone/>
                      </a:pPr>
                      <a:r>
                        <a:rPr lang="en-IN" sz="1200">
                          <a:effectLst/>
                        </a:rPr>
                        <a:t>Embedding Dim</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indent="228600" algn="just">
                        <a:buNone/>
                      </a:pPr>
                      <a:r>
                        <a:rPr lang="en-IN" sz="1200" dirty="0" err="1">
                          <a:effectLst/>
                        </a:rPr>
                        <a:t>emb_dim</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indent="228600" algn="just">
                        <a:buNone/>
                      </a:pPr>
                      <a:r>
                        <a:rPr lang="en-IN" sz="1200">
                          <a:effectLst/>
                        </a:rPr>
                        <a:t>256 (Default)</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97745241"/>
                  </a:ext>
                </a:extLst>
              </a:tr>
              <a:tr h="0">
                <a:tc>
                  <a:txBody>
                    <a:bodyPr/>
                    <a:lstStyle/>
                    <a:p>
                      <a:pPr indent="228600" algn="just">
                        <a:buNone/>
                      </a:pPr>
                      <a:r>
                        <a:rPr lang="en-IN" sz="1200">
                          <a:effectLst/>
                        </a:rPr>
                        <a:t>Hidden Dimension</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indent="228600" algn="just">
                        <a:buNone/>
                      </a:pPr>
                      <a:r>
                        <a:rPr lang="en-IN" sz="1200">
                          <a:effectLst/>
                        </a:rPr>
                        <a:t>hid_dim</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indent="228600" algn="just">
                        <a:buNone/>
                      </a:pPr>
                      <a:r>
                        <a:rPr lang="en-IN" sz="1200">
                          <a:effectLst/>
                        </a:rPr>
                        <a:t>256 (Default)</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24936589"/>
                  </a:ext>
                </a:extLst>
              </a:tr>
              <a:tr h="0">
                <a:tc>
                  <a:txBody>
                    <a:bodyPr/>
                    <a:lstStyle/>
                    <a:p>
                      <a:pPr indent="228600" algn="just">
                        <a:buNone/>
                      </a:pPr>
                      <a:r>
                        <a:rPr lang="en-IN" sz="1200">
                          <a:effectLst/>
                        </a:rPr>
                        <a:t>Optimizer</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indent="228600" algn="just">
                        <a:buNone/>
                      </a:pPr>
                      <a:r>
                        <a:rPr lang="en-IN" sz="1200">
                          <a:effectLst/>
                        </a:rPr>
                        <a:t>Adam</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indent="228600" algn="just">
                        <a:buNone/>
                      </a:pPr>
                      <a:r>
                        <a:rPr lang="en-IN" sz="1200" dirty="0">
                          <a:effectLst/>
                        </a:rPr>
                        <a:t>Learning Rate: 3e-4</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86554165"/>
                  </a:ext>
                </a:extLst>
              </a:tr>
            </a:tbl>
          </a:graphicData>
        </a:graphic>
      </p:graphicFrame>
      <p:sp>
        <p:nvSpPr>
          <p:cNvPr id="22" name="Rectangle 21">
            <a:extLst>
              <a:ext uri="{FF2B5EF4-FFF2-40B4-BE49-F238E27FC236}">
                <a16:creationId xmlns:a16="http://schemas.microsoft.com/office/drawing/2014/main" id="{67FDA983-3A1E-CAA7-92CE-DCC24550EAFA}"/>
              </a:ext>
            </a:extLst>
          </p:cNvPr>
          <p:cNvSpPr/>
          <p:nvPr/>
        </p:nvSpPr>
        <p:spPr>
          <a:xfrm>
            <a:off x="394448" y="1140389"/>
            <a:ext cx="2224585" cy="3275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SQLNet (LSTM Baseline)</a:t>
            </a:r>
            <a:endParaRPr lang="en-IN" dirty="0"/>
          </a:p>
        </p:txBody>
      </p:sp>
    </p:spTree>
    <p:extLst>
      <p:ext uri="{BB962C8B-B14F-4D97-AF65-F5344CB8AC3E}">
        <p14:creationId xmlns:p14="http://schemas.microsoft.com/office/powerpoint/2010/main" val="16026882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9501-3BA6-9562-878D-D17E719074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651BE8-E6F4-D219-D428-19070503D044}"/>
              </a:ext>
            </a:extLst>
          </p:cNvPr>
          <p:cNvSpPr>
            <a:spLocks noGrp="1"/>
          </p:cNvSpPr>
          <p:nvPr>
            <p:ph type="ctrTitle"/>
          </p:nvPr>
        </p:nvSpPr>
        <p:spPr>
          <a:xfrm>
            <a:off x="1524000" y="104798"/>
            <a:ext cx="9144000" cy="1189429"/>
          </a:xfrm>
        </p:spPr>
        <p:txBody>
          <a:bodyPr>
            <a:normAutofit/>
          </a:bodyPr>
          <a:lstStyle/>
          <a:p>
            <a:r>
              <a:rPr lang="en-US" dirty="0"/>
              <a:t>Model Architectures</a:t>
            </a:r>
            <a:endParaRPr lang="en-US" sz="4400" dirty="0"/>
          </a:p>
        </p:txBody>
      </p:sp>
      <p:sp>
        <p:nvSpPr>
          <p:cNvPr id="13" name="TextBox 12">
            <a:extLst>
              <a:ext uri="{FF2B5EF4-FFF2-40B4-BE49-F238E27FC236}">
                <a16:creationId xmlns:a16="http://schemas.microsoft.com/office/drawing/2014/main" id="{D0E8C64E-BD03-03EB-E5F3-6C00BF27CB5A}"/>
              </a:ext>
            </a:extLst>
          </p:cNvPr>
          <p:cNvSpPr txBox="1"/>
          <p:nvPr/>
        </p:nvSpPr>
        <p:spPr>
          <a:xfrm>
            <a:off x="5984111" y="6354501"/>
            <a:ext cx="184731" cy="369332"/>
          </a:xfrm>
          <a:prstGeom prst="rect">
            <a:avLst/>
          </a:prstGeom>
          <a:noFill/>
        </p:spPr>
        <p:txBody>
          <a:bodyPr wrap="none" rtlCol="0">
            <a:spAutoFit/>
          </a:bodyPr>
          <a:lstStyle/>
          <a:p>
            <a:endParaRPr lang="en-US" dirty="0"/>
          </a:p>
        </p:txBody>
      </p:sp>
      <p:pic>
        <p:nvPicPr>
          <p:cNvPr id="3" name="Graphic 2">
            <a:extLst>
              <a:ext uri="{FF2B5EF4-FFF2-40B4-BE49-F238E27FC236}">
                <a16:creationId xmlns:a16="http://schemas.microsoft.com/office/drawing/2014/main" id="{2EA2F702-6EDB-9F9A-885C-4FA92325E4A9}"/>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10273980" y="0"/>
            <a:ext cx="289387" cy="349581"/>
          </a:xfrm>
          <a:prstGeom prst="rect">
            <a:avLst/>
          </a:prstGeom>
        </p:spPr>
      </p:pic>
      <p:sp>
        <p:nvSpPr>
          <p:cNvPr id="4" name="TextBox 3">
            <a:extLst>
              <a:ext uri="{FF2B5EF4-FFF2-40B4-BE49-F238E27FC236}">
                <a16:creationId xmlns:a16="http://schemas.microsoft.com/office/drawing/2014/main" id="{F77E8D3F-03B4-B0BF-605F-4368C016ABE0}"/>
              </a:ext>
            </a:extLst>
          </p:cNvPr>
          <p:cNvSpPr txBox="1"/>
          <p:nvPr/>
        </p:nvSpPr>
        <p:spPr>
          <a:xfrm>
            <a:off x="10563367" y="0"/>
            <a:ext cx="1091821" cy="382137"/>
          </a:xfrm>
          <a:prstGeom prst="rect">
            <a:avLst/>
          </a:prstGeom>
          <a:noFill/>
        </p:spPr>
        <p:txBody>
          <a:bodyPr wrap="square" rtlCol="0">
            <a:spAutoFit/>
          </a:bodyPr>
          <a:lstStyle/>
          <a:p>
            <a:r>
              <a:rPr lang="en-US" dirty="0"/>
              <a:t>Sai</a:t>
            </a:r>
          </a:p>
        </p:txBody>
      </p:sp>
      <p:sp>
        <p:nvSpPr>
          <p:cNvPr id="22" name="Rectangle 21">
            <a:extLst>
              <a:ext uri="{FF2B5EF4-FFF2-40B4-BE49-F238E27FC236}">
                <a16:creationId xmlns:a16="http://schemas.microsoft.com/office/drawing/2014/main" id="{9EACDC03-B5A7-BB6A-98FB-0939B9AA31B9}"/>
              </a:ext>
            </a:extLst>
          </p:cNvPr>
          <p:cNvSpPr/>
          <p:nvPr/>
        </p:nvSpPr>
        <p:spPr>
          <a:xfrm>
            <a:off x="411707" y="1435899"/>
            <a:ext cx="2224585" cy="3275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RAT-SQL-T5-Lite</a:t>
            </a:r>
          </a:p>
        </p:txBody>
      </p:sp>
      <p:graphicFrame>
        <p:nvGraphicFramePr>
          <p:cNvPr id="5" name="Table 4">
            <a:extLst>
              <a:ext uri="{FF2B5EF4-FFF2-40B4-BE49-F238E27FC236}">
                <a16:creationId xmlns:a16="http://schemas.microsoft.com/office/drawing/2014/main" id="{AB31B64D-BC9A-F3AC-F31A-5D2AAFCCE4BF}"/>
              </a:ext>
            </a:extLst>
          </p:cNvPr>
          <p:cNvGraphicFramePr>
            <a:graphicFrameLocks noGrp="1"/>
          </p:cNvGraphicFramePr>
          <p:nvPr>
            <p:extLst>
              <p:ext uri="{D42A27DB-BD31-4B8C-83A1-F6EECF244321}">
                <p14:modId xmlns:p14="http://schemas.microsoft.com/office/powerpoint/2010/main" val="3274341731"/>
              </p:ext>
            </p:extLst>
          </p:nvPr>
        </p:nvGraphicFramePr>
        <p:xfrm>
          <a:off x="394448" y="1763445"/>
          <a:ext cx="10914528" cy="3561298"/>
        </p:xfrm>
        <a:graphic>
          <a:graphicData uri="http://schemas.openxmlformats.org/drawingml/2006/table">
            <a:tbl>
              <a:tblPr firstRow="1" firstCol="1" bandRow="1">
                <a:tableStyleId>{5C22544A-7EE6-4342-B048-85BDC9FD1C3A}</a:tableStyleId>
              </a:tblPr>
              <a:tblGrid>
                <a:gridCol w="2093258">
                  <a:extLst>
                    <a:ext uri="{9D8B030D-6E8A-4147-A177-3AD203B41FA5}">
                      <a16:colId xmlns:a16="http://schemas.microsoft.com/office/drawing/2014/main" val="1624167622"/>
                    </a:ext>
                  </a:extLst>
                </a:gridCol>
                <a:gridCol w="1788459">
                  <a:extLst>
                    <a:ext uri="{9D8B030D-6E8A-4147-A177-3AD203B41FA5}">
                      <a16:colId xmlns:a16="http://schemas.microsoft.com/office/drawing/2014/main" val="4283724901"/>
                    </a:ext>
                  </a:extLst>
                </a:gridCol>
                <a:gridCol w="7032811">
                  <a:extLst>
                    <a:ext uri="{9D8B030D-6E8A-4147-A177-3AD203B41FA5}">
                      <a16:colId xmlns:a16="http://schemas.microsoft.com/office/drawing/2014/main" val="2459680823"/>
                    </a:ext>
                  </a:extLst>
                </a:gridCol>
              </a:tblGrid>
              <a:tr h="226387">
                <a:tc>
                  <a:txBody>
                    <a:bodyPr/>
                    <a:lstStyle/>
                    <a:p>
                      <a:pPr indent="228600" algn="just">
                        <a:buNone/>
                      </a:pPr>
                      <a:r>
                        <a:rPr lang="en-US" sz="1000">
                          <a:effectLst/>
                        </a:rPr>
                        <a:t>Category</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a:effectLst/>
                        </a:rPr>
                        <a:t>Parameter / Spec</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a:effectLst/>
                        </a:rPr>
                        <a:t>Value / Description</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extLst>
                  <a:ext uri="{0D108BD9-81ED-4DB2-BD59-A6C34878D82A}">
                    <a16:rowId xmlns:a16="http://schemas.microsoft.com/office/drawing/2014/main" val="3385952972"/>
                  </a:ext>
                </a:extLst>
              </a:tr>
              <a:tr h="226387">
                <a:tc rowSpan="2">
                  <a:txBody>
                    <a:bodyPr/>
                    <a:lstStyle/>
                    <a:p>
                      <a:pPr indent="228600" algn="just">
                        <a:buNone/>
                      </a:pPr>
                      <a:r>
                        <a:rPr lang="en-US" sz="1000">
                          <a:effectLst/>
                        </a:rPr>
                        <a:t>Model Architecture</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a:effectLst/>
                        </a:rPr>
                        <a:t>Base Model</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a:effectLst/>
                        </a:rPr>
                        <a:t>T5 (Text-to-Text Transfer Transformer), specifically t5-base.</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extLst>
                  <a:ext uri="{0D108BD9-81ED-4DB2-BD59-A6C34878D82A}">
                    <a16:rowId xmlns:a16="http://schemas.microsoft.com/office/drawing/2014/main" val="3264135109"/>
                  </a:ext>
                </a:extLst>
              </a:tr>
              <a:tr h="226387">
                <a:tc vMerge="1">
                  <a:txBody>
                    <a:bodyPr/>
                    <a:lstStyle/>
                    <a:p>
                      <a:endParaRPr lang="en-US"/>
                    </a:p>
                  </a:txBody>
                  <a:tcPr/>
                </a:tc>
                <a:tc>
                  <a:txBody>
                    <a:bodyPr/>
                    <a:lstStyle/>
                    <a:p>
                      <a:pPr indent="228600" algn="just">
                        <a:buNone/>
                      </a:pPr>
                      <a:r>
                        <a:rPr lang="en-US" sz="1000">
                          <a:effectLst/>
                        </a:rPr>
                        <a:t>Task Type</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dirty="0">
                          <a:effectLst/>
                        </a:rPr>
                        <a:t>Seq2Seq (Sequence-to-Sequence): Translates Natural Language + Text Schema </a:t>
                      </a:r>
                      <a:r>
                        <a:rPr lang="en-US" sz="1000" dirty="0">
                          <a:effectLst/>
                          <a:sym typeface="Wingdings" pitchFamily="2" charset="2"/>
                        </a:rPr>
                        <a:t></a:t>
                      </a:r>
                      <a:r>
                        <a:rPr lang="en-US" sz="1000" dirty="0">
                          <a:effectLst/>
                        </a:rPr>
                        <a:t> SQL.</a:t>
                      </a:r>
                      <a:endParaRPr lang="en-IN" sz="9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extLst>
                  <a:ext uri="{0D108BD9-81ED-4DB2-BD59-A6C34878D82A}">
                    <a16:rowId xmlns:a16="http://schemas.microsoft.com/office/drawing/2014/main" val="2181270646"/>
                  </a:ext>
                </a:extLst>
              </a:tr>
              <a:tr h="226387">
                <a:tc rowSpan="3">
                  <a:txBody>
                    <a:bodyPr/>
                    <a:lstStyle/>
                    <a:p>
                      <a:pPr indent="228600" algn="just">
                        <a:buNone/>
                      </a:pPr>
                      <a:r>
                        <a:rPr lang="en-US" sz="1000" dirty="0">
                          <a:effectLst/>
                        </a:rPr>
                        <a:t>Data Processing</a:t>
                      </a:r>
                      <a:endParaRPr lang="en-IN" sz="9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a:effectLst/>
                        </a:rPr>
                        <a:t>Max Source Length</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dirty="0">
                          <a:effectLst/>
                        </a:rPr>
                        <a:t>512 tokens (Input: Question + Schema Text).</a:t>
                      </a:r>
                      <a:endParaRPr lang="en-IN" sz="9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extLst>
                  <a:ext uri="{0D108BD9-81ED-4DB2-BD59-A6C34878D82A}">
                    <a16:rowId xmlns:a16="http://schemas.microsoft.com/office/drawing/2014/main" val="3756323915"/>
                  </a:ext>
                </a:extLst>
              </a:tr>
              <a:tr h="226387">
                <a:tc vMerge="1">
                  <a:txBody>
                    <a:bodyPr/>
                    <a:lstStyle/>
                    <a:p>
                      <a:endParaRPr lang="en-US"/>
                    </a:p>
                  </a:txBody>
                  <a:tcPr/>
                </a:tc>
                <a:tc>
                  <a:txBody>
                    <a:bodyPr/>
                    <a:lstStyle/>
                    <a:p>
                      <a:pPr indent="228600" algn="just">
                        <a:buNone/>
                      </a:pPr>
                      <a:r>
                        <a:rPr lang="en-US" sz="1000">
                          <a:effectLst/>
                        </a:rPr>
                        <a:t>Max Target Length</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a:effectLst/>
                        </a:rPr>
                        <a:t>160 tokens (Output: SQL Query).</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extLst>
                  <a:ext uri="{0D108BD9-81ED-4DB2-BD59-A6C34878D82A}">
                    <a16:rowId xmlns:a16="http://schemas.microsoft.com/office/drawing/2014/main" val="3509815355"/>
                  </a:ext>
                </a:extLst>
              </a:tr>
              <a:tr h="226387">
                <a:tc vMerge="1">
                  <a:txBody>
                    <a:bodyPr/>
                    <a:lstStyle/>
                    <a:p>
                      <a:endParaRPr lang="en-US"/>
                    </a:p>
                  </a:txBody>
                  <a:tcPr/>
                </a:tc>
                <a:tc>
                  <a:txBody>
                    <a:bodyPr/>
                    <a:lstStyle/>
                    <a:p>
                      <a:pPr indent="228600" algn="just">
                        <a:buNone/>
                      </a:pPr>
                      <a:r>
                        <a:rPr lang="en-US" sz="1000">
                          <a:effectLst/>
                        </a:rPr>
                        <a:t>Padding Label</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dirty="0">
                          <a:effectLst/>
                        </a:rPr>
                        <a:t>-100 (Used to mask padding tokens in the loss calculation).</a:t>
                      </a:r>
                      <a:endParaRPr lang="en-IN" sz="9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extLst>
                  <a:ext uri="{0D108BD9-81ED-4DB2-BD59-A6C34878D82A}">
                    <a16:rowId xmlns:a16="http://schemas.microsoft.com/office/drawing/2014/main" val="515435848"/>
                  </a:ext>
                </a:extLst>
              </a:tr>
              <a:tr h="226387">
                <a:tc rowSpan="4">
                  <a:txBody>
                    <a:bodyPr/>
                    <a:lstStyle/>
                    <a:p>
                      <a:pPr indent="228600" algn="just">
                        <a:buNone/>
                      </a:pPr>
                      <a:r>
                        <a:rPr lang="en-US" sz="1000">
                          <a:effectLst/>
                        </a:rPr>
                        <a:t>Training Config</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a:effectLst/>
                        </a:rPr>
                        <a:t>Optimizer</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dirty="0" err="1">
                          <a:effectLst/>
                        </a:rPr>
                        <a:t>AdamW</a:t>
                      </a:r>
                      <a:r>
                        <a:rPr lang="en-US" sz="1000" dirty="0">
                          <a:effectLst/>
                        </a:rPr>
                        <a:t>.</a:t>
                      </a:r>
                      <a:endParaRPr lang="en-IN" sz="9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extLst>
                  <a:ext uri="{0D108BD9-81ED-4DB2-BD59-A6C34878D82A}">
                    <a16:rowId xmlns:a16="http://schemas.microsoft.com/office/drawing/2014/main" val="825029803"/>
                  </a:ext>
                </a:extLst>
              </a:tr>
              <a:tr h="226387">
                <a:tc vMerge="1">
                  <a:txBody>
                    <a:bodyPr/>
                    <a:lstStyle/>
                    <a:p>
                      <a:endParaRPr lang="en-US"/>
                    </a:p>
                  </a:txBody>
                  <a:tcPr/>
                </a:tc>
                <a:tc>
                  <a:txBody>
                    <a:bodyPr/>
                    <a:lstStyle/>
                    <a:p>
                      <a:pPr indent="228600" algn="just">
                        <a:buNone/>
                      </a:pPr>
                      <a:r>
                        <a:rPr lang="en-US" sz="1000">
                          <a:effectLst/>
                        </a:rPr>
                        <a:t>Learning Rate</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a:effectLst/>
                        </a:rPr>
                        <a:t>3e-5 (0.00003).</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extLst>
                  <a:ext uri="{0D108BD9-81ED-4DB2-BD59-A6C34878D82A}">
                    <a16:rowId xmlns:a16="http://schemas.microsoft.com/office/drawing/2014/main" val="3880735101"/>
                  </a:ext>
                </a:extLst>
              </a:tr>
              <a:tr h="226387">
                <a:tc vMerge="1">
                  <a:txBody>
                    <a:bodyPr/>
                    <a:lstStyle/>
                    <a:p>
                      <a:endParaRPr lang="en-US"/>
                    </a:p>
                  </a:txBody>
                  <a:tcPr/>
                </a:tc>
                <a:tc>
                  <a:txBody>
                    <a:bodyPr/>
                    <a:lstStyle/>
                    <a:p>
                      <a:pPr indent="228600" algn="just">
                        <a:buNone/>
                      </a:pPr>
                      <a:r>
                        <a:rPr lang="en-US" sz="1000">
                          <a:effectLst/>
                        </a:rPr>
                        <a:t>Batch Size</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a:effectLst/>
                        </a:rPr>
                        <a:t>2 (Default setting).</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extLst>
                  <a:ext uri="{0D108BD9-81ED-4DB2-BD59-A6C34878D82A}">
                    <a16:rowId xmlns:a16="http://schemas.microsoft.com/office/drawing/2014/main" val="3378671641"/>
                  </a:ext>
                </a:extLst>
              </a:tr>
              <a:tr h="226387">
                <a:tc vMerge="1">
                  <a:txBody>
                    <a:bodyPr/>
                    <a:lstStyle/>
                    <a:p>
                      <a:endParaRPr lang="en-US"/>
                    </a:p>
                  </a:txBody>
                  <a:tcPr/>
                </a:tc>
                <a:tc>
                  <a:txBody>
                    <a:bodyPr/>
                    <a:lstStyle/>
                    <a:p>
                      <a:pPr indent="228600" algn="just">
                        <a:buNone/>
                      </a:pPr>
                      <a:r>
                        <a:rPr lang="en-US" sz="1000">
                          <a:effectLst/>
                        </a:rPr>
                        <a:t>Scheduler</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a:effectLst/>
                        </a:rPr>
                        <a:t>Linear schedule with warm-up (10% of total steps).</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extLst>
                  <a:ext uri="{0D108BD9-81ED-4DB2-BD59-A6C34878D82A}">
                    <a16:rowId xmlns:a16="http://schemas.microsoft.com/office/drawing/2014/main" val="197012512"/>
                  </a:ext>
                </a:extLst>
              </a:tr>
              <a:tr h="226387">
                <a:tc rowSpan="3">
                  <a:txBody>
                    <a:bodyPr/>
                    <a:lstStyle/>
                    <a:p>
                      <a:pPr indent="228600" algn="just">
                        <a:buNone/>
                      </a:pPr>
                      <a:r>
                        <a:rPr lang="en-US" sz="1000">
                          <a:effectLst/>
                        </a:rPr>
                        <a:t>Inference Config</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a:effectLst/>
                        </a:rPr>
                        <a:t>Search Algorithm</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a:effectLst/>
                        </a:rPr>
                        <a:t>Beam Search.</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extLst>
                  <a:ext uri="{0D108BD9-81ED-4DB2-BD59-A6C34878D82A}">
                    <a16:rowId xmlns:a16="http://schemas.microsoft.com/office/drawing/2014/main" val="3582277731"/>
                  </a:ext>
                </a:extLst>
              </a:tr>
              <a:tr h="226387">
                <a:tc vMerge="1">
                  <a:txBody>
                    <a:bodyPr/>
                    <a:lstStyle/>
                    <a:p>
                      <a:endParaRPr lang="en-US"/>
                    </a:p>
                  </a:txBody>
                  <a:tcPr/>
                </a:tc>
                <a:tc>
                  <a:txBody>
                    <a:bodyPr/>
                    <a:lstStyle/>
                    <a:p>
                      <a:pPr indent="228600" algn="just">
                        <a:buNone/>
                      </a:pPr>
                      <a:r>
                        <a:rPr lang="en-US" sz="1000">
                          <a:effectLst/>
                        </a:rPr>
                        <a:t>Beam Width</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a:effectLst/>
                        </a:rPr>
                        <a:t>4 (Explores the 4 most probable sequences simultaneously).</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extLst>
                  <a:ext uri="{0D108BD9-81ED-4DB2-BD59-A6C34878D82A}">
                    <a16:rowId xmlns:a16="http://schemas.microsoft.com/office/drawing/2014/main" val="1926873386"/>
                  </a:ext>
                </a:extLst>
              </a:tr>
              <a:tr h="226387">
                <a:tc vMerge="1">
                  <a:txBody>
                    <a:bodyPr/>
                    <a:lstStyle/>
                    <a:p>
                      <a:endParaRPr lang="en-US"/>
                    </a:p>
                  </a:txBody>
                  <a:tcPr/>
                </a:tc>
                <a:tc>
                  <a:txBody>
                    <a:bodyPr/>
                    <a:lstStyle/>
                    <a:p>
                      <a:pPr indent="228600" algn="just">
                        <a:buNone/>
                      </a:pPr>
                      <a:r>
                        <a:rPr lang="en-US" sz="1000">
                          <a:effectLst/>
                        </a:rPr>
                        <a:t>Early Stopping</a:t>
                      </a:r>
                      <a:endParaRPr lang="en-IN" sz="90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tc>
                  <a:txBody>
                    <a:bodyPr/>
                    <a:lstStyle/>
                    <a:p>
                      <a:pPr indent="228600" algn="just">
                        <a:buNone/>
                      </a:pPr>
                      <a:r>
                        <a:rPr lang="en-US" sz="1000" dirty="0">
                          <a:effectLst/>
                        </a:rPr>
                        <a:t>True (Stops generation when all beams reach the end-of-sentence token).</a:t>
                      </a:r>
                      <a:endParaRPr lang="en-IN" sz="9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1159" marR="91159" marT="60773" marB="60773" anchor="ctr"/>
                </a:tc>
                <a:extLst>
                  <a:ext uri="{0D108BD9-81ED-4DB2-BD59-A6C34878D82A}">
                    <a16:rowId xmlns:a16="http://schemas.microsoft.com/office/drawing/2014/main" val="1209203589"/>
                  </a:ext>
                </a:extLst>
              </a:tr>
            </a:tbl>
          </a:graphicData>
        </a:graphic>
      </p:graphicFrame>
    </p:spTree>
    <p:extLst>
      <p:ext uri="{BB962C8B-B14F-4D97-AF65-F5344CB8AC3E}">
        <p14:creationId xmlns:p14="http://schemas.microsoft.com/office/powerpoint/2010/main" val="713784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1B07F4-5C1C-2B47-1B0F-B3AF57919AE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73A25D70-4A55-4F72-B9C5-A69CDBF4D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4957100-6D8B-4161-9F2F-C0A949EC8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1" name="Freeform: Shape 10">
            <a:extLst>
              <a:ext uri="{FF2B5EF4-FFF2-40B4-BE49-F238E27FC236}">
                <a16:creationId xmlns:a16="http://schemas.microsoft.com/office/drawing/2014/main" id="{CBCB02B1-1B82-403C-B7D2-E2CED1882F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CCDE13A7-6382-4A67-BEBE-4FF1F37C7F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4" name="Freeform: Shape 13">
              <a:extLst>
                <a:ext uri="{FF2B5EF4-FFF2-40B4-BE49-F238E27FC236}">
                  <a16:creationId xmlns:a16="http://schemas.microsoft.com/office/drawing/2014/main" id="{E9978FC9-2E40-4257-8D97-FAB20CA4BF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740ABB98-77BA-4C40-8121-34D196E58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41AA752E-66C1-4835-8A3C-556475159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E9555AB-2295-4939-AEC9-B2CBFCB4CC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97499201-5A2C-48B3-9B02-5519B88294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3FC2AE7-C60C-4C48-BCAE-410BB6C3D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40EA1593-6BC9-441E-8F3C-46DD50F810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45E2267B-07F6-C7B2-D546-B46047B97147}"/>
              </a:ext>
            </a:extLst>
          </p:cNvPr>
          <p:cNvSpPr>
            <a:spLocks noGrp="1"/>
          </p:cNvSpPr>
          <p:nvPr>
            <p:ph type="ctrTitle"/>
          </p:nvPr>
        </p:nvSpPr>
        <p:spPr>
          <a:xfrm>
            <a:off x="3371787" y="1741337"/>
            <a:ext cx="5448730" cy="2387918"/>
          </a:xfrm>
        </p:spPr>
        <p:txBody>
          <a:bodyPr anchor="b">
            <a:normAutofit/>
          </a:bodyPr>
          <a:lstStyle/>
          <a:p>
            <a:r>
              <a:rPr lang="en-US" sz="5200">
                <a:solidFill>
                  <a:schemeClr val="tx2"/>
                </a:solidFill>
              </a:rPr>
              <a:t>Sql2NoSQL</a:t>
            </a:r>
          </a:p>
        </p:txBody>
      </p:sp>
      <p:grpSp>
        <p:nvGrpSpPr>
          <p:cNvPr id="22" name="Group 21">
            <a:extLst>
              <a:ext uri="{FF2B5EF4-FFF2-40B4-BE49-F238E27FC236}">
                <a16:creationId xmlns:a16="http://schemas.microsoft.com/office/drawing/2014/main" id="{17147D5D-F01F-4164-BD81-D10DC6F23E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142" y="2854"/>
            <a:ext cx="2783421" cy="2406445"/>
            <a:chOff x="-305" y="-4155"/>
            <a:chExt cx="2514948" cy="2174333"/>
          </a:xfrm>
        </p:grpSpPr>
        <p:sp>
          <p:nvSpPr>
            <p:cNvPr id="23" name="Freeform: Shape 22">
              <a:extLst>
                <a:ext uri="{FF2B5EF4-FFF2-40B4-BE49-F238E27FC236}">
                  <a16:creationId xmlns:a16="http://schemas.microsoft.com/office/drawing/2014/main" id="{F24C7412-3E2D-4708-8DC3-425A457A10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1483A6A-CB0B-4469-B09D-C9451F9B0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9A935E9D-EB55-46F3-BCCB-9CB918E870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6" name="Freeform: Shape 25">
              <a:extLst>
                <a:ext uri="{FF2B5EF4-FFF2-40B4-BE49-F238E27FC236}">
                  <a16:creationId xmlns:a16="http://schemas.microsoft.com/office/drawing/2014/main" id="{8EDC5655-C7D7-4936-91EA-E188A96DC6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8" name="Group 27">
            <a:extLst>
              <a:ext uri="{FF2B5EF4-FFF2-40B4-BE49-F238E27FC236}">
                <a16:creationId xmlns:a16="http://schemas.microsoft.com/office/drawing/2014/main" id="{6D0E248E-80AB-4B35-BA8D-F940FCB443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417253" y="4456669"/>
            <a:ext cx="2783421" cy="2406445"/>
            <a:chOff x="-305" y="-4155"/>
            <a:chExt cx="2514948" cy="2174333"/>
          </a:xfrm>
        </p:grpSpPr>
        <p:sp>
          <p:nvSpPr>
            <p:cNvPr id="29" name="Freeform: Shape 28">
              <a:extLst>
                <a:ext uri="{FF2B5EF4-FFF2-40B4-BE49-F238E27FC236}">
                  <a16:creationId xmlns:a16="http://schemas.microsoft.com/office/drawing/2014/main" id="{F9E91B0A-66E8-4298-BAC6-004DBE4919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0A629C66-36BD-487E-B1CD-ED026D7789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6BC2D2C-3D7D-4224-81BC-22C094C9FB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2" name="Freeform: Shape 31">
              <a:extLst>
                <a:ext uri="{FF2B5EF4-FFF2-40B4-BE49-F238E27FC236}">
                  <a16:creationId xmlns:a16="http://schemas.microsoft.com/office/drawing/2014/main" id="{53BDF903-22C5-4312-8776-C2ABC3EDC0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76361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5CDA1-BD7B-38A2-A539-7B893EE32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817512-0979-212D-13F8-14E0EA5F88B2}"/>
              </a:ext>
            </a:extLst>
          </p:cNvPr>
          <p:cNvSpPr>
            <a:spLocks noGrp="1"/>
          </p:cNvSpPr>
          <p:nvPr>
            <p:ph type="ctrTitle"/>
          </p:nvPr>
        </p:nvSpPr>
        <p:spPr>
          <a:xfrm>
            <a:off x="1524000" y="104798"/>
            <a:ext cx="9144000" cy="1189429"/>
          </a:xfrm>
        </p:spPr>
        <p:txBody>
          <a:bodyPr>
            <a:normAutofit/>
          </a:bodyPr>
          <a:lstStyle/>
          <a:p>
            <a:r>
              <a:rPr lang="en-US" dirty="0"/>
              <a:t>Model 1: </a:t>
            </a:r>
            <a:r>
              <a:rPr lang="en-IN" sz="4000" dirty="0"/>
              <a:t>Rule-Based SQL → Mongo </a:t>
            </a:r>
            <a:endParaRPr lang="en-US" sz="4000" dirty="0"/>
          </a:p>
        </p:txBody>
      </p:sp>
      <p:grpSp>
        <p:nvGrpSpPr>
          <p:cNvPr id="15" name="Группа 8">
            <a:extLst>
              <a:ext uri="{FF2B5EF4-FFF2-40B4-BE49-F238E27FC236}">
                <a16:creationId xmlns:a16="http://schemas.microsoft.com/office/drawing/2014/main" id="{8512F2C9-DDD8-9A40-F6EF-82564AEF4671}"/>
              </a:ext>
            </a:extLst>
          </p:cNvPr>
          <p:cNvGrpSpPr/>
          <p:nvPr/>
        </p:nvGrpSpPr>
        <p:grpSpPr>
          <a:xfrm>
            <a:off x="1188088" y="1670158"/>
            <a:ext cx="4682176" cy="2110272"/>
            <a:chOff x="0" y="1881025"/>
            <a:chExt cx="9365571" cy="2788150"/>
          </a:xfrm>
        </p:grpSpPr>
        <p:sp>
          <p:nvSpPr>
            <p:cNvPr id="16" name="Freeform 15">
              <a:extLst>
                <a:ext uri="{FF2B5EF4-FFF2-40B4-BE49-F238E27FC236}">
                  <a16:creationId xmlns:a16="http://schemas.microsoft.com/office/drawing/2014/main" id="{AC7A0475-0CA5-EA93-B764-A060E01F1429}"/>
                </a:ext>
              </a:extLst>
            </p:cNvPr>
            <p:cNvSpPr/>
            <p:nvPr/>
          </p:nvSpPr>
          <p:spPr>
            <a:xfrm flipH="1">
              <a:off x="0" y="1881025"/>
              <a:ext cx="9365571" cy="2788150"/>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17" name="Текст 2">
              <a:extLst>
                <a:ext uri="{FF2B5EF4-FFF2-40B4-BE49-F238E27FC236}">
                  <a16:creationId xmlns:a16="http://schemas.microsoft.com/office/drawing/2014/main" id="{8A233271-E9AE-9644-8ADC-D018C690483A}"/>
                </a:ext>
              </a:extLst>
            </p:cNvPr>
            <p:cNvSpPr txBox="1">
              <a:spLocks/>
            </p:cNvSpPr>
            <p:nvPr/>
          </p:nvSpPr>
          <p:spPr>
            <a:xfrm flipH="1">
              <a:off x="451423" y="1889162"/>
              <a:ext cx="8168433" cy="2737383"/>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Motivation</a:t>
              </a:r>
            </a:p>
            <a:p>
              <a:pPr marL="285750" indent="-285750">
                <a:buFont typeface="Wingdings" pitchFamily="2" charset="2"/>
                <a:buChar char="Ø"/>
              </a:pPr>
              <a:r>
                <a:rPr lang="en-IN" sz="900" dirty="0"/>
                <a:t>Establish a deterministic baseline for SQL → MongoDB translation</a:t>
              </a:r>
            </a:p>
            <a:p>
              <a:pPr marL="285750" indent="-285750">
                <a:buFont typeface="Wingdings" pitchFamily="2" charset="2"/>
                <a:buChar char="Ø"/>
              </a:pPr>
              <a:r>
                <a:rPr lang="en-IN" sz="900" dirty="0"/>
                <a:t>Understand core mapping rules between SQL and MongoDB</a:t>
              </a:r>
            </a:p>
            <a:p>
              <a:pPr marL="285750" indent="-285750">
                <a:buFont typeface="Wingdings" pitchFamily="2" charset="2"/>
                <a:buChar char="Ø"/>
              </a:pPr>
              <a:r>
                <a:rPr lang="en-IN" sz="900" dirty="0"/>
                <a:t>Generate weakly supervised training data for neural models</a:t>
              </a:r>
            </a:p>
            <a:p>
              <a:pPr marL="285750" indent="-285750">
                <a:buFont typeface="Wingdings" pitchFamily="2" charset="2"/>
                <a:buChar char="Ø"/>
              </a:pPr>
              <a:r>
                <a:rPr lang="en-IN" sz="900" dirty="0"/>
                <a:t>Avoid dependency on large models initially</a:t>
              </a:r>
            </a:p>
            <a:p>
              <a:pPr marL="285750" indent="-285750">
                <a:buFont typeface="Wingdings" pitchFamily="2" charset="2"/>
                <a:buChar char="Ø"/>
              </a:pPr>
              <a:r>
                <a:rPr lang="en-IN" sz="900" dirty="0"/>
                <a:t>Serve as a teacher model for later learning-based approaches</a:t>
              </a:r>
            </a:p>
          </p:txBody>
        </p:sp>
      </p:grpSp>
      <p:grpSp>
        <p:nvGrpSpPr>
          <p:cNvPr id="18" name="Группа 8">
            <a:extLst>
              <a:ext uri="{FF2B5EF4-FFF2-40B4-BE49-F238E27FC236}">
                <a16:creationId xmlns:a16="http://schemas.microsoft.com/office/drawing/2014/main" id="{DF7CE652-6E55-DABD-DE3F-39CA45673609}"/>
              </a:ext>
            </a:extLst>
          </p:cNvPr>
          <p:cNvGrpSpPr/>
          <p:nvPr/>
        </p:nvGrpSpPr>
        <p:grpSpPr>
          <a:xfrm>
            <a:off x="1187634" y="3927796"/>
            <a:ext cx="4682176" cy="2268288"/>
            <a:chOff x="0" y="1706944"/>
            <a:chExt cx="9365571" cy="3350833"/>
          </a:xfrm>
        </p:grpSpPr>
        <p:sp>
          <p:nvSpPr>
            <p:cNvPr id="19" name="Freeform 18">
              <a:extLst>
                <a:ext uri="{FF2B5EF4-FFF2-40B4-BE49-F238E27FC236}">
                  <a16:creationId xmlns:a16="http://schemas.microsoft.com/office/drawing/2014/main" id="{79C6C381-F270-44F7-2AC8-C8180F63BB87}"/>
                </a:ext>
              </a:extLst>
            </p:cNvPr>
            <p:cNvSpPr/>
            <p:nvPr/>
          </p:nvSpPr>
          <p:spPr>
            <a:xfrm flipH="1">
              <a:off x="0" y="1881023"/>
              <a:ext cx="9365571" cy="3176754"/>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0" name="Текст 2">
              <a:extLst>
                <a:ext uri="{FF2B5EF4-FFF2-40B4-BE49-F238E27FC236}">
                  <a16:creationId xmlns:a16="http://schemas.microsoft.com/office/drawing/2014/main" id="{8AA8771C-B1A6-A37B-0A23-4E934231695D}"/>
                </a:ext>
              </a:extLst>
            </p:cNvPr>
            <p:cNvSpPr txBox="1">
              <a:spLocks/>
            </p:cNvSpPr>
            <p:nvPr/>
          </p:nvSpPr>
          <p:spPr>
            <a:xfrm flipH="1">
              <a:off x="451421" y="1706944"/>
              <a:ext cx="8168433" cy="3065424"/>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How it worked</a:t>
              </a:r>
            </a:p>
            <a:p>
              <a:pPr marL="0" indent="0">
                <a:buNone/>
              </a:pPr>
              <a:r>
                <a:rPr lang="en-IN" sz="700" b="1" dirty="0"/>
                <a:t>Parsed SQL queries using an AST-based SQL parser</a:t>
              </a:r>
            </a:p>
            <a:p>
              <a:pPr marL="0" indent="0">
                <a:buNone/>
              </a:pPr>
              <a:endParaRPr lang="en-IN" sz="700" b="1" dirty="0"/>
            </a:p>
            <a:p>
              <a:pPr marL="0" indent="0">
                <a:buNone/>
              </a:pPr>
              <a:r>
                <a:rPr lang="en-IN" sz="700" b="1" dirty="0"/>
                <a:t>Identified SQL clauses (SELECT, WHERE, JOIN, ORDER BY, LIMIT)</a:t>
              </a:r>
            </a:p>
            <a:p>
              <a:pPr marL="0" indent="0">
                <a:buNone/>
              </a:pPr>
              <a:endParaRPr lang="en-IN" sz="700" b="1" dirty="0"/>
            </a:p>
            <a:p>
              <a:pPr marL="0" indent="0">
                <a:buNone/>
              </a:pPr>
              <a:r>
                <a:rPr lang="en-IN" sz="700" b="1" dirty="0"/>
                <a:t>Mapped each clause to a corresponding MongoDB operator</a:t>
              </a:r>
            </a:p>
            <a:p>
              <a:pPr marL="0" indent="0">
                <a:buNone/>
              </a:pPr>
              <a:endParaRPr lang="en-IN" sz="700" b="1" dirty="0"/>
            </a:p>
            <a:p>
              <a:pPr marL="0" indent="0">
                <a:buNone/>
              </a:pPr>
              <a:r>
                <a:rPr lang="en-IN" sz="700" b="1" dirty="0"/>
                <a:t>Constructed MongoDB aggregation pipelines programmatically</a:t>
              </a:r>
            </a:p>
            <a:p>
              <a:pPr marL="0" indent="0">
                <a:buNone/>
              </a:pPr>
              <a:endParaRPr lang="en-IN" sz="700" b="1" dirty="0"/>
            </a:p>
            <a:p>
              <a:pPr marL="0" indent="0">
                <a:buNone/>
              </a:pPr>
              <a:r>
                <a:rPr lang="en-IN" sz="700" b="1" dirty="0"/>
                <a:t>Returned deterministic MongoDB queries without learning</a:t>
              </a:r>
            </a:p>
          </p:txBody>
        </p:sp>
      </p:grpSp>
      <p:grpSp>
        <p:nvGrpSpPr>
          <p:cNvPr id="21" name="Группа 8">
            <a:extLst>
              <a:ext uri="{FF2B5EF4-FFF2-40B4-BE49-F238E27FC236}">
                <a16:creationId xmlns:a16="http://schemas.microsoft.com/office/drawing/2014/main" id="{0579CF96-6E7F-7714-05B4-824F5B971200}"/>
              </a:ext>
            </a:extLst>
          </p:cNvPr>
          <p:cNvGrpSpPr/>
          <p:nvPr/>
        </p:nvGrpSpPr>
        <p:grpSpPr>
          <a:xfrm>
            <a:off x="6322190" y="4016378"/>
            <a:ext cx="4682176" cy="2179706"/>
            <a:chOff x="0" y="1881023"/>
            <a:chExt cx="9365571" cy="2968447"/>
          </a:xfrm>
        </p:grpSpPr>
        <p:sp>
          <p:nvSpPr>
            <p:cNvPr id="22" name="Freeform 21">
              <a:extLst>
                <a:ext uri="{FF2B5EF4-FFF2-40B4-BE49-F238E27FC236}">
                  <a16:creationId xmlns:a16="http://schemas.microsoft.com/office/drawing/2014/main" id="{4AD9592E-9438-DA69-623E-386861F0454A}"/>
                </a:ext>
              </a:extLst>
            </p:cNvPr>
            <p:cNvSpPr/>
            <p:nvPr/>
          </p:nvSpPr>
          <p:spPr>
            <a:xfrm flipH="1">
              <a:off x="0" y="1881023"/>
              <a:ext cx="9365571" cy="2968447"/>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3" name="Текст 2">
              <a:extLst>
                <a:ext uri="{FF2B5EF4-FFF2-40B4-BE49-F238E27FC236}">
                  <a16:creationId xmlns:a16="http://schemas.microsoft.com/office/drawing/2014/main" id="{7765B226-468C-0283-929D-B3A74E743401}"/>
                </a:ext>
              </a:extLst>
            </p:cNvPr>
            <p:cNvSpPr txBox="1">
              <a:spLocks/>
            </p:cNvSpPr>
            <p:nvPr/>
          </p:nvSpPr>
          <p:spPr>
            <a:xfrm flipH="1">
              <a:off x="451423" y="1889162"/>
              <a:ext cx="8168433" cy="2737383"/>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Why It failed</a:t>
              </a:r>
            </a:p>
            <a:p>
              <a:pPr marL="171450" indent="-171450">
                <a:buFont typeface="Wingdings" pitchFamily="2" charset="2"/>
                <a:buChar char="Ø"/>
              </a:pPr>
              <a:r>
                <a:rPr lang="en-IN" sz="900" dirty="0"/>
                <a:t>Could not handle complex SQL constructs (GROUP BY, HAVING)</a:t>
              </a:r>
            </a:p>
            <a:p>
              <a:pPr marL="171450" indent="-171450">
                <a:buFont typeface="Wingdings" pitchFamily="2" charset="2"/>
                <a:buChar char="Ø"/>
              </a:pPr>
              <a:r>
                <a:rPr lang="en-IN" sz="900" dirty="0"/>
                <a:t>Failed on nested queries and subqueries</a:t>
              </a:r>
            </a:p>
            <a:p>
              <a:pPr marL="171450" indent="-171450">
                <a:buFont typeface="Wingdings" pitchFamily="2" charset="2"/>
                <a:buChar char="Ø"/>
              </a:pPr>
              <a:r>
                <a:rPr lang="en-IN" sz="900" dirty="0"/>
                <a:t>Required manual rules for every SQL pattern</a:t>
              </a:r>
            </a:p>
            <a:p>
              <a:pPr marL="171450" indent="-171450">
                <a:buFont typeface="Wingdings" pitchFamily="2" charset="2"/>
                <a:buChar char="Ø"/>
              </a:pPr>
              <a:r>
                <a:rPr lang="en-IN" sz="900" dirty="0"/>
                <a:t>Did not generalize to unseen schemas or queries</a:t>
              </a:r>
            </a:p>
            <a:p>
              <a:pPr marL="171450" indent="-171450">
                <a:buFont typeface="Wingdings" pitchFamily="2" charset="2"/>
                <a:buChar char="Ø"/>
              </a:pPr>
              <a:r>
                <a:rPr lang="en-IN" sz="900" dirty="0"/>
                <a:t>Scaling rule coverage became unmanageable and brittle</a:t>
              </a:r>
            </a:p>
          </p:txBody>
        </p:sp>
      </p:grpSp>
      <p:grpSp>
        <p:nvGrpSpPr>
          <p:cNvPr id="24" name="Группа 8">
            <a:extLst>
              <a:ext uri="{FF2B5EF4-FFF2-40B4-BE49-F238E27FC236}">
                <a16:creationId xmlns:a16="http://schemas.microsoft.com/office/drawing/2014/main" id="{C9A22D84-F61A-B422-42ED-4CED76077DDD}"/>
              </a:ext>
            </a:extLst>
          </p:cNvPr>
          <p:cNvGrpSpPr/>
          <p:nvPr/>
        </p:nvGrpSpPr>
        <p:grpSpPr>
          <a:xfrm>
            <a:off x="6322190" y="1670156"/>
            <a:ext cx="4682176" cy="2110274"/>
            <a:chOff x="0" y="1881023"/>
            <a:chExt cx="9365571" cy="2968447"/>
          </a:xfrm>
        </p:grpSpPr>
        <p:sp>
          <p:nvSpPr>
            <p:cNvPr id="25" name="Freeform 24">
              <a:extLst>
                <a:ext uri="{FF2B5EF4-FFF2-40B4-BE49-F238E27FC236}">
                  <a16:creationId xmlns:a16="http://schemas.microsoft.com/office/drawing/2014/main" id="{769568D6-27DF-5152-C990-4649F0CF0407}"/>
                </a:ext>
              </a:extLst>
            </p:cNvPr>
            <p:cNvSpPr/>
            <p:nvPr/>
          </p:nvSpPr>
          <p:spPr>
            <a:xfrm flipH="1">
              <a:off x="0" y="1881023"/>
              <a:ext cx="9365571" cy="2968447"/>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6" name="Текст 2">
              <a:extLst>
                <a:ext uri="{FF2B5EF4-FFF2-40B4-BE49-F238E27FC236}">
                  <a16:creationId xmlns:a16="http://schemas.microsoft.com/office/drawing/2014/main" id="{34EC62A2-AEB3-0BB0-6658-1F7BDE520B00}"/>
                </a:ext>
              </a:extLst>
            </p:cNvPr>
            <p:cNvSpPr txBox="1">
              <a:spLocks/>
            </p:cNvSpPr>
            <p:nvPr/>
          </p:nvSpPr>
          <p:spPr>
            <a:xfrm flipH="1">
              <a:off x="451421" y="1889162"/>
              <a:ext cx="8168433" cy="2780013"/>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Process</a:t>
              </a:r>
            </a:p>
            <a:p>
              <a:pPr marL="171450" indent="-171450">
                <a:buFont typeface="Wingdings" pitchFamily="2" charset="2"/>
                <a:buChar char="Ø"/>
              </a:pPr>
              <a:r>
                <a:rPr lang="en-IN" sz="900" dirty="0"/>
                <a:t>Input SQL query</a:t>
              </a:r>
            </a:p>
            <a:p>
              <a:pPr marL="171450" indent="-171450">
                <a:buFont typeface="Wingdings" pitchFamily="2" charset="2"/>
                <a:buChar char="Ø"/>
              </a:pPr>
              <a:r>
                <a:rPr lang="en-IN" sz="900" dirty="0"/>
                <a:t>Parse SQL into Abstract Syntax Tree (AST)</a:t>
              </a:r>
            </a:p>
            <a:p>
              <a:pPr marL="171450" indent="-171450">
                <a:buFont typeface="Wingdings" pitchFamily="2" charset="2"/>
                <a:buChar char="Ø"/>
              </a:pPr>
              <a:r>
                <a:rPr lang="en-IN" sz="900" dirty="0"/>
                <a:t>Apply hardcoded mapping rules:</a:t>
              </a:r>
            </a:p>
            <a:p>
              <a:pPr marL="171450" indent="-171450">
                <a:buFont typeface="Wingdings" pitchFamily="2" charset="2"/>
                <a:buChar char="Ø"/>
              </a:pPr>
              <a:r>
                <a:rPr lang="en-IN" sz="900" dirty="0"/>
                <a:t>SELECT → $project</a:t>
              </a:r>
            </a:p>
            <a:p>
              <a:pPr marL="171450" indent="-171450">
                <a:buFont typeface="Wingdings" pitchFamily="2" charset="2"/>
                <a:buChar char="Ø"/>
              </a:pPr>
              <a:r>
                <a:rPr lang="en-IN" sz="900" dirty="0"/>
                <a:t>WHERE → $match</a:t>
              </a:r>
            </a:p>
            <a:p>
              <a:pPr marL="171450" indent="-171450">
                <a:buFont typeface="Wingdings" pitchFamily="2" charset="2"/>
                <a:buChar char="Ø"/>
              </a:pPr>
              <a:r>
                <a:rPr lang="en-IN" sz="900" dirty="0"/>
                <a:t>JOIN → $lookup</a:t>
              </a:r>
            </a:p>
            <a:p>
              <a:pPr marL="171450" indent="-171450">
                <a:buFont typeface="Wingdings" pitchFamily="2" charset="2"/>
                <a:buChar char="Ø"/>
              </a:pPr>
              <a:r>
                <a:rPr lang="en-IN" sz="900" dirty="0"/>
                <a:t>Assemble MongoDB aggregation pipeline</a:t>
              </a:r>
            </a:p>
            <a:p>
              <a:pPr marL="171450" indent="-171450">
                <a:buFont typeface="Wingdings" pitchFamily="2" charset="2"/>
                <a:buChar char="Ø"/>
              </a:pPr>
              <a:r>
                <a:rPr lang="en-IN" sz="900" dirty="0"/>
                <a:t>Output MongoDB query</a:t>
              </a:r>
            </a:p>
          </p:txBody>
        </p:sp>
      </p:grpSp>
      <p:pic>
        <p:nvPicPr>
          <p:cNvPr id="3" name="Graphic 2">
            <a:extLst>
              <a:ext uri="{FF2B5EF4-FFF2-40B4-BE49-F238E27FC236}">
                <a16:creationId xmlns:a16="http://schemas.microsoft.com/office/drawing/2014/main" id="{5E13D869-C005-858A-4AFF-C4BC1E818FF4}"/>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10273980" y="0"/>
            <a:ext cx="289387" cy="349581"/>
          </a:xfrm>
          <a:prstGeom prst="rect">
            <a:avLst/>
          </a:prstGeom>
        </p:spPr>
      </p:pic>
      <p:sp>
        <p:nvSpPr>
          <p:cNvPr id="4" name="TextBox 3">
            <a:extLst>
              <a:ext uri="{FF2B5EF4-FFF2-40B4-BE49-F238E27FC236}">
                <a16:creationId xmlns:a16="http://schemas.microsoft.com/office/drawing/2014/main" id="{49EC35E3-0826-8F05-34B8-C2FE90903134}"/>
              </a:ext>
            </a:extLst>
          </p:cNvPr>
          <p:cNvSpPr txBox="1"/>
          <p:nvPr/>
        </p:nvSpPr>
        <p:spPr>
          <a:xfrm>
            <a:off x="10563367" y="0"/>
            <a:ext cx="1091821" cy="382137"/>
          </a:xfrm>
          <a:prstGeom prst="rect">
            <a:avLst/>
          </a:prstGeom>
          <a:noFill/>
        </p:spPr>
        <p:txBody>
          <a:bodyPr wrap="square" rtlCol="0">
            <a:spAutoFit/>
          </a:bodyPr>
          <a:lstStyle/>
          <a:p>
            <a:r>
              <a:rPr lang="en-US" dirty="0"/>
              <a:t>Anant</a:t>
            </a:r>
          </a:p>
        </p:txBody>
      </p:sp>
    </p:spTree>
    <p:extLst>
      <p:ext uri="{BB962C8B-B14F-4D97-AF65-F5344CB8AC3E}">
        <p14:creationId xmlns:p14="http://schemas.microsoft.com/office/powerpoint/2010/main" val="1348381375"/>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50000">
                                      <p:stCondLst>
                                        <p:cond delay="100"/>
                                      </p:stCondLst>
                                      <p:childTnLst>
                                        <p:set>
                                          <p:cBhvr>
                                            <p:cTn id="6" dur="1" fill="hold">
                                              <p:stCondLst>
                                                <p:cond delay="0"/>
                                              </p:stCondLst>
                                            </p:cTn>
                                            <p:tgtEl>
                                              <p:spTgt spid="15"/>
                                            </p:tgtEl>
                                            <p:attrNameLst>
                                              <p:attrName>style.visibility</p:attrName>
                                            </p:attrNameLst>
                                          </p:cBhvr>
                                          <p:to>
                                            <p:strVal val="visible"/>
                                          </p:to>
                                        </p:set>
                                        <p:anim calcmode="lin" valueType="num" p14:bounceEnd="50000">
                                          <p:cBhvr additive="base">
                                            <p:cTn id="7" dur="500" fill="hold"/>
                                            <p:tgtEl>
                                              <p:spTgt spid="15"/>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50000">
                                      <p:stCondLst>
                                        <p:cond delay="100"/>
                                      </p:stCondLst>
                                      <p:childTnLst>
                                        <p:set>
                                          <p:cBhvr>
                                            <p:cTn id="10" dur="1" fill="hold">
                                              <p:stCondLst>
                                                <p:cond delay="0"/>
                                              </p:stCondLst>
                                            </p:cTn>
                                            <p:tgtEl>
                                              <p:spTgt spid="18"/>
                                            </p:tgtEl>
                                            <p:attrNameLst>
                                              <p:attrName>style.visibility</p:attrName>
                                            </p:attrNameLst>
                                          </p:cBhvr>
                                          <p:to>
                                            <p:strVal val="visible"/>
                                          </p:to>
                                        </p:set>
                                        <p:anim calcmode="lin" valueType="num" p14:bounceEnd="50000">
                                          <p:cBhvr additive="base">
                                            <p:cTn id="11" dur="500" fill="hold"/>
                                            <p:tgtEl>
                                              <p:spTgt spid="18"/>
                                            </p:tgtEl>
                                            <p:attrNameLst>
                                              <p:attrName>ppt_x</p:attrName>
                                            </p:attrNameLst>
                                          </p:cBhvr>
                                          <p:tavLst>
                                            <p:tav tm="0">
                                              <p:val>
                                                <p:strVal val="0-#ppt_w/2"/>
                                              </p:val>
                                            </p:tav>
                                            <p:tav tm="100000">
                                              <p:val>
                                                <p:strVal val="#ppt_x"/>
                                              </p:val>
                                            </p:tav>
                                          </p:tavLst>
                                        </p:anim>
                                        <p:anim calcmode="lin" valueType="num" p14:bounceEnd="50000">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50000">
                                      <p:stCondLst>
                                        <p:cond delay="100"/>
                                      </p:stCondLst>
                                      <p:childTnLst>
                                        <p:set>
                                          <p:cBhvr>
                                            <p:cTn id="14" dur="1" fill="hold">
                                              <p:stCondLst>
                                                <p:cond delay="0"/>
                                              </p:stCondLst>
                                            </p:cTn>
                                            <p:tgtEl>
                                              <p:spTgt spid="21"/>
                                            </p:tgtEl>
                                            <p:attrNameLst>
                                              <p:attrName>style.visibility</p:attrName>
                                            </p:attrNameLst>
                                          </p:cBhvr>
                                          <p:to>
                                            <p:strVal val="visible"/>
                                          </p:to>
                                        </p:set>
                                        <p:anim calcmode="lin" valueType="num" p14:bounceEnd="50000">
                                          <p:cBhvr additive="base">
                                            <p:cTn id="15" dur="500" fill="hold"/>
                                            <p:tgtEl>
                                              <p:spTgt spid="21"/>
                                            </p:tgtEl>
                                            <p:attrNameLst>
                                              <p:attrName>ppt_x</p:attrName>
                                            </p:attrNameLst>
                                          </p:cBhvr>
                                          <p:tavLst>
                                            <p:tav tm="0">
                                              <p:val>
                                                <p:strVal val="0-#ppt_w/2"/>
                                              </p:val>
                                            </p:tav>
                                            <p:tav tm="100000">
                                              <p:val>
                                                <p:strVal val="#ppt_x"/>
                                              </p:val>
                                            </p:tav>
                                          </p:tavLst>
                                        </p:anim>
                                        <p:anim calcmode="lin" valueType="num" p14:bounceEnd="50000">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14:presetBounceEnd="50000">
                                      <p:stCondLst>
                                        <p:cond delay="100"/>
                                      </p:stCondLst>
                                      <p:childTnLst>
                                        <p:set>
                                          <p:cBhvr>
                                            <p:cTn id="18" dur="1" fill="hold">
                                              <p:stCondLst>
                                                <p:cond delay="0"/>
                                              </p:stCondLst>
                                            </p:cTn>
                                            <p:tgtEl>
                                              <p:spTgt spid="24"/>
                                            </p:tgtEl>
                                            <p:attrNameLst>
                                              <p:attrName>style.visibility</p:attrName>
                                            </p:attrNameLst>
                                          </p:cBhvr>
                                          <p:to>
                                            <p:strVal val="visible"/>
                                          </p:to>
                                        </p:set>
                                        <p:anim calcmode="lin" valueType="num" p14:bounceEnd="50000">
                                          <p:cBhvr additive="base">
                                            <p:cTn id="19" dur="500" fill="hold"/>
                                            <p:tgtEl>
                                              <p:spTgt spid="24"/>
                                            </p:tgtEl>
                                            <p:attrNameLst>
                                              <p:attrName>ppt_x</p:attrName>
                                            </p:attrNameLst>
                                          </p:cBhvr>
                                          <p:tavLst>
                                            <p:tav tm="0">
                                              <p:val>
                                                <p:strVal val="0-#ppt_w/2"/>
                                              </p:val>
                                            </p:tav>
                                            <p:tav tm="100000">
                                              <p:val>
                                                <p:strVal val="#ppt_x"/>
                                              </p:val>
                                            </p:tav>
                                          </p:tavLst>
                                        </p:anim>
                                        <p:anim calcmode="lin" valueType="num" p14:bounceEnd="50000">
                                          <p:cBhvr additive="base">
                                            <p:cTn id="20"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10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1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0-#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1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10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0-#ppt_w/2"/>
                                              </p:val>
                                            </p:tav>
                                            <p:tav tm="100000">
                                              <p:val>
                                                <p:strVal val="#ppt_x"/>
                                              </p:val>
                                            </p:tav>
                                          </p:tavLst>
                                        </p:anim>
                                        <p:anim calcmode="lin" valueType="num">
                                          <p:cBhvr additive="base">
                                            <p:cTn id="20"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582EE-7FAA-156E-5819-25200C554FB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92DFDBE-B6A4-C9F1-BB22-93DEE0F6BA1C}"/>
              </a:ext>
            </a:extLst>
          </p:cNvPr>
          <p:cNvSpPr txBox="1">
            <a:spLocks/>
          </p:cNvSpPr>
          <p:nvPr/>
        </p:nvSpPr>
        <p:spPr>
          <a:xfrm>
            <a:off x="1523999" y="104798"/>
            <a:ext cx="10030691" cy="1189429"/>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6500" dirty="0"/>
              <a:t>Model 2</a:t>
            </a:r>
            <a:r>
              <a:rPr lang="en-US" dirty="0"/>
              <a:t>: </a:t>
            </a:r>
            <a:r>
              <a:rPr lang="en-IN" sz="4000" dirty="0"/>
              <a:t>T5-Small Fine-Tuned for </a:t>
            </a:r>
            <a:r>
              <a:rPr lang="en-IN" sz="4000" dirty="0" err="1"/>
              <a:t>SQL→Mongo</a:t>
            </a:r>
            <a:endParaRPr lang="en-US" sz="4000" dirty="0"/>
          </a:p>
        </p:txBody>
      </p:sp>
      <p:grpSp>
        <p:nvGrpSpPr>
          <p:cNvPr id="3" name="Группа 8">
            <a:extLst>
              <a:ext uri="{FF2B5EF4-FFF2-40B4-BE49-F238E27FC236}">
                <a16:creationId xmlns:a16="http://schemas.microsoft.com/office/drawing/2014/main" id="{78212596-165F-57C4-8DB1-B477875988DA}"/>
              </a:ext>
            </a:extLst>
          </p:cNvPr>
          <p:cNvGrpSpPr/>
          <p:nvPr/>
        </p:nvGrpSpPr>
        <p:grpSpPr>
          <a:xfrm>
            <a:off x="860542" y="1915817"/>
            <a:ext cx="4682176" cy="2321984"/>
            <a:chOff x="0" y="1881025"/>
            <a:chExt cx="9365571" cy="4644571"/>
          </a:xfrm>
        </p:grpSpPr>
        <p:sp>
          <p:nvSpPr>
            <p:cNvPr id="4" name="Freeform 3">
              <a:extLst>
                <a:ext uri="{FF2B5EF4-FFF2-40B4-BE49-F238E27FC236}">
                  <a16:creationId xmlns:a16="http://schemas.microsoft.com/office/drawing/2014/main" id="{031DFD48-2235-2A22-26B4-A04F2072F1F8}"/>
                </a:ext>
              </a:extLst>
            </p:cNvPr>
            <p:cNvSpPr/>
            <p:nvPr/>
          </p:nvSpPr>
          <p:spPr>
            <a:xfrm flipH="1">
              <a:off x="0" y="1881025"/>
              <a:ext cx="9365571" cy="4644571"/>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17" name="Текст 2">
              <a:extLst>
                <a:ext uri="{FF2B5EF4-FFF2-40B4-BE49-F238E27FC236}">
                  <a16:creationId xmlns:a16="http://schemas.microsoft.com/office/drawing/2014/main" id="{0D10138E-5C1E-5604-AAF3-58463CACAC5E}"/>
                </a:ext>
              </a:extLst>
            </p:cNvPr>
            <p:cNvSpPr txBox="1">
              <a:spLocks/>
            </p:cNvSpPr>
            <p:nvPr/>
          </p:nvSpPr>
          <p:spPr>
            <a:xfrm flipH="1">
              <a:off x="451421" y="1889162"/>
              <a:ext cx="8168433" cy="4023354"/>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Motivation</a:t>
              </a:r>
            </a:p>
            <a:p>
              <a:pPr marL="285750" indent="-285750">
                <a:buFont typeface="Wingdings" pitchFamily="2" charset="2"/>
                <a:buChar char="Ø"/>
              </a:pPr>
              <a:r>
                <a:rPr lang="en-IN" sz="900" dirty="0"/>
                <a:t>Overcome rigidity of rule-based systems</a:t>
              </a:r>
            </a:p>
            <a:p>
              <a:pPr marL="285750" indent="-285750">
                <a:buFont typeface="Wingdings" pitchFamily="2" charset="2"/>
                <a:buChar char="Ø"/>
              </a:pPr>
              <a:r>
                <a:rPr lang="en-IN" sz="900" dirty="0"/>
                <a:t>Learn SQL → MongoDB translation automatically from data</a:t>
              </a:r>
            </a:p>
            <a:p>
              <a:pPr marL="285750" indent="-285750">
                <a:buFont typeface="Wingdings" pitchFamily="2" charset="2"/>
                <a:buChar char="Ø"/>
              </a:pPr>
              <a:r>
                <a:rPr lang="en-IN" sz="900" dirty="0"/>
                <a:t>Handle complex SQL patterns without manual rules</a:t>
              </a:r>
            </a:p>
            <a:p>
              <a:pPr marL="285750" indent="-285750">
                <a:buFont typeface="Wingdings" pitchFamily="2" charset="2"/>
                <a:buChar char="Ø"/>
              </a:pPr>
              <a:r>
                <a:rPr lang="en-IN" sz="900" dirty="0"/>
                <a:t>Leverage pretrained language understanding</a:t>
              </a:r>
            </a:p>
            <a:p>
              <a:pPr marL="285750" indent="-285750">
                <a:buFont typeface="Wingdings" pitchFamily="2" charset="2"/>
                <a:buChar char="Ø"/>
              </a:pPr>
              <a:r>
                <a:rPr lang="en-IN" sz="900" dirty="0"/>
                <a:t>Build a scalable neural translator</a:t>
              </a:r>
            </a:p>
          </p:txBody>
        </p:sp>
      </p:grpSp>
      <p:grpSp>
        <p:nvGrpSpPr>
          <p:cNvPr id="18" name="Группа 8">
            <a:extLst>
              <a:ext uri="{FF2B5EF4-FFF2-40B4-BE49-F238E27FC236}">
                <a16:creationId xmlns:a16="http://schemas.microsoft.com/office/drawing/2014/main" id="{B3FD34BE-B338-67B6-BBF4-BAA8BFB9DEC7}"/>
              </a:ext>
            </a:extLst>
          </p:cNvPr>
          <p:cNvGrpSpPr/>
          <p:nvPr/>
        </p:nvGrpSpPr>
        <p:grpSpPr>
          <a:xfrm>
            <a:off x="860542" y="4380487"/>
            <a:ext cx="4682176" cy="2074904"/>
            <a:chOff x="0" y="1706944"/>
            <a:chExt cx="9365571" cy="4150347"/>
          </a:xfrm>
        </p:grpSpPr>
        <p:sp>
          <p:nvSpPr>
            <p:cNvPr id="19" name="Freeform 18">
              <a:extLst>
                <a:ext uri="{FF2B5EF4-FFF2-40B4-BE49-F238E27FC236}">
                  <a16:creationId xmlns:a16="http://schemas.microsoft.com/office/drawing/2014/main" id="{DF4E69D4-42CF-CCCB-663D-E75C357D58DD}"/>
                </a:ext>
              </a:extLst>
            </p:cNvPr>
            <p:cNvSpPr/>
            <p:nvPr/>
          </p:nvSpPr>
          <p:spPr>
            <a:xfrm flipH="1">
              <a:off x="0" y="1881023"/>
              <a:ext cx="9365571" cy="3976268"/>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0" name="Текст 2">
              <a:extLst>
                <a:ext uri="{FF2B5EF4-FFF2-40B4-BE49-F238E27FC236}">
                  <a16:creationId xmlns:a16="http://schemas.microsoft.com/office/drawing/2014/main" id="{D5BF68F0-4C08-60BF-647B-514A2169F16E}"/>
                </a:ext>
              </a:extLst>
            </p:cNvPr>
            <p:cNvSpPr txBox="1">
              <a:spLocks/>
            </p:cNvSpPr>
            <p:nvPr/>
          </p:nvSpPr>
          <p:spPr>
            <a:xfrm flipH="1">
              <a:off x="451419" y="1706944"/>
              <a:ext cx="8168433" cy="4150347"/>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How it worked</a:t>
              </a:r>
            </a:p>
            <a:p>
              <a:pPr marL="0" indent="0">
                <a:buNone/>
              </a:pPr>
              <a:r>
                <a:rPr lang="en-IN" sz="900" dirty="0"/>
                <a:t>Used </a:t>
              </a:r>
              <a:r>
                <a:rPr lang="en-IN" sz="900" b="1" dirty="0"/>
                <a:t>T5 encoder–decoder architecture</a:t>
              </a:r>
            </a:p>
            <a:p>
              <a:pPr marL="0" indent="0">
                <a:buNone/>
              </a:pPr>
              <a:endParaRPr lang="en-IN" sz="900" dirty="0"/>
            </a:p>
            <a:p>
              <a:pPr marL="0" indent="0">
                <a:buNone/>
              </a:pPr>
              <a:r>
                <a:rPr lang="en-IN" sz="900" dirty="0"/>
                <a:t>Input: SQL query as text</a:t>
              </a:r>
            </a:p>
            <a:p>
              <a:pPr marL="0" indent="0">
                <a:buNone/>
              </a:pPr>
              <a:endParaRPr lang="en-IN" sz="900" dirty="0"/>
            </a:p>
            <a:p>
              <a:pPr marL="0" indent="0">
                <a:buNone/>
              </a:pPr>
              <a:r>
                <a:rPr lang="en-IN" sz="900" dirty="0"/>
                <a:t>Output: MongoDB aggregation pipeline as JSON</a:t>
              </a:r>
            </a:p>
            <a:p>
              <a:pPr marL="0" indent="0">
                <a:buNone/>
              </a:pPr>
              <a:endParaRPr lang="en-IN" sz="900" dirty="0"/>
            </a:p>
            <a:p>
              <a:pPr marL="0" indent="0">
                <a:buNone/>
              </a:pPr>
              <a:r>
                <a:rPr lang="en-IN" sz="900" dirty="0"/>
                <a:t>Fine-tuned on SQL → MongoDB pairs</a:t>
              </a:r>
            </a:p>
            <a:p>
              <a:pPr marL="0" indent="0">
                <a:buNone/>
              </a:pPr>
              <a:endParaRPr lang="en-IN" sz="900" dirty="0"/>
            </a:p>
            <a:p>
              <a:pPr marL="0" indent="0">
                <a:buNone/>
              </a:pPr>
              <a:r>
                <a:rPr lang="en-IN" sz="900" dirty="0"/>
                <a:t>Learned transformation patterns end-to-end</a:t>
              </a:r>
            </a:p>
          </p:txBody>
        </p:sp>
      </p:grpSp>
      <p:grpSp>
        <p:nvGrpSpPr>
          <p:cNvPr id="21" name="Группа 8">
            <a:extLst>
              <a:ext uri="{FF2B5EF4-FFF2-40B4-BE49-F238E27FC236}">
                <a16:creationId xmlns:a16="http://schemas.microsoft.com/office/drawing/2014/main" id="{941EE706-60E0-986B-C854-1CBF2E65C0A1}"/>
              </a:ext>
            </a:extLst>
          </p:cNvPr>
          <p:cNvGrpSpPr/>
          <p:nvPr/>
        </p:nvGrpSpPr>
        <p:grpSpPr>
          <a:xfrm>
            <a:off x="5994644" y="4382040"/>
            <a:ext cx="4682176" cy="2073351"/>
            <a:chOff x="0" y="1881023"/>
            <a:chExt cx="9365571" cy="2968447"/>
          </a:xfrm>
        </p:grpSpPr>
        <p:sp>
          <p:nvSpPr>
            <p:cNvPr id="22" name="Freeform 21">
              <a:extLst>
                <a:ext uri="{FF2B5EF4-FFF2-40B4-BE49-F238E27FC236}">
                  <a16:creationId xmlns:a16="http://schemas.microsoft.com/office/drawing/2014/main" id="{1B6E9C66-3C5C-9FF3-F288-7A6E58B92F3C}"/>
                </a:ext>
              </a:extLst>
            </p:cNvPr>
            <p:cNvSpPr/>
            <p:nvPr/>
          </p:nvSpPr>
          <p:spPr>
            <a:xfrm flipH="1">
              <a:off x="0" y="1881023"/>
              <a:ext cx="9365571" cy="2968447"/>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3" name="Текст 2">
              <a:extLst>
                <a:ext uri="{FF2B5EF4-FFF2-40B4-BE49-F238E27FC236}">
                  <a16:creationId xmlns:a16="http://schemas.microsoft.com/office/drawing/2014/main" id="{B6A47101-8AD1-9F4F-0D8C-F9A6CFBD30C3}"/>
                </a:ext>
              </a:extLst>
            </p:cNvPr>
            <p:cNvSpPr txBox="1">
              <a:spLocks/>
            </p:cNvSpPr>
            <p:nvPr/>
          </p:nvSpPr>
          <p:spPr>
            <a:xfrm flipH="1">
              <a:off x="451423" y="1889162"/>
              <a:ext cx="8168433" cy="2737383"/>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Why It failed</a:t>
              </a:r>
            </a:p>
            <a:p>
              <a:pPr marL="171450" indent="-171450">
                <a:buFont typeface="Wingdings" pitchFamily="2" charset="2"/>
                <a:buChar char="Ø"/>
              </a:pPr>
              <a:r>
                <a:rPr lang="en-IN" sz="900" dirty="0"/>
                <a:t>Training data was weak and noisy (empty pipelines)</a:t>
              </a:r>
            </a:p>
            <a:p>
              <a:pPr marL="171450" indent="-171450">
                <a:buFont typeface="Wingdings" pitchFamily="2" charset="2"/>
                <a:buChar char="Ø"/>
              </a:pPr>
              <a:r>
                <a:rPr lang="en-IN" sz="900" dirty="0"/>
                <a:t>Model learned to output trivial solutions </a:t>
              </a:r>
            </a:p>
            <a:p>
              <a:pPr marL="171450" indent="-171450">
                <a:buFont typeface="Wingdings" pitchFamily="2" charset="2"/>
                <a:buChar char="Ø"/>
              </a:pPr>
              <a:r>
                <a:rPr lang="en-IN" sz="900" dirty="0"/>
                <a:t>No schema awareness during generation</a:t>
              </a:r>
            </a:p>
            <a:p>
              <a:pPr marL="171450" indent="-171450">
                <a:buFont typeface="Wingdings" pitchFamily="2" charset="2"/>
                <a:buChar char="Ø"/>
              </a:pPr>
              <a:r>
                <a:rPr lang="en-IN" sz="900" dirty="0"/>
                <a:t>Low loss did not imply semantic correctness</a:t>
              </a:r>
            </a:p>
            <a:p>
              <a:pPr marL="171450" indent="-171450">
                <a:buFont typeface="Wingdings" pitchFamily="2" charset="2"/>
                <a:buChar char="Ø"/>
              </a:pPr>
              <a:r>
                <a:rPr lang="en-IN" sz="900" dirty="0"/>
                <a:t>Required better grounding and execution feedback</a:t>
              </a:r>
            </a:p>
          </p:txBody>
        </p:sp>
      </p:grpSp>
      <p:grpSp>
        <p:nvGrpSpPr>
          <p:cNvPr id="24" name="Группа 8">
            <a:extLst>
              <a:ext uri="{FF2B5EF4-FFF2-40B4-BE49-F238E27FC236}">
                <a16:creationId xmlns:a16="http://schemas.microsoft.com/office/drawing/2014/main" id="{E5DAC6F1-4EA2-3B6D-0A60-6255A65606C0}"/>
              </a:ext>
            </a:extLst>
          </p:cNvPr>
          <p:cNvGrpSpPr/>
          <p:nvPr/>
        </p:nvGrpSpPr>
        <p:grpSpPr>
          <a:xfrm>
            <a:off x="5994644" y="1915815"/>
            <a:ext cx="4682176" cy="2321984"/>
            <a:chOff x="0" y="1881023"/>
            <a:chExt cx="9365571" cy="4644570"/>
          </a:xfrm>
        </p:grpSpPr>
        <p:sp>
          <p:nvSpPr>
            <p:cNvPr id="25" name="Freeform 24">
              <a:extLst>
                <a:ext uri="{FF2B5EF4-FFF2-40B4-BE49-F238E27FC236}">
                  <a16:creationId xmlns:a16="http://schemas.microsoft.com/office/drawing/2014/main" id="{3438EF8F-DA79-CAA6-E967-2B3C2914E167}"/>
                </a:ext>
              </a:extLst>
            </p:cNvPr>
            <p:cNvSpPr/>
            <p:nvPr/>
          </p:nvSpPr>
          <p:spPr>
            <a:xfrm flipH="1">
              <a:off x="0" y="1881023"/>
              <a:ext cx="9365571" cy="4644570"/>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6" name="Текст 2">
              <a:extLst>
                <a:ext uri="{FF2B5EF4-FFF2-40B4-BE49-F238E27FC236}">
                  <a16:creationId xmlns:a16="http://schemas.microsoft.com/office/drawing/2014/main" id="{E020A844-D069-3C7B-A9C2-24075883FF39}"/>
                </a:ext>
              </a:extLst>
            </p:cNvPr>
            <p:cNvSpPr txBox="1">
              <a:spLocks/>
            </p:cNvSpPr>
            <p:nvPr/>
          </p:nvSpPr>
          <p:spPr>
            <a:xfrm flipH="1">
              <a:off x="451421" y="1889162"/>
              <a:ext cx="8168433" cy="2780013"/>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Process</a:t>
              </a:r>
            </a:p>
            <a:p>
              <a:pPr marL="171450" indent="-171450">
                <a:buFont typeface="Wingdings" pitchFamily="2" charset="2"/>
                <a:buChar char="Ø"/>
              </a:pPr>
              <a:r>
                <a:rPr lang="en-IN" sz="900" dirty="0"/>
                <a:t>Generate SQL → MongoDB pairs using rule-based model</a:t>
              </a:r>
            </a:p>
            <a:p>
              <a:pPr marL="171450" indent="-171450">
                <a:buFont typeface="Wingdings" pitchFamily="2" charset="2"/>
                <a:buChar char="Ø"/>
              </a:pPr>
              <a:r>
                <a:rPr lang="en-IN" sz="900" dirty="0"/>
                <a:t>Train T5 on these pairs (teacher–student setup)</a:t>
              </a:r>
            </a:p>
            <a:p>
              <a:pPr marL="171450" indent="-171450">
                <a:buFont typeface="Wingdings" pitchFamily="2" charset="2"/>
                <a:buChar char="Ø"/>
              </a:pPr>
              <a:r>
                <a:rPr lang="en-IN" sz="900" dirty="0"/>
                <a:t>Model learns to predict MongoDB pipeline tokens</a:t>
              </a:r>
            </a:p>
            <a:p>
              <a:pPr marL="171450" indent="-171450">
                <a:buFont typeface="Wingdings" pitchFamily="2" charset="2"/>
                <a:buChar char="Ø"/>
              </a:pPr>
              <a:r>
                <a:rPr lang="en-IN" sz="900" dirty="0"/>
                <a:t>Inference generates MongoDB JSON directly</a:t>
              </a:r>
            </a:p>
            <a:p>
              <a:pPr marL="171450" indent="-171450">
                <a:buFont typeface="Wingdings" pitchFamily="2" charset="2"/>
                <a:buChar char="Ø"/>
              </a:pPr>
              <a:r>
                <a:rPr lang="en-IN" sz="900" dirty="0"/>
                <a:t>Output evaluated via execution or comparison</a:t>
              </a:r>
            </a:p>
          </p:txBody>
        </p:sp>
      </p:grpSp>
      <p:pic>
        <p:nvPicPr>
          <p:cNvPr id="2" name="Graphic 1">
            <a:extLst>
              <a:ext uri="{FF2B5EF4-FFF2-40B4-BE49-F238E27FC236}">
                <a16:creationId xmlns:a16="http://schemas.microsoft.com/office/drawing/2014/main" id="{C11DDA4F-6A7C-98CB-FDFB-A77E36F1E899}"/>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10273980" y="0"/>
            <a:ext cx="289387" cy="349581"/>
          </a:xfrm>
          <a:prstGeom prst="rect">
            <a:avLst/>
          </a:prstGeom>
        </p:spPr>
      </p:pic>
      <p:sp>
        <p:nvSpPr>
          <p:cNvPr id="6" name="TextBox 5">
            <a:extLst>
              <a:ext uri="{FF2B5EF4-FFF2-40B4-BE49-F238E27FC236}">
                <a16:creationId xmlns:a16="http://schemas.microsoft.com/office/drawing/2014/main" id="{298BC33D-1177-F20A-4F40-714C84229746}"/>
              </a:ext>
            </a:extLst>
          </p:cNvPr>
          <p:cNvSpPr txBox="1"/>
          <p:nvPr/>
        </p:nvSpPr>
        <p:spPr>
          <a:xfrm>
            <a:off x="10563367" y="0"/>
            <a:ext cx="1091821" cy="382137"/>
          </a:xfrm>
          <a:prstGeom prst="rect">
            <a:avLst/>
          </a:prstGeom>
          <a:noFill/>
        </p:spPr>
        <p:txBody>
          <a:bodyPr wrap="square" rtlCol="0">
            <a:spAutoFit/>
          </a:bodyPr>
          <a:lstStyle/>
          <a:p>
            <a:r>
              <a:rPr lang="en-US" dirty="0"/>
              <a:t>Anant</a:t>
            </a:r>
          </a:p>
        </p:txBody>
      </p:sp>
    </p:spTree>
    <p:extLst>
      <p:ext uri="{BB962C8B-B14F-4D97-AF65-F5344CB8AC3E}">
        <p14:creationId xmlns:p14="http://schemas.microsoft.com/office/powerpoint/2010/main" val="142899813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50000">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14:bounceEnd="50000">
                                          <p:cBhvr additive="base">
                                            <p:cTn id="7" dur="500" fill="hold"/>
                                            <p:tgtEl>
                                              <p:spTgt spid="3"/>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50000">
                                      <p:stCondLst>
                                        <p:cond delay="100"/>
                                      </p:stCondLst>
                                      <p:childTnLst>
                                        <p:set>
                                          <p:cBhvr>
                                            <p:cTn id="10" dur="1" fill="hold">
                                              <p:stCondLst>
                                                <p:cond delay="0"/>
                                              </p:stCondLst>
                                            </p:cTn>
                                            <p:tgtEl>
                                              <p:spTgt spid="18"/>
                                            </p:tgtEl>
                                            <p:attrNameLst>
                                              <p:attrName>style.visibility</p:attrName>
                                            </p:attrNameLst>
                                          </p:cBhvr>
                                          <p:to>
                                            <p:strVal val="visible"/>
                                          </p:to>
                                        </p:set>
                                        <p:anim calcmode="lin" valueType="num" p14:bounceEnd="50000">
                                          <p:cBhvr additive="base">
                                            <p:cTn id="11" dur="500" fill="hold"/>
                                            <p:tgtEl>
                                              <p:spTgt spid="18"/>
                                            </p:tgtEl>
                                            <p:attrNameLst>
                                              <p:attrName>ppt_x</p:attrName>
                                            </p:attrNameLst>
                                          </p:cBhvr>
                                          <p:tavLst>
                                            <p:tav tm="0">
                                              <p:val>
                                                <p:strVal val="0-#ppt_w/2"/>
                                              </p:val>
                                            </p:tav>
                                            <p:tav tm="100000">
                                              <p:val>
                                                <p:strVal val="#ppt_x"/>
                                              </p:val>
                                            </p:tav>
                                          </p:tavLst>
                                        </p:anim>
                                        <p:anim calcmode="lin" valueType="num" p14:bounceEnd="50000">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50000">
                                      <p:stCondLst>
                                        <p:cond delay="100"/>
                                      </p:stCondLst>
                                      <p:childTnLst>
                                        <p:set>
                                          <p:cBhvr>
                                            <p:cTn id="14" dur="1" fill="hold">
                                              <p:stCondLst>
                                                <p:cond delay="0"/>
                                              </p:stCondLst>
                                            </p:cTn>
                                            <p:tgtEl>
                                              <p:spTgt spid="21"/>
                                            </p:tgtEl>
                                            <p:attrNameLst>
                                              <p:attrName>style.visibility</p:attrName>
                                            </p:attrNameLst>
                                          </p:cBhvr>
                                          <p:to>
                                            <p:strVal val="visible"/>
                                          </p:to>
                                        </p:set>
                                        <p:anim calcmode="lin" valueType="num" p14:bounceEnd="50000">
                                          <p:cBhvr additive="base">
                                            <p:cTn id="15" dur="500" fill="hold"/>
                                            <p:tgtEl>
                                              <p:spTgt spid="21"/>
                                            </p:tgtEl>
                                            <p:attrNameLst>
                                              <p:attrName>ppt_x</p:attrName>
                                            </p:attrNameLst>
                                          </p:cBhvr>
                                          <p:tavLst>
                                            <p:tav tm="0">
                                              <p:val>
                                                <p:strVal val="0-#ppt_w/2"/>
                                              </p:val>
                                            </p:tav>
                                            <p:tav tm="100000">
                                              <p:val>
                                                <p:strVal val="#ppt_x"/>
                                              </p:val>
                                            </p:tav>
                                          </p:tavLst>
                                        </p:anim>
                                        <p:anim calcmode="lin" valueType="num" p14:bounceEnd="50000">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14:presetBounceEnd="50000">
                                      <p:stCondLst>
                                        <p:cond delay="100"/>
                                      </p:stCondLst>
                                      <p:childTnLst>
                                        <p:set>
                                          <p:cBhvr>
                                            <p:cTn id="18" dur="1" fill="hold">
                                              <p:stCondLst>
                                                <p:cond delay="0"/>
                                              </p:stCondLst>
                                            </p:cTn>
                                            <p:tgtEl>
                                              <p:spTgt spid="24"/>
                                            </p:tgtEl>
                                            <p:attrNameLst>
                                              <p:attrName>style.visibility</p:attrName>
                                            </p:attrNameLst>
                                          </p:cBhvr>
                                          <p:to>
                                            <p:strVal val="visible"/>
                                          </p:to>
                                        </p:set>
                                        <p:anim calcmode="lin" valueType="num" p14:bounceEnd="50000">
                                          <p:cBhvr additive="base">
                                            <p:cTn id="19" dur="500" fill="hold"/>
                                            <p:tgtEl>
                                              <p:spTgt spid="24"/>
                                            </p:tgtEl>
                                            <p:attrNameLst>
                                              <p:attrName>ppt_x</p:attrName>
                                            </p:attrNameLst>
                                          </p:cBhvr>
                                          <p:tavLst>
                                            <p:tav tm="0">
                                              <p:val>
                                                <p:strVal val="0-#ppt_w/2"/>
                                              </p:val>
                                            </p:tav>
                                            <p:tav tm="100000">
                                              <p:val>
                                                <p:strVal val="#ppt_x"/>
                                              </p:val>
                                            </p:tav>
                                          </p:tavLst>
                                        </p:anim>
                                        <p:anim calcmode="lin" valueType="num" p14:bounceEnd="50000">
                                          <p:cBhvr additive="base">
                                            <p:cTn id="20"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1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0-#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1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10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0-#ppt_w/2"/>
                                              </p:val>
                                            </p:tav>
                                            <p:tav tm="100000">
                                              <p:val>
                                                <p:strVal val="#ppt_x"/>
                                              </p:val>
                                            </p:tav>
                                          </p:tavLst>
                                        </p:anim>
                                        <p:anim calcmode="lin" valueType="num">
                                          <p:cBhvr additive="base">
                                            <p:cTn id="20"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F7EC5-68F0-9786-77B2-A2E90E387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2B19D-82EA-687A-39CE-651CEDF94099}"/>
              </a:ext>
            </a:extLst>
          </p:cNvPr>
          <p:cNvSpPr>
            <a:spLocks noGrp="1"/>
          </p:cNvSpPr>
          <p:nvPr>
            <p:ph type="ctrTitle"/>
          </p:nvPr>
        </p:nvSpPr>
        <p:spPr>
          <a:xfrm>
            <a:off x="1524000" y="104798"/>
            <a:ext cx="9144000" cy="1189429"/>
          </a:xfrm>
        </p:spPr>
        <p:txBody>
          <a:bodyPr>
            <a:normAutofit/>
          </a:bodyPr>
          <a:lstStyle/>
          <a:p>
            <a:r>
              <a:rPr lang="en-US" dirty="0"/>
              <a:t>Evaluation Metrics - </a:t>
            </a:r>
            <a:r>
              <a:rPr lang="en-US" sz="4400" dirty="0"/>
              <a:t>Outcomes</a:t>
            </a:r>
          </a:p>
        </p:txBody>
      </p:sp>
      <p:pic>
        <p:nvPicPr>
          <p:cNvPr id="4" name="Picture 3" descr="A screenshot of a computer&#10;&#10;AI-generated content may be incorrect.">
            <a:extLst>
              <a:ext uri="{FF2B5EF4-FFF2-40B4-BE49-F238E27FC236}">
                <a16:creationId xmlns:a16="http://schemas.microsoft.com/office/drawing/2014/main" id="{4D319D13-6725-109E-9B7B-CA8EAEAF907D}"/>
              </a:ext>
            </a:extLst>
          </p:cNvPr>
          <p:cNvPicPr>
            <a:picLocks noChangeAspect="1"/>
          </p:cNvPicPr>
          <p:nvPr/>
        </p:nvPicPr>
        <p:blipFill>
          <a:blip r:embed="rId2"/>
          <a:stretch>
            <a:fillRect/>
          </a:stretch>
        </p:blipFill>
        <p:spPr>
          <a:xfrm>
            <a:off x="2107337" y="1839770"/>
            <a:ext cx="7772400" cy="1589230"/>
          </a:xfrm>
          <a:prstGeom prst="rect">
            <a:avLst/>
          </a:prstGeom>
        </p:spPr>
      </p:pic>
      <p:pic>
        <p:nvPicPr>
          <p:cNvPr id="3" name="Graphic 2">
            <a:extLst>
              <a:ext uri="{FF2B5EF4-FFF2-40B4-BE49-F238E27FC236}">
                <a16:creationId xmlns:a16="http://schemas.microsoft.com/office/drawing/2014/main" id="{7F4F1114-3263-C259-EA73-5BD517B853BD}"/>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10273980" y="0"/>
            <a:ext cx="289387" cy="349581"/>
          </a:xfrm>
          <a:prstGeom prst="rect">
            <a:avLst/>
          </a:prstGeom>
        </p:spPr>
      </p:pic>
      <p:sp>
        <p:nvSpPr>
          <p:cNvPr id="5" name="TextBox 4">
            <a:extLst>
              <a:ext uri="{FF2B5EF4-FFF2-40B4-BE49-F238E27FC236}">
                <a16:creationId xmlns:a16="http://schemas.microsoft.com/office/drawing/2014/main" id="{151D59E6-FF93-B655-945E-DB8640CE0E7C}"/>
              </a:ext>
            </a:extLst>
          </p:cNvPr>
          <p:cNvSpPr txBox="1"/>
          <p:nvPr/>
        </p:nvSpPr>
        <p:spPr>
          <a:xfrm>
            <a:off x="10563367" y="0"/>
            <a:ext cx="1091821" cy="382137"/>
          </a:xfrm>
          <a:prstGeom prst="rect">
            <a:avLst/>
          </a:prstGeom>
          <a:noFill/>
        </p:spPr>
        <p:txBody>
          <a:bodyPr wrap="square" rtlCol="0">
            <a:spAutoFit/>
          </a:bodyPr>
          <a:lstStyle/>
          <a:p>
            <a:r>
              <a:rPr lang="en-US" dirty="0"/>
              <a:t>Anant</a:t>
            </a:r>
          </a:p>
        </p:txBody>
      </p:sp>
      <p:graphicFrame>
        <p:nvGraphicFramePr>
          <p:cNvPr id="6" name="Table 5">
            <a:extLst>
              <a:ext uri="{FF2B5EF4-FFF2-40B4-BE49-F238E27FC236}">
                <a16:creationId xmlns:a16="http://schemas.microsoft.com/office/drawing/2014/main" id="{FF056B53-920E-B83E-0C53-02A904354298}"/>
              </a:ext>
            </a:extLst>
          </p:cNvPr>
          <p:cNvGraphicFramePr>
            <a:graphicFrameLocks noGrp="1"/>
          </p:cNvGraphicFramePr>
          <p:nvPr>
            <p:extLst>
              <p:ext uri="{D42A27DB-BD31-4B8C-83A1-F6EECF244321}">
                <p14:modId xmlns:p14="http://schemas.microsoft.com/office/powerpoint/2010/main" val="573815423"/>
              </p:ext>
            </p:extLst>
          </p:nvPr>
        </p:nvGraphicFramePr>
        <p:xfrm>
          <a:off x="394448" y="4030048"/>
          <a:ext cx="10515600" cy="1878330"/>
        </p:xfrm>
        <a:graphic>
          <a:graphicData uri="http://schemas.openxmlformats.org/drawingml/2006/table">
            <a:tbl>
              <a:tblPr firstRow="1" firstCol="1" bandRow="1">
                <a:solidFill>
                  <a:schemeClr val="accent1"/>
                </a:solidFill>
                <a:tableStyleId>{5C22544A-7EE6-4342-B048-85BDC9FD1C3A}</a:tableStyleId>
              </a:tblPr>
              <a:tblGrid>
                <a:gridCol w="3505200">
                  <a:extLst>
                    <a:ext uri="{9D8B030D-6E8A-4147-A177-3AD203B41FA5}">
                      <a16:colId xmlns:a16="http://schemas.microsoft.com/office/drawing/2014/main" val="2026348846"/>
                    </a:ext>
                  </a:extLst>
                </a:gridCol>
                <a:gridCol w="3505200">
                  <a:extLst>
                    <a:ext uri="{9D8B030D-6E8A-4147-A177-3AD203B41FA5}">
                      <a16:colId xmlns:a16="http://schemas.microsoft.com/office/drawing/2014/main" val="4086960000"/>
                    </a:ext>
                  </a:extLst>
                </a:gridCol>
                <a:gridCol w="3505200">
                  <a:extLst>
                    <a:ext uri="{9D8B030D-6E8A-4147-A177-3AD203B41FA5}">
                      <a16:colId xmlns:a16="http://schemas.microsoft.com/office/drawing/2014/main" val="4093782206"/>
                    </a:ext>
                  </a:extLst>
                </a:gridCol>
              </a:tblGrid>
              <a:tr h="0">
                <a:tc>
                  <a:txBody>
                    <a:bodyPr/>
                    <a:lstStyle/>
                    <a:p>
                      <a:pPr indent="228600" algn="just">
                        <a:buNone/>
                      </a:pPr>
                      <a:r>
                        <a:rPr lang="en-IN" sz="1200" spc="0" dirty="0">
                          <a:effectLst/>
                        </a:rPr>
                        <a:t>Component</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indent="228600" algn="just">
                        <a:buNone/>
                      </a:pPr>
                      <a:r>
                        <a:rPr lang="en-IN" sz="1200" spc="0">
                          <a:effectLst/>
                        </a:rPr>
                        <a:t>Technical Detail</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indent="228600" algn="just">
                        <a:buNone/>
                      </a:pPr>
                      <a:r>
                        <a:rPr lang="en-IN" sz="1200" spc="0" dirty="0">
                          <a:effectLst/>
                        </a:rPr>
                        <a:t>Parameter / Value</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2780324"/>
                  </a:ext>
                </a:extLst>
              </a:tr>
              <a:tr h="0">
                <a:tc>
                  <a:txBody>
                    <a:bodyPr/>
                    <a:lstStyle/>
                    <a:p>
                      <a:pPr indent="228600" algn="just">
                        <a:buNone/>
                      </a:pPr>
                      <a:r>
                        <a:rPr lang="en-US" sz="1200" dirty="0">
                          <a:effectLst/>
                        </a:rPr>
                        <a:t>Parameters</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b="1" dirty="0">
                          <a:effectLst/>
                        </a:rPr>
                        <a:t>~220 Million</a:t>
                      </a:r>
                      <a:endParaRPr lang="en-IN" sz="1100" b="1" dirty="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a:effectLst/>
                        </a:rPr>
                        <a:t>Total learnable weights.</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4281793768"/>
                  </a:ext>
                </a:extLst>
              </a:tr>
              <a:tr h="0">
                <a:tc>
                  <a:txBody>
                    <a:bodyPr/>
                    <a:lstStyle/>
                    <a:p>
                      <a:pPr indent="228600" algn="just">
                        <a:buNone/>
                      </a:pPr>
                      <a:r>
                        <a:rPr lang="en-US" sz="1200">
                          <a:effectLst/>
                        </a:rPr>
                        <a:t>Architecture</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a:effectLst/>
                        </a:rPr>
                        <a:t>Encoder-Decoder</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a:effectLst/>
                        </a:rPr>
                        <a:t>12 Encoder layers + 12 Decoder layers.</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2500555879"/>
                  </a:ext>
                </a:extLst>
              </a:tr>
              <a:tr h="0">
                <a:tc>
                  <a:txBody>
                    <a:bodyPr/>
                    <a:lstStyle/>
                    <a:p>
                      <a:pPr indent="228600" algn="just">
                        <a:buNone/>
                      </a:pPr>
                      <a:r>
                        <a:rPr lang="en-US" sz="1200">
                          <a:effectLst/>
                        </a:rPr>
                        <a:t>Hidden Size (d</a:t>
                      </a:r>
                      <a:r>
                        <a:rPr lang="en-US" sz="1200" baseline="-25000">
                          <a:effectLst/>
                        </a:rPr>
                        <a:t>model</a:t>
                      </a:r>
                      <a:r>
                        <a:rPr lang="en-US" sz="1200">
                          <a:effectLst/>
                        </a:rPr>
                        <a:t>)</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a:effectLst/>
                        </a:rPr>
                        <a:t>768</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a:effectLst/>
                        </a:rPr>
                        <a:t>The dimension of the vector representations.</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777418672"/>
                  </a:ext>
                </a:extLst>
              </a:tr>
              <a:tr h="0">
                <a:tc>
                  <a:txBody>
                    <a:bodyPr/>
                    <a:lstStyle/>
                    <a:p>
                      <a:pPr indent="228600" algn="just">
                        <a:buNone/>
                      </a:pPr>
                      <a:r>
                        <a:rPr lang="en-US" sz="1200" dirty="0">
                          <a:effectLst/>
                        </a:rPr>
                        <a:t>Attention Heads</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a:effectLst/>
                        </a:rPr>
                        <a:t>12</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a:effectLst/>
                        </a:rPr>
                        <a:t>Number of parallel attention heads per layer.</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5788324"/>
                  </a:ext>
                </a:extLst>
              </a:tr>
              <a:tr h="0">
                <a:tc>
                  <a:txBody>
                    <a:bodyPr/>
                    <a:lstStyle/>
                    <a:p>
                      <a:pPr indent="228600" algn="just">
                        <a:buNone/>
                      </a:pPr>
                      <a:r>
                        <a:rPr lang="en-US" sz="1200" dirty="0">
                          <a:effectLst/>
                        </a:rPr>
                        <a:t>Feed-Forward Dim</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a:effectLst/>
                        </a:rPr>
                        <a:t>3072</a:t>
                      </a:r>
                      <a:endParaRPr lang="en-IN" sz="110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indent="228600" algn="just">
                        <a:buNone/>
                      </a:pPr>
                      <a:r>
                        <a:rPr lang="en-US" sz="1200" dirty="0">
                          <a:effectLst/>
                        </a:rPr>
                        <a:t>Size of the inner feed-forward layer (</a:t>
                      </a:r>
                      <a:r>
                        <a:rPr lang="en-US" sz="1200" dirty="0" err="1">
                          <a:effectLst/>
                        </a:rPr>
                        <a:t>d</a:t>
                      </a:r>
                      <a:r>
                        <a:rPr lang="en-US" sz="1200" baseline="-25000" dirty="0" err="1">
                          <a:effectLst/>
                        </a:rPr>
                        <a:t>ff</a:t>
                      </a:r>
                      <a:r>
                        <a:rPr lang="en-US" sz="1200" dirty="0">
                          <a:effectLst/>
                        </a:rPr>
                        <a:t>).</a:t>
                      </a:r>
                      <a:endParaRPr lang="en-IN"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748040535"/>
                  </a:ext>
                </a:extLst>
              </a:tr>
            </a:tbl>
          </a:graphicData>
        </a:graphic>
      </p:graphicFrame>
      <p:sp>
        <p:nvSpPr>
          <p:cNvPr id="7" name="Rectangle 6">
            <a:extLst>
              <a:ext uri="{FF2B5EF4-FFF2-40B4-BE49-F238E27FC236}">
                <a16:creationId xmlns:a16="http://schemas.microsoft.com/office/drawing/2014/main" id="{17F97BB9-F8C4-9610-CF6E-9414DE4FF540}"/>
              </a:ext>
            </a:extLst>
          </p:cNvPr>
          <p:cNvSpPr/>
          <p:nvPr/>
        </p:nvSpPr>
        <p:spPr>
          <a:xfrm>
            <a:off x="394448" y="3689055"/>
            <a:ext cx="2224585" cy="3275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T5 Fine-Tuned (Spider)</a:t>
            </a:r>
          </a:p>
        </p:txBody>
      </p:sp>
    </p:spTree>
    <p:extLst>
      <p:ext uri="{BB962C8B-B14F-4D97-AF65-F5344CB8AC3E}">
        <p14:creationId xmlns:p14="http://schemas.microsoft.com/office/powerpoint/2010/main" val="496280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EE91B-376F-EB00-5AE8-7D3FB0AA0D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F956E2-4849-180E-F543-D6591D3DCB03}"/>
              </a:ext>
            </a:extLst>
          </p:cNvPr>
          <p:cNvSpPr>
            <a:spLocks noGrp="1"/>
          </p:cNvSpPr>
          <p:nvPr>
            <p:ph type="ctrTitle"/>
          </p:nvPr>
        </p:nvSpPr>
        <p:spPr>
          <a:xfrm>
            <a:off x="1524000" y="104798"/>
            <a:ext cx="9144000" cy="1189429"/>
          </a:xfrm>
        </p:spPr>
        <p:txBody>
          <a:bodyPr>
            <a:normAutofit/>
          </a:bodyPr>
          <a:lstStyle/>
          <a:p>
            <a:r>
              <a:rPr lang="en-US" dirty="0"/>
              <a:t>Motivation</a:t>
            </a:r>
          </a:p>
        </p:txBody>
      </p:sp>
      <p:sp>
        <p:nvSpPr>
          <p:cNvPr id="19" name="TextBox 18">
            <a:extLst>
              <a:ext uri="{FF2B5EF4-FFF2-40B4-BE49-F238E27FC236}">
                <a16:creationId xmlns:a16="http://schemas.microsoft.com/office/drawing/2014/main" id="{D63C2E17-3C8B-7380-D100-67F61BD7A86C}"/>
              </a:ext>
            </a:extLst>
          </p:cNvPr>
          <p:cNvSpPr txBox="1"/>
          <p:nvPr/>
        </p:nvSpPr>
        <p:spPr>
          <a:xfrm>
            <a:off x="579911" y="6346764"/>
            <a:ext cx="6097978" cy="261610"/>
          </a:xfrm>
          <a:prstGeom prst="rect">
            <a:avLst/>
          </a:prstGeom>
          <a:noFill/>
        </p:spPr>
        <p:txBody>
          <a:bodyPr wrap="square">
            <a:spAutoFit/>
          </a:bodyPr>
          <a:lstStyle/>
          <a:p>
            <a:r>
              <a:rPr lang="en-US" sz="1050" dirty="0"/>
              <a:t>Link to paper : https://</a:t>
            </a:r>
            <a:r>
              <a:rPr lang="en-US" sz="1050" dirty="0" err="1"/>
              <a:t>arxiv.org</a:t>
            </a:r>
            <a:r>
              <a:rPr lang="en-US" sz="1050" dirty="0"/>
              <a:t>/pdf/2502.11201</a:t>
            </a:r>
          </a:p>
        </p:txBody>
      </p:sp>
      <p:pic>
        <p:nvPicPr>
          <p:cNvPr id="4" name="Picture 3" descr="A screenshot of a computer&#10;&#10;AI-generated content may be incorrect.">
            <a:extLst>
              <a:ext uri="{FF2B5EF4-FFF2-40B4-BE49-F238E27FC236}">
                <a16:creationId xmlns:a16="http://schemas.microsoft.com/office/drawing/2014/main" id="{74BB79E5-599C-3DCF-D42D-8B759DA86B03}"/>
              </a:ext>
            </a:extLst>
          </p:cNvPr>
          <p:cNvPicPr>
            <a:picLocks noChangeAspect="1"/>
          </p:cNvPicPr>
          <p:nvPr/>
        </p:nvPicPr>
        <p:blipFill>
          <a:blip r:embed="rId2"/>
          <a:stretch>
            <a:fillRect/>
          </a:stretch>
        </p:blipFill>
        <p:spPr>
          <a:xfrm>
            <a:off x="266013" y="1969049"/>
            <a:ext cx="10088089" cy="3590153"/>
          </a:xfrm>
          <a:prstGeom prst="rect">
            <a:avLst/>
          </a:prstGeom>
        </p:spPr>
      </p:pic>
      <p:sp>
        <p:nvSpPr>
          <p:cNvPr id="5" name="TextBox 4">
            <a:extLst>
              <a:ext uri="{FF2B5EF4-FFF2-40B4-BE49-F238E27FC236}">
                <a16:creationId xmlns:a16="http://schemas.microsoft.com/office/drawing/2014/main" id="{851416DC-ADD0-12FB-7A94-1B243124C77B}"/>
              </a:ext>
            </a:extLst>
          </p:cNvPr>
          <p:cNvSpPr txBox="1"/>
          <p:nvPr/>
        </p:nvSpPr>
        <p:spPr>
          <a:xfrm>
            <a:off x="579911" y="1346896"/>
            <a:ext cx="10262260" cy="738664"/>
          </a:xfrm>
          <a:prstGeom prst="rect">
            <a:avLst/>
          </a:prstGeom>
          <a:noFill/>
        </p:spPr>
        <p:txBody>
          <a:bodyPr wrap="square">
            <a:spAutoFit/>
          </a:bodyPr>
          <a:lstStyle/>
          <a:p>
            <a:r>
              <a:rPr lang="en-IN" sz="1400" dirty="0"/>
              <a:t>System uses schema-aware RAG to guide an LLM in generating MongoDB queries and validates correctness through execution-guided feedback.</a:t>
            </a:r>
          </a:p>
          <a:p>
            <a:pPr marL="742950" lvl="1" indent="-285750">
              <a:buFont typeface="Wingdings" pitchFamily="2" charset="2"/>
              <a:buChar char="§"/>
            </a:pPr>
            <a:endParaRPr lang="en-IN" sz="1400" dirty="0"/>
          </a:p>
        </p:txBody>
      </p:sp>
      <p:pic>
        <p:nvPicPr>
          <p:cNvPr id="3" name="Graphic 2">
            <a:extLst>
              <a:ext uri="{FF2B5EF4-FFF2-40B4-BE49-F238E27FC236}">
                <a16:creationId xmlns:a16="http://schemas.microsoft.com/office/drawing/2014/main" id="{744A3181-21ED-7973-E7E3-4EA9F1CCD67C}"/>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10273980" y="0"/>
            <a:ext cx="289387" cy="349581"/>
          </a:xfrm>
          <a:prstGeom prst="rect">
            <a:avLst/>
          </a:prstGeom>
        </p:spPr>
      </p:pic>
      <p:sp>
        <p:nvSpPr>
          <p:cNvPr id="6" name="TextBox 5">
            <a:extLst>
              <a:ext uri="{FF2B5EF4-FFF2-40B4-BE49-F238E27FC236}">
                <a16:creationId xmlns:a16="http://schemas.microsoft.com/office/drawing/2014/main" id="{24F2B16C-4A51-AD1D-63A4-8D19797ED42A}"/>
              </a:ext>
            </a:extLst>
          </p:cNvPr>
          <p:cNvSpPr txBox="1"/>
          <p:nvPr/>
        </p:nvSpPr>
        <p:spPr>
          <a:xfrm>
            <a:off x="10563367" y="0"/>
            <a:ext cx="1091821" cy="382137"/>
          </a:xfrm>
          <a:prstGeom prst="rect">
            <a:avLst/>
          </a:prstGeom>
          <a:noFill/>
        </p:spPr>
        <p:txBody>
          <a:bodyPr wrap="square" rtlCol="0">
            <a:spAutoFit/>
          </a:bodyPr>
          <a:lstStyle/>
          <a:p>
            <a:r>
              <a:rPr lang="en-US" dirty="0"/>
              <a:t>Saurabh</a:t>
            </a:r>
          </a:p>
        </p:txBody>
      </p:sp>
    </p:spTree>
    <p:extLst>
      <p:ext uri="{BB962C8B-B14F-4D97-AF65-F5344CB8AC3E}">
        <p14:creationId xmlns:p14="http://schemas.microsoft.com/office/powerpoint/2010/main" val="7157537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D7948-F979-6D5E-9567-9576AA9E8E5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18226F2-5DDC-0F1A-9455-28A31A38759A}"/>
              </a:ext>
            </a:extLst>
          </p:cNvPr>
          <p:cNvSpPr/>
          <p:nvPr/>
        </p:nvSpPr>
        <p:spPr>
          <a:xfrm>
            <a:off x="619508" y="1340733"/>
            <a:ext cx="11317184" cy="166254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F7887404-399F-5AC8-EC92-2B6FBDA140B4}"/>
              </a:ext>
            </a:extLst>
          </p:cNvPr>
          <p:cNvSpPr txBox="1">
            <a:spLocks/>
          </p:cNvSpPr>
          <p:nvPr/>
        </p:nvSpPr>
        <p:spPr>
          <a:xfrm>
            <a:off x="1523999" y="104798"/>
            <a:ext cx="10030691" cy="118942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6500" dirty="0"/>
              <a:t>LLM Based Models</a:t>
            </a:r>
            <a:endParaRPr lang="en-US" sz="4000" dirty="0"/>
          </a:p>
        </p:txBody>
      </p:sp>
      <p:sp>
        <p:nvSpPr>
          <p:cNvPr id="6" name="Rounded Rectangle 5">
            <a:extLst>
              <a:ext uri="{FF2B5EF4-FFF2-40B4-BE49-F238E27FC236}">
                <a16:creationId xmlns:a16="http://schemas.microsoft.com/office/drawing/2014/main" id="{25F53CCD-D1BB-2262-8716-795758CA9E7E}"/>
              </a:ext>
            </a:extLst>
          </p:cNvPr>
          <p:cNvSpPr/>
          <p:nvPr/>
        </p:nvSpPr>
        <p:spPr>
          <a:xfrm>
            <a:off x="876999" y="1577292"/>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Input SQL Query</a:t>
            </a:r>
          </a:p>
          <a:p>
            <a:pPr algn="ctr"/>
            <a:r>
              <a:rPr lang="en-US" sz="1600" dirty="0"/>
              <a:t>(BirdBench Ground SQL)</a:t>
            </a:r>
            <a:endParaRPr lang="en-US" dirty="0"/>
          </a:p>
        </p:txBody>
      </p:sp>
      <p:sp>
        <p:nvSpPr>
          <p:cNvPr id="7" name="Rounded Rectangle 6">
            <a:extLst>
              <a:ext uri="{FF2B5EF4-FFF2-40B4-BE49-F238E27FC236}">
                <a16:creationId xmlns:a16="http://schemas.microsoft.com/office/drawing/2014/main" id="{D9772373-593A-D62B-5EC8-6AA2F4C9341D}"/>
              </a:ext>
            </a:extLst>
          </p:cNvPr>
          <p:cNvSpPr/>
          <p:nvPr/>
        </p:nvSpPr>
        <p:spPr>
          <a:xfrm>
            <a:off x="2739009" y="1577292"/>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Schema Extraction</a:t>
            </a:r>
          </a:p>
        </p:txBody>
      </p:sp>
      <p:sp>
        <p:nvSpPr>
          <p:cNvPr id="8" name="Rounded Rectangle 7">
            <a:extLst>
              <a:ext uri="{FF2B5EF4-FFF2-40B4-BE49-F238E27FC236}">
                <a16:creationId xmlns:a16="http://schemas.microsoft.com/office/drawing/2014/main" id="{0D5D313C-EBC6-6778-63AA-BF79BD87BD45}"/>
              </a:ext>
            </a:extLst>
          </p:cNvPr>
          <p:cNvSpPr/>
          <p:nvPr/>
        </p:nvSpPr>
        <p:spPr>
          <a:xfrm>
            <a:off x="4601019" y="1577292"/>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RAG Context &amp; Prompt Augmented</a:t>
            </a:r>
            <a:endParaRPr lang="en-US" dirty="0"/>
          </a:p>
        </p:txBody>
      </p:sp>
      <p:sp>
        <p:nvSpPr>
          <p:cNvPr id="9" name="Rounded Rectangle 8">
            <a:extLst>
              <a:ext uri="{FF2B5EF4-FFF2-40B4-BE49-F238E27FC236}">
                <a16:creationId xmlns:a16="http://schemas.microsoft.com/office/drawing/2014/main" id="{08812551-3B96-E981-5299-2F9FF26984DE}"/>
              </a:ext>
            </a:extLst>
          </p:cNvPr>
          <p:cNvSpPr/>
          <p:nvPr/>
        </p:nvSpPr>
        <p:spPr>
          <a:xfrm>
            <a:off x="6463029" y="1577292"/>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LLM Generates Mongo DB Pipeline &amp; Executes is on local Mongo DB Client</a:t>
            </a:r>
            <a:endParaRPr lang="en-US" sz="1100" dirty="0"/>
          </a:p>
        </p:txBody>
      </p:sp>
      <p:sp>
        <p:nvSpPr>
          <p:cNvPr id="10" name="Rounded Rectangle 9">
            <a:extLst>
              <a:ext uri="{FF2B5EF4-FFF2-40B4-BE49-F238E27FC236}">
                <a16:creationId xmlns:a16="http://schemas.microsoft.com/office/drawing/2014/main" id="{2B863545-5D85-DF33-B174-FC075A54C78C}"/>
              </a:ext>
            </a:extLst>
          </p:cNvPr>
          <p:cNvSpPr/>
          <p:nvPr/>
        </p:nvSpPr>
        <p:spPr>
          <a:xfrm>
            <a:off x="8325039" y="1577292"/>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Result Comparison  SQL Result vs Mongo </a:t>
            </a:r>
            <a:endParaRPr lang="en-US" dirty="0"/>
          </a:p>
        </p:txBody>
      </p:sp>
      <p:sp>
        <p:nvSpPr>
          <p:cNvPr id="11" name="Rounded Rectangle 10">
            <a:extLst>
              <a:ext uri="{FF2B5EF4-FFF2-40B4-BE49-F238E27FC236}">
                <a16:creationId xmlns:a16="http://schemas.microsoft.com/office/drawing/2014/main" id="{C1D63771-B2C1-17C9-5E0B-F08C1ED5BD7F}"/>
              </a:ext>
            </a:extLst>
          </p:cNvPr>
          <p:cNvSpPr/>
          <p:nvPr/>
        </p:nvSpPr>
        <p:spPr>
          <a:xfrm>
            <a:off x="10263703" y="1577292"/>
            <a:ext cx="1492155" cy="11894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Feedback loop  &amp; LLM Correction</a:t>
            </a:r>
          </a:p>
        </p:txBody>
      </p:sp>
      <p:sp>
        <p:nvSpPr>
          <p:cNvPr id="12" name="Right Arrow 11">
            <a:extLst>
              <a:ext uri="{FF2B5EF4-FFF2-40B4-BE49-F238E27FC236}">
                <a16:creationId xmlns:a16="http://schemas.microsoft.com/office/drawing/2014/main" id="{F6154CCD-1268-3FA3-3B3F-28E3841921B5}"/>
              </a:ext>
            </a:extLst>
          </p:cNvPr>
          <p:cNvSpPr/>
          <p:nvPr/>
        </p:nvSpPr>
        <p:spPr>
          <a:xfrm>
            <a:off x="2369154" y="2123202"/>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86E55DFE-F647-23A8-914D-C5272BF1A354}"/>
              </a:ext>
            </a:extLst>
          </p:cNvPr>
          <p:cNvSpPr/>
          <p:nvPr/>
        </p:nvSpPr>
        <p:spPr>
          <a:xfrm>
            <a:off x="4231163" y="2123201"/>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a:extLst>
              <a:ext uri="{FF2B5EF4-FFF2-40B4-BE49-F238E27FC236}">
                <a16:creationId xmlns:a16="http://schemas.microsoft.com/office/drawing/2014/main" id="{F95055D1-3749-31E7-27A5-82B155C25353}"/>
              </a:ext>
            </a:extLst>
          </p:cNvPr>
          <p:cNvSpPr/>
          <p:nvPr/>
        </p:nvSpPr>
        <p:spPr>
          <a:xfrm>
            <a:off x="6093173" y="2123201"/>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563E91BE-D52D-B2B0-8EEE-DE9157431238}"/>
              </a:ext>
            </a:extLst>
          </p:cNvPr>
          <p:cNvSpPr/>
          <p:nvPr/>
        </p:nvSpPr>
        <p:spPr>
          <a:xfrm>
            <a:off x="7955183" y="2123201"/>
            <a:ext cx="369855" cy="204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64A208F0-C2D6-5F3D-9CDD-B556F1D90715}"/>
              </a:ext>
            </a:extLst>
          </p:cNvPr>
          <p:cNvSpPr/>
          <p:nvPr/>
        </p:nvSpPr>
        <p:spPr>
          <a:xfrm>
            <a:off x="9817194" y="2131062"/>
            <a:ext cx="446509" cy="1968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Группа 8">
            <a:extLst>
              <a:ext uri="{FF2B5EF4-FFF2-40B4-BE49-F238E27FC236}">
                <a16:creationId xmlns:a16="http://schemas.microsoft.com/office/drawing/2014/main" id="{A6D09AB9-70E2-02E4-B111-10CBD12C4E68}"/>
              </a:ext>
            </a:extLst>
          </p:cNvPr>
          <p:cNvGrpSpPr/>
          <p:nvPr/>
        </p:nvGrpSpPr>
        <p:grpSpPr>
          <a:xfrm>
            <a:off x="505700" y="3307889"/>
            <a:ext cx="4682176" cy="1393894"/>
            <a:chOff x="0" y="1881025"/>
            <a:chExt cx="9365571" cy="2788150"/>
          </a:xfrm>
        </p:grpSpPr>
        <p:sp>
          <p:nvSpPr>
            <p:cNvPr id="4" name="Freeform 3">
              <a:extLst>
                <a:ext uri="{FF2B5EF4-FFF2-40B4-BE49-F238E27FC236}">
                  <a16:creationId xmlns:a16="http://schemas.microsoft.com/office/drawing/2014/main" id="{A3B3A3F1-C9FD-B3CD-DBA5-99AD8B23C40F}"/>
                </a:ext>
              </a:extLst>
            </p:cNvPr>
            <p:cNvSpPr/>
            <p:nvPr/>
          </p:nvSpPr>
          <p:spPr>
            <a:xfrm flipH="1">
              <a:off x="0" y="1881025"/>
              <a:ext cx="9365571" cy="2788150"/>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17" name="Текст 2">
              <a:extLst>
                <a:ext uri="{FF2B5EF4-FFF2-40B4-BE49-F238E27FC236}">
                  <a16:creationId xmlns:a16="http://schemas.microsoft.com/office/drawing/2014/main" id="{62496664-CB84-A44C-58BF-362F3360EF68}"/>
                </a:ext>
              </a:extLst>
            </p:cNvPr>
            <p:cNvSpPr txBox="1">
              <a:spLocks/>
            </p:cNvSpPr>
            <p:nvPr/>
          </p:nvSpPr>
          <p:spPr>
            <a:xfrm flipH="1">
              <a:off x="451423" y="1889162"/>
              <a:ext cx="8168433" cy="2737383"/>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Motivation</a:t>
              </a:r>
            </a:p>
            <a:p>
              <a:pPr marL="285750" indent="-285750">
                <a:buFont typeface="Wingdings" pitchFamily="2" charset="2"/>
                <a:buChar char="Ø"/>
              </a:pPr>
              <a:r>
                <a:rPr lang="en-IN" sz="900" dirty="0"/>
                <a:t>Rule Based  system fails on complex joins and aggregations</a:t>
              </a:r>
            </a:p>
            <a:p>
              <a:pPr marL="285750" indent="-285750">
                <a:buFont typeface="Wingdings" pitchFamily="2" charset="2"/>
                <a:buChar char="Ø"/>
              </a:pPr>
              <a:r>
                <a:rPr lang="en-IN" sz="900" dirty="0"/>
                <a:t>LLM can reason about query structure and transformations</a:t>
              </a:r>
            </a:p>
          </p:txBody>
        </p:sp>
      </p:grpSp>
      <p:grpSp>
        <p:nvGrpSpPr>
          <p:cNvPr id="18" name="Группа 8">
            <a:extLst>
              <a:ext uri="{FF2B5EF4-FFF2-40B4-BE49-F238E27FC236}">
                <a16:creationId xmlns:a16="http://schemas.microsoft.com/office/drawing/2014/main" id="{7C537D33-FEBC-7FC5-87D5-2407201688FA}"/>
              </a:ext>
            </a:extLst>
          </p:cNvPr>
          <p:cNvGrpSpPr/>
          <p:nvPr/>
        </p:nvGrpSpPr>
        <p:grpSpPr>
          <a:xfrm>
            <a:off x="505700" y="4943516"/>
            <a:ext cx="4682176" cy="1675199"/>
            <a:chOff x="0" y="1706944"/>
            <a:chExt cx="9365571" cy="3350833"/>
          </a:xfrm>
        </p:grpSpPr>
        <p:sp>
          <p:nvSpPr>
            <p:cNvPr id="19" name="Freeform 18">
              <a:extLst>
                <a:ext uri="{FF2B5EF4-FFF2-40B4-BE49-F238E27FC236}">
                  <a16:creationId xmlns:a16="http://schemas.microsoft.com/office/drawing/2014/main" id="{E665ADB7-6FB1-188D-A714-AEB920E69898}"/>
                </a:ext>
              </a:extLst>
            </p:cNvPr>
            <p:cNvSpPr/>
            <p:nvPr/>
          </p:nvSpPr>
          <p:spPr>
            <a:xfrm flipH="1">
              <a:off x="0" y="1881023"/>
              <a:ext cx="9365571" cy="3176754"/>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0" name="Текст 2">
              <a:extLst>
                <a:ext uri="{FF2B5EF4-FFF2-40B4-BE49-F238E27FC236}">
                  <a16:creationId xmlns:a16="http://schemas.microsoft.com/office/drawing/2014/main" id="{950A7A30-ED76-24D8-B705-15BC52963238}"/>
                </a:ext>
              </a:extLst>
            </p:cNvPr>
            <p:cNvSpPr txBox="1">
              <a:spLocks/>
            </p:cNvSpPr>
            <p:nvPr/>
          </p:nvSpPr>
          <p:spPr>
            <a:xfrm flipH="1">
              <a:off x="451421" y="1706944"/>
              <a:ext cx="8168433" cy="3065424"/>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How it worked</a:t>
              </a:r>
            </a:p>
            <a:p>
              <a:pPr marL="0" indent="0">
                <a:buNone/>
              </a:pPr>
              <a:r>
                <a:rPr lang="en-IN" sz="900" dirty="0"/>
                <a:t>Using an LLM to generate MongoDB aggregation pipeline </a:t>
              </a:r>
              <a:r>
                <a:rPr lang="en-IN" sz="900" dirty="0">
                  <a:sym typeface="Wingdings" pitchFamily="2" charset="2"/>
                </a:rPr>
                <a:t> </a:t>
              </a:r>
              <a:r>
                <a:rPr lang="en-IN" sz="900" dirty="0"/>
                <a:t>Augment the LLM prompt with database schema </a:t>
              </a:r>
              <a:r>
                <a:rPr lang="en-IN" sz="900" dirty="0">
                  <a:sym typeface="Wingdings" pitchFamily="2" charset="2"/>
                </a:rPr>
                <a:t> Execute generated queries on MongoDB  </a:t>
              </a:r>
              <a:r>
                <a:rPr lang="en-IN" sz="900" dirty="0"/>
                <a:t> Compare Mongo DB results with SQL execution results </a:t>
              </a:r>
              <a:r>
                <a:rPr lang="en-IN" sz="900" dirty="0">
                  <a:sym typeface="Wingdings" pitchFamily="2" charset="2"/>
                </a:rPr>
                <a:t> Use execution feedback to iteratively correct the MongoDB query </a:t>
              </a:r>
              <a:endParaRPr lang="ru-RU" sz="700" b="1" dirty="0"/>
            </a:p>
          </p:txBody>
        </p:sp>
      </p:grpSp>
      <p:grpSp>
        <p:nvGrpSpPr>
          <p:cNvPr id="21" name="Группа 8">
            <a:extLst>
              <a:ext uri="{FF2B5EF4-FFF2-40B4-BE49-F238E27FC236}">
                <a16:creationId xmlns:a16="http://schemas.microsoft.com/office/drawing/2014/main" id="{0D01B41C-0425-E5B8-4A04-D393ED397BB5}"/>
              </a:ext>
            </a:extLst>
          </p:cNvPr>
          <p:cNvGrpSpPr/>
          <p:nvPr/>
        </p:nvGrpSpPr>
        <p:grpSpPr>
          <a:xfrm>
            <a:off x="5639802" y="5030544"/>
            <a:ext cx="4682176" cy="1484031"/>
            <a:chOff x="0" y="1881023"/>
            <a:chExt cx="9365571" cy="2968447"/>
          </a:xfrm>
        </p:grpSpPr>
        <p:sp>
          <p:nvSpPr>
            <p:cNvPr id="22" name="Freeform 21">
              <a:extLst>
                <a:ext uri="{FF2B5EF4-FFF2-40B4-BE49-F238E27FC236}">
                  <a16:creationId xmlns:a16="http://schemas.microsoft.com/office/drawing/2014/main" id="{6C2670E6-3EBF-321D-B971-6BAA14819938}"/>
                </a:ext>
              </a:extLst>
            </p:cNvPr>
            <p:cNvSpPr/>
            <p:nvPr/>
          </p:nvSpPr>
          <p:spPr>
            <a:xfrm flipH="1">
              <a:off x="0" y="1881023"/>
              <a:ext cx="9365571" cy="2968447"/>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3" name="Текст 2">
              <a:extLst>
                <a:ext uri="{FF2B5EF4-FFF2-40B4-BE49-F238E27FC236}">
                  <a16:creationId xmlns:a16="http://schemas.microsoft.com/office/drawing/2014/main" id="{375BE4D6-69EE-21B9-AAC8-8A168A89E2CF}"/>
                </a:ext>
              </a:extLst>
            </p:cNvPr>
            <p:cNvSpPr txBox="1">
              <a:spLocks/>
            </p:cNvSpPr>
            <p:nvPr/>
          </p:nvSpPr>
          <p:spPr>
            <a:xfrm flipH="1">
              <a:off x="451423" y="1889162"/>
              <a:ext cx="8168433" cy="2737383"/>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Why It failed</a:t>
              </a:r>
            </a:p>
            <a:p>
              <a:pPr marL="171450" indent="-171450">
                <a:buFont typeface="Wingdings" pitchFamily="2" charset="2"/>
                <a:buChar char="Ø"/>
              </a:pPr>
              <a:r>
                <a:rPr lang="en-IN" sz="900" dirty="0"/>
                <a:t>Non Foreign key joins are difficult to infer automatically </a:t>
              </a:r>
            </a:p>
            <a:p>
              <a:pPr marL="171450" indent="-171450">
                <a:buFont typeface="Wingdings" pitchFamily="2" charset="2"/>
                <a:buChar char="Ø"/>
              </a:pPr>
              <a:r>
                <a:rPr lang="en-IN" sz="900" dirty="0"/>
                <a:t>Complex Aggregations (Group By , Case , Nested Logic)  remains challenging </a:t>
              </a:r>
            </a:p>
            <a:p>
              <a:pPr marL="171450" indent="-171450">
                <a:buFont typeface="Wingdings" pitchFamily="2" charset="2"/>
                <a:buChar char="Ø"/>
              </a:pPr>
              <a:r>
                <a:rPr lang="en-IN" sz="900" b="1" dirty="0"/>
                <a:t>LLM guessing join conditions</a:t>
              </a:r>
              <a:r>
                <a:rPr lang="en-IN" sz="900" dirty="0"/>
                <a:t> when schema is insufficient</a:t>
              </a:r>
            </a:p>
            <a:p>
              <a:pPr marL="0" indent="0">
                <a:buNone/>
              </a:pPr>
              <a:endParaRPr lang="en-IN" sz="900" dirty="0"/>
            </a:p>
          </p:txBody>
        </p:sp>
      </p:grpSp>
      <p:grpSp>
        <p:nvGrpSpPr>
          <p:cNvPr id="24" name="Группа 8">
            <a:extLst>
              <a:ext uri="{FF2B5EF4-FFF2-40B4-BE49-F238E27FC236}">
                <a16:creationId xmlns:a16="http://schemas.microsoft.com/office/drawing/2014/main" id="{88AF2F1B-23BD-C160-7E47-3015EF633A64}"/>
              </a:ext>
            </a:extLst>
          </p:cNvPr>
          <p:cNvGrpSpPr/>
          <p:nvPr/>
        </p:nvGrpSpPr>
        <p:grpSpPr>
          <a:xfrm>
            <a:off x="5639802" y="3307887"/>
            <a:ext cx="4682176" cy="1635629"/>
            <a:chOff x="0" y="1881023"/>
            <a:chExt cx="9365571" cy="3271682"/>
          </a:xfrm>
        </p:grpSpPr>
        <p:sp>
          <p:nvSpPr>
            <p:cNvPr id="25" name="Freeform 24">
              <a:extLst>
                <a:ext uri="{FF2B5EF4-FFF2-40B4-BE49-F238E27FC236}">
                  <a16:creationId xmlns:a16="http://schemas.microsoft.com/office/drawing/2014/main" id="{27128BEB-9AC6-F886-3EC9-59C29DFFC5EB}"/>
                </a:ext>
              </a:extLst>
            </p:cNvPr>
            <p:cNvSpPr/>
            <p:nvPr/>
          </p:nvSpPr>
          <p:spPr>
            <a:xfrm flipH="1">
              <a:off x="0" y="1881023"/>
              <a:ext cx="9365571" cy="3271682"/>
            </a:xfrm>
            <a:custGeom>
              <a:avLst/>
              <a:gdLst>
                <a:gd name="connsiteX0" fmla="*/ 1394075 w 9365571"/>
                <a:gd name="connsiteY0" fmla="*/ 0 h 2788150"/>
                <a:gd name="connsiteX1" fmla="*/ 9365571 w 9365571"/>
                <a:gd name="connsiteY1" fmla="*/ 0 h 2788150"/>
                <a:gd name="connsiteX2" fmla="*/ 9365571 w 9365571"/>
                <a:gd name="connsiteY2" fmla="*/ 2788150 h 2788150"/>
                <a:gd name="connsiteX3" fmla="*/ 1394075 w 9365571"/>
                <a:gd name="connsiteY3" fmla="*/ 2788150 h 2788150"/>
                <a:gd name="connsiteX4" fmla="*/ 0 w 9365571"/>
                <a:gd name="connsiteY4" fmla="*/ 1394075 h 2788150"/>
                <a:gd name="connsiteX5" fmla="*/ 1394075 w 9365571"/>
                <a:gd name="connsiteY5" fmla="*/ 0 h 278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65571" h="2788150">
                  <a:moveTo>
                    <a:pt x="1394075" y="0"/>
                  </a:moveTo>
                  <a:lnTo>
                    <a:pt x="9365571" y="0"/>
                  </a:lnTo>
                  <a:lnTo>
                    <a:pt x="9365571" y="2788150"/>
                  </a:lnTo>
                  <a:lnTo>
                    <a:pt x="1394075" y="2788150"/>
                  </a:lnTo>
                  <a:cubicBezTo>
                    <a:pt x="624149" y="2788150"/>
                    <a:pt x="0" y="2164001"/>
                    <a:pt x="0" y="1394075"/>
                  </a:cubicBezTo>
                  <a:cubicBezTo>
                    <a:pt x="0" y="624149"/>
                    <a:pt x="624149" y="0"/>
                    <a:pt x="1394075" y="0"/>
                  </a:cubicBezTo>
                  <a:close/>
                </a:path>
              </a:pathLst>
            </a:custGeom>
            <a:gradFill>
              <a:gsLst>
                <a:gs pos="0">
                  <a:schemeClr val="bg1">
                    <a:lumMod val="95000"/>
                    <a:alpha val="15000"/>
                  </a:schemeClr>
                </a:gs>
                <a:gs pos="100000">
                  <a:schemeClr val="bg1">
                    <a:lumMod val="9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24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sp>
          <p:nvSpPr>
            <p:cNvPr id="26" name="Текст 2">
              <a:extLst>
                <a:ext uri="{FF2B5EF4-FFF2-40B4-BE49-F238E27FC236}">
                  <a16:creationId xmlns:a16="http://schemas.microsoft.com/office/drawing/2014/main" id="{B95F9A1C-9B23-16E4-AE60-77D7A7B25D32}"/>
                </a:ext>
              </a:extLst>
            </p:cNvPr>
            <p:cNvSpPr txBox="1">
              <a:spLocks/>
            </p:cNvSpPr>
            <p:nvPr/>
          </p:nvSpPr>
          <p:spPr>
            <a:xfrm flipH="1">
              <a:off x="451419" y="1889162"/>
              <a:ext cx="8168433" cy="3214697"/>
            </a:xfrm>
            <a:prstGeom prst="rect">
              <a:avLst/>
            </a:prstGeom>
          </p:spPr>
          <p:txBody>
            <a:bodyPr/>
            <a:lstStyle>
              <a:lvl1pPr marL="914446" indent="-914446" algn="l" defTabSz="2438522" rtl="0" eaLnBrk="1" latinLnBrk="0" hangingPunct="1">
                <a:spcBef>
                  <a:spcPct val="20000"/>
                </a:spcBef>
                <a:buFont typeface="Arial" panose="020B0604020202020204" pitchFamily="34" charset="0"/>
                <a:buChar char="•"/>
                <a:defRPr lang="en-US" sz="2100" b="0" i="0" kern="1200" baseline="0" dirty="0">
                  <a:solidFill>
                    <a:schemeClr val="tx2">
                      <a:lumMod val="75000"/>
                      <a:lumOff val="25000"/>
                    </a:schemeClr>
                  </a:solidFill>
                  <a:latin typeface="Roboto Light" charset="0"/>
                  <a:ea typeface="Roboto Light" charset="0"/>
                  <a:cs typeface="Roboto Light" charset="0"/>
                </a:defRPr>
              </a:lvl1pPr>
              <a:lvl2pPr marL="1981299" indent="-762038" algn="l" defTabSz="2438522" rtl="0" eaLnBrk="1" latinLnBrk="0" hangingPunct="1">
                <a:spcBef>
                  <a:spcPct val="20000"/>
                </a:spcBef>
                <a:buFont typeface="Arial" panose="020B0604020202020204" pitchFamily="34" charset="0"/>
                <a:buChar char="–"/>
                <a:defRPr sz="7500" kern="1200">
                  <a:solidFill>
                    <a:schemeClr val="tx1"/>
                  </a:solidFill>
                  <a:latin typeface="+mn-lt"/>
                  <a:ea typeface="+mn-ea"/>
                  <a:cs typeface="+mn-cs"/>
                </a:defRPr>
              </a:lvl2pPr>
              <a:lvl3pPr marL="3048152" indent="-609630" algn="l" defTabSz="2438522" rtl="0" eaLnBrk="1" latinLnBrk="0" hangingPunct="1">
                <a:spcBef>
                  <a:spcPct val="20000"/>
                </a:spcBef>
                <a:buFont typeface="Arial" panose="020B0604020202020204" pitchFamily="34" charset="0"/>
                <a:buChar char="•"/>
                <a:defRPr sz="6400" kern="1200">
                  <a:solidFill>
                    <a:schemeClr val="tx1"/>
                  </a:solidFill>
                  <a:latin typeface="+mn-lt"/>
                  <a:ea typeface="+mn-ea"/>
                  <a:cs typeface="+mn-cs"/>
                </a:defRPr>
              </a:lvl3pPr>
              <a:lvl4pPr marL="4267413"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4pPr>
              <a:lvl5pPr marL="5486674"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5pPr>
              <a:lvl6pPr marL="6705935"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6pPr>
              <a:lvl7pPr marL="7925196"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7pPr>
              <a:lvl8pPr marL="9144457"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8pPr>
              <a:lvl9pPr marL="10363718" indent="-609630" algn="l" defTabSz="2438522" rtl="0" eaLnBrk="1" latinLnBrk="0" hangingPunct="1">
                <a:spcBef>
                  <a:spcPct val="20000"/>
                </a:spcBef>
                <a:buFont typeface="Arial" panose="020B0604020202020204" pitchFamily="34" charset="0"/>
                <a:buChar char="•"/>
                <a:defRPr sz="5300" kern="1200">
                  <a:solidFill>
                    <a:schemeClr val="tx1"/>
                  </a:solidFill>
                  <a:latin typeface="+mn-lt"/>
                  <a:ea typeface="+mn-ea"/>
                  <a:cs typeface="+mn-cs"/>
                </a:defRPr>
              </a:lvl9pPr>
            </a:lstStyle>
            <a:p>
              <a:pPr marL="0" marR="0" lvl="0" indent="0" defTabSz="1219017" rtl="0" eaLnBrk="1" fontAlgn="auto" latinLnBrk="0" hangingPunct="1">
                <a:lnSpc>
                  <a:spcPct val="150000"/>
                </a:lnSpc>
                <a:spcBef>
                  <a:spcPct val="20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D500"/>
                  </a:solidFill>
                  <a:effectLst/>
                  <a:uLnTx/>
                  <a:uFillTx/>
                  <a:latin typeface="Poppins" panose="00000500000000000000" pitchFamily="2" charset="0"/>
                  <a:ea typeface="Tahoma" charset="0"/>
                  <a:cs typeface="Poppins" panose="00000500000000000000" pitchFamily="2" charset="0"/>
                </a:rPr>
                <a:t>Process</a:t>
              </a:r>
            </a:p>
            <a:p>
              <a:pPr marL="0" indent="0">
                <a:buNone/>
              </a:pPr>
              <a:r>
                <a:rPr lang="en-IN" sz="900" b="1" dirty="0"/>
                <a:t>Model 1 :  LLM Baseline ( NO RAG )</a:t>
              </a:r>
            </a:p>
            <a:p>
              <a:pPr marL="171450" indent="-171450">
                <a:buFont typeface="Wingdings" pitchFamily="2" charset="2"/>
                <a:buChar char="Ø"/>
              </a:pPr>
              <a:r>
                <a:rPr lang="en-IN" sz="900" dirty="0"/>
                <a:t>Input SQL  </a:t>
              </a:r>
              <a:r>
                <a:rPr lang="en-IN" sz="900" dirty="0">
                  <a:sym typeface="Wingdings" pitchFamily="2" charset="2"/>
                </a:rPr>
                <a:t> LLM generate Mongo DB without Schema Context</a:t>
              </a:r>
            </a:p>
            <a:p>
              <a:pPr marL="0" indent="0">
                <a:buNone/>
              </a:pPr>
              <a:r>
                <a:rPr lang="en-IN" sz="900" b="1" dirty="0">
                  <a:sym typeface="Wingdings" pitchFamily="2" charset="2"/>
                </a:rPr>
                <a:t>Model 2 :  LLM + RAG(Schema Awareness)</a:t>
              </a:r>
            </a:p>
            <a:p>
              <a:pPr marL="171450" indent="-171450">
                <a:buFont typeface="Wingdings" pitchFamily="2" charset="2"/>
                <a:buChar char="Ø"/>
              </a:pPr>
              <a:r>
                <a:rPr lang="en-IN" sz="900" dirty="0">
                  <a:sym typeface="Wingdings" pitchFamily="2" charset="2"/>
                </a:rPr>
                <a:t>Retrieves table names and Foreign – key relations</a:t>
              </a:r>
            </a:p>
            <a:p>
              <a:pPr marL="171450" indent="-171450">
                <a:buFont typeface="Wingdings" pitchFamily="2" charset="2"/>
                <a:buChar char="Ø"/>
              </a:pPr>
              <a:r>
                <a:rPr lang="en-IN" sz="900" dirty="0">
                  <a:sym typeface="Wingdings" pitchFamily="2" charset="2"/>
                </a:rPr>
                <a:t>Inject Schema Information into prompt </a:t>
              </a:r>
            </a:p>
            <a:p>
              <a:pPr marL="0" indent="0">
                <a:buNone/>
              </a:pPr>
              <a:r>
                <a:rPr lang="en-IN" sz="900" b="1" dirty="0">
                  <a:sym typeface="Wingdings" pitchFamily="2" charset="2"/>
                </a:rPr>
                <a:t>Model3 :</a:t>
              </a:r>
              <a:r>
                <a:rPr lang="en-US" sz="1050" b="1" dirty="0"/>
                <a:t>LLM + RAG</a:t>
              </a:r>
              <a:r>
                <a:rPr lang="en-US" sz="1100" b="1" dirty="0"/>
                <a:t> </a:t>
              </a:r>
              <a:r>
                <a:rPr lang="en-US" sz="900" b="1" dirty="0"/>
                <a:t>(Schema  + Join Template Injection)</a:t>
              </a:r>
              <a:endParaRPr lang="en-IN" sz="1400" b="1" dirty="0"/>
            </a:p>
            <a:p>
              <a:pPr marL="171450" indent="-171450">
                <a:buFont typeface="Wingdings" pitchFamily="2" charset="2"/>
                <a:buChar char="Ø"/>
              </a:pPr>
              <a:r>
                <a:rPr lang="en-IN" sz="900" dirty="0">
                  <a:sym typeface="Wingdings" pitchFamily="2" charset="2"/>
                </a:rPr>
                <a:t>Additionally  Inject Join Templates into prompt </a:t>
              </a:r>
            </a:p>
            <a:p>
              <a:pPr marL="171450" indent="-171450">
                <a:buFont typeface="Wingdings" pitchFamily="2" charset="2"/>
                <a:buChar char="Ø"/>
              </a:pPr>
              <a:endParaRPr lang="en-IN" sz="900" dirty="0">
                <a:sym typeface="Wingdings" pitchFamily="2" charset="2"/>
              </a:endParaRPr>
            </a:p>
            <a:p>
              <a:pPr marL="0" indent="0">
                <a:buNone/>
              </a:pPr>
              <a:endParaRPr lang="en-IN" sz="900" dirty="0">
                <a:sym typeface="Wingdings" pitchFamily="2" charset="2"/>
              </a:endParaRPr>
            </a:p>
          </p:txBody>
        </p:sp>
      </p:grpSp>
      <p:pic>
        <p:nvPicPr>
          <p:cNvPr id="27" name="Graphic 26">
            <a:extLst>
              <a:ext uri="{FF2B5EF4-FFF2-40B4-BE49-F238E27FC236}">
                <a16:creationId xmlns:a16="http://schemas.microsoft.com/office/drawing/2014/main" id="{80201F00-453D-124C-E9F2-216D4C456961}"/>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10273980" y="0"/>
            <a:ext cx="289387" cy="349581"/>
          </a:xfrm>
          <a:prstGeom prst="rect">
            <a:avLst/>
          </a:prstGeom>
        </p:spPr>
      </p:pic>
      <p:sp>
        <p:nvSpPr>
          <p:cNvPr id="28" name="TextBox 27">
            <a:extLst>
              <a:ext uri="{FF2B5EF4-FFF2-40B4-BE49-F238E27FC236}">
                <a16:creationId xmlns:a16="http://schemas.microsoft.com/office/drawing/2014/main" id="{DC8CD9FD-1DA0-7DF2-6787-06F8DB46B5FE}"/>
              </a:ext>
            </a:extLst>
          </p:cNvPr>
          <p:cNvSpPr txBox="1"/>
          <p:nvPr/>
        </p:nvSpPr>
        <p:spPr>
          <a:xfrm>
            <a:off x="10563367" y="0"/>
            <a:ext cx="1091821" cy="382137"/>
          </a:xfrm>
          <a:prstGeom prst="rect">
            <a:avLst/>
          </a:prstGeom>
          <a:noFill/>
        </p:spPr>
        <p:txBody>
          <a:bodyPr wrap="square" rtlCol="0">
            <a:spAutoFit/>
          </a:bodyPr>
          <a:lstStyle/>
          <a:p>
            <a:r>
              <a:rPr lang="en-US" dirty="0"/>
              <a:t>Saurabh</a:t>
            </a:r>
          </a:p>
        </p:txBody>
      </p:sp>
    </p:spTree>
    <p:extLst>
      <p:ext uri="{BB962C8B-B14F-4D97-AF65-F5344CB8AC3E}">
        <p14:creationId xmlns:p14="http://schemas.microsoft.com/office/powerpoint/2010/main" val="174800606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50000">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14:bounceEnd="50000">
                                          <p:cBhvr additive="base">
                                            <p:cTn id="7" dur="500" fill="hold"/>
                                            <p:tgtEl>
                                              <p:spTgt spid="3"/>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50000">
                                      <p:stCondLst>
                                        <p:cond delay="100"/>
                                      </p:stCondLst>
                                      <p:childTnLst>
                                        <p:set>
                                          <p:cBhvr>
                                            <p:cTn id="10" dur="1" fill="hold">
                                              <p:stCondLst>
                                                <p:cond delay="0"/>
                                              </p:stCondLst>
                                            </p:cTn>
                                            <p:tgtEl>
                                              <p:spTgt spid="18"/>
                                            </p:tgtEl>
                                            <p:attrNameLst>
                                              <p:attrName>style.visibility</p:attrName>
                                            </p:attrNameLst>
                                          </p:cBhvr>
                                          <p:to>
                                            <p:strVal val="visible"/>
                                          </p:to>
                                        </p:set>
                                        <p:anim calcmode="lin" valueType="num" p14:bounceEnd="50000">
                                          <p:cBhvr additive="base">
                                            <p:cTn id="11" dur="500" fill="hold"/>
                                            <p:tgtEl>
                                              <p:spTgt spid="18"/>
                                            </p:tgtEl>
                                            <p:attrNameLst>
                                              <p:attrName>ppt_x</p:attrName>
                                            </p:attrNameLst>
                                          </p:cBhvr>
                                          <p:tavLst>
                                            <p:tav tm="0">
                                              <p:val>
                                                <p:strVal val="0-#ppt_w/2"/>
                                              </p:val>
                                            </p:tav>
                                            <p:tav tm="100000">
                                              <p:val>
                                                <p:strVal val="#ppt_x"/>
                                              </p:val>
                                            </p:tav>
                                          </p:tavLst>
                                        </p:anim>
                                        <p:anim calcmode="lin" valueType="num" p14:bounceEnd="50000">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50000">
                                      <p:stCondLst>
                                        <p:cond delay="100"/>
                                      </p:stCondLst>
                                      <p:childTnLst>
                                        <p:set>
                                          <p:cBhvr>
                                            <p:cTn id="14" dur="1" fill="hold">
                                              <p:stCondLst>
                                                <p:cond delay="0"/>
                                              </p:stCondLst>
                                            </p:cTn>
                                            <p:tgtEl>
                                              <p:spTgt spid="21"/>
                                            </p:tgtEl>
                                            <p:attrNameLst>
                                              <p:attrName>style.visibility</p:attrName>
                                            </p:attrNameLst>
                                          </p:cBhvr>
                                          <p:to>
                                            <p:strVal val="visible"/>
                                          </p:to>
                                        </p:set>
                                        <p:anim calcmode="lin" valueType="num" p14:bounceEnd="50000">
                                          <p:cBhvr additive="base">
                                            <p:cTn id="15" dur="500" fill="hold"/>
                                            <p:tgtEl>
                                              <p:spTgt spid="21"/>
                                            </p:tgtEl>
                                            <p:attrNameLst>
                                              <p:attrName>ppt_x</p:attrName>
                                            </p:attrNameLst>
                                          </p:cBhvr>
                                          <p:tavLst>
                                            <p:tav tm="0">
                                              <p:val>
                                                <p:strVal val="0-#ppt_w/2"/>
                                              </p:val>
                                            </p:tav>
                                            <p:tav tm="100000">
                                              <p:val>
                                                <p:strVal val="#ppt_x"/>
                                              </p:val>
                                            </p:tav>
                                          </p:tavLst>
                                        </p:anim>
                                        <p:anim calcmode="lin" valueType="num" p14:bounceEnd="50000">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14:presetBounceEnd="50000">
                                      <p:stCondLst>
                                        <p:cond delay="100"/>
                                      </p:stCondLst>
                                      <p:childTnLst>
                                        <p:set>
                                          <p:cBhvr>
                                            <p:cTn id="18" dur="1" fill="hold">
                                              <p:stCondLst>
                                                <p:cond delay="0"/>
                                              </p:stCondLst>
                                            </p:cTn>
                                            <p:tgtEl>
                                              <p:spTgt spid="24"/>
                                            </p:tgtEl>
                                            <p:attrNameLst>
                                              <p:attrName>style.visibility</p:attrName>
                                            </p:attrNameLst>
                                          </p:cBhvr>
                                          <p:to>
                                            <p:strVal val="visible"/>
                                          </p:to>
                                        </p:set>
                                        <p:anim calcmode="lin" valueType="num" p14:bounceEnd="50000">
                                          <p:cBhvr additive="base">
                                            <p:cTn id="19" dur="500" fill="hold"/>
                                            <p:tgtEl>
                                              <p:spTgt spid="24"/>
                                            </p:tgtEl>
                                            <p:attrNameLst>
                                              <p:attrName>ppt_x</p:attrName>
                                            </p:attrNameLst>
                                          </p:cBhvr>
                                          <p:tavLst>
                                            <p:tav tm="0">
                                              <p:val>
                                                <p:strVal val="0-#ppt_w/2"/>
                                              </p:val>
                                            </p:tav>
                                            <p:tav tm="100000">
                                              <p:val>
                                                <p:strVal val="#ppt_x"/>
                                              </p:val>
                                            </p:tav>
                                          </p:tavLst>
                                        </p:anim>
                                        <p:anim calcmode="lin" valueType="num" p14:bounceEnd="50000">
                                          <p:cBhvr additive="base">
                                            <p:cTn id="20"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1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0-#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1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10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0-#ppt_w/2"/>
                                              </p:val>
                                            </p:tav>
                                            <p:tav tm="100000">
                                              <p:val>
                                                <p:strVal val="#ppt_x"/>
                                              </p:val>
                                            </p:tav>
                                          </p:tavLst>
                                        </p:anim>
                                        <p:anim calcmode="lin" valueType="num">
                                          <p:cBhvr additive="base">
                                            <p:cTn id="20"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506E3-A03C-B3E8-27BF-697F533A6307}"/>
            </a:ext>
          </a:extLst>
        </p:cNvPr>
        <p:cNvGrpSpPr/>
        <p:nvPr/>
      </p:nvGrpSpPr>
      <p:grpSpPr>
        <a:xfrm>
          <a:off x="0" y="0"/>
          <a:ext cx="0" cy="0"/>
          <a:chOff x="0" y="0"/>
          <a:chExt cx="0" cy="0"/>
        </a:xfrm>
      </p:grpSpPr>
      <p:sp>
        <p:nvSpPr>
          <p:cNvPr id="14" name="Rounded Rectangle 13">
            <a:extLst>
              <a:ext uri="{FF2B5EF4-FFF2-40B4-BE49-F238E27FC236}">
                <a16:creationId xmlns:a16="http://schemas.microsoft.com/office/drawing/2014/main" id="{750C5BA6-6E9A-76B6-9F9D-07E57FD1310E}"/>
              </a:ext>
            </a:extLst>
          </p:cNvPr>
          <p:cNvSpPr/>
          <p:nvPr/>
        </p:nvSpPr>
        <p:spPr>
          <a:xfrm>
            <a:off x="4203558" y="4036274"/>
            <a:ext cx="3144303" cy="2019868"/>
          </a:xfrm>
          <a:prstGeom prst="roundRect">
            <a:avLst/>
          </a:prstGeom>
          <a:solidFill>
            <a:srgbClr val="0070C0"/>
          </a:solidFill>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D9D5D8E8-68FB-0B19-01FB-78B921B7EF3C}"/>
              </a:ext>
            </a:extLst>
          </p:cNvPr>
          <p:cNvSpPr/>
          <p:nvPr/>
        </p:nvSpPr>
        <p:spPr>
          <a:xfrm>
            <a:off x="7347861" y="1646873"/>
            <a:ext cx="3144303" cy="2019868"/>
          </a:xfrm>
          <a:prstGeom prst="roundRect">
            <a:avLst/>
          </a:prstGeom>
          <a:solidFill>
            <a:srgbClr val="0070C0"/>
          </a:solidFill>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Rounded Rectangle 3">
            <a:extLst>
              <a:ext uri="{FF2B5EF4-FFF2-40B4-BE49-F238E27FC236}">
                <a16:creationId xmlns:a16="http://schemas.microsoft.com/office/drawing/2014/main" id="{1EC6D80F-B398-CC75-E64C-A3762898D628}"/>
              </a:ext>
            </a:extLst>
          </p:cNvPr>
          <p:cNvSpPr/>
          <p:nvPr/>
        </p:nvSpPr>
        <p:spPr>
          <a:xfrm>
            <a:off x="1393559" y="1621773"/>
            <a:ext cx="3144303" cy="2019868"/>
          </a:xfrm>
          <a:prstGeom prst="roundRect">
            <a:avLst/>
          </a:prstGeom>
          <a:solidFill>
            <a:srgbClr val="0070C0"/>
          </a:solidFill>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D0605446-6E37-5F99-E6B4-8D3A2AB3C8B8}"/>
              </a:ext>
            </a:extLst>
          </p:cNvPr>
          <p:cNvSpPr>
            <a:spLocks noGrp="1"/>
          </p:cNvSpPr>
          <p:nvPr>
            <p:ph type="ctrTitle"/>
          </p:nvPr>
        </p:nvSpPr>
        <p:spPr>
          <a:xfrm>
            <a:off x="1524000" y="104798"/>
            <a:ext cx="9144000" cy="1189429"/>
          </a:xfrm>
        </p:spPr>
        <p:txBody>
          <a:bodyPr>
            <a:normAutofit/>
          </a:bodyPr>
          <a:lstStyle/>
          <a:p>
            <a:r>
              <a:rPr lang="en-US" dirty="0"/>
              <a:t>Model Evaluation</a:t>
            </a:r>
            <a:endParaRPr lang="en-US" sz="4400" dirty="0"/>
          </a:p>
        </p:txBody>
      </p:sp>
      <p:sp>
        <p:nvSpPr>
          <p:cNvPr id="3" name="Rounded Rectangle 2">
            <a:extLst>
              <a:ext uri="{FF2B5EF4-FFF2-40B4-BE49-F238E27FC236}">
                <a16:creationId xmlns:a16="http://schemas.microsoft.com/office/drawing/2014/main" id="{76A226B0-FB6B-889F-A99D-486314DF6827}"/>
              </a:ext>
            </a:extLst>
          </p:cNvPr>
          <p:cNvSpPr/>
          <p:nvPr/>
        </p:nvSpPr>
        <p:spPr>
          <a:xfrm>
            <a:off x="1543764" y="1525087"/>
            <a:ext cx="3144303" cy="201986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ounded Rectangle 4">
            <a:extLst>
              <a:ext uri="{FF2B5EF4-FFF2-40B4-BE49-F238E27FC236}">
                <a16:creationId xmlns:a16="http://schemas.microsoft.com/office/drawing/2014/main" id="{01C1B2CC-EF50-4CD8-E805-F25D20F67B43}"/>
              </a:ext>
            </a:extLst>
          </p:cNvPr>
          <p:cNvSpPr/>
          <p:nvPr/>
        </p:nvSpPr>
        <p:spPr>
          <a:xfrm>
            <a:off x="7505436" y="1525087"/>
            <a:ext cx="3142800" cy="201986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ed Rectangle 5">
            <a:extLst>
              <a:ext uri="{FF2B5EF4-FFF2-40B4-BE49-F238E27FC236}">
                <a16:creationId xmlns:a16="http://schemas.microsoft.com/office/drawing/2014/main" id="{F6B75E2A-D1C2-B1AA-C31A-1B11F7FC7FDC}"/>
              </a:ext>
            </a:extLst>
          </p:cNvPr>
          <p:cNvSpPr/>
          <p:nvPr/>
        </p:nvSpPr>
        <p:spPr>
          <a:xfrm>
            <a:off x="4362636" y="3872501"/>
            <a:ext cx="3142800" cy="2019868"/>
          </a:xfrm>
          <a:prstGeom prst="roundRect">
            <a:avLst/>
          </a:prstGeom>
          <a:solidFill>
            <a:srgbClr val="92D050"/>
          </a:solidFill>
          <a:effectLst>
            <a:outerShdw blurRad="50800" dist="38100" dir="5400000" algn="t" rotWithShape="0">
              <a:prstClr val="black">
                <a:alpha val="40000"/>
              </a:prstClr>
            </a:outerShdw>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50C015C-57F4-B6F3-6166-724B42CEC992}"/>
              </a:ext>
            </a:extLst>
          </p:cNvPr>
          <p:cNvSpPr/>
          <p:nvPr/>
        </p:nvSpPr>
        <p:spPr>
          <a:xfrm>
            <a:off x="2032699" y="1361314"/>
            <a:ext cx="2224585" cy="3275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LLM Baseline</a:t>
            </a:r>
            <a:endParaRPr lang="en-IN" dirty="0"/>
          </a:p>
        </p:txBody>
      </p:sp>
      <p:sp>
        <p:nvSpPr>
          <p:cNvPr id="8" name="Rectangle 7">
            <a:extLst>
              <a:ext uri="{FF2B5EF4-FFF2-40B4-BE49-F238E27FC236}">
                <a16:creationId xmlns:a16="http://schemas.microsoft.com/office/drawing/2014/main" id="{5624704D-BA82-F24B-B6EA-71722C7F4918}"/>
              </a:ext>
            </a:extLst>
          </p:cNvPr>
          <p:cNvSpPr/>
          <p:nvPr/>
        </p:nvSpPr>
        <p:spPr>
          <a:xfrm>
            <a:off x="7962743" y="1361314"/>
            <a:ext cx="2224585" cy="3275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dirty="0"/>
              <a:t>LLM + RAG (Schema Awareness)</a:t>
            </a:r>
            <a:endParaRPr lang="en-IN" sz="1400" dirty="0"/>
          </a:p>
        </p:txBody>
      </p:sp>
      <p:sp>
        <p:nvSpPr>
          <p:cNvPr id="9" name="Rectangle 8">
            <a:extLst>
              <a:ext uri="{FF2B5EF4-FFF2-40B4-BE49-F238E27FC236}">
                <a16:creationId xmlns:a16="http://schemas.microsoft.com/office/drawing/2014/main" id="{D68F6CF1-F61D-F05E-CE68-17F535F9DBDE}"/>
              </a:ext>
            </a:extLst>
          </p:cNvPr>
          <p:cNvSpPr/>
          <p:nvPr/>
        </p:nvSpPr>
        <p:spPr>
          <a:xfrm>
            <a:off x="4805427" y="3708728"/>
            <a:ext cx="2224585" cy="327546"/>
          </a:xfrm>
          <a:prstGeom prst="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dirty="0"/>
              <a:t>LLM + RAG</a:t>
            </a:r>
            <a:r>
              <a:rPr lang="en-US" sz="1100" dirty="0"/>
              <a:t> </a:t>
            </a:r>
            <a:r>
              <a:rPr lang="en-US" sz="900" dirty="0"/>
              <a:t>(Schema  + Join Template Injection)</a:t>
            </a:r>
            <a:endParaRPr lang="en-IN" sz="1400" dirty="0"/>
          </a:p>
        </p:txBody>
      </p:sp>
      <p:sp>
        <p:nvSpPr>
          <p:cNvPr id="10" name="TextBox 9">
            <a:extLst>
              <a:ext uri="{FF2B5EF4-FFF2-40B4-BE49-F238E27FC236}">
                <a16:creationId xmlns:a16="http://schemas.microsoft.com/office/drawing/2014/main" id="{1451CE62-3B1D-EA8E-A1EB-5F714BAE2E55}"/>
              </a:ext>
            </a:extLst>
          </p:cNvPr>
          <p:cNvSpPr txBox="1"/>
          <p:nvPr/>
        </p:nvSpPr>
        <p:spPr>
          <a:xfrm>
            <a:off x="1636110" y="1888690"/>
            <a:ext cx="2910163" cy="1231106"/>
          </a:xfrm>
          <a:prstGeom prst="rect">
            <a:avLst/>
          </a:prstGeom>
          <a:noFill/>
        </p:spPr>
        <p:txBody>
          <a:bodyPr wrap="square" rtlCol="0">
            <a:spAutoFit/>
          </a:bodyPr>
          <a:lstStyle/>
          <a:p>
            <a:pPr marL="171450" indent="-171450">
              <a:buFont typeface="Wingdings" pitchFamily="2" charset="2"/>
              <a:buChar char="v"/>
            </a:pPr>
            <a:r>
              <a:rPr lang="en-IN" sz="1400" dirty="0"/>
              <a:t>Total Queries	: 20</a:t>
            </a:r>
          </a:p>
          <a:p>
            <a:pPr marL="171450" indent="-171450">
              <a:buFont typeface="Wingdings" pitchFamily="2" charset="2"/>
              <a:buChar char="v"/>
            </a:pPr>
            <a:r>
              <a:rPr lang="en-IN" sz="1400" dirty="0"/>
              <a:t>Success Count	: 1</a:t>
            </a:r>
          </a:p>
          <a:p>
            <a:pPr marL="171450" indent="-171450">
              <a:buFont typeface="Wingdings" pitchFamily="2" charset="2"/>
              <a:buChar char="v"/>
            </a:pPr>
            <a:r>
              <a:rPr lang="en-IN" sz="1400" dirty="0"/>
              <a:t>Execution Accuracy	: 0.05 (5%)</a:t>
            </a:r>
          </a:p>
          <a:p>
            <a:pPr marL="171450" indent="-171450">
              <a:buFont typeface="Wingdings" pitchFamily="2" charset="2"/>
              <a:buChar char="v"/>
            </a:pPr>
            <a:r>
              <a:rPr lang="en-IN" sz="1400" dirty="0" err="1"/>
              <a:t>Avg</a:t>
            </a:r>
            <a:r>
              <a:rPr lang="en-IN" sz="1400" dirty="0"/>
              <a:t> Retries	: 4</a:t>
            </a:r>
          </a:p>
          <a:p>
            <a:endParaRPr lang="en-US" dirty="0"/>
          </a:p>
        </p:txBody>
      </p:sp>
      <p:sp>
        <p:nvSpPr>
          <p:cNvPr id="11" name="TextBox 10">
            <a:extLst>
              <a:ext uri="{FF2B5EF4-FFF2-40B4-BE49-F238E27FC236}">
                <a16:creationId xmlns:a16="http://schemas.microsoft.com/office/drawing/2014/main" id="{0E2D0C6B-AC6B-5DEC-295B-5EB301960E86}"/>
              </a:ext>
            </a:extLst>
          </p:cNvPr>
          <p:cNvSpPr txBox="1"/>
          <p:nvPr/>
        </p:nvSpPr>
        <p:spPr>
          <a:xfrm>
            <a:off x="7655559" y="1888690"/>
            <a:ext cx="2992677" cy="1231106"/>
          </a:xfrm>
          <a:prstGeom prst="rect">
            <a:avLst/>
          </a:prstGeom>
          <a:noFill/>
        </p:spPr>
        <p:txBody>
          <a:bodyPr wrap="square" rtlCol="0">
            <a:spAutoFit/>
          </a:bodyPr>
          <a:lstStyle/>
          <a:p>
            <a:pPr marL="171450" indent="-171450">
              <a:buFont typeface="Wingdings" pitchFamily="2" charset="2"/>
              <a:buChar char="v"/>
            </a:pPr>
            <a:r>
              <a:rPr lang="en-IN" sz="1400" dirty="0"/>
              <a:t>Total Queries 	: 20</a:t>
            </a:r>
          </a:p>
          <a:p>
            <a:pPr marL="171450" indent="-171450">
              <a:buFont typeface="Wingdings" pitchFamily="2" charset="2"/>
              <a:buChar char="v"/>
            </a:pPr>
            <a:r>
              <a:rPr lang="en-IN" sz="1400" dirty="0"/>
              <a:t>Success Count 	: 5</a:t>
            </a:r>
          </a:p>
          <a:p>
            <a:pPr marL="171450" indent="-171450">
              <a:buFont typeface="Wingdings" pitchFamily="2" charset="2"/>
              <a:buChar char="v"/>
            </a:pPr>
            <a:r>
              <a:rPr lang="en-IN" sz="1400" dirty="0"/>
              <a:t>Execution Accuracy 	: 0.25 (25%)</a:t>
            </a:r>
          </a:p>
          <a:p>
            <a:pPr marL="171450" indent="-171450">
              <a:buFont typeface="Wingdings" pitchFamily="2" charset="2"/>
              <a:buChar char="v"/>
            </a:pPr>
            <a:r>
              <a:rPr lang="en-IN" sz="1400" dirty="0" err="1"/>
              <a:t>Avg</a:t>
            </a:r>
            <a:r>
              <a:rPr lang="en-IN" sz="1400" dirty="0"/>
              <a:t> Retries 	: 0.4</a:t>
            </a:r>
          </a:p>
          <a:p>
            <a:endParaRPr lang="en-US" dirty="0"/>
          </a:p>
        </p:txBody>
      </p:sp>
      <p:sp>
        <p:nvSpPr>
          <p:cNvPr id="12" name="TextBox 11">
            <a:extLst>
              <a:ext uri="{FF2B5EF4-FFF2-40B4-BE49-F238E27FC236}">
                <a16:creationId xmlns:a16="http://schemas.microsoft.com/office/drawing/2014/main" id="{B179A90E-6A94-1BAC-4AA7-7F115E5BC585}"/>
              </a:ext>
            </a:extLst>
          </p:cNvPr>
          <p:cNvSpPr txBox="1"/>
          <p:nvPr/>
        </p:nvSpPr>
        <p:spPr>
          <a:xfrm>
            <a:off x="4362636" y="4328437"/>
            <a:ext cx="3022547" cy="1415772"/>
          </a:xfrm>
          <a:prstGeom prst="rect">
            <a:avLst/>
          </a:prstGeom>
          <a:noFill/>
        </p:spPr>
        <p:txBody>
          <a:bodyPr wrap="square" rtlCol="0">
            <a:spAutoFit/>
          </a:bodyPr>
          <a:lstStyle/>
          <a:p>
            <a:pPr marL="171450" indent="-171450">
              <a:buFont typeface="Wingdings" pitchFamily="2" charset="2"/>
              <a:buChar char="v"/>
            </a:pPr>
            <a:r>
              <a:rPr lang="en-IN" sz="1400" dirty="0"/>
              <a:t>Total Queries 	: 20</a:t>
            </a:r>
          </a:p>
          <a:p>
            <a:pPr marL="171450" indent="-171450">
              <a:buFont typeface="Wingdings" pitchFamily="2" charset="2"/>
              <a:buChar char="v"/>
            </a:pPr>
            <a:r>
              <a:rPr lang="en-IN" sz="1400" dirty="0"/>
              <a:t>Success Count 	: 6</a:t>
            </a:r>
          </a:p>
          <a:p>
            <a:pPr marL="171450" indent="-171450">
              <a:buFont typeface="Wingdings" pitchFamily="2" charset="2"/>
              <a:buChar char="v"/>
            </a:pPr>
            <a:r>
              <a:rPr lang="en-IN" sz="1400" dirty="0"/>
              <a:t>Execution Accuracy 	: 0.3 (30%)</a:t>
            </a:r>
          </a:p>
          <a:p>
            <a:pPr marL="171450" indent="-171450">
              <a:buFont typeface="Wingdings" pitchFamily="2" charset="2"/>
              <a:buChar char="v"/>
            </a:pPr>
            <a:r>
              <a:rPr lang="en-IN" sz="1400" dirty="0" err="1"/>
              <a:t>Avg</a:t>
            </a:r>
            <a:r>
              <a:rPr lang="en-IN" sz="1400" dirty="0"/>
              <a:t> Retries 	: 0.3</a:t>
            </a:r>
          </a:p>
          <a:p>
            <a:endParaRPr lang="en-IN" sz="1200" dirty="0"/>
          </a:p>
          <a:p>
            <a:endParaRPr lang="en-US" dirty="0"/>
          </a:p>
        </p:txBody>
      </p:sp>
      <p:pic>
        <p:nvPicPr>
          <p:cNvPr id="15" name="Graphic 14">
            <a:extLst>
              <a:ext uri="{FF2B5EF4-FFF2-40B4-BE49-F238E27FC236}">
                <a16:creationId xmlns:a16="http://schemas.microsoft.com/office/drawing/2014/main" id="{CF71A5D9-0E3D-1C83-99DD-A8452290569B}"/>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10273980" y="0"/>
            <a:ext cx="289387" cy="349581"/>
          </a:xfrm>
          <a:prstGeom prst="rect">
            <a:avLst/>
          </a:prstGeom>
        </p:spPr>
      </p:pic>
      <p:sp>
        <p:nvSpPr>
          <p:cNvPr id="16" name="TextBox 15">
            <a:extLst>
              <a:ext uri="{FF2B5EF4-FFF2-40B4-BE49-F238E27FC236}">
                <a16:creationId xmlns:a16="http://schemas.microsoft.com/office/drawing/2014/main" id="{795A1646-1151-2CD0-DE25-84A1F2AAD268}"/>
              </a:ext>
            </a:extLst>
          </p:cNvPr>
          <p:cNvSpPr txBox="1"/>
          <p:nvPr/>
        </p:nvSpPr>
        <p:spPr>
          <a:xfrm>
            <a:off x="10563367" y="0"/>
            <a:ext cx="1091821" cy="382137"/>
          </a:xfrm>
          <a:prstGeom prst="rect">
            <a:avLst/>
          </a:prstGeom>
          <a:noFill/>
        </p:spPr>
        <p:txBody>
          <a:bodyPr wrap="square" rtlCol="0">
            <a:spAutoFit/>
          </a:bodyPr>
          <a:lstStyle/>
          <a:p>
            <a:r>
              <a:rPr lang="en-US" dirty="0"/>
              <a:t>Saurabh</a:t>
            </a:r>
          </a:p>
        </p:txBody>
      </p:sp>
    </p:spTree>
    <p:extLst>
      <p:ext uri="{BB962C8B-B14F-4D97-AF65-F5344CB8AC3E}">
        <p14:creationId xmlns:p14="http://schemas.microsoft.com/office/powerpoint/2010/main" val="29845304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64E7C-27AA-20F8-8400-1374F37A656D}"/>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2A92DAEA-A32F-8A29-E856-98F99AC97066}"/>
              </a:ext>
            </a:extLst>
          </p:cNvPr>
          <p:cNvSpPr/>
          <p:nvPr/>
        </p:nvSpPr>
        <p:spPr>
          <a:xfrm>
            <a:off x="715616" y="1294227"/>
            <a:ext cx="10939572" cy="5265599"/>
          </a:xfrm>
          <a:prstGeom prst="rect">
            <a:avLst/>
          </a:prstGeom>
          <a:solidFill>
            <a:schemeClr val="bg1"/>
          </a:solidFill>
          <a:ln w="34925">
            <a:solidFill>
              <a:srgbClr val="00B050"/>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F14B16-C775-D9D5-D101-A1BCE5B855BC}"/>
              </a:ext>
            </a:extLst>
          </p:cNvPr>
          <p:cNvSpPr>
            <a:spLocks noGrp="1"/>
          </p:cNvSpPr>
          <p:nvPr>
            <p:ph type="ctrTitle"/>
          </p:nvPr>
        </p:nvSpPr>
        <p:spPr>
          <a:xfrm>
            <a:off x="1524000" y="104798"/>
            <a:ext cx="9144000" cy="1189429"/>
          </a:xfrm>
        </p:spPr>
        <p:txBody>
          <a:bodyPr>
            <a:normAutofit/>
          </a:bodyPr>
          <a:lstStyle/>
          <a:p>
            <a:r>
              <a:rPr lang="en-US" dirty="0"/>
              <a:t>Model Outcome</a:t>
            </a:r>
            <a:endParaRPr lang="en-US" sz="4400" dirty="0"/>
          </a:p>
        </p:txBody>
      </p:sp>
      <p:pic>
        <p:nvPicPr>
          <p:cNvPr id="15" name="Graphic 14">
            <a:extLst>
              <a:ext uri="{FF2B5EF4-FFF2-40B4-BE49-F238E27FC236}">
                <a16:creationId xmlns:a16="http://schemas.microsoft.com/office/drawing/2014/main" id="{9AC10F41-7D29-DD0A-AE8C-137E186C585C}"/>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10273980" y="0"/>
            <a:ext cx="289387" cy="349581"/>
          </a:xfrm>
          <a:prstGeom prst="rect">
            <a:avLst/>
          </a:prstGeom>
        </p:spPr>
      </p:pic>
      <p:sp>
        <p:nvSpPr>
          <p:cNvPr id="16" name="TextBox 15">
            <a:extLst>
              <a:ext uri="{FF2B5EF4-FFF2-40B4-BE49-F238E27FC236}">
                <a16:creationId xmlns:a16="http://schemas.microsoft.com/office/drawing/2014/main" id="{C07CD96B-E192-5547-4EF8-56F52F85D558}"/>
              </a:ext>
            </a:extLst>
          </p:cNvPr>
          <p:cNvSpPr txBox="1"/>
          <p:nvPr/>
        </p:nvSpPr>
        <p:spPr>
          <a:xfrm>
            <a:off x="10563367" y="0"/>
            <a:ext cx="1091821" cy="382137"/>
          </a:xfrm>
          <a:prstGeom prst="rect">
            <a:avLst/>
          </a:prstGeom>
          <a:noFill/>
        </p:spPr>
        <p:txBody>
          <a:bodyPr wrap="square" rtlCol="0">
            <a:spAutoFit/>
          </a:bodyPr>
          <a:lstStyle/>
          <a:p>
            <a:r>
              <a:rPr lang="en-US" dirty="0"/>
              <a:t>Saurabh</a:t>
            </a:r>
          </a:p>
        </p:txBody>
      </p:sp>
      <p:pic>
        <p:nvPicPr>
          <p:cNvPr id="17" name="Picture 16">
            <a:extLst>
              <a:ext uri="{FF2B5EF4-FFF2-40B4-BE49-F238E27FC236}">
                <a16:creationId xmlns:a16="http://schemas.microsoft.com/office/drawing/2014/main" id="{75CEE4DA-296B-FD09-AAC0-41B34A383133}"/>
              </a:ext>
            </a:extLst>
          </p:cNvPr>
          <p:cNvPicPr>
            <a:picLocks noChangeAspect="1"/>
          </p:cNvPicPr>
          <p:nvPr/>
        </p:nvPicPr>
        <p:blipFill>
          <a:blip r:embed="rId5"/>
          <a:stretch>
            <a:fillRect/>
          </a:stretch>
        </p:blipFill>
        <p:spPr>
          <a:xfrm>
            <a:off x="715617" y="1436222"/>
            <a:ext cx="10734261" cy="4964578"/>
          </a:xfrm>
          <a:prstGeom prst="rect">
            <a:avLst/>
          </a:prstGeom>
        </p:spPr>
      </p:pic>
    </p:spTree>
    <p:extLst>
      <p:ext uri="{BB962C8B-B14F-4D97-AF65-F5344CB8AC3E}">
        <p14:creationId xmlns:p14="http://schemas.microsoft.com/office/powerpoint/2010/main" val="28895045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5DD5-FBF0-2C2C-4BB7-5B6B164F1F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79A35-A183-0A81-2463-4F5E906DDDB5}"/>
              </a:ext>
            </a:extLst>
          </p:cNvPr>
          <p:cNvSpPr>
            <a:spLocks noGrp="1"/>
          </p:cNvSpPr>
          <p:nvPr>
            <p:ph type="ctrTitle"/>
          </p:nvPr>
        </p:nvSpPr>
        <p:spPr>
          <a:xfrm>
            <a:off x="1524000" y="104798"/>
            <a:ext cx="9144000" cy="1189429"/>
          </a:xfrm>
        </p:spPr>
        <p:txBody>
          <a:bodyPr>
            <a:normAutofit/>
          </a:bodyPr>
          <a:lstStyle/>
          <a:p>
            <a:r>
              <a:rPr lang="en-US" dirty="0"/>
              <a:t>Future Work</a:t>
            </a:r>
            <a:endParaRPr lang="en-US" sz="4400" dirty="0"/>
          </a:p>
        </p:txBody>
      </p:sp>
      <p:grpSp>
        <p:nvGrpSpPr>
          <p:cNvPr id="30" name="Группа 2">
            <a:extLst>
              <a:ext uri="{FF2B5EF4-FFF2-40B4-BE49-F238E27FC236}">
                <a16:creationId xmlns:a16="http://schemas.microsoft.com/office/drawing/2014/main" id="{95374C47-868B-6E97-3A72-E8A3556B3BAB}"/>
              </a:ext>
            </a:extLst>
          </p:cNvPr>
          <p:cNvGrpSpPr/>
          <p:nvPr/>
        </p:nvGrpSpPr>
        <p:grpSpPr>
          <a:xfrm>
            <a:off x="0" y="3423546"/>
            <a:ext cx="3599253" cy="759034"/>
            <a:chOff x="0" y="7612264"/>
            <a:chExt cx="7199443" cy="1518266"/>
          </a:xfrm>
          <a:solidFill>
            <a:schemeClr val="bg1">
              <a:lumMod val="85000"/>
            </a:schemeClr>
          </a:solidFill>
        </p:grpSpPr>
        <p:sp>
          <p:nvSpPr>
            <p:cNvPr id="32" name="Прямоугольник 10">
              <a:extLst>
                <a:ext uri="{FF2B5EF4-FFF2-40B4-BE49-F238E27FC236}">
                  <a16:creationId xmlns:a16="http://schemas.microsoft.com/office/drawing/2014/main" id="{401F07F4-1F97-6E45-2182-67FE20CCD52A}"/>
                </a:ext>
              </a:extLst>
            </p:cNvPr>
            <p:cNvSpPr/>
            <p:nvPr/>
          </p:nvSpPr>
          <p:spPr>
            <a:xfrm>
              <a:off x="0" y="7612264"/>
              <a:ext cx="7199443" cy="151826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900" b="0" i="0" u="none" strike="noStrike" kern="1200" cap="none" spc="0" normalizeH="0" baseline="0" noProof="0" dirty="0">
                <a:ln>
                  <a:noFill/>
                </a:ln>
                <a:solidFill>
                  <a:srgbClr val="FFFFFF"/>
                </a:solidFill>
                <a:effectLst/>
                <a:uLnTx/>
                <a:uFillTx/>
                <a:latin typeface="Calibri"/>
                <a:ea typeface="+mn-ea"/>
                <a:cs typeface="Poppins" panose="00000500000000000000" pitchFamily="2" charset="0"/>
              </a:endParaRPr>
            </a:p>
          </p:txBody>
        </p:sp>
        <p:sp>
          <p:nvSpPr>
            <p:cNvPr id="33" name="Текст 4">
              <a:extLst>
                <a:ext uri="{FF2B5EF4-FFF2-40B4-BE49-F238E27FC236}">
                  <a16:creationId xmlns:a16="http://schemas.microsoft.com/office/drawing/2014/main" id="{1C83CFA1-0E41-8C43-B781-EBEDD2E60912}"/>
                </a:ext>
              </a:extLst>
            </p:cNvPr>
            <p:cNvSpPr txBox="1">
              <a:spLocks/>
            </p:cNvSpPr>
            <p:nvPr/>
          </p:nvSpPr>
          <p:spPr>
            <a:xfrm>
              <a:off x="3048571" y="7835852"/>
              <a:ext cx="1271539" cy="1071090"/>
            </a:xfrm>
            <a:prstGeom prst="rect">
              <a:avLst/>
            </a:prstGeom>
            <a:grpFill/>
          </p:spPr>
          <p:txBody>
            <a:bodyPr anchor="ctr"/>
            <a:lstStyle>
              <a:lvl1pPr marL="914492" indent="-914492" algn="l" defTabSz="2438645" rtl="0" eaLnBrk="1" latinLnBrk="0" hangingPunct="1">
                <a:spcBef>
                  <a:spcPct val="20000"/>
                </a:spcBef>
                <a:buFont typeface="Arial" panose="020B0604020202020204" pitchFamily="34" charset="0"/>
                <a:buChar char="•"/>
                <a:defRPr sz="8501" kern="1200">
                  <a:solidFill>
                    <a:schemeClr val="tx1"/>
                  </a:solidFill>
                  <a:latin typeface="+mn-lt"/>
                  <a:ea typeface="+mn-ea"/>
                  <a:cs typeface="+mn-cs"/>
                </a:defRPr>
              </a:lvl1pPr>
              <a:lvl2pPr marL="1981398" indent="-762077" algn="l" defTabSz="2438645" rtl="0" eaLnBrk="1" latinLnBrk="0" hangingPunct="1">
                <a:spcBef>
                  <a:spcPct val="20000"/>
                </a:spcBef>
                <a:buFont typeface="Arial" panose="020B0604020202020204" pitchFamily="34" charset="0"/>
                <a:buChar char="–"/>
                <a:defRPr sz="7501" kern="1200">
                  <a:solidFill>
                    <a:schemeClr val="tx1"/>
                  </a:solidFill>
                  <a:latin typeface="+mn-lt"/>
                  <a:ea typeface="+mn-ea"/>
                  <a:cs typeface="+mn-cs"/>
                </a:defRPr>
              </a:lvl2pPr>
              <a:lvl3pPr marL="3048305" indent="-609660" algn="l" defTabSz="2438645" rtl="0" eaLnBrk="1" latinLnBrk="0" hangingPunct="1">
                <a:spcBef>
                  <a:spcPct val="20000"/>
                </a:spcBef>
                <a:buFont typeface="Arial" panose="020B0604020202020204" pitchFamily="34" charset="0"/>
                <a:buChar char="•"/>
                <a:defRPr sz="6401" kern="1200">
                  <a:solidFill>
                    <a:schemeClr val="tx1"/>
                  </a:solidFill>
                  <a:latin typeface="+mn-lt"/>
                  <a:ea typeface="+mn-ea"/>
                  <a:cs typeface="+mn-cs"/>
                </a:defRPr>
              </a:lvl3pPr>
              <a:lvl4pPr marL="426762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4pPr>
              <a:lvl5pPr marL="5486948"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5pPr>
              <a:lvl6pPr marL="6706271"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6pPr>
              <a:lvl7pPr marL="792559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7pPr>
              <a:lvl8pPr marL="914491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8pPr>
              <a:lvl9pPr marL="1036423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9pPr>
            </a:lstStyle>
            <a:p>
              <a:pPr marL="0" marR="0" lvl="0" indent="0" algn="ctr" defTabSz="1219079"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48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A</a:t>
              </a:r>
              <a:endParaRPr kumimoji="0" lang="en-US" sz="40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endParaRPr>
            </a:p>
          </p:txBody>
        </p:sp>
      </p:grpSp>
      <p:grpSp>
        <p:nvGrpSpPr>
          <p:cNvPr id="34" name="Группа 1">
            <a:extLst>
              <a:ext uri="{FF2B5EF4-FFF2-40B4-BE49-F238E27FC236}">
                <a16:creationId xmlns:a16="http://schemas.microsoft.com/office/drawing/2014/main" id="{DD1F253A-D41F-BD20-595C-17C39510D552}"/>
              </a:ext>
            </a:extLst>
          </p:cNvPr>
          <p:cNvGrpSpPr/>
          <p:nvPr/>
        </p:nvGrpSpPr>
        <p:grpSpPr>
          <a:xfrm>
            <a:off x="3596381" y="3011359"/>
            <a:ext cx="2513559" cy="1171221"/>
            <a:chOff x="7193698" y="6787781"/>
            <a:chExt cx="5027772" cy="2342747"/>
          </a:xfrm>
          <a:solidFill>
            <a:schemeClr val="bg1">
              <a:lumMod val="75000"/>
            </a:schemeClr>
          </a:solidFill>
        </p:grpSpPr>
        <p:sp>
          <p:nvSpPr>
            <p:cNvPr id="36" name="Прямоугольник 12">
              <a:extLst>
                <a:ext uri="{FF2B5EF4-FFF2-40B4-BE49-F238E27FC236}">
                  <a16:creationId xmlns:a16="http://schemas.microsoft.com/office/drawing/2014/main" id="{7FD00B26-DC91-BC4A-1E4D-88AF1AC09A64}"/>
                </a:ext>
              </a:extLst>
            </p:cNvPr>
            <p:cNvSpPr/>
            <p:nvPr/>
          </p:nvSpPr>
          <p:spPr>
            <a:xfrm>
              <a:off x="7193698" y="6787781"/>
              <a:ext cx="5027772" cy="234274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900" b="0" i="0" u="none" strike="noStrike" kern="1200" cap="none" spc="0" normalizeH="0" baseline="0" noProof="0" dirty="0">
                <a:ln>
                  <a:noFill/>
                </a:ln>
                <a:solidFill>
                  <a:srgbClr val="FFFFFF"/>
                </a:solidFill>
                <a:effectLst/>
                <a:uLnTx/>
                <a:uFillTx/>
                <a:latin typeface="Calibri"/>
                <a:ea typeface="+mn-ea"/>
                <a:cs typeface="Poppins" panose="00000500000000000000" pitchFamily="2" charset="0"/>
              </a:endParaRPr>
            </a:p>
          </p:txBody>
        </p:sp>
        <p:sp>
          <p:nvSpPr>
            <p:cNvPr id="37" name="Текст 4">
              <a:extLst>
                <a:ext uri="{FF2B5EF4-FFF2-40B4-BE49-F238E27FC236}">
                  <a16:creationId xmlns:a16="http://schemas.microsoft.com/office/drawing/2014/main" id="{C08E71E5-8707-9627-A9A5-913FC9799A3E}"/>
                </a:ext>
              </a:extLst>
            </p:cNvPr>
            <p:cNvSpPr txBox="1">
              <a:spLocks/>
            </p:cNvSpPr>
            <p:nvPr/>
          </p:nvSpPr>
          <p:spPr>
            <a:xfrm>
              <a:off x="9103357" y="7423609"/>
              <a:ext cx="1271539" cy="1071090"/>
            </a:xfrm>
            <a:prstGeom prst="rect">
              <a:avLst/>
            </a:prstGeom>
            <a:grpFill/>
          </p:spPr>
          <p:txBody>
            <a:bodyPr anchor="ctr"/>
            <a:lstStyle>
              <a:lvl1pPr marL="914492" indent="-914492" algn="l" defTabSz="2438645" rtl="0" eaLnBrk="1" latinLnBrk="0" hangingPunct="1">
                <a:spcBef>
                  <a:spcPct val="20000"/>
                </a:spcBef>
                <a:buFont typeface="Arial" panose="020B0604020202020204" pitchFamily="34" charset="0"/>
                <a:buChar char="•"/>
                <a:defRPr sz="8501" kern="1200">
                  <a:solidFill>
                    <a:schemeClr val="tx1"/>
                  </a:solidFill>
                  <a:latin typeface="+mn-lt"/>
                  <a:ea typeface="+mn-ea"/>
                  <a:cs typeface="+mn-cs"/>
                </a:defRPr>
              </a:lvl1pPr>
              <a:lvl2pPr marL="1981398" indent="-762077" algn="l" defTabSz="2438645" rtl="0" eaLnBrk="1" latinLnBrk="0" hangingPunct="1">
                <a:spcBef>
                  <a:spcPct val="20000"/>
                </a:spcBef>
                <a:buFont typeface="Arial" panose="020B0604020202020204" pitchFamily="34" charset="0"/>
                <a:buChar char="–"/>
                <a:defRPr sz="7501" kern="1200">
                  <a:solidFill>
                    <a:schemeClr val="tx1"/>
                  </a:solidFill>
                  <a:latin typeface="+mn-lt"/>
                  <a:ea typeface="+mn-ea"/>
                  <a:cs typeface="+mn-cs"/>
                </a:defRPr>
              </a:lvl2pPr>
              <a:lvl3pPr marL="3048305" indent="-609660" algn="l" defTabSz="2438645" rtl="0" eaLnBrk="1" latinLnBrk="0" hangingPunct="1">
                <a:spcBef>
                  <a:spcPct val="20000"/>
                </a:spcBef>
                <a:buFont typeface="Arial" panose="020B0604020202020204" pitchFamily="34" charset="0"/>
                <a:buChar char="•"/>
                <a:defRPr sz="6401" kern="1200">
                  <a:solidFill>
                    <a:schemeClr val="tx1"/>
                  </a:solidFill>
                  <a:latin typeface="+mn-lt"/>
                  <a:ea typeface="+mn-ea"/>
                  <a:cs typeface="+mn-cs"/>
                </a:defRPr>
              </a:lvl3pPr>
              <a:lvl4pPr marL="426762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4pPr>
              <a:lvl5pPr marL="5486948"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5pPr>
              <a:lvl6pPr marL="6706271"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6pPr>
              <a:lvl7pPr marL="792559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7pPr>
              <a:lvl8pPr marL="914491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8pPr>
              <a:lvl9pPr marL="1036423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9pPr>
            </a:lstStyle>
            <a:p>
              <a:pPr marL="0" marR="0" lvl="0" indent="0" algn="ctr" defTabSz="1219079"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48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B</a:t>
              </a:r>
              <a:endParaRPr kumimoji="0" lang="en-US" sz="40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endParaRPr>
            </a:p>
          </p:txBody>
        </p:sp>
      </p:grpSp>
      <p:grpSp>
        <p:nvGrpSpPr>
          <p:cNvPr id="38" name="Группа 3">
            <a:extLst>
              <a:ext uri="{FF2B5EF4-FFF2-40B4-BE49-F238E27FC236}">
                <a16:creationId xmlns:a16="http://schemas.microsoft.com/office/drawing/2014/main" id="{0B948DCF-59F1-1358-9881-88E2242F59B7}"/>
              </a:ext>
            </a:extLst>
          </p:cNvPr>
          <p:cNvGrpSpPr/>
          <p:nvPr/>
        </p:nvGrpSpPr>
        <p:grpSpPr>
          <a:xfrm>
            <a:off x="6107068" y="2562634"/>
            <a:ext cx="2479148" cy="1619947"/>
            <a:chOff x="12215726" y="5890213"/>
            <a:chExt cx="4958942" cy="3240315"/>
          </a:xfrm>
          <a:solidFill>
            <a:schemeClr val="bg1">
              <a:lumMod val="65000"/>
            </a:schemeClr>
          </a:solidFill>
        </p:grpSpPr>
        <p:sp>
          <p:nvSpPr>
            <p:cNvPr id="40" name="Прямоугольник 17">
              <a:extLst>
                <a:ext uri="{FF2B5EF4-FFF2-40B4-BE49-F238E27FC236}">
                  <a16:creationId xmlns:a16="http://schemas.microsoft.com/office/drawing/2014/main" id="{002D676E-5472-7F78-3FDF-412B5555C0C3}"/>
                </a:ext>
              </a:extLst>
            </p:cNvPr>
            <p:cNvSpPr/>
            <p:nvPr/>
          </p:nvSpPr>
          <p:spPr>
            <a:xfrm>
              <a:off x="12215726" y="5890213"/>
              <a:ext cx="4958942" cy="32403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900" b="0" i="0" u="none" strike="noStrike" kern="1200" cap="none" spc="0" normalizeH="0" baseline="0" noProof="0" dirty="0">
                <a:ln>
                  <a:noFill/>
                </a:ln>
                <a:solidFill>
                  <a:srgbClr val="FFFFFF"/>
                </a:solidFill>
                <a:effectLst/>
                <a:uLnTx/>
                <a:uFillTx/>
                <a:latin typeface="Calibri"/>
                <a:ea typeface="+mn-ea"/>
                <a:cs typeface="Poppins" panose="00000500000000000000" pitchFamily="2" charset="0"/>
              </a:endParaRPr>
            </a:p>
          </p:txBody>
        </p:sp>
        <p:sp>
          <p:nvSpPr>
            <p:cNvPr id="41" name="Текст 4">
              <a:extLst>
                <a:ext uri="{FF2B5EF4-FFF2-40B4-BE49-F238E27FC236}">
                  <a16:creationId xmlns:a16="http://schemas.microsoft.com/office/drawing/2014/main" id="{27877EB8-9F27-1BA5-2FC4-559D543325C7}"/>
                </a:ext>
              </a:extLst>
            </p:cNvPr>
            <p:cNvSpPr txBox="1">
              <a:spLocks/>
            </p:cNvSpPr>
            <p:nvPr/>
          </p:nvSpPr>
          <p:spPr>
            <a:xfrm>
              <a:off x="14190245" y="6888064"/>
              <a:ext cx="1271539" cy="1071090"/>
            </a:xfrm>
            <a:prstGeom prst="rect">
              <a:avLst/>
            </a:prstGeom>
            <a:grpFill/>
          </p:spPr>
          <p:txBody>
            <a:bodyPr anchor="ctr"/>
            <a:lstStyle>
              <a:lvl1pPr marL="914492" indent="-914492" algn="l" defTabSz="2438645" rtl="0" eaLnBrk="1" latinLnBrk="0" hangingPunct="1">
                <a:spcBef>
                  <a:spcPct val="20000"/>
                </a:spcBef>
                <a:buFont typeface="Arial" panose="020B0604020202020204" pitchFamily="34" charset="0"/>
                <a:buChar char="•"/>
                <a:defRPr sz="8501" kern="1200">
                  <a:solidFill>
                    <a:schemeClr val="tx1"/>
                  </a:solidFill>
                  <a:latin typeface="+mn-lt"/>
                  <a:ea typeface="+mn-ea"/>
                  <a:cs typeface="+mn-cs"/>
                </a:defRPr>
              </a:lvl1pPr>
              <a:lvl2pPr marL="1981398" indent="-762077" algn="l" defTabSz="2438645" rtl="0" eaLnBrk="1" latinLnBrk="0" hangingPunct="1">
                <a:spcBef>
                  <a:spcPct val="20000"/>
                </a:spcBef>
                <a:buFont typeface="Arial" panose="020B0604020202020204" pitchFamily="34" charset="0"/>
                <a:buChar char="–"/>
                <a:defRPr sz="7501" kern="1200">
                  <a:solidFill>
                    <a:schemeClr val="tx1"/>
                  </a:solidFill>
                  <a:latin typeface="+mn-lt"/>
                  <a:ea typeface="+mn-ea"/>
                  <a:cs typeface="+mn-cs"/>
                </a:defRPr>
              </a:lvl2pPr>
              <a:lvl3pPr marL="3048305" indent="-609660" algn="l" defTabSz="2438645" rtl="0" eaLnBrk="1" latinLnBrk="0" hangingPunct="1">
                <a:spcBef>
                  <a:spcPct val="20000"/>
                </a:spcBef>
                <a:buFont typeface="Arial" panose="020B0604020202020204" pitchFamily="34" charset="0"/>
                <a:buChar char="•"/>
                <a:defRPr sz="6401" kern="1200">
                  <a:solidFill>
                    <a:schemeClr val="tx1"/>
                  </a:solidFill>
                  <a:latin typeface="+mn-lt"/>
                  <a:ea typeface="+mn-ea"/>
                  <a:cs typeface="+mn-cs"/>
                </a:defRPr>
              </a:lvl3pPr>
              <a:lvl4pPr marL="426762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4pPr>
              <a:lvl5pPr marL="5486948"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5pPr>
              <a:lvl6pPr marL="6706271"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6pPr>
              <a:lvl7pPr marL="792559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7pPr>
              <a:lvl8pPr marL="914491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8pPr>
              <a:lvl9pPr marL="1036423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9pPr>
            </a:lstStyle>
            <a:p>
              <a:pPr marL="0" marR="0" lvl="0" indent="0" algn="ctr" defTabSz="1219079"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48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C</a:t>
              </a:r>
              <a:endParaRPr kumimoji="0" lang="en-US" sz="40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endParaRPr>
            </a:p>
          </p:txBody>
        </p:sp>
      </p:grpSp>
      <p:grpSp>
        <p:nvGrpSpPr>
          <p:cNvPr id="42" name="Группа 4">
            <a:extLst>
              <a:ext uri="{FF2B5EF4-FFF2-40B4-BE49-F238E27FC236}">
                <a16:creationId xmlns:a16="http://schemas.microsoft.com/office/drawing/2014/main" id="{D71A7A7C-49E0-F411-5CAA-85BF816E452C}"/>
              </a:ext>
            </a:extLst>
          </p:cNvPr>
          <p:cNvGrpSpPr/>
          <p:nvPr/>
        </p:nvGrpSpPr>
        <p:grpSpPr>
          <a:xfrm>
            <a:off x="8586217" y="985558"/>
            <a:ext cx="3599253" cy="3197022"/>
            <a:chOff x="17174669" y="2735653"/>
            <a:chExt cx="7199443" cy="6394876"/>
          </a:xfrm>
        </p:grpSpPr>
        <p:sp>
          <p:nvSpPr>
            <p:cNvPr id="44" name="Прямоугольник 11">
              <a:extLst>
                <a:ext uri="{FF2B5EF4-FFF2-40B4-BE49-F238E27FC236}">
                  <a16:creationId xmlns:a16="http://schemas.microsoft.com/office/drawing/2014/main" id="{C848599C-7ECD-D999-49CB-FFD5F5631A40}"/>
                </a:ext>
              </a:extLst>
            </p:cNvPr>
            <p:cNvSpPr/>
            <p:nvPr/>
          </p:nvSpPr>
          <p:spPr>
            <a:xfrm>
              <a:off x="17174669" y="5098138"/>
              <a:ext cx="7199443" cy="4032391"/>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17" rtl="0" eaLnBrk="1" fontAlgn="auto" latinLnBrk="0" hangingPunct="1">
                <a:lnSpc>
                  <a:spcPct val="100000"/>
                </a:lnSpc>
                <a:spcBef>
                  <a:spcPts val="0"/>
                </a:spcBef>
                <a:spcAft>
                  <a:spcPts val="0"/>
                </a:spcAft>
                <a:buClrTx/>
                <a:buSzTx/>
                <a:buFontTx/>
                <a:buNone/>
                <a:tabLst/>
                <a:defRPr/>
              </a:pPr>
              <a:endParaRPr kumimoji="0" lang="ru-RU" sz="900" b="0" i="0" u="none" strike="noStrike" kern="1200" cap="none" spc="0" normalizeH="0" baseline="0" noProof="0">
                <a:ln>
                  <a:noFill/>
                </a:ln>
                <a:solidFill>
                  <a:srgbClr val="FFFFFF"/>
                </a:solidFill>
                <a:effectLst/>
                <a:uLnTx/>
                <a:uFillTx/>
                <a:latin typeface="Calibri"/>
                <a:ea typeface="+mn-ea"/>
                <a:cs typeface="Poppins" panose="00000500000000000000" pitchFamily="2" charset="0"/>
              </a:endParaRPr>
            </a:p>
          </p:txBody>
        </p:sp>
        <p:grpSp>
          <p:nvGrpSpPr>
            <p:cNvPr id="45" name="Группа 18">
              <a:extLst>
                <a:ext uri="{FF2B5EF4-FFF2-40B4-BE49-F238E27FC236}">
                  <a16:creationId xmlns:a16="http://schemas.microsoft.com/office/drawing/2014/main" id="{03EBF626-1114-398C-FEFD-5F9378322365}"/>
                </a:ext>
              </a:extLst>
            </p:cNvPr>
            <p:cNvGrpSpPr/>
            <p:nvPr/>
          </p:nvGrpSpPr>
          <p:grpSpPr>
            <a:xfrm>
              <a:off x="19538403" y="2735653"/>
              <a:ext cx="2725029" cy="2366032"/>
              <a:chOff x="10534056" y="3439823"/>
              <a:chExt cx="3094579" cy="2442634"/>
            </a:xfrm>
          </p:grpSpPr>
          <p:sp>
            <p:nvSpPr>
              <p:cNvPr id="47" name="Freeform 42">
                <a:extLst>
                  <a:ext uri="{FF2B5EF4-FFF2-40B4-BE49-F238E27FC236}">
                    <a16:creationId xmlns:a16="http://schemas.microsoft.com/office/drawing/2014/main" id="{5B8556EA-206D-4B5D-D6CF-D5BA17CC34EC}"/>
                  </a:ext>
                </a:extLst>
              </p:cNvPr>
              <p:cNvSpPr>
                <a:spLocks noEditPoints="1"/>
              </p:cNvSpPr>
              <p:nvPr/>
            </p:nvSpPr>
            <p:spPr bwMode="auto">
              <a:xfrm>
                <a:off x="12081930" y="3439823"/>
                <a:ext cx="1546705" cy="2442634"/>
              </a:xfrm>
              <a:custGeom>
                <a:avLst/>
                <a:gdLst>
                  <a:gd name="T0" fmla="*/ 553 w 559"/>
                  <a:gd name="T1" fmla="*/ 115 h 1097"/>
                  <a:gd name="T2" fmla="*/ 513 w 559"/>
                  <a:gd name="T3" fmla="*/ 79 h 1097"/>
                  <a:gd name="T4" fmla="*/ 291 w 559"/>
                  <a:gd name="T5" fmla="*/ 79 h 1097"/>
                  <a:gd name="T6" fmla="*/ 291 w 559"/>
                  <a:gd name="T7" fmla="*/ 0 h 1097"/>
                  <a:gd name="T8" fmla="*/ 0 w 559"/>
                  <a:gd name="T9" fmla="*/ 0 h 1097"/>
                  <a:gd name="T10" fmla="*/ 0 w 559"/>
                  <a:gd name="T11" fmla="*/ 1097 h 1097"/>
                  <a:gd name="T12" fmla="*/ 278 w 559"/>
                  <a:gd name="T13" fmla="*/ 1097 h 1097"/>
                  <a:gd name="T14" fmla="*/ 278 w 559"/>
                  <a:gd name="T15" fmla="*/ 990 h 1097"/>
                  <a:gd name="T16" fmla="*/ 230 w 559"/>
                  <a:gd name="T17" fmla="*/ 942 h 1097"/>
                  <a:gd name="T18" fmla="*/ 57 w 559"/>
                  <a:gd name="T19" fmla="*/ 942 h 1097"/>
                  <a:gd name="T20" fmla="*/ 58 w 559"/>
                  <a:gd name="T21" fmla="*/ 932 h 1097"/>
                  <a:gd name="T22" fmla="*/ 42 w 559"/>
                  <a:gd name="T23" fmla="*/ 892 h 1097"/>
                  <a:gd name="T24" fmla="*/ 58 w 559"/>
                  <a:gd name="T25" fmla="*/ 851 h 1097"/>
                  <a:gd name="T26" fmla="*/ 42 w 559"/>
                  <a:gd name="T27" fmla="*/ 810 h 1097"/>
                  <a:gd name="T28" fmla="*/ 58 w 559"/>
                  <a:gd name="T29" fmla="*/ 769 h 1097"/>
                  <a:gd name="T30" fmla="*/ 57 w 559"/>
                  <a:gd name="T31" fmla="*/ 757 h 1097"/>
                  <a:gd name="T32" fmla="*/ 291 w 559"/>
                  <a:gd name="T33" fmla="*/ 514 h 1097"/>
                  <a:gd name="T34" fmla="*/ 291 w 559"/>
                  <a:gd name="T35" fmla="*/ 479 h 1097"/>
                  <a:gd name="T36" fmla="*/ 516 w 559"/>
                  <a:gd name="T37" fmla="*/ 276 h 1097"/>
                  <a:gd name="T38" fmla="*/ 553 w 559"/>
                  <a:gd name="T39" fmla="*/ 115 h 1097"/>
                  <a:gd name="T40" fmla="*/ 291 w 559"/>
                  <a:gd name="T41" fmla="*/ 391 h 1097"/>
                  <a:gd name="T42" fmla="*/ 291 w 559"/>
                  <a:gd name="T43" fmla="*/ 158 h 1097"/>
                  <a:gd name="T44" fmla="*/ 473 w 559"/>
                  <a:gd name="T45" fmla="*/ 158 h 1097"/>
                  <a:gd name="T46" fmla="*/ 291 w 559"/>
                  <a:gd name="T47" fmla="*/ 391 h 10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59" h="1097">
                    <a:moveTo>
                      <a:pt x="553" y="115"/>
                    </a:moveTo>
                    <a:cubicBezTo>
                      <a:pt x="551" y="95"/>
                      <a:pt x="534" y="79"/>
                      <a:pt x="513" y="79"/>
                    </a:cubicBezTo>
                    <a:cubicBezTo>
                      <a:pt x="291" y="79"/>
                      <a:pt x="291" y="79"/>
                      <a:pt x="291" y="79"/>
                    </a:cubicBezTo>
                    <a:cubicBezTo>
                      <a:pt x="291" y="0"/>
                      <a:pt x="291" y="0"/>
                      <a:pt x="291" y="0"/>
                    </a:cubicBezTo>
                    <a:cubicBezTo>
                      <a:pt x="0" y="0"/>
                      <a:pt x="0" y="0"/>
                      <a:pt x="0" y="0"/>
                    </a:cubicBezTo>
                    <a:cubicBezTo>
                      <a:pt x="0" y="1097"/>
                      <a:pt x="0" y="1097"/>
                      <a:pt x="0" y="1097"/>
                    </a:cubicBezTo>
                    <a:cubicBezTo>
                      <a:pt x="278" y="1097"/>
                      <a:pt x="278" y="1097"/>
                      <a:pt x="278" y="1097"/>
                    </a:cubicBezTo>
                    <a:cubicBezTo>
                      <a:pt x="278" y="990"/>
                      <a:pt x="278" y="990"/>
                      <a:pt x="278" y="990"/>
                    </a:cubicBezTo>
                    <a:cubicBezTo>
                      <a:pt x="278" y="964"/>
                      <a:pt x="256" y="942"/>
                      <a:pt x="230" y="942"/>
                    </a:cubicBezTo>
                    <a:cubicBezTo>
                      <a:pt x="57" y="942"/>
                      <a:pt x="57" y="942"/>
                      <a:pt x="57" y="942"/>
                    </a:cubicBezTo>
                    <a:cubicBezTo>
                      <a:pt x="58" y="939"/>
                      <a:pt x="58" y="936"/>
                      <a:pt x="58" y="932"/>
                    </a:cubicBezTo>
                    <a:cubicBezTo>
                      <a:pt x="58" y="916"/>
                      <a:pt x="52" y="902"/>
                      <a:pt x="42" y="892"/>
                    </a:cubicBezTo>
                    <a:cubicBezTo>
                      <a:pt x="52" y="881"/>
                      <a:pt x="58" y="867"/>
                      <a:pt x="58" y="851"/>
                    </a:cubicBezTo>
                    <a:cubicBezTo>
                      <a:pt x="58" y="835"/>
                      <a:pt x="52" y="821"/>
                      <a:pt x="42" y="810"/>
                    </a:cubicBezTo>
                    <a:cubicBezTo>
                      <a:pt x="52" y="800"/>
                      <a:pt x="58" y="785"/>
                      <a:pt x="58" y="769"/>
                    </a:cubicBezTo>
                    <a:cubicBezTo>
                      <a:pt x="58" y="765"/>
                      <a:pt x="58" y="761"/>
                      <a:pt x="57" y="757"/>
                    </a:cubicBezTo>
                    <a:cubicBezTo>
                      <a:pt x="187" y="752"/>
                      <a:pt x="291" y="645"/>
                      <a:pt x="291" y="514"/>
                    </a:cubicBezTo>
                    <a:cubicBezTo>
                      <a:pt x="291" y="479"/>
                      <a:pt x="291" y="479"/>
                      <a:pt x="291" y="479"/>
                    </a:cubicBezTo>
                    <a:cubicBezTo>
                      <a:pt x="421" y="420"/>
                      <a:pt x="485" y="339"/>
                      <a:pt x="516" y="276"/>
                    </a:cubicBezTo>
                    <a:cubicBezTo>
                      <a:pt x="559" y="191"/>
                      <a:pt x="553" y="118"/>
                      <a:pt x="553" y="115"/>
                    </a:cubicBezTo>
                    <a:close/>
                    <a:moveTo>
                      <a:pt x="291" y="391"/>
                    </a:moveTo>
                    <a:cubicBezTo>
                      <a:pt x="291" y="158"/>
                      <a:pt x="291" y="158"/>
                      <a:pt x="291" y="158"/>
                    </a:cubicBezTo>
                    <a:cubicBezTo>
                      <a:pt x="473" y="158"/>
                      <a:pt x="473" y="158"/>
                      <a:pt x="473" y="158"/>
                    </a:cubicBezTo>
                    <a:cubicBezTo>
                      <a:pt x="465" y="212"/>
                      <a:pt x="431" y="316"/>
                      <a:pt x="291" y="391"/>
                    </a:cubicBezTo>
                    <a:close/>
                  </a:path>
                </a:pathLst>
              </a:custGeom>
              <a:solidFill>
                <a:srgbClr val="FFD500"/>
              </a:solidFill>
              <a:ln>
                <a:noFill/>
              </a:ln>
            </p:spPr>
            <p:txBody>
              <a:bodyPr vert="horz" wrap="square" lIns="45714" tIns="22857" rIns="45714" bIns="22857" numCol="1" anchor="t" anchorCtr="0" compatLnSpc="1">
                <a:prstTxWarp prst="textNoShape">
                  <a:avLst/>
                </a:prstTxWarp>
              </a:bodyPr>
              <a:lstStyle/>
              <a:p>
                <a:pPr marL="0" marR="0" lvl="0" indent="0" algn="l" defTabSz="12190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2A2833"/>
                  </a:solidFill>
                  <a:effectLst/>
                  <a:uLnTx/>
                  <a:uFillTx/>
                  <a:latin typeface="Poppins" panose="00000500000000000000" pitchFamily="2" charset="0"/>
                  <a:ea typeface="+mn-ea"/>
                  <a:cs typeface="Poppins" panose="00000500000000000000" pitchFamily="2" charset="0"/>
                </a:endParaRPr>
              </a:p>
            </p:txBody>
          </p:sp>
          <p:sp>
            <p:nvSpPr>
              <p:cNvPr id="48" name="Freeform 43">
                <a:extLst>
                  <a:ext uri="{FF2B5EF4-FFF2-40B4-BE49-F238E27FC236}">
                    <a16:creationId xmlns:a16="http://schemas.microsoft.com/office/drawing/2014/main" id="{A76F1C41-1794-3D08-2035-BF157F945384}"/>
                  </a:ext>
                </a:extLst>
              </p:cNvPr>
              <p:cNvSpPr>
                <a:spLocks noEditPoints="1"/>
              </p:cNvSpPr>
              <p:nvPr/>
            </p:nvSpPr>
            <p:spPr bwMode="auto">
              <a:xfrm>
                <a:off x="10534056" y="3439823"/>
                <a:ext cx="1547874" cy="2442634"/>
              </a:xfrm>
              <a:custGeom>
                <a:avLst/>
                <a:gdLst>
                  <a:gd name="T0" fmla="*/ 43 w 560"/>
                  <a:gd name="T1" fmla="*/ 276 h 1097"/>
                  <a:gd name="T2" fmla="*/ 269 w 560"/>
                  <a:gd name="T3" fmla="*/ 479 h 1097"/>
                  <a:gd name="T4" fmla="*/ 269 w 560"/>
                  <a:gd name="T5" fmla="*/ 514 h 1097"/>
                  <a:gd name="T6" fmla="*/ 502 w 560"/>
                  <a:gd name="T7" fmla="*/ 757 h 1097"/>
                  <a:gd name="T8" fmla="*/ 501 w 560"/>
                  <a:gd name="T9" fmla="*/ 769 h 1097"/>
                  <a:gd name="T10" fmla="*/ 518 w 560"/>
                  <a:gd name="T11" fmla="*/ 810 h 1097"/>
                  <a:gd name="T12" fmla="*/ 501 w 560"/>
                  <a:gd name="T13" fmla="*/ 851 h 1097"/>
                  <a:gd name="T14" fmla="*/ 518 w 560"/>
                  <a:gd name="T15" fmla="*/ 892 h 1097"/>
                  <a:gd name="T16" fmla="*/ 501 w 560"/>
                  <a:gd name="T17" fmla="*/ 932 h 1097"/>
                  <a:gd name="T18" fmla="*/ 502 w 560"/>
                  <a:gd name="T19" fmla="*/ 942 h 1097"/>
                  <a:gd name="T20" fmla="*/ 330 w 560"/>
                  <a:gd name="T21" fmla="*/ 942 h 1097"/>
                  <a:gd name="T22" fmla="*/ 282 w 560"/>
                  <a:gd name="T23" fmla="*/ 990 h 1097"/>
                  <a:gd name="T24" fmla="*/ 282 w 560"/>
                  <a:gd name="T25" fmla="*/ 1097 h 1097"/>
                  <a:gd name="T26" fmla="*/ 560 w 560"/>
                  <a:gd name="T27" fmla="*/ 1097 h 1097"/>
                  <a:gd name="T28" fmla="*/ 560 w 560"/>
                  <a:gd name="T29" fmla="*/ 0 h 1097"/>
                  <a:gd name="T30" fmla="*/ 269 w 560"/>
                  <a:gd name="T31" fmla="*/ 0 h 1097"/>
                  <a:gd name="T32" fmla="*/ 269 w 560"/>
                  <a:gd name="T33" fmla="*/ 79 h 1097"/>
                  <a:gd name="T34" fmla="*/ 46 w 560"/>
                  <a:gd name="T35" fmla="*/ 79 h 1097"/>
                  <a:gd name="T36" fmla="*/ 7 w 560"/>
                  <a:gd name="T37" fmla="*/ 115 h 1097"/>
                  <a:gd name="T38" fmla="*/ 43 w 560"/>
                  <a:gd name="T39" fmla="*/ 276 h 1097"/>
                  <a:gd name="T40" fmla="*/ 87 w 560"/>
                  <a:gd name="T41" fmla="*/ 158 h 1097"/>
                  <a:gd name="T42" fmla="*/ 269 w 560"/>
                  <a:gd name="T43" fmla="*/ 158 h 1097"/>
                  <a:gd name="T44" fmla="*/ 269 w 560"/>
                  <a:gd name="T45" fmla="*/ 391 h 1097"/>
                  <a:gd name="T46" fmla="*/ 87 w 560"/>
                  <a:gd name="T47" fmla="*/ 158 h 10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60" h="1097">
                    <a:moveTo>
                      <a:pt x="43" y="276"/>
                    </a:moveTo>
                    <a:cubicBezTo>
                      <a:pt x="75" y="339"/>
                      <a:pt x="139" y="420"/>
                      <a:pt x="269" y="479"/>
                    </a:cubicBezTo>
                    <a:cubicBezTo>
                      <a:pt x="269" y="514"/>
                      <a:pt x="269" y="514"/>
                      <a:pt x="269" y="514"/>
                    </a:cubicBezTo>
                    <a:cubicBezTo>
                      <a:pt x="269" y="645"/>
                      <a:pt x="373" y="752"/>
                      <a:pt x="502" y="757"/>
                    </a:cubicBezTo>
                    <a:cubicBezTo>
                      <a:pt x="502" y="761"/>
                      <a:pt x="501" y="765"/>
                      <a:pt x="501" y="769"/>
                    </a:cubicBezTo>
                    <a:cubicBezTo>
                      <a:pt x="501" y="785"/>
                      <a:pt x="508" y="800"/>
                      <a:pt x="518" y="810"/>
                    </a:cubicBezTo>
                    <a:cubicBezTo>
                      <a:pt x="508" y="821"/>
                      <a:pt x="501" y="835"/>
                      <a:pt x="501" y="851"/>
                    </a:cubicBezTo>
                    <a:cubicBezTo>
                      <a:pt x="501" y="867"/>
                      <a:pt x="508" y="881"/>
                      <a:pt x="518" y="892"/>
                    </a:cubicBezTo>
                    <a:cubicBezTo>
                      <a:pt x="508" y="902"/>
                      <a:pt x="501" y="916"/>
                      <a:pt x="501" y="932"/>
                    </a:cubicBezTo>
                    <a:cubicBezTo>
                      <a:pt x="501" y="936"/>
                      <a:pt x="502" y="939"/>
                      <a:pt x="502" y="942"/>
                    </a:cubicBezTo>
                    <a:cubicBezTo>
                      <a:pt x="330" y="942"/>
                      <a:pt x="330" y="942"/>
                      <a:pt x="330" y="942"/>
                    </a:cubicBezTo>
                    <a:cubicBezTo>
                      <a:pt x="303" y="942"/>
                      <a:pt x="282" y="964"/>
                      <a:pt x="282" y="990"/>
                    </a:cubicBezTo>
                    <a:cubicBezTo>
                      <a:pt x="282" y="1097"/>
                      <a:pt x="282" y="1097"/>
                      <a:pt x="282" y="1097"/>
                    </a:cubicBezTo>
                    <a:cubicBezTo>
                      <a:pt x="560" y="1097"/>
                      <a:pt x="560" y="1097"/>
                      <a:pt x="560" y="1097"/>
                    </a:cubicBezTo>
                    <a:cubicBezTo>
                      <a:pt x="560" y="0"/>
                      <a:pt x="560" y="0"/>
                      <a:pt x="560" y="0"/>
                    </a:cubicBezTo>
                    <a:cubicBezTo>
                      <a:pt x="269" y="0"/>
                      <a:pt x="269" y="0"/>
                      <a:pt x="269" y="0"/>
                    </a:cubicBezTo>
                    <a:cubicBezTo>
                      <a:pt x="269" y="79"/>
                      <a:pt x="269" y="79"/>
                      <a:pt x="269" y="79"/>
                    </a:cubicBezTo>
                    <a:cubicBezTo>
                      <a:pt x="46" y="79"/>
                      <a:pt x="46" y="79"/>
                      <a:pt x="46" y="79"/>
                    </a:cubicBezTo>
                    <a:cubicBezTo>
                      <a:pt x="26" y="79"/>
                      <a:pt x="9" y="95"/>
                      <a:pt x="7" y="115"/>
                    </a:cubicBezTo>
                    <a:cubicBezTo>
                      <a:pt x="7" y="118"/>
                      <a:pt x="0" y="191"/>
                      <a:pt x="43" y="276"/>
                    </a:cubicBezTo>
                    <a:close/>
                    <a:moveTo>
                      <a:pt x="87" y="158"/>
                    </a:moveTo>
                    <a:cubicBezTo>
                      <a:pt x="269" y="158"/>
                      <a:pt x="269" y="158"/>
                      <a:pt x="269" y="158"/>
                    </a:cubicBezTo>
                    <a:cubicBezTo>
                      <a:pt x="269" y="391"/>
                      <a:pt x="269" y="391"/>
                      <a:pt x="269" y="391"/>
                    </a:cubicBezTo>
                    <a:cubicBezTo>
                      <a:pt x="128" y="316"/>
                      <a:pt x="95" y="212"/>
                      <a:pt x="87" y="158"/>
                    </a:cubicBezTo>
                    <a:close/>
                  </a:path>
                </a:pathLst>
              </a:custGeom>
              <a:solidFill>
                <a:srgbClr val="FFD500"/>
              </a:solidFill>
              <a:ln>
                <a:noFill/>
              </a:ln>
            </p:spPr>
            <p:txBody>
              <a:bodyPr vert="horz" wrap="square" lIns="45714" tIns="22857" rIns="45714" bIns="22857" numCol="1" anchor="t" anchorCtr="0" compatLnSpc="1">
                <a:prstTxWarp prst="textNoShape">
                  <a:avLst/>
                </a:prstTxWarp>
              </a:bodyPr>
              <a:lstStyle/>
              <a:p>
                <a:pPr marL="0" marR="0" lvl="0" indent="0" algn="l" defTabSz="12190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2A2833"/>
                  </a:solidFill>
                  <a:effectLst/>
                  <a:uLnTx/>
                  <a:uFillTx/>
                  <a:latin typeface="Poppins" panose="00000500000000000000" pitchFamily="2" charset="0"/>
                  <a:ea typeface="+mn-ea"/>
                  <a:cs typeface="Poppins" panose="00000500000000000000" pitchFamily="2" charset="0"/>
                </a:endParaRPr>
              </a:p>
            </p:txBody>
          </p:sp>
        </p:grpSp>
        <p:sp>
          <p:nvSpPr>
            <p:cNvPr id="46" name="Текст 4">
              <a:extLst>
                <a:ext uri="{FF2B5EF4-FFF2-40B4-BE49-F238E27FC236}">
                  <a16:creationId xmlns:a16="http://schemas.microsoft.com/office/drawing/2014/main" id="{9AC667CC-A46F-94FA-A0E2-87CA2F12E299}"/>
                </a:ext>
              </a:extLst>
            </p:cNvPr>
            <p:cNvSpPr txBox="1">
              <a:spLocks/>
            </p:cNvSpPr>
            <p:nvPr/>
          </p:nvSpPr>
          <p:spPr>
            <a:xfrm>
              <a:off x="20283088" y="6541174"/>
              <a:ext cx="1271539" cy="1071090"/>
            </a:xfrm>
            <a:prstGeom prst="rect">
              <a:avLst/>
            </a:prstGeom>
          </p:spPr>
          <p:txBody>
            <a:bodyPr anchor="ctr"/>
            <a:lstStyle>
              <a:lvl1pPr marL="914492" indent="-914492" algn="l" defTabSz="2438645" rtl="0" eaLnBrk="1" latinLnBrk="0" hangingPunct="1">
                <a:spcBef>
                  <a:spcPct val="20000"/>
                </a:spcBef>
                <a:buFont typeface="Arial" panose="020B0604020202020204" pitchFamily="34" charset="0"/>
                <a:buChar char="•"/>
                <a:defRPr sz="8501" kern="1200">
                  <a:solidFill>
                    <a:schemeClr val="tx1"/>
                  </a:solidFill>
                  <a:latin typeface="+mn-lt"/>
                  <a:ea typeface="+mn-ea"/>
                  <a:cs typeface="+mn-cs"/>
                </a:defRPr>
              </a:lvl1pPr>
              <a:lvl2pPr marL="1981398" indent="-762077" algn="l" defTabSz="2438645" rtl="0" eaLnBrk="1" latinLnBrk="0" hangingPunct="1">
                <a:spcBef>
                  <a:spcPct val="20000"/>
                </a:spcBef>
                <a:buFont typeface="Arial" panose="020B0604020202020204" pitchFamily="34" charset="0"/>
                <a:buChar char="–"/>
                <a:defRPr sz="7501" kern="1200">
                  <a:solidFill>
                    <a:schemeClr val="tx1"/>
                  </a:solidFill>
                  <a:latin typeface="+mn-lt"/>
                  <a:ea typeface="+mn-ea"/>
                  <a:cs typeface="+mn-cs"/>
                </a:defRPr>
              </a:lvl2pPr>
              <a:lvl3pPr marL="3048305" indent="-609660" algn="l" defTabSz="2438645" rtl="0" eaLnBrk="1" latinLnBrk="0" hangingPunct="1">
                <a:spcBef>
                  <a:spcPct val="20000"/>
                </a:spcBef>
                <a:buFont typeface="Arial" panose="020B0604020202020204" pitchFamily="34" charset="0"/>
                <a:buChar char="•"/>
                <a:defRPr sz="6401" kern="1200">
                  <a:solidFill>
                    <a:schemeClr val="tx1"/>
                  </a:solidFill>
                  <a:latin typeface="+mn-lt"/>
                  <a:ea typeface="+mn-ea"/>
                  <a:cs typeface="+mn-cs"/>
                </a:defRPr>
              </a:lvl3pPr>
              <a:lvl4pPr marL="426762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4pPr>
              <a:lvl5pPr marL="5486948"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5pPr>
              <a:lvl6pPr marL="6706271"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6pPr>
              <a:lvl7pPr marL="792559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7pPr>
              <a:lvl8pPr marL="914491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8pPr>
              <a:lvl9pPr marL="1036423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9pPr>
            </a:lstStyle>
            <a:p>
              <a:pPr marL="0" marR="0" lvl="0" indent="0" algn="ctr" defTabSz="1219079"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48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rPr>
                <a:t>D</a:t>
              </a:r>
              <a:endParaRPr kumimoji="0" lang="en-US" sz="4000" b="1" i="0" u="none" strike="noStrike" kern="1200" cap="none" spc="0" normalizeH="0" baseline="0" noProof="0" dirty="0">
                <a:ln>
                  <a:noFill/>
                </a:ln>
                <a:solidFill>
                  <a:srgbClr val="FFFFFF"/>
                </a:solidFill>
                <a:effectLst/>
                <a:uLnTx/>
                <a:uFillTx/>
                <a:latin typeface="Poppins" panose="00000500000000000000" pitchFamily="2" charset="0"/>
                <a:ea typeface="Tahoma" panose="020B0604030504040204" pitchFamily="34" charset="0"/>
                <a:cs typeface="Poppins" panose="00000500000000000000" pitchFamily="2" charset="0"/>
              </a:endParaRPr>
            </a:p>
          </p:txBody>
        </p:sp>
      </p:grpSp>
      <p:sp>
        <p:nvSpPr>
          <p:cNvPr id="51" name="TextBox 50">
            <a:extLst>
              <a:ext uri="{FF2B5EF4-FFF2-40B4-BE49-F238E27FC236}">
                <a16:creationId xmlns:a16="http://schemas.microsoft.com/office/drawing/2014/main" id="{2C6822F0-30DC-DE30-F4CC-4693671CFCC9}"/>
              </a:ext>
            </a:extLst>
          </p:cNvPr>
          <p:cNvSpPr txBox="1"/>
          <p:nvPr/>
        </p:nvSpPr>
        <p:spPr>
          <a:xfrm>
            <a:off x="116006" y="4294359"/>
            <a:ext cx="3480375" cy="1077218"/>
          </a:xfrm>
          <a:prstGeom prst="rect">
            <a:avLst/>
          </a:prstGeom>
          <a:noFill/>
        </p:spPr>
        <p:txBody>
          <a:bodyPr wrap="square">
            <a:spAutoFit/>
          </a:bodyPr>
          <a:lstStyle/>
          <a:p>
            <a:r>
              <a:rPr lang="en-US" sz="1600" b="1" dirty="0"/>
              <a:t>Key Idea</a:t>
            </a:r>
          </a:p>
          <a:p>
            <a:r>
              <a:rPr lang="en-US" sz="1200" dirty="0"/>
              <a:t>The proposed system is task-agnostic and can be adapted to other structured translation problems by changing only the RAG context and validation signal</a:t>
            </a:r>
          </a:p>
        </p:txBody>
      </p:sp>
      <p:sp>
        <p:nvSpPr>
          <p:cNvPr id="52" name="TextBox 51">
            <a:extLst>
              <a:ext uri="{FF2B5EF4-FFF2-40B4-BE49-F238E27FC236}">
                <a16:creationId xmlns:a16="http://schemas.microsoft.com/office/drawing/2014/main" id="{6F6ADD4F-2F4F-978F-9F0F-4F29F77E1C52}"/>
              </a:ext>
            </a:extLst>
          </p:cNvPr>
          <p:cNvSpPr txBox="1"/>
          <p:nvPr/>
        </p:nvSpPr>
        <p:spPr>
          <a:xfrm>
            <a:off x="3613825" y="4294358"/>
            <a:ext cx="2468236" cy="2005036"/>
          </a:xfrm>
          <a:prstGeom prst="rect">
            <a:avLst/>
          </a:prstGeom>
          <a:noFill/>
        </p:spPr>
        <p:txBody>
          <a:bodyPr wrap="square">
            <a:spAutoFit/>
          </a:bodyPr>
          <a:lstStyle/>
          <a:p>
            <a:pPr>
              <a:lnSpc>
                <a:spcPct val="90000"/>
              </a:lnSpc>
            </a:pPr>
            <a:r>
              <a:rPr lang="en-US" sz="1400" b="1" dirty="0"/>
              <a:t>Framework Generalizes</a:t>
            </a:r>
            <a:endParaRPr lang="en-US" sz="1200" b="1" dirty="0"/>
          </a:p>
          <a:p>
            <a:pPr indent="-228600">
              <a:lnSpc>
                <a:spcPct val="90000"/>
              </a:lnSpc>
              <a:buFont typeface="Arial" panose="020B0604020202020204" pitchFamily="34" charset="0"/>
              <a:buChar char="•"/>
            </a:pPr>
            <a:r>
              <a:rPr lang="en-US" sz="1200" dirty="0"/>
              <a:t>LLM handles reasoning and generation, independent of domain</a:t>
            </a:r>
          </a:p>
          <a:p>
            <a:pPr indent="-228600">
              <a:lnSpc>
                <a:spcPct val="90000"/>
              </a:lnSpc>
              <a:buFont typeface="Arial" panose="020B0604020202020204" pitchFamily="34" charset="0"/>
              <a:buChar char="•"/>
            </a:pPr>
            <a:r>
              <a:rPr lang="en-US" sz="1200" dirty="0"/>
              <a:t>RAG injects task-specific structure and constraints</a:t>
            </a:r>
          </a:p>
          <a:p>
            <a:pPr indent="-228600">
              <a:lnSpc>
                <a:spcPct val="90000"/>
              </a:lnSpc>
              <a:buFont typeface="Arial" panose="020B0604020202020204" pitchFamily="34" charset="0"/>
              <a:buChar char="•"/>
            </a:pPr>
            <a:r>
              <a:rPr lang="en-US" sz="1200" dirty="0"/>
              <a:t>Feedback loop enforces correctness via execution or validation</a:t>
            </a:r>
          </a:p>
          <a:p>
            <a:pPr indent="-228600">
              <a:lnSpc>
                <a:spcPct val="90000"/>
              </a:lnSpc>
              <a:buFont typeface="Arial" panose="020B0604020202020204" pitchFamily="34" charset="0"/>
              <a:buChar char="•"/>
            </a:pPr>
            <a:r>
              <a:rPr lang="en-US" sz="1200" dirty="0"/>
              <a:t>No task-specific fine-tuning requ</a:t>
            </a:r>
            <a:r>
              <a:rPr lang="en-US" sz="1600" dirty="0"/>
              <a:t>ired</a:t>
            </a:r>
            <a:endParaRPr lang="en-US" dirty="0"/>
          </a:p>
        </p:txBody>
      </p:sp>
      <p:sp>
        <p:nvSpPr>
          <p:cNvPr id="53" name="TextBox 52">
            <a:extLst>
              <a:ext uri="{FF2B5EF4-FFF2-40B4-BE49-F238E27FC236}">
                <a16:creationId xmlns:a16="http://schemas.microsoft.com/office/drawing/2014/main" id="{83F1A24E-8E79-B682-6CA0-A62E3B27EC73}"/>
              </a:ext>
            </a:extLst>
          </p:cNvPr>
          <p:cNvSpPr txBox="1"/>
          <p:nvPr/>
        </p:nvSpPr>
        <p:spPr>
          <a:xfrm>
            <a:off x="6084933" y="4182580"/>
            <a:ext cx="2479148" cy="2586414"/>
          </a:xfrm>
          <a:prstGeom prst="rect">
            <a:avLst/>
          </a:prstGeom>
          <a:noFill/>
        </p:spPr>
        <p:txBody>
          <a:bodyPr wrap="square">
            <a:spAutoFit/>
          </a:bodyPr>
          <a:lstStyle/>
          <a:p>
            <a:pPr>
              <a:lnSpc>
                <a:spcPct val="90000"/>
              </a:lnSpc>
            </a:pPr>
            <a:r>
              <a:rPr lang="en-US" sz="1600" b="1" dirty="0"/>
              <a:t>What Changes Across Tasks</a:t>
            </a:r>
          </a:p>
          <a:p>
            <a:pPr indent="-228600">
              <a:lnSpc>
                <a:spcPct val="90000"/>
              </a:lnSpc>
              <a:buFont typeface="Arial" panose="020B0604020202020204" pitchFamily="34" charset="0"/>
              <a:buChar char="•"/>
            </a:pPr>
            <a:r>
              <a:rPr lang="en-US" sz="1200" dirty="0"/>
              <a:t>Retrieved context (schema, APIs, type rules)</a:t>
            </a:r>
          </a:p>
          <a:p>
            <a:pPr indent="-228600">
              <a:lnSpc>
                <a:spcPct val="90000"/>
              </a:lnSpc>
              <a:buFont typeface="Arial" panose="020B0604020202020204" pitchFamily="34" charset="0"/>
              <a:buChar char="•"/>
            </a:pPr>
            <a:r>
              <a:rPr lang="en-US" sz="1200" dirty="0"/>
              <a:t>Validation mechanism (DB execution, compiler, tests)</a:t>
            </a:r>
            <a:br>
              <a:rPr lang="en-US" sz="1200" dirty="0"/>
            </a:br>
            <a:endParaRPr lang="en-US" sz="1200" dirty="0"/>
          </a:p>
          <a:p>
            <a:pPr>
              <a:lnSpc>
                <a:spcPct val="90000"/>
              </a:lnSpc>
            </a:pPr>
            <a:r>
              <a:rPr lang="en-US" sz="1600" b="1" dirty="0"/>
              <a:t>What Remains the Same</a:t>
            </a:r>
          </a:p>
          <a:p>
            <a:pPr indent="-228600">
              <a:lnSpc>
                <a:spcPct val="90000"/>
              </a:lnSpc>
              <a:buFont typeface="Arial" panose="020B0604020202020204" pitchFamily="34" charset="0"/>
              <a:buChar char="•"/>
            </a:pPr>
            <a:r>
              <a:rPr lang="en-US" sz="1200" dirty="0"/>
              <a:t>LLM orchestration</a:t>
            </a:r>
          </a:p>
          <a:p>
            <a:pPr indent="-228600">
              <a:lnSpc>
                <a:spcPct val="90000"/>
              </a:lnSpc>
              <a:buFont typeface="Arial" panose="020B0604020202020204" pitchFamily="34" charset="0"/>
              <a:buChar char="•"/>
            </a:pPr>
            <a:r>
              <a:rPr lang="en-US" sz="1200" dirty="0"/>
              <a:t>RAG + prompt augmentation pattern</a:t>
            </a:r>
          </a:p>
          <a:p>
            <a:pPr indent="-228600">
              <a:lnSpc>
                <a:spcPct val="90000"/>
              </a:lnSpc>
              <a:buFont typeface="Arial" panose="020B0604020202020204" pitchFamily="34" charset="0"/>
              <a:buChar char="•"/>
            </a:pPr>
            <a:r>
              <a:rPr lang="en-US" sz="1200" dirty="0"/>
              <a:t>Execution-guided correction loop</a:t>
            </a:r>
          </a:p>
          <a:p>
            <a:pPr indent="-228600">
              <a:lnSpc>
                <a:spcPct val="90000"/>
              </a:lnSpc>
              <a:buFont typeface="Arial" panose="020B0604020202020204" pitchFamily="34" charset="0"/>
              <a:buChar char="•"/>
            </a:pPr>
            <a:endParaRPr lang="en-US" sz="1200" dirty="0"/>
          </a:p>
        </p:txBody>
      </p:sp>
      <p:sp>
        <p:nvSpPr>
          <p:cNvPr id="55" name="TextBox 54">
            <a:extLst>
              <a:ext uri="{FF2B5EF4-FFF2-40B4-BE49-F238E27FC236}">
                <a16:creationId xmlns:a16="http://schemas.microsoft.com/office/drawing/2014/main" id="{7851E03E-82A2-3037-AD69-F947C8A414D7}"/>
              </a:ext>
            </a:extLst>
          </p:cNvPr>
          <p:cNvSpPr txBox="1"/>
          <p:nvPr/>
        </p:nvSpPr>
        <p:spPr>
          <a:xfrm>
            <a:off x="8564081" y="4204898"/>
            <a:ext cx="3179716" cy="1616918"/>
          </a:xfrm>
          <a:prstGeom prst="rect">
            <a:avLst/>
          </a:prstGeom>
          <a:noFill/>
        </p:spPr>
        <p:txBody>
          <a:bodyPr wrap="square">
            <a:spAutoFit/>
          </a:bodyPr>
          <a:lstStyle/>
          <a:p>
            <a:pPr>
              <a:lnSpc>
                <a:spcPct val="90000"/>
              </a:lnSpc>
            </a:pPr>
            <a:r>
              <a:rPr lang="en-US" sz="1600" b="1" dirty="0"/>
              <a:t>Proposed Architecture </a:t>
            </a:r>
          </a:p>
          <a:p>
            <a:pPr>
              <a:lnSpc>
                <a:spcPct val="90000"/>
              </a:lnSpc>
            </a:pPr>
            <a:endParaRPr lang="en-US" sz="1400" b="1" dirty="0">
              <a:solidFill>
                <a:srgbClr val="00B050"/>
              </a:solidFill>
            </a:endParaRPr>
          </a:p>
          <a:p>
            <a:pPr>
              <a:lnSpc>
                <a:spcPct val="90000"/>
              </a:lnSpc>
            </a:pPr>
            <a:endParaRPr lang="en-US" sz="1400" b="1" dirty="0">
              <a:solidFill>
                <a:srgbClr val="00B050"/>
              </a:solidFill>
            </a:endParaRPr>
          </a:p>
          <a:p>
            <a:pPr>
              <a:lnSpc>
                <a:spcPct val="90000"/>
              </a:lnSpc>
            </a:pPr>
            <a:r>
              <a:rPr lang="en-US" sz="1400" b="1" dirty="0">
                <a:solidFill>
                  <a:srgbClr val="00B050"/>
                </a:solidFill>
              </a:rPr>
              <a:t>Structured Input  =&gt; Target Language =&gt; Execution =&gt; Validation =&gt; Feedback</a:t>
            </a:r>
          </a:p>
          <a:p>
            <a:pPr>
              <a:lnSpc>
                <a:spcPct val="90000"/>
              </a:lnSpc>
            </a:pPr>
            <a:endParaRPr lang="en-US" sz="1200" dirty="0"/>
          </a:p>
          <a:p>
            <a:pPr indent="-228600">
              <a:lnSpc>
                <a:spcPct val="90000"/>
              </a:lnSpc>
              <a:buFont typeface="Arial" panose="020B0604020202020204" pitchFamily="34" charset="0"/>
              <a:buChar char="•"/>
            </a:pPr>
            <a:endParaRPr lang="en-US" sz="1200" dirty="0"/>
          </a:p>
        </p:txBody>
      </p:sp>
      <p:sp>
        <p:nvSpPr>
          <p:cNvPr id="56" name="TextBox 55">
            <a:extLst>
              <a:ext uri="{FF2B5EF4-FFF2-40B4-BE49-F238E27FC236}">
                <a16:creationId xmlns:a16="http://schemas.microsoft.com/office/drawing/2014/main" id="{952B9DB6-549E-9E29-2701-E098A5C9FF02}"/>
              </a:ext>
            </a:extLst>
          </p:cNvPr>
          <p:cNvSpPr txBox="1"/>
          <p:nvPr/>
        </p:nvSpPr>
        <p:spPr>
          <a:xfrm>
            <a:off x="317099" y="1486423"/>
            <a:ext cx="5592382" cy="954107"/>
          </a:xfrm>
          <a:prstGeom prst="rect">
            <a:avLst/>
          </a:prstGeom>
          <a:noFill/>
        </p:spPr>
        <p:txBody>
          <a:bodyPr wrap="square" rtlCol="0">
            <a:spAutoFit/>
          </a:bodyPr>
          <a:lstStyle/>
          <a:p>
            <a:r>
              <a:rPr lang="en-US" sz="1400" b="1" i="1" dirty="0">
                <a:solidFill>
                  <a:srgbClr val="FFC000"/>
                </a:solidFill>
              </a:rPr>
              <a:t>Our system is not SQL-specific. It implements a general execution-guided LLM + RAG framework that can be adapted to other structured translation problems by changing the retrieval context and validation signal</a:t>
            </a:r>
            <a:endParaRPr lang="en-US" sz="2000" i="1" dirty="0">
              <a:solidFill>
                <a:srgbClr val="FFC000"/>
              </a:solidFill>
            </a:endParaRPr>
          </a:p>
        </p:txBody>
      </p:sp>
      <p:pic>
        <p:nvPicPr>
          <p:cNvPr id="57" name="Graphic 56">
            <a:extLst>
              <a:ext uri="{FF2B5EF4-FFF2-40B4-BE49-F238E27FC236}">
                <a16:creationId xmlns:a16="http://schemas.microsoft.com/office/drawing/2014/main" id="{BBFEC831-C96E-2E25-7DE6-5E8F9478DC38}"/>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10273980" y="0"/>
            <a:ext cx="289387" cy="349581"/>
          </a:xfrm>
          <a:prstGeom prst="rect">
            <a:avLst/>
          </a:prstGeom>
        </p:spPr>
      </p:pic>
      <p:sp>
        <p:nvSpPr>
          <p:cNvPr id="58" name="TextBox 57">
            <a:extLst>
              <a:ext uri="{FF2B5EF4-FFF2-40B4-BE49-F238E27FC236}">
                <a16:creationId xmlns:a16="http://schemas.microsoft.com/office/drawing/2014/main" id="{BEB443BA-4FBE-126B-6572-339F1F78C9E5}"/>
              </a:ext>
            </a:extLst>
          </p:cNvPr>
          <p:cNvSpPr txBox="1"/>
          <p:nvPr/>
        </p:nvSpPr>
        <p:spPr>
          <a:xfrm>
            <a:off x="10563367" y="0"/>
            <a:ext cx="1091821" cy="382137"/>
          </a:xfrm>
          <a:prstGeom prst="rect">
            <a:avLst/>
          </a:prstGeom>
          <a:noFill/>
        </p:spPr>
        <p:txBody>
          <a:bodyPr wrap="square" rtlCol="0">
            <a:spAutoFit/>
          </a:bodyPr>
          <a:lstStyle/>
          <a:p>
            <a:r>
              <a:rPr lang="en-US" dirty="0"/>
              <a:t>Saurabh</a:t>
            </a:r>
          </a:p>
        </p:txBody>
      </p:sp>
    </p:spTree>
    <p:extLst>
      <p:ext uri="{BB962C8B-B14F-4D97-AF65-F5344CB8AC3E}">
        <p14:creationId xmlns:p14="http://schemas.microsoft.com/office/powerpoint/2010/main" val="105219665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14:presetBounceEnd="50000">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14:bounceEnd="50000">
                                          <p:cBhvr additive="base">
                                            <p:cTn id="7" dur="500" fill="hold"/>
                                            <p:tgtEl>
                                              <p:spTgt spid="30"/>
                                            </p:tgtEl>
                                            <p:attrNameLst>
                                              <p:attrName>ppt_x</p:attrName>
                                            </p:attrNameLst>
                                          </p:cBhvr>
                                          <p:tavLst>
                                            <p:tav tm="0">
                                              <p:val>
                                                <p:strVal val="#ppt_x"/>
                                              </p:val>
                                            </p:tav>
                                            <p:tav tm="100000">
                                              <p:val>
                                                <p:strVal val="#ppt_x"/>
                                              </p:val>
                                            </p:tav>
                                          </p:tavLst>
                                        </p:anim>
                                        <p:anim calcmode="lin" valueType="num" p14:bounceEnd="50000">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14:presetBounceEnd="50000">
                                      <p:stCondLst>
                                        <p:cond delay="0"/>
                                      </p:stCondLst>
                                      <p:childTnLst>
                                        <p:set>
                                          <p:cBhvr>
                                            <p:cTn id="11" dur="1" fill="hold">
                                              <p:stCondLst>
                                                <p:cond delay="0"/>
                                              </p:stCondLst>
                                            </p:cTn>
                                            <p:tgtEl>
                                              <p:spTgt spid="34"/>
                                            </p:tgtEl>
                                            <p:attrNameLst>
                                              <p:attrName>style.visibility</p:attrName>
                                            </p:attrNameLst>
                                          </p:cBhvr>
                                          <p:to>
                                            <p:strVal val="visible"/>
                                          </p:to>
                                        </p:set>
                                        <p:anim calcmode="lin" valueType="num" p14:bounceEnd="50000">
                                          <p:cBhvr additive="base">
                                            <p:cTn id="12" dur="500" fill="hold"/>
                                            <p:tgtEl>
                                              <p:spTgt spid="34"/>
                                            </p:tgtEl>
                                            <p:attrNameLst>
                                              <p:attrName>ppt_x</p:attrName>
                                            </p:attrNameLst>
                                          </p:cBhvr>
                                          <p:tavLst>
                                            <p:tav tm="0">
                                              <p:val>
                                                <p:strVal val="#ppt_x"/>
                                              </p:val>
                                            </p:tav>
                                            <p:tav tm="100000">
                                              <p:val>
                                                <p:strVal val="#ppt_x"/>
                                              </p:val>
                                            </p:tav>
                                          </p:tavLst>
                                        </p:anim>
                                        <p:anim calcmode="lin" valueType="num" p14:bounceEnd="50000">
                                          <p:cBhvr additive="base">
                                            <p:cTn id="13" dur="500" fill="hold"/>
                                            <p:tgtEl>
                                              <p:spTgt spid="3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14:presetBounceEnd="50000">
                                      <p:stCondLst>
                                        <p:cond delay="0"/>
                                      </p:stCondLst>
                                      <p:childTnLst>
                                        <p:set>
                                          <p:cBhvr>
                                            <p:cTn id="16" dur="1" fill="hold">
                                              <p:stCondLst>
                                                <p:cond delay="0"/>
                                              </p:stCondLst>
                                            </p:cTn>
                                            <p:tgtEl>
                                              <p:spTgt spid="38"/>
                                            </p:tgtEl>
                                            <p:attrNameLst>
                                              <p:attrName>style.visibility</p:attrName>
                                            </p:attrNameLst>
                                          </p:cBhvr>
                                          <p:to>
                                            <p:strVal val="visible"/>
                                          </p:to>
                                        </p:set>
                                        <p:anim calcmode="lin" valueType="num" p14:bounceEnd="50000">
                                          <p:cBhvr additive="base">
                                            <p:cTn id="17" dur="500" fill="hold"/>
                                            <p:tgtEl>
                                              <p:spTgt spid="38"/>
                                            </p:tgtEl>
                                            <p:attrNameLst>
                                              <p:attrName>ppt_x</p:attrName>
                                            </p:attrNameLst>
                                          </p:cBhvr>
                                          <p:tavLst>
                                            <p:tav tm="0">
                                              <p:val>
                                                <p:strVal val="#ppt_x"/>
                                              </p:val>
                                            </p:tav>
                                            <p:tav tm="100000">
                                              <p:val>
                                                <p:strVal val="#ppt_x"/>
                                              </p:val>
                                            </p:tav>
                                          </p:tavLst>
                                        </p:anim>
                                        <p:anim calcmode="lin" valueType="num" p14:bounceEnd="50000">
                                          <p:cBhvr additive="base">
                                            <p:cTn id="18" dur="500" fill="hold"/>
                                            <p:tgtEl>
                                              <p:spTgt spid="38"/>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14:presetBounceEnd="50000">
                                      <p:stCondLst>
                                        <p:cond delay="0"/>
                                      </p:stCondLst>
                                      <p:childTnLst>
                                        <p:set>
                                          <p:cBhvr>
                                            <p:cTn id="21" dur="1" fill="hold">
                                              <p:stCondLst>
                                                <p:cond delay="0"/>
                                              </p:stCondLst>
                                            </p:cTn>
                                            <p:tgtEl>
                                              <p:spTgt spid="42"/>
                                            </p:tgtEl>
                                            <p:attrNameLst>
                                              <p:attrName>style.visibility</p:attrName>
                                            </p:attrNameLst>
                                          </p:cBhvr>
                                          <p:to>
                                            <p:strVal val="visible"/>
                                          </p:to>
                                        </p:set>
                                        <p:anim calcmode="lin" valueType="num" p14:bounceEnd="50000">
                                          <p:cBhvr additive="base">
                                            <p:cTn id="22" dur="500" fill="hold"/>
                                            <p:tgtEl>
                                              <p:spTgt spid="42"/>
                                            </p:tgtEl>
                                            <p:attrNameLst>
                                              <p:attrName>ppt_x</p:attrName>
                                            </p:attrNameLst>
                                          </p:cBhvr>
                                          <p:tavLst>
                                            <p:tav tm="0">
                                              <p:val>
                                                <p:strVal val="#ppt_x"/>
                                              </p:val>
                                            </p:tav>
                                            <p:tav tm="100000">
                                              <p:val>
                                                <p:strVal val="#ppt_x"/>
                                              </p:val>
                                            </p:tav>
                                          </p:tavLst>
                                        </p:anim>
                                        <p:anim calcmode="lin" valueType="num" p14:bounceEnd="50000">
                                          <p:cBhvr additive="base">
                                            <p:cTn id="23"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4"/>
                                            </p:tgtEl>
                                            <p:attrNameLst>
                                              <p:attrName>style.visibility</p:attrName>
                                            </p:attrNameLst>
                                          </p:cBhvr>
                                          <p:to>
                                            <p:strVal val="visible"/>
                                          </p:to>
                                        </p:set>
                                        <p:anim calcmode="lin" valueType="num">
                                          <p:cBhvr additive="base">
                                            <p:cTn id="12" dur="500" fill="hold"/>
                                            <p:tgtEl>
                                              <p:spTgt spid="34"/>
                                            </p:tgtEl>
                                            <p:attrNameLst>
                                              <p:attrName>ppt_x</p:attrName>
                                            </p:attrNameLst>
                                          </p:cBhvr>
                                          <p:tavLst>
                                            <p:tav tm="0">
                                              <p:val>
                                                <p:strVal val="#ppt_x"/>
                                              </p:val>
                                            </p:tav>
                                            <p:tav tm="100000">
                                              <p:val>
                                                <p:strVal val="#ppt_x"/>
                                              </p:val>
                                            </p:tav>
                                          </p:tavLst>
                                        </p:anim>
                                        <p:anim calcmode="lin" valueType="num">
                                          <p:cBhvr additive="base">
                                            <p:cTn id="13" dur="500" fill="hold"/>
                                            <p:tgtEl>
                                              <p:spTgt spid="3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8"/>
                                            </p:tgtEl>
                                            <p:attrNameLst>
                                              <p:attrName>style.visibility</p:attrName>
                                            </p:attrNameLst>
                                          </p:cBhvr>
                                          <p:to>
                                            <p:strVal val="visible"/>
                                          </p:to>
                                        </p:set>
                                        <p:anim calcmode="lin" valueType="num">
                                          <p:cBhvr additive="base">
                                            <p:cTn id="17" dur="500" fill="hold"/>
                                            <p:tgtEl>
                                              <p:spTgt spid="38"/>
                                            </p:tgtEl>
                                            <p:attrNameLst>
                                              <p:attrName>ppt_x</p:attrName>
                                            </p:attrNameLst>
                                          </p:cBhvr>
                                          <p:tavLst>
                                            <p:tav tm="0">
                                              <p:val>
                                                <p:strVal val="#ppt_x"/>
                                              </p:val>
                                            </p:tav>
                                            <p:tav tm="100000">
                                              <p:val>
                                                <p:strVal val="#ppt_x"/>
                                              </p:val>
                                            </p:tav>
                                          </p:tavLst>
                                        </p:anim>
                                        <p:anim calcmode="lin" valueType="num">
                                          <p:cBhvr additive="base">
                                            <p:cTn id="18" dur="500" fill="hold"/>
                                            <p:tgtEl>
                                              <p:spTgt spid="38"/>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42"/>
                                            </p:tgtEl>
                                            <p:attrNameLst>
                                              <p:attrName>style.visibility</p:attrName>
                                            </p:attrNameLst>
                                          </p:cBhvr>
                                          <p:to>
                                            <p:strVal val="visible"/>
                                          </p:to>
                                        </p:set>
                                        <p:anim calcmode="lin" valueType="num">
                                          <p:cBhvr additive="base">
                                            <p:cTn id="22" dur="500" fill="hold"/>
                                            <p:tgtEl>
                                              <p:spTgt spid="42"/>
                                            </p:tgtEl>
                                            <p:attrNameLst>
                                              <p:attrName>ppt_x</p:attrName>
                                            </p:attrNameLst>
                                          </p:cBhvr>
                                          <p:tavLst>
                                            <p:tav tm="0">
                                              <p:val>
                                                <p:strVal val="#ppt_x"/>
                                              </p:val>
                                            </p:tav>
                                            <p:tav tm="100000">
                                              <p:val>
                                                <p:strVal val="#ppt_x"/>
                                              </p:val>
                                            </p:tav>
                                          </p:tavLst>
                                        </p:anim>
                                        <p:anim calcmode="lin" valueType="num">
                                          <p:cBhvr additive="base">
                                            <p:cTn id="23"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3E8221-0E8A-A5A3-FD1E-ACA9A9A9AABB}"/>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68663F0-F6EF-6972-463D-DC2C91E54565}"/>
              </a:ext>
            </a:extLst>
          </p:cNvPr>
          <p:cNvSpPr>
            <a:spLocks noGrp="1"/>
          </p:cNvSpPr>
          <p:nvPr>
            <p:ph type="ctrTitle"/>
          </p:nvPr>
        </p:nvSpPr>
        <p:spPr>
          <a:xfrm>
            <a:off x="4162567" y="818984"/>
            <a:ext cx="6714699" cy="3178689"/>
          </a:xfrm>
        </p:spPr>
        <p:txBody>
          <a:bodyPr>
            <a:normAutofit/>
          </a:bodyPr>
          <a:lstStyle/>
          <a:p>
            <a:pPr algn="l"/>
            <a:r>
              <a:rPr lang="en-US" sz="4800">
                <a:solidFill>
                  <a:srgbClr val="FFFFFF"/>
                </a:solidFill>
              </a:rPr>
              <a:t>Thank You !</a:t>
            </a:r>
          </a:p>
        </p:txBody>
      </p:sp>
      <p:sp>
        <p:nvSpPr>
          <p:cNvPr id="21" name="Rectangle 20">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60604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6845</TotalTime>
  <Words>4008</Words>
  <Application>Microsoft Macintosh PowerPoint</Application>
  <PresentationFormat>Widescreen</PresentationFormat>
  <Paragraphs>753</Paragraphs>
  <Slides>36</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Aptos</vt:lpstr>
      <vt:lpstr>Aptos Display</vt:lpstr>
      <vt:lpstr>Arial</vt:lpstr>
      <vt:lpstr>Calibri</vt:lpstr>
      <vt:lpstr>Courier New</vt:lpstr>
      <vt:lpstr>Poppins</vt:lpstr>
      <vt:lpstr>Tahoma</vt:lpstr>
      <vt:lpstr>Wingdings</vt:lpstr>
      <vt:lpstr>Office Theme</vt:lpstr>
      <vt:lpstr>AIML Batch 25 Project CodeGen (text2SQL -  sql2NoSql)</vt:lpstr>
      <vt:lpstr>Agenda</vt:lpstr>
      <vt:lpstr>Problem Statement</vt:lpstr>
      <vt:lpstr>Project Methodology</vt:lpstr>
      <vt:lpstr>Additional Concepts : Datasets</vt:lpstr>
      <vt:lpstr>Additional Concepts : Graph vs AST</vt:lpstr>
      <vt:lpstr>Additional Concepts : Evaluation Metrics text2SQL </vt:lpstr>
      <vt:lpstr>Additional Concepts : Evaluation Metrics SQL2NoSQL </vt:lpstr>
      <vt:lpstr>Additional Concepts : Evaluation Metrics SQL2NoSQL – LLM Based Models </vt:lpstr>
      <vt:lpstr>Traditional Methods</vt:lpstr>
      <vt:lpstr>Our Approach – Text-&gt;SQL</vt:lpstr>
      <vt:lpstr>Our Approach – SQL-&gt;NoSQL</vt:lpstr>
      <vt:lpstr>LLM Based Methods</vt:lpstr>
      <vt:lpstr>Motivation</vt:lpstr>
      <vt:lpstr>Our Approach – SQL-&gt;NoSQL</vt:lpstr>
      <vt:lpstr>Text2SQL</vt:lpstr>
      <vt:lpstr>Model 1: SQLNet (LSTM Baseline)</vt:lpstr>
      <vt:lpstr>PowerPoint Presentation</vt:lpstr>
      <vt:lpstr>PowerPoint Presentation</vt:lpstr>
      <vt:lpstr>PowerPoint Presentation</vt:lpstr>
      <vt:lpstr>PowerPoint Presentation</vt:lpstr>
      <vt:lpstr>PowerPoint Presentation</vt:lpstr>
      <vt:lpstr>Evaluation Metrics - Outcomes</vt:lpstr>
      <vt:lpstr>Evaluation Metrics - Outcomes</vt:lpstr>
      <vt:lpstr>Model Architectures</vt:lpstr>
      <vt:lpstr>Model Architectures</vt:lpstr>
      <vt:lpstr>Sql2NoSQL</vt:lpstr>
      <vt:lpstr>Model 1: Rule-Based SQL → Mongo </vt:lpstr>
      <vt:lpstr>PowerPoint Presentation</vt:lpstr>
      <vt:lpstr>Evaluation Metrics - Outcomes</vt:lpstr>
      <vt:lpstr>Motivation</vt:lpstr>
      <vt:lpstr>PowerPoint Presentation</vt:lpstr>
      <vt:lpstr>Model Evaluation</vt:lpstr>
      <vt:lpstr>Model Outcome</vt:lpstr>
      <vt:lpstr>Future Work</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Saurabh Sinha</dc:creator>
  <cp:lastModifiedBy>Saurabh Sinha</cp:lastModifiedBy>
  <cp:revision>154</cp:revision>
  <dcterms:created xsi:type="dcterms:W3CDTF">2025-11-21T11:56:46Z</dcterms:created>
  <dcterms:modified xsi:type="dcterms:W3CDTF">2026-01-24T12:46:13Z</dcterms:modified>
</cp:coreProperties>
</file>
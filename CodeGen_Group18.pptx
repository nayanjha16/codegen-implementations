
<file path=[Content_Types].xml><?xml version="1.0" encoding="utf-8"?>
<Types xmlns="http://schemas.openxmlformats.org/package/2006/content-types">
  <Default Extension="fntdata" ContentType="application/x-fontdata"/>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Lst>
  <p:notesMasterIdLst>
    <p:notesMasterId r:id="rId15"/>
  </p:notesMasterIdLst>
  <p:sldSz cx="14630400" cy="8229600"/>
  <p:notesSz cx="8229600" cy="14630400"/>
  <p:embeddedFontLst>
    <p:embeddedFont>
      <p:font typeface="Crimson Pro"/>
      <p:regular r:id="rId20"/>
    </p:embeddedFont>
    <p:embeddedFont>
      <p:font typeface="Crimson Pro"/>
      <p:regular r:id="rId21"/>
    </p:embeddedFont>
    <p:embeddedFont>
      <p:font typeface="Crimson Pro"/>
      <p:regular r:id="rId22"/>
    </p:embeddedFont>
    <p:embeddedFont>
      <p:font typeface="Crimson Pro"/>
      <p:regular r:id="rId23"/>
    </p:embeddedFont>
    <p:embeddedFont>
      <p:font typeface="Open Sans"/>
      <p:regular r:id="rId24"/>
    </p:embeddedFont>
    <p:embeddedFont>
      <p:font typeface="Open Sans"/>
      <p:regular r:id="rId25"/>
    </p:embeddedFont>
    <p:embeddedFont>
      <p:font typeface="Open Sans"/>
      <p:regular r:id="rId26"/>
    </p:embeddedFont>
    <p:embeddedFont>
      <p:font typeface="Open Sans"/>
      <p:regular r:id="rId27"/>
    </p:embeddedFont>
  </p:embeddedFon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notesMaster" Target="notesMasters/notesMaster1.xml"/><Relationship Id="rId16" Type="http://schemas.openxmlformats.org/officeDocument/2006/relationships/presProps" Target="presProps.xml"/><Relationship Id="rId17" Type="http://schemas.openxmlformats.org/officeDocument/2006/relationships/viewProps" Target="viewProps.xml"/><Relationship Id="rId18" Type="http://schemas.openxmlformats.org/officeDocument/2006/relationships/theme" Target="theme/theme1.xml"/><Relationship Id="rId19" Type="http://schemas.openxmlformats.org/officeDocument/2006/relationships/tableStyles" Target="tableStyles.xml"/><Relationship Id="rId20" Type="http://schemas.openxmlformats.org/officeDocument/2006/relationships/font" Target="fonts/font1.fntdata"/><Relationship Id="rId21" Type="http://schemas.openxmlformats.org/officeDocument/2006/relationships/font" Target="fonts/font2.fntdata"/><Relationship Id="rId22" Type="http://schemas.openxmlformats.org/officeDocument/2006/relationships/font" Target="fonts/font3.fntdata"/><Relationship Id="rId23" Type="http://schemas.openxmlformats.org/officeDocument/2006/relationships/font" Target="fonts/font4.fntdata"/><Relationship Id="rId24" Type="http://schemas.openxmlformats.org/officeDocument/2006/relationships/font" Target="fonts/font5.fntdata"/><Relationship Id="rId25" Type="http://schemas.openxmlformats.org/officeDocument/2006/relationships/font" Target="fonts/font6.fntdata"/><Relationship Id="rId26" Type="http://schemas.openxmlformats.org/officeDocument/2006/relationships/font" Target="fonts/font7.fntdata"/><Relationship Id="rId27" Type="http://schemas.openxmlformats.org/officeDocument/2006/relationships/font" Target="fonts/font8.fntdata"/></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hyperlink" Target="https://gamma.app/?utm_source=made-with-gamma" TargetMode="External"/><Relationship Id="rId1" Type="http://schemas.openxmlformats.org/officeDocument/2006/relationships/image" Target="../media/image-1002-1.png"/><Relationship Id="rId3"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hyperlink" Target="https://gamma.app/?utm_source=made-with-gamma" TargetMode="External"/><Relationship Id="rId1" Type="http://schemas.openxmlformats.org/officeDocument/2006/relationships/image" Target="../media/image-1003-1.png"/><Relationship Id="rId3"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hyperlink" Target="https://gamma.app/?utm_source=made-with-gamma" TargetMode="External"/><Relationship Id="rId1" Type="http://schemas.openxmlformats.org/officeDocument/2006/relationships/image" Target="../media/image-1004-1.png"/><Relationship Id="rId3"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hyperlink" Target="https://gamma.app/?utm_source=made-with-gamma" TargetMode="External"/><Relationship Id="rId1" Type="http://schemas.openxmlformats.org/officeDocument/2006/relationships/image" Target="../media/image-1005-1.png"/><Relationship Id="rId3"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hyperlink" Target="https://gamma.app/?utm_source=made-with-gamma" TargetMode="External"/><Relationship Id="rId1" Type="http://schemas.openxmlformats.org/officeDocument/2006/relationships/image" Target="../media/image-1006-1.png"/><Relationship Id="rId3"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hyperlink" Target="https://gamma.app/?utm_source=made-with-gamma" TargetMode="External"/><Relationship Id="rId1" Type="http://schemas.openxmlformats.org/officeDocument/2006/relationships/image" Target="../media/image-1007-1.png"/><Relationship Id="rId3"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hyperlink" Target="https://gamma.app/?utm_source=made-with-gamma" TargetMode="External"/><Relationship Id="rId1" Type="http://schemas.openxmlformats.org/officeDocument/2006/relationships/image" Target="../media/image-1008-1.png"/><Relationship Id="rId3"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hyperlink" Target="https://gamma.app/?utm_source=made-with-gamma" TargetMode="External"/><Relationship Id="rId1" Type="http://schemas.openxmlformats.org/officeDocument/2006/relationships/image" Target="../media/image-1009-1.png"/><Relationship Id="rId3"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hyperlink" Target="https://gamma.app/?utm_source=made-with-gamma" TargetMode="External"/><Relationship Id="rId1" Type="http://schemas.openxmlformats.org/officeDocument/2006/relationships/image" Target="../media/image-1010-1.png"/><Relationship Id="rId3"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hyperlink" Target="https://gamma.app/?utm_source=made-with-gamma" TargetMode="External"/><Relationship Id="rId1" Type="http://schemas.openxmlformats.org/officeDocument/2006/relationships/image" Target="../media/image-1011-1.png"/><Relationship Id="rId3"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hyperlink" Target="https://gamma.app/?utm_source=made-with-gamma" TargetMode="External"/><Relationship Id="rId1" Type="http://schemas.openxmlformats.org/officeDocument/2006/relationships/image" Target="../media/image-1012-1.png"/><Relationship Id="rId3"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hyperlink" Target="https://gamma.app/?utm_source=made-with-gamma" TargetMode="External"/><Relationship Id="rId1" Type="http://schemas.openxmlformats.org/officeDocument/2006/relationships/image" Target="../media/image-1013-1.png"/><Relationship Id="rId3"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2" Type="http://schemas.openxmlformats.org/officeDocument/2006/relationships/hyperlink" Target="https://gamma.app/?utm_source=made-with-gamma" TargetMode="External"/><Relationship Id="rId1" Type="http://schemas.openxmlformats.org/officeDocument/2006/relationships/image" Target="../media/image-1014-1.png"/><Relationship Id="rId3"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Slide 1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F7EDE9"/>
          </a:solidFill>
          <a:ln/>
        </p:spPr>
      </p:sp>
      <p:sp>
        <p:nvSpPr>
          <p:cNvPr id="3" name="Shape 1"/>
          <p:cNvSpPr/>
          <p:nvPr/>
        </p:nvSpPr>
        <p:spPr>
          <a:xfrm>
            <a:off x="0" y="0"/>
            <a:ext cx="14630400" cy="8229600"/>
          </a:xfrm>
          <a:prstGeom prst="rect">
            <a:avLst/>
          </a:prstGeom>
          <a:solidFill>
            <a:srgbClr val="FFFCFA"/>
          </a:solidFill>
          <a:ln/>
        </p:spPr>
      </p:sp>
      <p:pic>
        <p:nvPicPr>
          <p:cNvPr id="4" name="Image 0" descr="preencoded.png">
            <a:hlinkClick r:id="rId2" tooltip=""/>
          </p:cNvPr>
          <p:cNvPicPr>
            <a:picLocks noChangeAspect="1"/>
          </p:cNvPicPr>
          <p:nvPr/>
        </p:nvPicPr>
        <p:blipFill>
          <a:blip r:embed="rId1"/>
          <a:stretch>
            <a:fillRect/>
          </a:stretch>
        </p:blipFill>
        <p:spPr>
          <a:xfrm>
            <a:off x="12839215" y="7749540"/>
            <a:ext cx="1722605" cy="411480"/>
          </a:xfrm>
          <a:prstGeom prst="rect">
            <a:avLst/>
          </a:prstGeom>
        </p:spPr>
      </p:pic>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Slide 2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F7EDE9"/>
          </a:solidFill>
          <a:ln/>
        </p:spPr>
      </p:sp>
      <p:sp>
        <p:nvSpPr>
          <p:cNvPr id="3" name="Shape 1"/>
          <p:cNvSpPr/>
          <p:nvPr/>
        </p:nvSpPr>
        <p:spPr>
          <a:xfrm>
            <a:off x="0" y="0"/>
            <a:ext cx="14630400" cy="8229600"/>
          </a:xfrm>
          <a:prstGeom prst="rect">
            <a:avLst/>
          </a:prstGeom>
          <a:solidFill>
            <a:srgbClr val="FFFCFA"/>
          </a:solidFill>
          <a:ln/>
        </p:spPr>
      </p:sp>
      <p:pic>
        <p:nvPicPr>
          <p:cNvPr id="4" name="Image 0" descr="preencoded.png">
            <a:hlinkClick r:id="rId2" tooltip=""/>
          </p:cNvPr>
          <p:cNvPicPr>
            <a:picLocks noChangeAspect="1"/>
          </p:cNvPicPr>
          <p:nvPr/>
        </p:nvPicPr>
        <p:blipFill>
          <a:blip r:embed="rId1"/>
          <a:stretch>
            <a:fillRect/>
          </a:stretch>
        </p:blipFill>
        <p:spPr>
          <a:xfrm>
            <a:off x="12839215" y="7749540"/>
            <a:ext cx="1722605" cy="411480"/>
          </a:xfrm>
          <a:prstGeom prst="rect">
            <a:avLst/>
          </a:prstGeom>
        </p:spPr>
      </p:pic>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Slide 3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F7EDE9"/>
          </a:solidFill>
          <a:ln/>
        </p:spPr>
      </p:sp>
      <p:sp>
        <p:nvSpPr>
          <p:cNvPr id="3" name="Shape 1"/>
          <p:cNvSpPr/>
          <p:nvPr/>
        </p:nvSpPr>
        <p:spPr>
          <a:xfrm>
            <a:off x="0" y="0"/>
            <a:ext cx="14630400" cy="8229600"/>
          </a:xfrm>
          <a:prstGeom prst="rect">
            <a:avLst/>
          </a:prstGeom>
          <a:solidFill>
            <a:srgbClr val="FFFCFA"/>
          </a:solidFill>
          <a:ln/>
        </p:spPr>
      </p:sp>
      <p:pic>
        <p:nvPicPr>
          <p:cNvPr id="4" name="Image 0" descr="preencoded.png">
            <a:hlinkClick r:id="rId2" tooltip=""/>
          </p:cNvPr>
          <p:cNvPicPr>
            <a:picLocks noChangeAspect="1"/>
          </p:cNvPicPr>
          <p:nvPr/>
        </p:nvPicPr>
        <p:blipFill>
          <a:blip r:embed="rId1"/>
          <a:stretch>
            <a:fillRect/>
          </a:stretch>
        </p:blipFill>
        <p:spPr>
          <a:xfrm>
            <a:off x="12839215" y="7749540"/>
            <a:ext cx="1722605" cy="411480"/>
          </a:xfrm>
          <a:prstGeom prst="rect">
            <a:avLst/>
          </a:prstGeom>
        </p:spPr>
      </p:pic>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Slide 4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F7EDE9"/>
          </a:solidFill>
          <a:ln/>
        </p:spPr>
      </p:sp>
      <p:sp>
        <p:nvSpPr>
          <p:cNvPr id="3" name="Shape 1"/>
          <p:cNvSpPr/>
          <p:nvPr/>
        </p:nvSpPr>
        <p:spPr>
          <a:xfrm>
            <a:off x="0" y="0"/>
            <a:ext cx="14630400" cy="8229600"/>
          </a:xfrm>
          <a:prstGeom prst="rect">
            <a:avLst/>
          </a:prstGeom>
          <a:solidFill>
            <a:srgbClr val="FFFCFA"/>
          </a:solidFill>
          <a:ln/>
        </p:spPr>
      </p:sp>
      <p:pic>
        <p:nvPicPr>
          <p:cNvPr id="4" name="Image 0" descr="preencoded.png">
            <a:hlinkClick r:id="rId2" tooltip=""/>
          </p:cNvPr>
          <p:cNvPicPr>
            <a:picLocks noChangeAspect="1"/>
          </p:cNvPicPr>
          <p:nvPr/>
        </p:nvPicPr>
        <p:blipFill>
          <a:blip r:embed="rId1"/>
          <a:stretch>
            <a:fillRect/>
          </a:stretch>
        </p:blipFill>
        <p:spPr>
          <a:xfrm>
            <a:off x="12839215" y="7749540"/>
            <a:ext cx="1722605" cy="411480"/>
          </a:xfrm>
          <a:prstGeom prst="rect">
            <a:avLst/>
          </a:prstGeom>
        </p:spPr>
      </p:pic>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Slide 5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F7EDE9"/>
          </a:solidFill>
          <a:ln/>
        </p:spPr>
      </p:sp>
      <p:sp>
        <p:nvSpPr>
          <p:cNvPr id="3" name="Shape 1"/>
          <p:cNvSpPr/>
          <p:nvPr/>
        </p:nvSpPr>
        <p:spPr>
          <a:xfrm>
            <a:off x="0" y="0"/>
            <a:ext cx="14630400" cy="8229600"/>
          </a:xfrm>
          <a:prstGeom prst="rect">
            <a:avLst/>
          </a:prstGeom>
          <a:solidFill>
            <a:srgbClr val="FFFCFA"/>
          </a:solidFill>
          <a:ln/>
        </p:spPr>
      </p:sp>
      <p:pic>
        <p:nvPicPr>
          <p:cNvPr id="4" name="Image 0" descr="preencoded.png">
            <a:hlinkClick r:id="rId2" tooltip=""/>
          </p:cNvPr>
          <p:cNvPicPr>
            <a:picLocks noChangeAspect="1"/>
          </p:cNvPicPr>
          <p:nvPr/>
        </p:nvPicPr>
        <p:blipFill>
          <a:blip r:embed="rId1"/>
          <a:stretch>
            <a:fillRect/>
          </a:stretch>
        </p:blipFill>
        <p:spPr>
          <a:xfrm>
            <a:off x="12839215" y="7749540"/>
            <a:ext cx="1722605" cy="411480"/>
          </a:xfrm>
          <a:prstGeom prst="rect">
            <a:avLst/>
          </a:prstGeom>
        </p:spPr>
      </p:pic>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p:cSld name="Slide 6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F7EDE9"/>
          </a:solidFill>
          <a:ln/>
        </p:spPr>
      </p:sp>
      <p:sp>
        <p:nvSpPr>
          <p:cNvPr id="3" name="Shape 1"/>
          <p:cNvSpPr/>
          <p:nvPr/>
        </p:nvSpPr>
        <p:spPr>
          <a:xfrm>
            <a:off x="0" y="0"/>
            <a:ext cx="14630400" cy="8229600"/>
          </a:xfrm>
          <a:prstGeom prst="rect">
            <a:avLst/>
          </a:prstGeom>
          <a:solidFill>
            <a:srgbClr val="FFFCFA"/>
          </a:solidFill>
          <a:ln/>
        </p:spPr>
      </p:sp>
      <p:pic>
        <p:nvPicPr>
          <p:cNvPr id="4" name="Image 0" descr="preencoded.png">
            <a:hlinkClick r:id="rId2" tooltip=""/>
          </p:cNvPr>
          <p:cNvPicPr>
            <a:picLocks noChangeAspect="1"/>
          </p:cNvPicPr>
          <p:nvPr/>
        </p:nvPicPr>
        <p:blipFill>
          <a:blip r:embed="rId1"/>
          <a:stretch>
            <a:fillRect/>
          </a:stretch>
        </p:blipFill>
        <p:spPr>
          <a:xfrm>
            <a:off x="12839215" y="7749540"/>
            <a:ext cx="1722605" cy="411480"/>
          </a:xfrm>
          <a:prstGeom prst="rect">
            <a:avLst/>
          </a:prstGeom>
        </p:spPr>
      </p:pic>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p:cSld name="Slide 7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F7EDE9"/>
          </a:solidFill>
          <a:ln/>
        </p:spPr>
      </p:sp>
      <p:sp>
        <p:nvSpPr>
          <p:cNvPr id="3" name="Shape 1"/>
          <p:cNvSpPr/>
          <p:nvPr/>
        </p:nvSpPr>
        <p:spPr>
          <a:xfrm>
            <a:off x="0" y="0"/>
            <a:ext cx="14630400" cy="8229600"/>
          </a:xfrm>
          <a:prstGeom prst="rect">
            <a:avLst/>
          </a:prstGeom>
          <a:solidFill>
            <a:srgbClr val="FFFCFA"/>
          </a:solidFill>
          <a:ln/>
        </p:spPr>
      </p:sp>
      <p:pic>
        <p:nvPicPr>
          <p:cNvPr id="4" name="Image 0" descr="preencoded.png">
            <a:hlinkClick r:id="rId2" tooltip=""/>
          </p:cNvPr>
          <p:cNvPicPr>
            <a:picLocks noChangeAspect="1"/>
          </p:cNvPicPr>
          <p:nvPr/>
        </p:nvPicPr>
        <p:blipFill>
          <a:blip r:embed="rId1"/>
          <a:stretch>
            <a:fillRect/>
          </a:stretch>
        </p:blipFill>
        <p:spPr>
          <a:xfrm>
            <a:off x="12839215" y="7749540"/>
            <a:ext cx="1722605" cy="411480"/>
          </a:xfrm>
          <a:prstGeom prst="rect">
            <a:avLst/>
          </a:prstGeom>
        </p:spPr>
      </p:pic>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p:cSld name="Slide 8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F7EDE9"/>
          </a:solidFill>
          <a:ln/>
        </p:spPr>
      </p:sp>
      <p:sp>
        <p:nvSpPr>
          <p:cNvPr id="3" name="Shape 1"/>
          <p:cNvSpPr/>
          <p:nvPr/>
        </p:nvSpPr>
        <p:spPr>
          <a:xfrm>
            <a:off x="0" y="0"/>
            <a:ext cx="14630400" cy="8229600"/>
          </a:xfrm>
          <a:prstGeom prst="rect">
            <a:avLst/>
          </a:prstGeom>
          <a:solidFill>
            <a:srgbClr val="FFFCFA"/>
          </a:solidFill>
          <a:ln/>
        </p:spPr>
      </p:sp>
      <p:pic>
        <p:nvPicPr>
          <p:cNvPr id="4" name="Image 0" descr="preencoded.png">
            <a:hlinkClick r:id="rId2" tooltip=""/>
          </p:cNvPr>
          <p:cNvPicPr>
            <a:picLocks noChangeAspect="1"/>
          </p:cNvPicPr>
          <p:nvPr/>
        </p:nvPicPr>
        <p:blipFill>
          <a:blip r:embed="rId1"/>
          <a:stretch>
            <a:fillRect/>
          </a:stretch>
        </p:blipFill>
        <p:spPr>
          <a:xfrm>
            <a:off x="12839215" y="7749540"/>
            <a:ext cx="1722605" cy="411480"/>
          </a:xfrm>
          <a:prstGeom prst="rect">
            <a:avLst/>
          </a:prstGeom>
        </p:spPr>
      </p:pic>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Slide 9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F7EDE9"/>
          </a:solidFill>
          <a:ln/>
        </p:spPr>
      </p:sp>
      <p:sp>
        <p:nvSpPr>
          <p:cNvPr id="3" name="Shape 1"/>
          <p:cNvSpPr/>
          <p:nvPr/>
        </p:nvSpPr>
        <p:spPr>
          <a:xfrm>
            <a:off x="0" y="0"/>
            <a:ext cx="14630400" cy="8229600"/>
          </a:xfrm>
          <a:prstGeom prst="rect">
            <a:avLst/>
          </a:prstGeom>
          <a:solidFill>
            <a:srgbClr val="FFFCFA"/>
          </a:solidFill>
          <a:ln/>
        </p:spPr>
      </p:sp>
      <p:pic>
        <p:nvPicPr>
          <p:cNvPr id="4" name="Image 0" descr="preencoded.png">
            <a:hlinkClick r:id="rId2" tooltip=""/>
          </p:cNvPr>
          <p:cNvPicPr>
            <a:picLocks noChangeAspect="1"/>
          </p:cNvPicPr>
          <p:nvPr/>
        </p:nvPicPr>
        <p:blipFill>
          <a:blip r:embed="rId1"/>
          <a:stretch>
            <a:fillRect/>
          </a:stretch>
        </p:blipFill>
        <p:spPr>
          <a:xfrm>
            <a:off x="12839215" y="7749540"/>
            <a:ext cx="1722605" cy="411480"/>
          </a:xfrm>
          <a:prstGeom prst="rect">
            <a:avLst/>
          </a:prstGeom>
        </p:spPr>
      </p:pic>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Slide 10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F7EDE9"/>
          </a:solidFill>
          <a:ln/>
        </p:spPr>
      </p:sp>
      <p:sp>
        <p:nvSpPr>
          <p:cNvPr id="3" name="Shape 1"/>
          <p:cNvSpPr/>
          <p:nvPr/>
        </p:nvSpPr>
        <p:spPr>
          <a:xfrm>
            <a:off x="0" y="0"/>
            <a:ext cx="14630400" cy="8229600"/>
          </a:xfrm>
          <a:prstGeom prst="rect">
            <a:avLst/>
          </a:prstGeom>
          <a:solidFill>
            <a:srgbClr val="FFFCFA"/>
          </a:solidFill>
          <a:ln/>
        </p:spPr>
      </p:sp>
      <p:pic>
        <p:nvPicPr>
          <p:cNvPr id="4" name="Image 0" descr="preencoded.png">
            <a:hlinkClick r:id="rId2" tooltip=""/>
          </p:cNvPr>
          <p:cNvPicPr>
            <a:picLocks noChangeAspect="1"/>
          </p:cNvPicPr>
          <p:nvPr/>
        </p:nvPicPr>
        <p:blipFill>
          <a:blip r:embed="rId1"/>
          <a:stretch>
            <a:fillRect/>
          </a:stretch>
        </p:blipFill>
        <p:spPr>
          <a:xfrm>
            <a:off x="12839215" y="7749540"/>
            <a:ext cx="1722605" cy="411480"/>
          </a:xfrm>
          <a:prstGeom prst="rect">
            <a:avLst/>
          </a:prstGeom>
        </p:spPr>
      </p:pic>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Slide 11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F7EDE9"/>
          </a:solidFill>
          <a:ln/>
        </p:spPr>
      </p:sp>
      <p:sp>
        <p:nvSpPr>
          <p:cNvPr id="3" name="Shape 1"/>
          <p:cNvSpPr/>
          <p:nvPr/>
        </p:nvSpPr>
        <p:spPr>
          <a:xfrm>
            <a:off x="0" y="0"/>
            <a:ext cx="14630400" cy="8229600"/>
          </a:xfrm>
          <a:prstGeom prst="rect">
            <a:avLst/>
          </a:prstGeom>
          <a:solidFill>
            <a:srgbClr val="FFFCFA"/>
          </a:solidFill>
          <a:ln/>
        </p:spPr>
      </p:sp>
      <p:pic>
        <p:nvPicPr>
          <p:cNvPr id="4" name="Image 0" descr="preencoded.png">
            <a:hlinkClick r:id="rId2" tooltip=""/>
          </p:cNvPr>
          <p:cNvPicPr>
            <a:picLocks noChangeAspect="1"/>
          </p:cNvPicPr>
          <p:nvPr/>
        </p:nvPicPr>
        <p:blipFill>
          <a:blip r:embed="rId1"/>
          <a:stretch>
            <a:fillRect/>
          </a:stretch>
        </p:blipFill>
        <p:spPr>
          <a:xfrm>
            <a:off x="12839215" y="7749540"/>
            <a:ext cx="1722605" cy="411480"/>
          </a:xfrm>
          <a:prstGeom prst="rect">
            <a:avLst/>
          </a:prstGeom>
        </p:spPr>
      </p:pic>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Slide 12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F7EDE9"/>
          </a:solidFill>
          <a:ln/>
        </p:spPr>
      </p:sp>
      <p:sp>
        <p:nvSpPr>
          <p:cNvPr id="3" name="Shape 1"/>
          <p:cNvSpPr/>
          <p:nvPr/>
        </p:nvSpPr>
        <p:spPr>
          <a:xfrm>
            <a:off x="0" y="0"/>
            <a:ext cx="14630400" cy="8229600"/>
          </a:xfrm>
          <a:prstGeom prst="rect">
            <a:avLst/>
          </a:prstGeom>
          <a:solidFill>
            <a:srgbClr val="FFFCFA"/>
          </a:solidFill>
          <a:ln/>
        </p:spPr>
      </p:sp>
      <p:pic>
        <p:nvPicPr>
          <p:cNvPr id="4" name="Image 0" descr="preencoded.png">
            <a:hlinkClick r:id="rId2" tooltip=""/>
          </p:cNvPr>
          <p:cNvPicPr>
            <a:picLocks noChangeAspect="1"/>
          </p:cNvPicPr>
          <p:nvPr/>
        </p:nvPicPr>
        <p:blipFill>
          <a:blip r:embed="rId1"/>
          <a:stretch>
            <a:fillRect/>
          </a:stretch>
        </p:blipFill>
        <p:spPr>
          <a:xfrm>
            <a:off x="12839215" y="7749540"/>
            <a:ext cx="1722605" cy="411480"/>
          </a:xfrm>
          <a:prstGeom prst="rect">
            <a:avLst/>
          </a:prstGeom>
        </p:spPr>
      </p:pic>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Slide 13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F7EDE9"/>
          </a:solidFill>
          <a:ln/>
        </p:spPr>
      </p:sp>
      <p:sp>
        <p:nvSpPr>
          <p:cNvPr id="3" name="Shape 1"/>
          <p:cNvSpPr/>
          <p:nvPr/>
        </p:nvSpPr>
        <p:spPr>
          <a:xfrm>
            <a:off x="0" y="0"/>
            <a:ext cx="14630400" cy="8229600"/>
          </a:xfrm>
          <a:prstGeom prst="rect">
            <a:avLst/>
          </a:prstGeom>
          <a:solidFill>
            <a:srgbClr val="FFFCFA"/>
          </a:solidFill>
          <a:ln/>
        </p:spPr>
      </p:sp>
      <p:pic>
        <p:nvPicPr>
          <p:cNvPr id="4" name="Image 0" descr="preencoded.png">
            <a:hlinkClick r:id="rId2" tooltip=""/>
          </p:cNvPr>
          <p:cNvPicPr>
            <a:picLocks noChangeAspect="1"/>
          </p:cNvPicPr>
          <p:nvPr/>
        </p:nvPicPr>
        <p:blipFill>
          <a:blip r:embed="rId1"/>
          <a:stretch>
            <a:fillRect/>
          </a:stretch>
        </p:blipFill>
        <p:spPr>
          <a:xfrm>
            <a:off x="12839215" y="7749540"/>
            <a:ext cx="1722605" cy="411480"/>
          </a:xfrm>
          <a:prstGeom prst="rect">
            <a:avLst/>
          </a:prstGeom>
        </p:spPr>
      </p:pic>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slideLayout" Target="../slideLayouts/slideLayout12.xml"/><Relationship Id="rId13" Type="http://schemas.openxmlformats.org/officeDocument/2006/relationships/slideLayout" Target="../slideLayouts/slideLayout13.xml"/><Relationship Id="rId14" Type="http://schemas.openxmlformats.org/officeDocument/2006/relationships/slideLayout" Target="../slideLayouts/slideLayout14.xml"/><Relationship Id="rId15"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image" Target="../media/image-1-2.png"/><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slideLayout" Target="../slideLayouts/slideLayout2.xml"/><Relationship Id="rId6"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slideLayout" Target="../slideLayouts/slideLayout4.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image" Target="../media/image-4-3.svg"/><Relationship Id="rId4" Type="http://schemas.openxmlformats.org/officeDocument/2006/relationships/image" Target="../media/image-4-4.png"/><Relationship Id="rId5" Type="http://schemas.openxmlformats.org/officeDocument/2006/relationships/image" Target="../media/image-4-5.png"/><Relationship Id="rId6" Type="http://schemas.openxmlformats.org/officeDocument/2006/relationships/image" Target="../media/image-4-6.svg"/><Relationship Id="rId7" Type="http://schemas.openxmlformats.org/officeDocument/2006/relationships/image" Target="../media/image-4-7.png"/><Relationship Id="rId8" Type="http://schemas.openxmlformats.org/officeDocument/2006/relationships/image" Target="../media/image-4-8.png"/><Relationship Id="rId9" Type="http://schemas.openxmlformats.org/officeDocument/2006/relationships/image" Target="../media/image-4-9.svg"/><Relationship Id="rId10" Type="http://schemas.openxmlformats.org/officeDocument/2006/relationships/image" Target="../media/image-4-10.png"/><Relationship Id="rId11" Type="http://schemas.openxmlformats.org/officeDocument/2006/relationships/image" Target="../media/image-4-11.png"/><Relationship Id="rId12" Type="http://schemas.openxmlformats.org/officeDocument/2006/relationships/image" Target="../media/image-4-12.svg"/><Relationship Id="rId13" Type="http://schemas.openxmlformats.org/officeDocument/2006/relationships/slideLayout" Target="../slideLayouts/slideLayout5.xml"/><Relationship Id="rId14"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slideLayout" Target="../slideLayouts/slideLayout6.xml"/><Relationship Id="rId4"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png"/><Relationship Id="rId3" Type="http://schemas.openxmlformats.org/officeDocument/2006/relationships/slideLayout" Target="../slideLayouts/slideLayout9.xml"/><Relationship Id="rId4"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image" Target="../media/image-9-2.png"/><Relationship Id="rId3" Type="http://schemas.openxmlformats.org/officeDocument/2006/relationships/slideLayout" Target="../slideLayouts/slideLayout10.xml"/><Relationship Id="rId4"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image" Target="../media/image-10-2.png"/><Relationship Id="rId3" Type="http://schemas.openxmlformats.org/officeDocument/2006/relationships/image" Target="../media/image-10-3.png"/><Relationship Id="rId4" Type="http://schemas.openxmlformats.org/officeDocument/2006/relationships/image" Target="../media/image-10-4.png"/><Relationship Id="rId5" Type="http://schemas.openxmlformats.org/officeDocument/2006/relationships/image" Target="../media/image-10-5.png"/><Relationship Id="rId6" Type="http://schemas.openxmlformats.org/officeDocument/2006/relationships/image" Target="../media/image-10-6.png"/><Relationship Id="rId7" Type="http://schemas.openxmlformats.org/officeDocument/2006/relationships/slideLayout" Target="../slideLayouts/slideLayout11.xml"/><Relationship Id="rId8"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12.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4" Type="http://schemas.openxmlformats.org/officeDocument/2006/relationships/hyperlink" Target="https://github.com/nayanjha16/CodeGen-Implementations/tree/group18" TargetMode="External"/><Relationship Id="rId1" Type="http://schemas.openxmlformats.org/officeDocument/2006/relationships/image" Target="../media/image-12-1.png"/><Relationship Id="rId2" Type="http://schemas.openxmlformats.org/officeDocument/2006/relationships/image" Target="../media/image-12-2.png"/><Relationship Id="rId3" Type="http://schemas.openxmlformats.org/officeDocument/2006/relationships/image" Target="../media/image-12-3.png"/><Relationship Id="rId5" Type="http://schemas.openxmlformats.org/officeDocument/2006/relationships/slideLayout" Target="../slideLayouts/slideLayout13.xml"/><Relationship Id="rId6"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slideLayout" Target="../slideLayouts/slideLayout14.xml"/><Relationship Id="rId3" Type="http://schemas.openxmlformats.org/officeDocument/2006/relationships/notesSlide" Target="../notesSlides/notesSlide13.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nvSpPr>
        <p:spPr>
          <a:xfrm>
            <a:off x="768906" y="549116"/>
            <a:ext cx="7104459" cy="600789"/>
          </a:xfrm>
          <a:prstGeom prst="rect">
            <a:avLst/>
          </a:prstGeom>
          <a:noFill/>
          <a:ln/>
        </p:spPr>
        <p:txBody>
          <a:bodyPr wrap="none" lIns="0" tIns="0" rIns="0" bIns="0" rtlCol="0" anchor="t"/>
          <a:lstStyle/>
          <a:p>
            <a:pPr algn="l" indent="0" marL="0">
              <a:lnSpc>
                <a:spcPts val="4700"/>
              </a:lnSpc>
              <a:buNone/>
            </a:pPr>
            <a:r>
              <a:rPr lang="en-US" sz="3750" b="1" dirty="0">
                <a:solidFill>
                  <a:srgbClr val="443728"/>
                </a:solidFill>
                <a:latin typeface="Crimson Pro Bold" pitchFamily="34" charset="0"/>
                <a:ea typeface="Crimson Pro Bold" pitchFamily="34" charset="-122"/>
                <a:cs typeface="Crimson Pro Bold" pitchFamily="34" charset="-120"/>
              </a:rPr>
              <a:t>                                                         CodeGen</a:t>
            </a:r>
            <a:endParaRPr lang="en-US" sz="3750" dirty="0"/>
          </a:p>
        </p:txBody>
      </p:sp>
      <p:sp>
        <p:nvSpPr>
          <p:cNvPr id="3" name="Text 1"/>
          <p:cNvSpPr/>
          <p:nvPr/>
        </p:nvSpPr>
        <p:spPr>
          <a:xfrm>
            <a:off x="768906" y="1224320"/>
            <a:ext cx="9109710" cy="600789"/>
          </a:xfrm>
          <a:prstGeom prst="rect">
            <a:avLst/>
          </a:prstGeom>
          <a:noFill/>
          <a:ln/>
        </p:spPr>
        <p:txBody>
          <a:bodyPr wrap="none" lIns="0" tIns="0" rIns="0" bIns="0" rtlCol="0" anchor="t"/>
          <a:lstStyle/>
          <a:p>
            <a:pPr algn="l" indent="0" marL="0">
              <a:lnSpc>
                <a:spcPts val="4700"/>
              </a:lnSpc>
              <a:buNone/>
            </a:pPr>
            <a:r>
              <a:rPr lang="en-US" sz="3750" b="1" dirty="0">
                <a:solidFill>
                  <a:srgbClr val="443728"/>
                </a:solidFill>
                <a:latin typeface="Crimson Pro Bold" pitchFamily="34" charset="0"/>
                <a:ea typeface="Crimson Pro Bold" pitchFamily="34" charset="-122"/>
                <a:cs typeface="Crimson Pro Bold" pitchFamily="34" charset="-120"/>
              </a:rPr>
              <a:t>                                    </a:t>
            </a:r>
            <a:pPr algn="l" indent="0" marL="0">
              <a:lnSpc>
                <a:spcPts val="4700"/>
              </a:lnSpc>
              <a:buNone/>
            </a:pPr>
            <a:r>
              <a:rPr lang="en-US" sz="3750" b="1" dirty="0">
                <a:solidFill>
                  <a:srgbClr val="443728"/>
                </a:solidFill>
                <a:latin typeface="Crimson Pro Bold" pitchFamily="34" charset="0"/>
                <a:ea typeface="Crimson Pro Bold" pitchFamily="34" charset="-122"/>
                <a:cs typeface="Crimson Pro Bold" pitchFamily="34" charset="-120"/>
              </a:rPr>
              <a:t>Bridging Language and Data</a:t>
            </a:r>
            <a:endParaRPr lang="en-US" sz="3750" dirty="0"/>
          </a:p>
        </p:txBody>
      </p:sp>
      <p:sp>
        <p:nvSpPr>
          <p:cNvPr id="4" name="Text 2"/>
          <p:cNvSpPr/>
          <p:nvPr/>
        </p:nvSpPr>
        <p:spPr>
          <a:xfrm>
            <a:off x="768906" y="1899523"/>
            <a:ext cx="12305586" cy="961073"/>
          </a:xfrm>
          <a:prstGeom prst="rect">
            <a:avLst/>
          </a:prstGeom>
          <a:noFill/>
          <a:ln/>
        </p:spPr>
        <p:txBody>
          <a:bodyPr wrap="square" lIns="0" tIns="0" rIns="0" bIns="0" rtlCol="0" anchor="t"/>
          <a:lstStyle/>
          <a:p>
            <a:pPr algn="l" indent="0" marL="0">
              <a:lnSpc>
                <a:spcPts val="3750"/>
              </a:lnSpc>
              <a:buNone/>
            </a:pPr>
            <a:r>
              <a:rPr lang="en-US" sz="3000" b="1" dirty="0">
                <a:solidFill>
                  <a:srgbClr val="443728"/>
                </a:solidFill>
                <a:latin typeface="Crimson Pro Bold" pitchFamily="34" charset="0"/>
                <a:ea typeface="Crimson Pro Bold" pitchFamily="34" charset="-122"/>
                <a:cs typeface="Crimson Pro Bold" pitchFamily="34" charset="-120"/>
              </a:rPr>
              <a:t>        </a:t>
            </a:r>
            <a:pPr algn="l" indent="0" marL="0">
              <a:lnSpc>
                <a:spcPts val="3750"/>
              </a:lnSpc>
              <a:buNone/>
            </a:pPr>
            <a:r>
              <a:rPr lang="en-US" sz="3000" b="1" dirty="0">
                <a:solidFill>
                  <a:srgbClr val="443728"/>
                </a:solidFill>
                <a:latin typeface="Crimson Pro Bold" pitchFamily="34" charset="0"/>
                <a:ea typeface="Crimson Pro Bold" pitchFamily="34" charset="-122"/>
                <a:cs typeface="Crimson Pro Bold" pitchFamily="34" charset="-120"/>
              </a:rPr>
              <a:t>                                                                                         By Group 6(Capstone Group 18)</a:t>
            </a:r>
            <a:pPr algn="l" indent="0" marL="0">
              <a:lnSpc>
                <a:spcPts val="3750"/>
              </a:lnSpc>
              <a:buNone/>
            </a:pPr>
            <a:r>
              <a:rPr lang="en-US" sz="3000" b="1" dirty="0">
                <a:solidFill>
                  <a:srgbClr val="443728"/>
                </a:solidFill>
                <a:latin typeface="Crimson Pro Bold" pitchFamily="34" charset="0"/>
                <a:ea typeface="Crimson Pro Bold" pitchFamily="34" charset="-122"/>
                <a:cs typeface="Crimson Pro Bold" pitchFamily="34" charset="-120"/>
              </a:rPr>
              <a:t>                                                                                                 Batch 25</a:t>
            </a:r>
            <a:endParaRPr lang="en-US" sz="3000" dirty="0"/>
          </a:p>
        </p:txBody>
      </p:sp>
      <p:sp>
        <p:nvSpPr>
          <p:cNvPr id="5" name="Shape 3"/>
          <p:cNvSpPr/>
          <p:nvPr/>
        </p:nvSpPr>
        <p:spPr>
          <a:xfrm>
            <a:off x="630555" y="3139797"/>
            <a:ext cx="3198138" cy="4540568"/>
          </a:xfrm>
          <a:prstGeom prst="roundRect">
            <a:avLst>
              <a:gd name="adj" fmla="val 4328"/>
            </a:avLst>
          </a:prstGeom>
          <a:solidFill>
            <a:srgbClr val="F2F2F2"/>
          </a:solidFill>
          <a:ln/>
        </p:spPr>
      </p:sp>
      <p:pic>
        <p:nvPicPr>
          <p:cNvPr id="6" name="Image 0" descr="preencoded.png">    </p:cNvPr>
          <p:cNvPicPr>
            <a:picLocks noChangeAspect="1"/>
          </p:cNvPicPr>
          <p:nvPr/>
        </p:nvPicPr>
        <p:blipFill>
          <a:blip r:embed="rId1"/>
          <a:stretch>
            <a:fillRect/>
          </a:stretch>
        </p:blipFill>
        <p:spPr>
          <a:xfrm>
            <a:off x="1218605" y="3349228"/>
            <a:ext cx="2021919" cy="3034784"/>
          </a:xfrm>
          <a:prstGeom prst="rect">
            <a:avLst/>
          </a:prstGeom>
        </p:spPr>
      </p:pic>
      <p:sp>
        <p:nvSpPr>
          <p:cNvPr id="7" name="Text 4"/>
          <p:cNvSpPr/>
          <p:nvPr/>
        </p:nvSpPr>
        <p:spPr>
          <a:xfrm>
            <a:off x="822722" y="6593443"/>
            <a:ext cx="2403038" cy="300276"/>
          </a:xfrm>
          <a:prstGeom prst="rect">
            <a:avLst/>
          </a:prstGeom>
          <a:noFill/>
          <a:ln/>
        </p:spPr>
        <p:txBody>
          <a:bodyPr wrap="none" lIns="0" tIns="0" rIns="0" bIns="0" rtlCol="0" anchor="t"/>
          <a:lstStyle/>
          <a:p>
            <a:pPr algn="l" indent="0" marL="0">
              <a:lnSpc>
                <a:spcPts val="2350"/>
              </a:lnSpc>
              <a:buNone/>
            </a:pPr>
            <a:r>
              <a:rPr lang="en-US" sz="1850" b="1" dirty="0">
                <a:solidFill>
                  <a:srgbClr val="443728"/>
                </a:solidFill>
                <a:latin typeface="Crimson Pro Bold" pitchFamily="34" charset="0"/>
                <a:ea typeface="Crimson Pro Bold" pitchFamily="34" charset="-122"/>
                <a:cs typeface="Crimson Pro Bold" pitchFamily="34" charset="-120"/>
              </a:rPr>
              <a:t>           Kalyani Ankasala</a:t>
            </a:r>
            <a:endParaRPr lang="en-US" sz="1850" dirty="0"/>
          </a:p>
        </p:txBody>
      </p:sp>
      <p:sp>
        <p:nvSpPr>
          <p:cNvPr id="8" name="Text 5"/>
          <p:cNvSpPr/>
          <p:nvPr/>
        </p:nvSpPr>
        <p:spPr>
          <a:xfrm>
            <a:off x="822722" y="7079813"/>
            <a:ext cx="2813804" cy="302776"/>
          </a:xfrm>
          <a:prstGeom prst="rect">
            <a:avLst/>
          </a:prstGeom>
          <a:noFill/>
          <a:ln/>
        </p:spPr>
        <p:txBody>
          <a:bodyPr wrap="none" lIns="0" tIns="0" rIns="0" bIns="0" rtlCol="0" anchor="t"/>
          <a:lstStyle/>
          <a:p>
            <a:pPr algn="l" indent="0" marL="0">
              <a:lnSpc>
                <a:spcPts val="2350"/>
              </a:lnSpc>
              <a:buNone/>
            </a:pPr>
            <a:endParaRPr lang="en-US" sz="1500" dirty="0"/>
          </a:p>
        </p:txBody>
      </p:sp>
      <p:sp>
        <p:nvSpPr>
          <p:cNvPr id="9" name="Shape 6"/>
          <p:cNvSpPr/>
          <p:nvPr/>
        </p:nvSpPr>
        <p:spPr>
          <a:xfrm>
            <a:off x="4028480" y="3139797"/>
            <a:ext cx="3198138" cy="4540568"/>
          </a:xfrm>
          <a:prstGeom prst="roundRect">
            <a:avLst>
              <a:gd name="adj" fmla="val 4328"/>
            </a:avLst>
          </a:prstGeom>
          <a:solidFill>
            <a:srgbClr val="F2F2F2"/>
          </a:solidFill>
          <a:ln/>
        </p:spPr>
      </p:sp>
      <p:pic>
        <p:nvPicPr>
          <p:cNvPr id="10" name="Image 1" descr="preencoded.png">    </p:cNvPr>
          <p:cNvPicPr>
            <a:picLocks noChangeAspect="1"/>
          </p:cNvPicPr>
          <p:nvPr/>
        </p:nvPicPr>
        <p:blipFill>
          <a:blip r:embed="rId2"/>
          <a:stretch>
            <a:fillRect/>
          </a:stretch>
        </p:blipFill>
        <p:spPr>
          <a:xfrm>
            <a:off x="4220647" y="3349228"/>
            <a:ext cx="2306836" cy="3165038"/>
          </a:xfrm>
          <a:prstGeom prst="rect">
            <a:avLst/>
          </a:prstGeom>
        </p:spPr>
      </p:pic>
      <p:sp>
        <p:nvSpPr>
          <p:cNvPr id="11" name="Text 7"/>
          <p:cNvSpPr/>
          <p:nvPr/>
        </p:nvSpPr>
        <p:spPr>
          <a:xfrm>
            <a:off x="4220647" y="6723697"/>
            <a:ext cx="2403038" cy="300276"/>
          </a:xfrm>
          <a:prstGeom prst="rect">
            <a:avLst/>
          </a:prstGeom>
          <a:noFill/>
          <a:ln/>
        </p:spPr>
        <p:txBody>
          <a:bodyPr wrap="none" lIns="0" tIns="0" rIns="0" bIns="0" rtlCol="0" anchor="t"/>
          <a:lstStyle/>
          <a:p>
            <a:pPr algn="l" indent="0" marL="0">
              <a:lnSpc>
                <a:spcPts val="2350"/>
              </a:lnSpc>
              <a:buNone/>
            </a:pPr>
            <a:r>
              <a:rPr lang="en-US" sz="1850" b="1" dirty="0">
                <a:solidFill>
                  <a:srgbClr val="443728"/>
                </a:solidFill>
                <a:latin typeface="Crimson Pro Bold" pitchFamily="34" charset="0"/>
                <a:ea typeface="Crimson Pro Bold" pitchFamily="34" charset="-122"/>
                <a:cs typeface="Crimson Pro Bold" pitchFamily="34" charset="-120"/>
              </a:rPr>
              <a:t>                  Koushik</a:t>
            </a:r>
            <a:endParaRPr lang="en-US" sz="1850" dirty="0"/>
          </a:p>
        </p:txBody>
      </p:sp>
      <p:sp>
        <p:nvSpPr>
          <p:cNvPr id="12" name="Text 8"/>
          <p:cNvSpPr/>
          <p:nvPr/>
        </p:nvSpPr>
        <p:spPr>
          <a:xfrm>
            <a:off x="4220647" y="7210068"/>
            <a:ext cx="2813804" cy="302776"/>
          </a:xfrm>
          <a:prstGeom prst="rect">
            <a:avLst/>
          </a:prstGeom>
          <a:noFill/>
          <a:ln/>
        </p:spPr>
        <p:txBody>
          <a:bodyPr wrap="none" lIns="0" tIns="0" rIns="0" bIns="0" rtlCol="0" anchor="t"/>
          <a:lstStyle/>
          <a:p>
            <a:pPr algn="l" indent="0" marL="0">
              <a:lnSpc>
                <a:spcPts val="2350"/>
              </a:lnSpc>
              <a:buNone/>
            </a:pPr>
            <a:endParaRPr lang="en-US" sz="1500" dirty="0"/>
          </a:p>
        </p:txBody>
      </p:sp>
      <p:sp>
        <p:nvSpPr>
          <p:cNvPr id="13" name="Shape 9"/>
          <p:cNvSpPr/>
          <p:nvPr/>
        </p:nvSpPr>
        <p:spPr>
          <a:xfrm>
            <a:off x="7426404" y="3139797"/>
            <a:ext cx="3198138" cy="4540568"/>
          </a:xfrm>
          <a:prstGeom prst="roundRect">
            <a:avLst>
              <a:gd name="adj" fmla="val 4328"/>
            </a:avLst>
          </a:prstGeom>
          <a:solidFill>
            <a:srgbClr val="F2F2F2"/>
          </a:solidFill>
          <a:ln/>
        </p:spPr>
      </p:sp>
      <p:pic>
        <p:nvPicPr>
          <p:cNvPr id="14" name="Image 2" descr="preencoded.png">    </p:cNvPr>
          <p:cNvPicPr>
            <a:picLocks noChangeAspect="1"/>
          </p:cNvPicPr>
          <p:nvPr/>
        </p:nvPicPr>
        <p:blipFill>
          <a:blip r:embed="rId3"/>
          <a:stretch>
            <a:fillRect/>
          </a:stretch>
        </p:blipFill>
        <p:spPr>
          <a:xfrm>
            <a:off x="7618571" y="3349228"/>
            <a:ext cx="2700099" cy="2679144"/>
          </a:xfrm>
          <a:prstGeom prst="rect">
            <a:avLst/>
          </a:prstGeom>
        </p:spPr>
      </p:pic>
      <p:sp>
        <p:nvSpPr>
          <p:cNvPr id="15" name="Text 10"/>
          <p:cNvSpPr/>
          <p:nvPr/>
        </p:nvSpPr>
        <p:spPr>
          <a:xfrm>
            <a:off x="7618571" y="6237803"/>
            <a:ext cx="2403038" cy="300276"/>
          </a:xfrm>
          <a:prstGeom prst="rect">
            <a:avLst/>
          </a:prstGeom>
          <a:noFill/>
          <a:ln/>
        </p:spPr>
        <p:txBody>
          <a:bodyPr wrap="none" lIns="0" tIns="0" rIns="0" bIns="0" rtlCol="0" anchor="t"/>
          <a:lstStyle/>
          <a:p>
            <a:pPr algn="l" indent="0" marL="0">
              <a:lnSpc>
                <a:spcPts val="2350"/>
              </a:lnSpc>
              <a:buNone/>
            </a:pPr>
            <a:r>
              <a:rPr lang="en-US" sz="1850" b="1" dirty="0">
                <a:solidFill>
                  <a:srgbClr val="443728"/>
                </a:solidFill>
                <a:latin typeface="Crimson Pro Bold" pitchFamily="34" charset="0"/>
                <a:ea typeface="Crimson Pro Bold" pitchFamily="34" charset="-122"/>
                <a:cs typeface="Crimson Pro Bold" pitchFamily="34" charset="-120"/>
              </a:rPr>
              <a:t>                 Utkarsh Sinha</a:t>
            </a:r>
            <a:endParaRPr lang="en-US" sz="1850" dirty="0"/>
          </a:p>
        </p:txBody>
      </p:sp>
      <p:sp>
        <p:nvSpPr>
          <p:cNvPr id="16" name="Text 11"/>
          <p:cNvSpPr/>
          <p:nvPr/>
        </p:nvSpPr>
        <p:spPr>
          <a:xfrm>
            <a:off x="7618571" y="6724174"/>
            <a:ext cx="2813804" cy="302776"/>
          </a:xfrm>
          <a:prstGeom prst="rect">
            <a:avLst/>
          </a:prstGeom>
          <a:noFill/>
          <a:ln/>
        </p:spPr>
        <p:txBody>
          <a:bodyPr wrap="none" lIns="0" tIns="0" rIns="0" bIns="0" rtlCol="0" anchor="t"/>
          <a:lstStyle/>
          <a:p>
            <a:pPr algn="l" indent="0" marL="0">
              <a:lnSpc>
                <a:spcPts val="2350"/>
              </a:lnSpc>
              <a:buNone/>
            </a:pPr>
            <a:endParaRPr lang="en-US" sz="1500" dirty="0"/>
          </a:p>
        </p:txBody>
      </p:sp>
      <p:sp>
        <p:nvSpPr>
          <p:cNvPr id="17" name="Shape 12"/>
          <p:cNvSpPr/>
          <p:nvPr/>
        </p:nvSpPr>
        <p:spPr>
          <a:xfrm>
            <a:off x="10824329" y="3139797"/>
            <a:ext cx="3198138" cy="4540568"/>
          </a:xfrm>
          <a:prstGeom prst="roundRect">
            <a:avLst>
              <a:gd name="adj" fmla="val 4328"/>
            </a:avLst>
          </a:prstGeom>
          <a:solidFill>
            <a:srgbClr val="F2F2F2"/>
          </a:solidFill>
          <a:ln/>
        </p:spPr>
      </p:sp>
      <p:pic>
        <p:nvPicPr>
          <p:cNvPr id="18" name="Image 3" descr="preencoded.png">    </p:cNvPr>
          <p:cNvPicPr>
            <a:picLocks noChangeAspect="1"/>
          </p:cNvPicPr>
          <p:nvPr/>
        </p:nvPicPr>
        <p:blipFill>
          <a:blip r:embed="rId4"/>
          <a:stretch>
            <a:fillRect/>
          </a:stretch>
        </p:blipFill>
        <p:spPr>
          <a:xfrm>
            <a:off x="11016496" y="3349228"/>
            <a:ext cx="2660809" cy="2530673"/>
          </a:xfrm>
          <a:prstGeom prst="rect">
            <a:avLst/>
          </a:prstGeom>
        </p:spPr>
      </p:pic>
      <p:sp>
        <p:nvSpPr>
          <p:cNvPr id="19" name="Text 13"/>
          <p:cNvSpPr/>
          <p:nvPr/>
        </p:nvSpPr>
        <p:spPr>
          <a:xfrm>
            <a:off x="11016496" y="6089333"/>
            <a:ext cx="2403038" cy="300276"/>
          </a:xfrm>
          <a:prstGeom prst="rect">
            <a:avLst/>
          </a:prstGeom>
          <a:noFill/>
          <a:ln/>
        </p:spPr>
        <p:txBody>
          <a:bodyPr wrap="none" lIns="0" tIns="0" rIns="0" bIns="0" rtlCol="0" anchor="t"/>
          <a:lstStyle/>
          <a:p>
            <a:pPr algn="l" indent="0" marL="0">
              <a:lnSpc>
                <a:spcPts val="2350"/>
              </a:lnSpc>
              <a:buNone/>
            </a:pPr>
            <a:r>
              <a:rPr lang="en-US" sz="1850" b="1" dirty="0">
                <a:solidFill>
                  <a:srgbClr val="443728"/>
                </a:solidFill>
                <a:latin typeface="Crimson Pro Bold" pitchFamily="34" charset="0"/>
                <a:ea typeface="Crimson Pro Bold" pitchFamily="34" charset="-122"/>
                <a:cs typeface="Crimson Pro Bold" pitchFamily="34" charset="-120"/>
              </a:rPr>
              <a:t>              Ramesh Nerella</a:t>
            </a:r>
            <a:endParaRPr lang="en-US" sz="1850" dirty="0"/>
          </a:p>
        </p:txBody>
      </p:sp>
      <p:sp>
        <p:nvSpPr>
          <p:cNvPr id="20" name="Text 14"/>
          <p:cNvSpPr/>
          <p:nvPr/>
        </p:nvSpPr>
        <p:spPr>
          <a:xfrm>
            <a:off x="11016496" y="6575703"/>
            <a:ext cx="2813804" cy="302776"/>
          </a:xfrm>
          <a:prstGeom prst="rect">
            <a:avLst/>
          </a:prstGeom>
          <a:noFill/>
          <a:ln/>
        </p:spPr>
        <p:txBody>
          <a:bodyPr wrap="none" lIns="0" tIns="0" rIns="0" bIns="0" rtlCol="0" anchor="t"/>
          <a:lstStyle/>
          <a:p>
            <a:pPr algn="l" indent="0" marL="0">
              <a:lnSpc>
                <a:spcPts val="2350"/>
              </a:lnSpc>
              <a:buNone/>
            </a:pPr>
            <a:endParaRPr lang="en-US" sz="15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nvSpPr>
        <p:spPr>
          <a:xfrm>
            <a:off x="793790" y="2016085"/>
            <a:ext cx="8184833" cy="620078"/>
          </a:xfrm>
          <a:prstGeom prst="rect">
            <a:avLst/>
          </a:prstGeom>
          <a:noFill/>
          <a:ln/>
        </p:spPr>
        <p:txBody>
          <a:bodyPr wrap="none" lIns="0" tIns="0" rIns="0" bIns="0" rtlCol="0" anchor="t"/>
          <a:lstStyle/>
          <a:p>
            <a:pPr algn="l" indent="0" marL="0">
              <a:lnSpc>
                <a:spcPts val="4850"/>
              </a:lnSpc>
              <a:buNone/>
            </a:pPr>
            <a:r>
              <a:rPr lang="en-US" sz="3900" b="1" dirty="0">
                <a:solidFill>
                  <a:srgbClr val="443728"/>
                </a:solidFill>
                <a:latin typeface="Crimson Pro Bold" pitchFamily="34" charset="0"/>
                <a:ea typeface="Crimson Pro Bold" pitchFamily="34" charset="-122"/>
                <a:cs typeface="Crimson Pro Bold" pitchFamily="34" charset="-120"/>
              </a:rPr>
              <a:t>                                              What is CodeGen?</a:t>
            </a:r>
            <a:endParaRPr lang="en-US" sz="3900" dirty="0"/>
          </a:p>
        </p:txBody>
      </p:sp>
      <p:sp>
        <p:nvSpPr>
          <p:cNvPr id="3" name="Shape 1"/>
          <p:cNvSpPr/>
          <p:nvPr/>
        </p:nvSpPr>
        <p:spPr>
          <a:xfrm>
            <a:off x="793790" y="3032998"/>
            <a:ext cx="4215289" cy="3180398"/>
          </a:xfrm>
          <a:prstGeom prst="roundRect">
            <a:avLst>
              <a:gd name="adj" fmla="val 14977"/>
            </a:avLst>
          </a:prstGeom>
          <a:solidFill>
            <a:srgbClr val="EBE2E0"/>
          </a:solidFill>
          <a:ln w="7620">
            <a:solidFill>
              <a:srgbClr val="D1C8C6"/>
            </a:solidFill>
            <a:prstDash val="solid"/>
          </a:ln>
        </p:spPr>
      </p:sp>
      <p:sp>
        <p:nvSpPr>
          <p:cNvPr id="4" name="Text 2"/>
          <p:cNvSpPr/>
          <p:nvPr/>
        </p:nvSpPr>
        <p:spPr>
          <a:xfrm>
            <a:off x="999768" y="3238976"/>
            <a:ext cx="3569613" cy="372070"/>
          </a:xfrm>
          <a:prstGeom prst="rect">
            <a:avLst/>
          </a:prstGeom>
          <a:noFill/>
          <a:ln/>
        </p:spPr>
        <p:txBody>
          <a:bodyPr wrap="none" lIns="0" tIns="0" rIns="0" bIns="0" rtlCol="0" anchor="t"/>
          <a:lstStyle/>
          <a:p>
            <a:pPr algn="l" indent="0" marL="0">
              <a:lnSpc>
                <a:spcPts val="2900"/>
              </a:lnSpc>
              <a:buNone/>
            </a:pPr>
            <a:r>
              <a:rPr lang="en-US" sz="2300" b="1" dirty="0">
                <a:solidFill>
                  <a:srgbClr val="443728"/>
                </a:solidFill>
                <a:latin typeface="Crimson Pro Bold" pitchFamily="34" charset="0"/>
                <a:ea typeface="Crimson Pro Bold" pitchFamily="34" charset="-122"/>
                <a:cs typeface="Crimson Pro Bold" pitchFamily="34" charset="-120"/>
              </a:rPr>
              <a:t>Automated Code Generation</a:t>
            </a:r>
            <a:endParaRPr lang="en-US" sz="2300" dirty="0"/>
          </a:p>
        </p:txBody>
      </p:sp>
      <p:sp>
        <p:nvSpPr>
          <p:cNvPr id="5" name="Text 3"/>
          <p:cNvSpPr/>
          <p:nvPr/>
        </p:nvSpPr>
        <p:spPr>
          <a:xfrm>
            <a:off x="999768" y="3730109"/>
            <a:ext cx="3803333" cy="2222778"/>
          </a:xfrm>
          <a:prstGeom prst="rect">
            <a:avLst/>
          </a:prstGeom>
          <a:noFill/>
          <a:ln/>
        </p:spPr>
        <p:txBody>
          <a:bodyPr wrap="square" lIns="0" tIns="0" rIns="0" bIns="0" rtlCol="0" anchor="t"/>
          <a:lstStyle/>
          <a:p>
            <a:pPr algn="l" indent="0" marL="0">
              <a:lnSpc>
                <a:spcPts val="2500"/>
              </a:lnSpc>
              <a:buNone/>
            </a:pPr>
            <a:r>
              <a:rPr lang="en-US" sz="1550" dirty="0">
                <a:solidFill>
                  <a:srgbClr val="443728"/>
                </a:solidFill>
                <a:latin typeface="Open Sans" pitchFamily="34" charset="0"/>
                <a:ea typeface="Open Sans" pitchFamily="34" charset="-122"/>
                <a:cs typeface="Open Sans" pitchFamily="34" charset="-120"/>
              </a:rPr>
              <a:t>CodeGen harnesses the power of advanced language models to automatically generate, understand, and transform source code. This project explores how these models can be fine-tuned to support new programming paradigms.</a:t>
            </a:r>
            <a:endParaRPr lang="en-US" sz="1550" dirty="0"/>
          </a:p>
        </p:txBody>
      </p:sp>
      <p:sp>
        <p:nvSpPr>
          <p:cNvPr id="6" name="Shape 4"/>
          <p:cNvSpPr/>
          <p:nvPr/>
        </p:nvSpPr>
        <p:spPr>
          <a:xfrm>
            <a:off x="5207437" y="3032998"/>
            <a:ext cx="4215408" cy="3180398"/>
          </a:xfrm>
          <a:prstGeom prst="roundRect">
            <a:avLst>
              <a:gd name="adj" fmla="val 14977"/>
            </a:avLst>
          </a:prstGeom>
          <a:solidFill>
            <a:srgbClr val="EBE2E0"/>
          </a:solidFill>
          <a:ln w="7620">
            <a:solidFill>
              <a:srgbClr val="D1C8C6"/>
            </a:solidFill>
            <a:prstDash val="solid"/>
          </a:ln>
        </p:spPr>
      </p:sp>
      <p:sp>
        <p:nvSpPr>
          <p:cNvPr id="7" name="Text 5"/>
          <p:cNvSpPr/>
          <p:nvPr/>
        </p:nvSpPr>
        <p:spPr>
          <a:xfrm>
            <a:off x="5413415" y="3238976"/>
            <a:ext cx="3731776" cy="372070"/>
          </a:xfrm>
          <a:prstGeom prst="rect">
            <a:avLst/>
          </a:prstGeom>
          <a:noFill/>
          <a:ln/>
        </p:spPr>
        <p:txBody>
          <a:bodyPr wrap="none" lIns="0" tIns="0" rIns="0" bIns="0" rtlCol="0" anchor="t"/>
          <a:lstStyle/>
          <a:p>
            <a:pPr algn="l" indent="0" marL="0">
              <a:lnSpc>
                <a:spcPts val="2900"/>
              </a:lnSpc>
              <a:buNone/>
            </a:pPr>
            <a:r>
              <a:rPr lang="en-US" sz="2300" b="1" dirty="0">
                <a:solidFill>
                  <a:srgbClr val="443728"/>
                </a:solidFill>
                <a:latin typeface="Crimson Pro Bold" pitchFamily="34" charset="0"/>
                <a:ea typeface="Crimson Pro Bold" pitchFamily="34" charset="-122"/>
                <a:cs typeface="Crimson Pro Bold" pitchFamily="34" charset="-120"/>
              </a:rPr>
              <a:t>Expanding Language Support</a:t>
            </a:r>
            <a:endParaRPr lang="en-US" sz="2300" dirty="0"/>
          </a:p>
        </p:txBody>
      </p:sp>
      <p:sp>
        <p:nvSpPr>
          <p:cNvPr id="8" name="Text 6"/>
          <p:cNvSpPr/>
          <p:nvPr/>
        </p:nvSpPr>
        <p:spPr>
          <a:xfrm>
            <a:off x="5413415" y="3730109"/>
            <a:ext cx="3803452" cy="2222778"/>
          </a:xfrm>
          <a:prstGeom prst="rect">
            <a:avLst/>
          </a:prstGeom>
          <a:noFill/>
          <a:ln/>
        </p:spPr>
        <p:txBody>
          <a:bodyPr wrap="square" lIns="0" tIns="0" rIns="0" bIns="0" rtlCol="0" anchor="t"/>
          <a:lstStyle/>
          <a:p>
            <a:pPr algn="l" indent="0" marL="0">
              <a:lnSpc>
                <a:spcPts val="2500"/>
              </a:lnSpc>
              <a:buNone/>
            </a:pPr>
            <a:r>
              <a:rPr lang="en-US" sz="1550" dirty="0">
                <a:solidFill>
                  <a:srgbClr val="443728"/>
                </a:solidFill>
                <a:latin typeface="Open Sans" pitchFamily="34" charset="0"/>
                <a:ea typeface="Open Sans" pitchFamily="34" charset="-122"/>
                <a:cs typeface="Open Sans" pitchFamily="34" charset="-120"/>
              </a:rPr>
              <a:t>Our focus is on adapting these sophisticated models to work effectively with new programming languages and specialized software tasks, significantly broadening their applicability and utility across diverse development environments.</a:t>
            </a:r>
            <a:endParaRPr lang="en-US" sz="1550" dirty="0"/>
          </a:p>
        </p:txBody>
      </p:sp>
      <p:sp>
        <p:nvSpPr>
          <p:cNvPr id="9" name="Shape 7"/>
          <p:cNvSpPr/>
          <p:nvPr/>
        </p:nvSpPr>
        <p:spPr>
          <a:xfrm>
            <a:off x="9621203" y="3032998"/>
            <a:ext cx="4215289" cy="3180398"/>
          </a:xfrm>
          <a:prstGeom prst="roundRect">
            <a:avLst>
              <a:gd name="adj" fmla="val 14977"/>
            </a:avLst>
          </a:prstGeom>
          <a:solidFill>
            <a:srgbClr val="EBE2E0"/>
          </a:solidFill>
          <a:ln w="7620">
            <a:solidFill>
              <a:srgbClr val="D1C8C6"/>
            </a:solidFill>
            <a:prstDash val="solid"/>
          </a:ln>
        </p:spPr>
      </p:sp>
      <p:sp>
        <p:nvSpPr>
          <p:cNvPr id="10" name="Text 8"/>
          <p:cNvSpPr/>
          <p:nvPr/>
        </p:nvSpPr>
        <p:spPr>
          <a:xfrm>
            <a:off x="9827181" y="3238976"/>
            <a:ext cx="3803333" cy="744141"/>
          </a:xfrm>
          <a:prstGeom prst="rect">
            <a:avLst/>
          </a:prstGeom>
          <a:noFill/>
          <a:ln/>
        </p:spPr>
        <p:txBody>
          <a:bodyPr wrap="square" lIns="0" tIns="0" rIns="0" bIns="0" rtlCol="0" anchor="t"/>
          <a:lstStyle/>
          <a:p>
            <a:pPr algn="l" indent="0" marL="0">
              <a:lnSpc>
                <a:spcPts val="2900"/>
              </a:lnSpc>
              <a:buNone/>
            </a:pPr>
            <a:r>
              <a:rPr lang="en-US" sz="2300" b="1" dirty="0">
                <a:solidFill>
                  <a:srgbClr val="443728"/>
                </a:solidFill>
                <a:latin typeface="Crimson Pro Bold" pitchFamily="34" charset="0"/>
                <a:ea typeface="Crimson Pro Bold" pitchFamily="34" charset="-122"/>
                <a:cs typeface="Crimson Pro Bold" pitchFamily="34" charset="-120"/>
              </a:rPr>
              <a:t>Enhanced Software Development</a:t>
            </a:r>
            <a:endParaRPr lang="en-US" sz="2300" dirty="0"/>
          </a:p>
        </p:txBody>
      </p:sp>
      <p:sp>
        <p:nvSpPr>
          <p:cNvPr id="11" name="Text 9"/>
          <p:cNvSpPr/>
          <p:nvPr/>
        </p:nvSpPr>
        <p:spPr>
          <a:xfrm>
            <a:off x="9827181" y="4102179"/>
            <a:ext cx="3803333" cy="1905238"/>
          </a:xfrm>
          <a:prstGeom prst="rect">
            <a:avLst/>
          </a:prstGeom>
          <a:noFill/>
          <a:ln/>
        </p:spPr>
        <p:txBody>
          <a:bodyPr wrap="square" lIns="0" tIns="0" rIns="0" bIns="0" rtlCol="0" anchor="t"/>
          <a:lstStyle/>
          <a:p>
            <a:pPr algn="l" indent="0" marL="0">
              <a:lnSpc>
                <a:spcPts val="2500"/>
              </a:lnSpc>
              <a:buNone/>
            </a:pPr>
            <a:r>
              <a:rPr lang="en-US" sz="1550" dirty="0">
                <a:solidFill>
                  <a:srgbClr val="443728"/>
                </a:solidFill>
                <a:latin typeface="Open Sans" pitchFamily="34" charset="0"/>
                <a:ea typeface="Open Sans" pitchFamily="34" charset="-122"/>
                <a:cs typeface="Open Sans" pitchFamily="34" charset="-120"/>
              </a:rPr>
              <a:t>By automating routine coding tasks and facilitating understanding of complex codebases, CodeGen aims to streamline the development process, reduce errors, and accelerate innovation in software engineering.</a:t>
            </a:r>
            <a:endParaRPr lang="en-US" sz="15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3657600" cy="8229600"/>
          </a:xfrm>
          <a:prstGeom prst="rect">
            <a:avLst/>
          </a:prstGeom>
        </p:spPr>
      </p:pic>
      <p:sp>
        <p:nvSpPr>
          <p:cNvPr id="3" name="Text 0"/>
          <p:cNvSpPr/>
          <p:nvPr/>
        </p:nvSpPr>
        <p:spPr>
          <a:xfrm>
            <a:off x="4451390" y="994291"/>
            <a:ext cx="5635823" cy="620078"/>
          </a:xfrm>
          <a:prstGeom prst="rect">
            <a:avLst/>
          </a:prstGeom>
          <a:noFill/>
          <a:ln/>
        </p:spPr>
        <p:txBody>
          <a:bodyPr wrap="none" lIns="0" tIns="0" rIns="0" bIns="0" rtlCol="0" anchor="t"/>
          <a:lstStyle/>
          <a:p>
            <a:pPr algn="l" indent="0" marL="0">
              <a:lnSpc>
                <a:spcPts val="4850"/>
              </a:lnSpc>
              <a:buNone/>
            </a:pPr>
            <a:r>
              <a:rPr lang="en-US" sz="3900" b="1" dirty="0">
                <a:solidFill>
                  <a:srgbClr val="443728"/>
                </a:solidFill>
                <a:latin typeface="Crimson Pro Bold" pitchFamily="34" charset="0"/>
                <a:ea typeface="Crimson Pro Bold" pitchFamily="34" charset="-122"/>
                <a:cs typeface="Crimson Pro Bold" pitchFamily="34" charset="-120"/>
              </a:rPr>
              <a:t>                           Paper Selected</a:t>
            </a:r>
            <a:endParaRPr lang="en-US" sz="3900" dirty="0"/>
          </a:p>
        </p:txBody>
      </p:sp>
      <p:sp>
        <p:nvSpPr>
          <p:cNvPr id="4" name="Text 1"/>
          <p:cNvSpPr/>
          <p:nvPr/>
        </p:nvSpPr>
        <p:spPr>
          <a:xfrm>
            <a:off x="4451390" y="1693664"/>
            <a:ext cx="9385221" cy="1488400"/>
          </a:xfrm>
          <a:prstGeom prst="rect">
            <a:avLst/>
          </a:prstGeom>
          <a:noFill/>
          <a:ln/>
        </p:spPr>
        <p:txBody>
          <a:bodyPr wrap="square" lIns="0" tIns="0" rIns="0" bIns="0" rtlCol="0" anchor="t"/>
          <a:lstStyle/>
          <a:p>
            <a:pPr algn="l" indent="0" marL="0">
              <a:lnSpc>
                <a:spcPts val="3900"/>
              </a:lnSpc>
              <a:buNone/>
            </a:pPr>
            <a:r>
              <a:rPr lang="en-US" sz="3100" b="1" dirty="0">
                <a:solidFill>
                  <a:srgbClr val="443728"/>
                </a:solidFill>
                <a:latin typeface="Crimson Pro Bold" pitchFamily="34" charset="0"/>
                <a:ea typeface="Crimson Pro Bold" pitchFamily="34" charset="-122"/>
                <a:cs typeface="Crimson Pro Bold" pitchFamily="34" charset="-120"/>
              </a:rPr>
              <a:t>Title :</a:t>
            </a:r>
            <a:endParaRPr lang="en-US" sz="3100" dirty="0"/>
          </a:p>
          <a:p>
            <a:pPr algn="l" indent="0" marL="0">
              <a:lnSpc>
                <a:spcPts val="3900"/>
              </a:lnSpc>
              <a:buNone/>
            </a:pPr>
            <a:r>
              <a:rPr lang="en-US" sz="3100" b="1" dirty="0">
                <a:solidFill>
                  <a:srgbClr val="443728"/>
                </a:solidFill>
                <a:latin typeface="Crimson Pro Bold" pitchFamily="34" charset="0"/>
                <a:ea typeface="Crimson Pro Bold" pitchFamily="34" charset="-122"/>
                <a:cs typeface="Crimson Pro Bold" pitchFamily="34" charset="-120"/>
              </a:rPr>
              <a:t>In-depth Analysis of Graph-based RAG in a Unified Framework</a:t>
            </a:r>
            <a:endParaRPr lang="en-US" sz="3100" dirty="0"/>
          </a:p>
        </p:txBody>
      </p:sp>
      <p:sp>
        <p:nvSpPr>
          <p:cNvPr id="5" name="Shape 2"/>
          <p:cNvSpPr/>
          <p:nvPr/>
        </p:nvSpPr>
        <p:spPr>
          <a:xfrm>
            <a:off x="4451390" y="3479721"/>
            <a:ext cx="793790" cy="1778556"/>
          </a:xfrm>
          <a:prstGeom prst="roundRect">
            <a:avLst>
              <a:gd name="adj" fmla="val 360049"/>
            </a:avLst>
          </a:prstGeom>
          <a:solidFill>
            <a:srgbClr val="EBE2E0"/>
          </a:solidFill>
          <a:ln w="7620">
            <a:solidFill>
              <a:srgbClr val="D1C8C6"/>
            </a:solidFill>
            <a:prstDash val="solid"/>
          </a:ln>
        </p:spPr>
      </p:sp>
      <p:sp>
        <p:nvSpPr>
          <p:cNvPr id="6" name="Text 3"/>
          <p:cNvSpPr/>
          <p:nvPr/>
        </p:nvSpPr>
        <p:spPr>
          <a:xfrm>
            <a:off x="4699397" y="4182904"/>
            <a:ext cx="297656" cy="372070"/>
          </a:xfrm>
          <a:prstGeom prst="rect">
            <a:avLst/>
          </a:prstGeom>
          <a:noFill/>
          <a:ln/>
        </p:spPr>
        <p:txBody>
          <a:bodyPr wrap="none" lIns="0" tIns="0" rIns="0" bIns="0" rtlCol="0" anchor="t"/>
          <a:lstStyle/>
          <a:p>
            <a:pPr algn="l" indent="0" marL="0">
              <a:lnSpc>
                <a:spcPts val="2300"/>
              </a:lnSpc>
              <a:buNone/>
            </a:pPr>
            <a:r>
              <a:rPr lang="en-US" sz="2300" b="1" dirty="0">
                <a:solidFill>
                  <a:srgbClr val="443728"/>
                </a:solidFill>
                <a:latin typeface="Crimson Pro Bold" pitchFamily="34" charset="0"/>
                <a:ea typeface="Crimson Pro Bold" pitchFamily="34" charset="-122"/>
                <a:cs typeface="Crimson Pro Bold" pitchFamily="34" charset="-120"/>
              </a:rPr>
              <a:t>1</a:t>
            </a:r>
            <a:endParaRPr lang="en-US" sz="2300" dirty="0"/>
          </a:p>
        </p:txBody>
      </p:sp>
      <p:sp>
        <p:nvSpPr>
          <p:cNvPr id="7" name="Text 4"/>
          <p:cNvSpPr/>
          <p:nvPr/>
        </p:nvSpPr>
        <p:spPr>
          <a:xfrm>
            <a:off x="5443538" y="3678079"/>
            <a:ext cx="2480905" cy="310158"/>
          </a:xfrm>
          <a:prstGeom prst="rect">
            <a:avLst/>
          </a:prstGeom>
          <a:noFill/>
          <a:ln/>
        </p:spPr>
        <p:txBody>
          <a:bodyPr wrap="none" lIns="0" tIns="0" rIns="0" bIns="0" rtlCol="0" anchor="t"/>
          <a:lstStyle/>
          <a:p>
            <a:pPr algn="l" indent="0" marL="0">
              <a:lnSpc>
                <a:spcPts val="2400"/>
              </a:lnSpc>
              <a:buNone/>
            </a:pPr>
            <a:r>
              <a:rPr lang="en-US" sz="1950" b="1" dirty="0">
                <a:solidFill>
                  <a:srgbClr val="443728"/>
                </a:solidFill>
                <a:latin typeface="Crimson Pro Bold" pitchFamily="34" charset="0"/>
                <a:ea typeface="Crimson Pro Bold" pitchFamily="34" charset="-122"/>
                <a:cs typeface="Crimson Pro Bold" pitchFamily="34" charset="-120"/>
              </a:rPr>
              <a:t>The Problem</a:t>
            </a:r>
            <a:endParaRPr lang="en-US" sz="1950" dirty="0"/>
          </a:p>
        </p:txBody>
      </p:sp>
      <p:sp>
        <p:nvSpPr>
          <p:cNvPr id="8" name="Text 5"/>
          <p:cNvSpPr/>
          <p:nvPr/>
        </p:nvSpPr>
        <p:spPr>
          <a:xfrm>
            <a:off x="5443538" y="4107299"/>
            <a:ext cx="8393073" cy="952619"/>
          </a:xfrm>
          <a:prstGeom prst="rect">
            <a:avLst/>
          </a:prstGeom>
          <a:noFill/>
          <a:ln/>
        </p:spPr>
        <p:txBody>
          <a:bodyPr wrap="square" lIns="0" tIns="0" rIns="0" bIns="0" rtlCol="0" anchor="t"/>
          <a:lstStyle/>
          <a:p>
            <a:pPr algn="l" indent="0" marL="0">
              <a:lnSpc>
                <a:spcPts val="2500"/>
              </a:lnSpc>
              <a:buNone/>
            </a:pPr>
            <a:r>
              <a:rPr lang="en-US" sz="1550" dirty="0">
                <a:solidFill>
                  <a:srgbClr val="443728"/>
                </a:solidFill>
                <a:latin typeface="Open Sans" pitchFamily="34" charset="0"/>
                <a:ea typeface="Open Sans" pitchFamily="34" charset="-122"/>
                <a:cs typeface="Open Sans" pitchFamily="34" charset="-120"/>
              </a:rPr>
              <a:t>SQL and NoSQL databases are powerful but pose significant querying challenges for non-technical users. Also Existing Text-to-SQL models lack the capability to effectively translate natural language into NoSQL queries.</a:t>
            </a:r>
            <a:endParaRPr lang="en-US" sz="1550" dirty="0"/>
          </a:p>
        </p:txBody>
      </p:sp>
      <p:sp>
        <p:nvSpPr>
          <p:cNvPr id="9" name="Shape 6"/>
          <p:cNvSpPr/>
          <p:nvPr/>
        </p:nvSpPr>
        <p:spPr>
          <a:xfrm>
            <a:off x="4451390" y="5456634"/>
            <a:ext cx="793790" cy="1778556"/>
          </a:xfrm>
          <a:prstGeom prst="roundRect">
            <a:avLst>
              <a:gd name="adj" fmla="val 360049"/>
            </a:avLst>
          </a:prstGeom>
          <a:solidFill>
            <a:srgbClr val="EBE2E0"/>
          </a:solidFill>
          <a:ln w="7620">
            <a:solidFill>
              <a:srgbClr val="D1C8C6"/>
            </a:solidFill>
            <a:prstDash val="solid"/>
          </a:ln>
        </p:spPr>
      </p:sp>
      <p:sp>
        <p:nvSpPr>
          <p:cNvPr id="10" name="Text 7"/>
          <p:cNvSpPr/>
          <p:nvPr/>
        </p:nvSpPr>
        <p:spPr>
          <a:xfrm>
            <a:off x="4699397" y="6159818"/>
            <a:ext cx="297656" cy="372070"/>
          </a:xfrm>
          <a:prstGeom prst="rect">
            <a:avLst/>
          </a:prstGeom>
          <a:noFill/>
          <a:ln/>
        </p:spPr>
        <p:txBody>
          <a:bodyPr wrap="none" lIns="0" tIns="0" rIns="0" bIns="0" rtlCol="0" anchor="t"/>
          <a:lstStyle/>
          <a:p>
            <a:pPr algn="l" indent="0" marL="0">
              <a:lnSpc>
                <a:spcPts val="2300"/>
              </a:lnSpc>
              <a:buNone/>
            </a:pPr>
            <a:r>
              <a:rPr lang="en-US" sz="2300" b="1" dirty="0">
                <a:solidFill>
                  <a:srgbClr val="443728"/>
                </a:solidFill>
                <a:latin typeface="Crimson Pro Bold" pitchFamily="34" charset="0"/>
                <a:ea typeface="Crimson Pro Bold" pitchFamily="34" charset="-122"/>
                <a:cs typeface="Crimson Pro Bold" pitchFamily="34" charset="-120"/>
              </a:rPr>
              <a:t>2</a:t>
            </a:r>
            <a:endParaRPr lang="en-US" sz="2300" dirty="0"/>
          </a:p>
        </p:txBody>
      </p:sp>
      <p:sp>
        <p:nvSpPr>
          <p:cNvPr id="11" name="Text 8"/>
          <p:cNvSpPr/>
          <p:nvPr/>
        </p:nvSpPr>
        <p:spPr>
          <a:xfrm>
            <a:off x="5443538" y="5654993"/>
            <a:ext cx="2480905" cy="310158"/>
          </a:xfrm>
          <a:prstGeom prst="rect">
            <a:avLst/>
          </a:prstGeom>
          <a:noFill/>
          <a:ln/>
        </p:spPr>
        <p:txBody>
          <a:bodyPr wrap="none" lIns="0" tIns="0" rIns="0" bIns="0" rtlCol="0" anchor="t"/>
          <a:lstStyle/>
          <a:p>
            <a:pPr algn="l" indent="0" marL="0">
              <a:lnSpc>
                <a:spcPts val="2400"/>
              </a:lnSpc>
              <a:buNone/>
            </a:pPr>
            <a:r>
              <a:rPr lang="en-US" sz="1950" b="1" dirty="0">
                <a:solidFill>
                  <a:srgbClr val="443728"/>
                </a:solidFill>
                <a:latin typeface="Crimson Pro Bold" pitchFamily="34" charset="0"/>
                <a:ea typeface="Crimson Pro Bold" pitchFamily="34" charset="-122"/>
                <a:cs typeface="Crimson Pro Bold" pitchFamily="34" charset="-120"/>
              </a:rPr>
              <a:t>Proposed Solution</a:t>
            </a:r>
            <a:endParaRPr lang="en-US" sz="1950" dirty="0"/>
          </a:p>
        </p:txBody>
      </p:sp>
      <p:sp>
        <p:nvSpPr>
          <p:cNvPr id="12" name="Text 9"/>
          <p:cNvSpPr/>
          <p:nvPr/>
        </p:nvSpPr>
        <p:spPr>
          <a:xfrm>
            <a:off x="5443538" y="6084213"/>
            <a:ext cx="8393073" cy="952619"/>
          </a:xfrm>
          <a:prstGeom prst="rect">
            <a:avLst/>
          </a:prstGeom>
          <a:noFill/>
          <a:ln/>
        </p:spPr>
        <p:txBody>
          <a:bodyPr wrap="square" lIns="0" tIns="0" rIns="0" bIns="0" rtlCol="0" anchor="t"/>
          <a:lstStyle/>
          <a:p>
            <a:pPr algn="l" indent="0" marL="0">
              <a:lnSpc>
                <a:spcPts val="2500"/>
              </a:lnSpc>
              <a:buNone/>
            </a:pPr>
            <a:r>
              <a:rPr lang="en-US" sz="1550" dirty="0">
                <a:solidFill>
                  <a:srgbClr val="443728"/>
                </a:solidFill>
                <a:latin typeface="Open Sans" pitchFamily="34" charset="0"/>
                <a:ea typeface="Open Sans" pitchFamily="34" charset="-122"/>
                <a:cs typeface="Open Sans" pitchFamily="34" charset="-120"/>
              </a:rPr>
              <a:t>Introduction of a novel Text-to-SQL and  Text-to-NoSQL Translation framework that seamlessly converts user-friendly natural language inputs into precise NoSQL database queries.</a:t>
            </a:r>
            <a:endParaRPr lang="en-US" sz="15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nvSpPr>
        <p:spPr>
          <a:xfrm>
            <a:off x="793790" y="1323856"/>
            <a:ext cx="10102096" cy="620078"/>
          </a:xfrm>
          <a:prstGeom prst="rect">
            <a:avLst/>
          </a:prstGeom>
          <a:noFill/>
          <a:ln/>
        </p:spPr>
        <p:txBody>
          <a:bodyPr wrap="none" lIns="0" tIns="0" rIns="0" bIns="0" rtlCol="0" anchor="t"/>
          <a:lstStyle/>
          <a:p>
            <a:pPr algn="l" indent="0" marL="0">
              <a:lnSpc>
                <a:spcPts val="4850"/>
              </a:lnSpc>
              <a:buNone/>
            </a:pPr>
            <a:r>
              <a:rPr lang="en-US" sz="3900" b="1" dirty="0">
                <a:solidFill>
                  <a:srgbClr val="443728"/>
                </a:solidFill>
                <a:latin typeface="Crimson Pro Bold" pitchFamily="34" charset="0"/>
                <a:ea typeface="Crimson Pro Bold" pitchFamily="34" charset="-122"/>
                <a:cs typeface="Crimson Pro Bold" pitchFamily="34" charset="-120"/>
              </a:rPr>
              <a:t>                               Key Contributions of the Research</a:t>
            </a:r>
            <a:endParaRPr lang="en-US" sz="3900" dirty="0"/>
          </a:p>
        </p:txBody>
      </p:sp>
      <p:sp>
        <p:nvSpPr>
          <p:cNvPr id="3" name="Text 1"/>
          <p:cNvSpPr/>
          <p:nvPr/>
        </p:nvSpPr>
        <p:spPr>
          <a:xfrm>
            <a:off x="2551748" y="2557820"/>
            <a:ext cx="2480905" cy="310158"/>
          </a:xfrm>
          <a:prstGeom prst="rect">
            <a:avLst/>
          </a:prstGeom>
          <a:noFill/>
          <a:ln/>
        </p:spPr>
        <p:txBody>
          <a:bodyPr wrap="none" lIns="0" tIns="0" rIns="0" bIns="0" rtlCol="0" anchor="t"/>
          <a:lstStyle/>
          <a:p>
            <a:pPr algn="r" indent="0" marL="0">
              <a:lnSpc>
                <a:spcPts val="2400"/>
              </a:lnSpc>
              <a:buNone/>
            </a:pPr>
            <a:r>
              <a:rPr lang="en-US" sz="1950" b="1" dirty="0">
                <a:solidFill>
                  <a:srgbClr val="443728"/>
                </a:solidFill>
                <a:latin typeface="Crimson Pro Bold" pitchFamily="34" charset="0"/>
                <a:ea typeface="Crimson Pro Bold" pitchFamily="34" charset="-122"/>
                <a:cs typeface="Crimson Pro Bold" pitchFamily="34" charset="-120"/>
              </a:rPr>
              <a:t>Bird bench Dataset</a:t>
            </a:r>
            <a:endParaRPr lang="en-US" sz="1950" dirty="0"/>
          </a:p>
        </p:txBody>
      </p:sp>
      <p:sp>
        <p:nvSpPr>
          <p:cNvPr id="4" name="Text 2"/>
          <p:cNvSpPr/>
          <p:nvPr/>
        </p:nvSpPr>
        <p:spPr>
          <a:xfrm>
            <a:off x="793790" y="2987040"/>
            <a:ext cx="4238863" cy="1270159"/>
          </a:xfrm>
          <a:prstGeom prst="rect">
            <a:avLst/>
          </a:prstGeom>
          <a:noFill/>
          <a:ln/>
        </p:spPr>
        <p:txBody>
          <a:bodyPr wrap="square" lIns="0" tIns="0" rIns="0" bIns="0" rtlCol="0" anchor="t"/>
          <a:lstStyle/>
          <a:p>
            <a:pPr algn="r" indent="0" marL="0">
              <a:lnSpc>
                <a:spcPts val="2500"/>
              </a:lnSpc>
              <a:buNone/>
            </a:pPr>
            <a:r>
              <a:rPr lang="en-US" sz="1550" dirty="0">
                <a:solidFill>
                  <a:srgbClr val="443728"/>
                </a:solidFill>
                <a:latin typeface="Open Sans" pitchFamily="34" charset="0"/>
                <a:ea typeface="Open Sans" pitchFamily="34" charset="-122"/>
                <a:cs typeface="Open Sans" pitchFamily="34" charset="-120"/>
              </a:rPr>
              <a:t>The first comprehensive benchmark dataset specifically designed for Text-to-NoSQL translation tasks, crucial for training and evaluating models.</a:t>
            </a:r>
            <a:endParaRPr lang="en-US" sz="1550" dirty="0"/>
          </a:p>
        </p:txBody>
      </p:sp>
      <p:pic>
        <p:nvPicPr>
          <p:cNvPr id="5" name="Image 0" descr="preencoded.png">    </p:cNvPr>
          <p:cNvPicPr>
            <a:picLocks noChangeAspect="1"/>
          </p:cNvPicPr>
          <p:nvPr/>
        </p:nvPicPr>
        <p:blipFill>
          <a:blip r:embed="rId1"/>
          <a:stretch>
            <a:fillRect/>
          </a:stretch>
        </p:blipFill>
        <p:spPr>
          <a:xfrm>
            <a:off x="5032653" y="2340769"/>
            <a:ext cx="4564975" cy="4564975"/>
          </a:xfrm>
          <a:prstGeom prst="rect">
            <a:avLst/>
          </a:prstGeom>
        </p:spPr>
      </p:pic>
      <p:pic>
        <p:nvPicPr>
          <p:cNvPr id="6" name="Image 1" descr="preencoded.png">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344305" y="3652421"/>
            <a:ext cx="279083" cy="279083"/>
          </a:xfrm>
          <a:prstGeom prst="rect">
            <a:avLst/>
          </a:prstGeom>
        </p:spPr>
      </p:pic>
      <p:sp>
        <p:nvSpPr>
          <p:cNvPr id="7" name="Text 3"/>
          <p:cNvSpPr/>
          <p:nvPr/>
        </p:nvSpPr>
        <p:spPr>
          <a:xfrm>
            <a:off x="9597628" y="2557820"/>
            <a:ext cx="2480905" cy="310158"/>
          </a:xfrm>
          <a:prstGeom prst="rect">
            <a:avLst/>
          </a:prstGeom>
          <a:noFill/>
          <a:ln/>
        </p:spPr>
        <p:txBody>
          <a:bodyPr wrap="none" lIns="0" tIns="0" rIns="0" bIns="0" rtlCol="0" anchor="t"/>
          <a:lstStyle/>
          <a:p>
            <a:pPr algn="l" indent="0" marL="0">
              <a:lnSpc>
                <a:spcPts val="2400"/>
              </a:lnSpc>
              <a:buNone/>
            </a:pPr>
            <a:r>
              <a:rPr lang="en-US" sz="1950" b="1" dirty="0">
                <a:solidFill>
                  <a:srgbClr val="443728"/>
                </a:solidFill>
                <a:latin typeface="Crimson Pro Bold" pitchFamily="34" charset="0"/>
                <a:ea typeface="Crimson Pro Bold" pitchFamily="34" charset="-122"/>
                <a:cs typeface="Crimson Pro Bold" pitchFamily="34" charset="-120"/>
              </a:rPr>
              <a:t>SMART Framework</a:t>
            </a:r>
            <a:endParaRPr lang="en-US" sz="1950" dirty="0"/>
          </a:p>
        </p:txBody>
      </p:sp>
      <p:sp>
        <p:nvSpPr>
          <p:cNvPr id="8" name="Text 4"/>
          <p:cNvSpPr/>
          <p:nvPr/>
        </p:nvSpPr>
        <p:spPr>
          <a:xfrm>
            <a:off x="9597628" y="2987040"/>
            <a:ext cx="4238982" cy="1270159"/>
          </a:xfrm>
          <a:prstGeom prst="rect">
            <a:avLst/>
          </a:prstGeom>
          <a:noFill/>
          <a:ln/>
        </p:spPr>
        <p:txBody>
          <a:bodyPr wrap="square" lIns="0" tIns="0" rIns="0" bIns="0" rtlCol="0" anchor="t"/>
          <a:lstStyle/>
          <a:p>
            <a:pPr algn="l" indent="0" marL="0">
              <a:lnSpc>
                <a:spcPts val="2500"/>
              </a:lnSpc>
              <a:buNone/>
            </a:pPr>
            <a:r>
              <a:rPr lang="en-US" sz="1550" dirty="0">
                <a:solidFill>
                  <a:srgbClr val="443728"/>
                </a:solidFill>
                <a:latin typeface="Open Sans" pitchFamily="34" charset="0"/>
                <a:ea typeface="Open Sans" pitchFamily="34" charset="-122"/>
                <a:cs typeface="Open Sans" pitchFamily="34" charset="-120"/>
              </a:rPr>
              <a:t>A pioneering framework leveraging Small Language Models (SLMs) combined with Retrieval-Augmented Generation (RAG) to enhance translation accuracy and context.</a:t>
            </a:r>
            <a:endParaRPr lang="en-US" sz="1550" dirty="0"/>
          </a:p>
        </p:txBody>
      </p:sp>
      <p:pic>
        <p:nvPicPr>
          <p:cNvPr id="9" name="Image 2" descr="preencoded.png">    </p:cNvPr>
          <p:cNvPicPr>
            <a:picLocks noChangeAspect="1"/>
          </p:cNvPicPr>
          <p:nvPr/>
        </p:nvPicPr>
        <p:blipFill>
          <a:blip r:embed="rId4"/>
          <a:stretch>
            <a:fillRect/>
          </a:stretch>
        </p:blipFill>
        <p:spPr>
          <a:xfrm>
            <a:off x="5032653" y="2340769"/>
            <a:ext cx="4564975" cy="4564975"/>
          </a:xfrm>
          <a:prstGeom prst="rect">
            <a:avLst/>
          </a:prstGeom>
        </p:spPr>
      </p:pic>
      <p:pic>
        <p:nvPicPr>
          <p:cNvPr id="10" name="Image 3" descr="preencoded.png">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8006655" y="3652421"/>
            <a:ext cx="279083" cy="279083"/>
          </a:xfrm>
          <a:prstGeom prst="rect">
            <a:avLst/>
          </a:prstGeom>
        </p:spPr>
      </p:pic>
      <p:sp>
        <p:nvSpPr>
          <p:cNvPr id="11" name="Text 5"/>
          <p:cNvSpPr/>
          <p:nvPr/>
        </p:nvSpPr>
        <p:spPr>
          <a:xfrm>
            <a:off x="9597628" y="4989195"/>
            <a:ext cx="2515791" cy="310158"/>
          </a:xfrm>
          <a:prstGeom prst="rect">
            <a:avLst/>
          </a:prstGeom>
          <a:noFill/>
          <a:ln/>
        </p:spPr>
        <p:txBody>
          <a:bodyPr wrap="none" lIns="0" tIns="0" rIns="0" bIns="0" rtlCol="0" anchor="t"/>
          <a:lstStyle/>
          <a:p>
            <a:pPr algn="l" indent="0" marL="0">
              <a:lnSpc>
                <a:spcPts val="2400"/>
              </a:lnSpc>
              <a:buNone/>
            </a:pPr>
            <a:r>
              <a:rPr lang="en-US" sz="1950" b="1" dirty="0">
                <a:solidFill>
                  <a:srgbClr val="443728"/>
                </a:solidFill>
                <a:latin typeface="Crimson Pro Bold" pitchFamily="34" charset="0"/>
                <a:ea typeface="Crimson Pro Bold" pitchFamily="34" charset="-122"/>
                <a:cs typeface="Crimson Pro Bold" pitchFamily="34" charset="-120"/>
              </a:rPr>
              <a:t>New Evaluation Metrics</a:t>
            </a:r>
            <a:endParaRPr lang="en-US" sz="1950" dirty="0"/>
          </a:p>
        </p:txBody>
      </p:sp>
      <p:sp>
        <p:nvSpPr>
          <p:cNvPr id="12" name="Text 6"/>
          <p:cNvSpPr/>
          <p:nvPr/>
        </p:nvSpPr>
        <p:spPr>
          <a:xfrm>
            <a:off x="9597628" y="5418415"/>
            <a:ext cx="4238982" cy="1270159"/>
          </a:xfrm>
          <a:prstGeom prst="rect">
            <a:avLst/>
          </a:prstGeom>
          <a:noFill/>
          <a:ln/>
        </p:spPr>
        <p:txBody>
          <a:bodyPr wrap="square" lIns="0" tIns="0" rIns="0" bIns="0" rtlCol="0" anchor="t"/>
          <a:lstStyle/>
          <a:p>
            <a:pPr algn="l" indent="0" marL="0">
              <a:lnSpc>
                <a:spcPts val="2500"/>
              </a:lnSpc>
              <a:buNone/>
            </a:pPr>
            <a:r>
              <a:rPr lang="en-US" sz="1550" dirty="0">
                <a:solidFill>
                  <a:srgbClr val="443728"/>
                </a:solidFill>
                <a:latin typeface="Open Sans" pitchFamily="34" charset="0"/>
                <a:ea typeface="Open Sans" pitchFamily="34" charset="-122"/>
                <a:cs typeface="Open Sans" pitchFamily="34" charset="-120"/>
              </a:rPr>
              <a:t>Development of novel metrics to precisely assess query correctness and execution accuracy for the unique challenges of NoSQL queries.</a:t>
            </a:r>
            <a:endParaRPr lang="en-US" sz="1550" dirty="0"/>
          </a:p>
        </p:txBody>
      </p:sp>
      <p:pic>
        <p:nvPicPr>
          <p:cNvPr id="13" name="Image 4" descr="preencoded.png">    </p:cNvPr>
          <p:cNvPicPr>
            <a:picLocks noChangeAspect="1"/>
          </p:cNvPicPr>
          <p:nvPr/>
        </p:nvPicPr>
        <p:blipFill>
          <a:blip r:embed="rId7"/>
          <a:stretch>
            <a:fillRect/>
          </a:stretch>
        </p:blipFill>
        <p:spPr>
          <a:xfrm>
            <a:off x="5032653" y="2340769"/>
            <a:ext cx="4564975" cy="4564975"/>
          </a:xfrm>
          <a:prstGeom prst="rect">
            <a:avLst/>
          </a:prstGeom>
        </p:spPr>
      </p:pic>
      <p:pic>
        <p:nvPicPr>
          <p:cNvPr id="14" name="Image 5" descr="preencoded.png">    </p:cNvPr>
          <p:cNvPicPr>
            <a:picLocks noChangeAspect="1"/>
          </p:cNvPicPr>
          <p:nvPr/>
        </p:nvPicPr>
        <p:blipFill>
          <a:blip r:embed="rId8">
            <a:extLst>
              <a:ext uri="{96DAC541-7B7A-43D3-8B79-37D633B846F1}">
                <asvg:svgBlip xmlns:asvg="http://schemas.microsoft.com/office/drawing/2016/SVG/main" r:embed="rId9"/>
              </a:ext>
            </a:extLst>
          </a:blip>
          <a:stretch>
            <a:fillRect/>
          </a:stretch>
        </p:blipFill>
        <p:spPr>
          <a:xfrm>
            <a:off x="8006655" y="5314771"/>
            <a:ext cx="279083" cy="279083"/>
          </a:xfrm>
          <a:prstGeom prst="rect">
            <a:avLst/>
          </a:prstGeom>
        </p:spPr>
      </p:pic>
      <p:sp>
        <p:nvSpPr>
          <p:cNvPr id="15" name="Text 7"/>
          <p:cNvSpPr/>
          <p:nvPr/>
        </p:nvSpPr>
        <p:spPr>
          <a:xfrm>
            <a:off x="2551748" y="4989195"/>
            <a:ext cx="2480905" cy="310158"/>
          </a:xfrm>
          <a:prstGeom prst="rect">
            <a:avLst/>
          </a:prstGeom>
          <a:noFill/>
          <a:ln/>
        </p:spPr>
        <p:txBody>
          <a:bodyPr wrap="none" lIns="0" tIns="0" rIns="0" bIns="0" rtlCol="0" anchor="t"/>
          <a:lstStyle/>
          <a:p>
            <a:pPr algn="r" indent="0" marL="0">
              <a:lnSpc>
                <a:spcPts val="2400"/>
              </a:lnSpc>
              <a:buNone/>
            </a:pPr>
            <a:r>
              <a:rPr lang="en-US" sz="1950" b="1" dirty="0">
                <a:solidFill>
                  <a:srgbClr val="443728"/>
                </a:solidFill>
                <a:latin typeface="Crimson Pro Bold" pitchFamily="34" charset="0"/>
                <a:ea typeface="Crimson Pro Bold" pitchFamily="34" charset="-122"/>
                <a:cs typeface="Crimson Pro Bold" pitchFamily="34" charset="-120"/>
              </a:rPr>
              <a:t>Results &amp; Impact</a:t>
            </a:r>
            <a:endParaRPr lang="en-US" sz="1950" dirty="0"/>
          </a:p>
        </p:txBody>
      </p:sp>
      <p:sp>
        <p:nvSpPr>
          <p:cNvPr id="16" name="Text 8"/>
          <p:cNvSpPr/>
          <p:nvPr/>
        </p:nvSpPr>
        <p:spPr>
          <a:xfrm>
            <a:off x="793790" y="5418415"/>
            <a:ext cx="4238863" cy="1270159"/>
          </a:xfrm>
          <a:prstGeom prst="rect">
            <a:avLst/>
          </a:prstGeom>
          <a:noFill/>
          <a:ln/>
        </p:spPr>
        <p:txBody>
          <a:bodyPr wrap="square" lIns="0" tIns="0" rIns="0" bIns="0" rtlCol="0" anchor="t"/>
          <a:lstStyle/>
          <a:p>
            <a:pPr algn="r" indent="0" marL="0">
              <a:lnSpc>
                <a:spcPts val="2500"/>
              </a:lnSpc>
              <a:buNone/>
            </a:pPr>
            <a:r>
              <a:rPr lang="en-US" sz="1550" dirty="0">
                <a:solidFill>
                  <a:srgbClr val="443728"/>
                </a:solidFill>
                <a:latin typeface="Open Sans" pitchFamily="34" charset="0"/>
                <a:ea typeface="Open Sans" pitchFamily="34" charset="-122"/>
                <a:cs typeface="Open Sans" pitchFamily="34" charset="-120"/>
              </a:rPr>
              <a:t>Significant improvements over traditional models in NoSQL query accuracy, paving the way for interactive querying and automated code generation in NoSQL systems.</a:t>
            </a:r>
            <a:endParaRPr lang="en-US" sz="1550" dirty="0"/>
          </a:p>
        </p:txBody>
      </p:sp>
      <p:pic>
        <p:nvPicPr>
          <p:cNvPr id="17" name="Image 6" descr="preencoded.png">    </p:cNvPr>
          <p:cNvPicPr>
            <a:picLocks noChangeAspect="1"/>
          </p:cNvPicPr>
          <p:nvPr/>
        </p:nvPicPr>
        <p:blipFill>
          <a:blip r:embed="rId10"/>
          <a:stretch>
            <a:fillRect/>
          </a:stretch>
        </p:blipFill>
        <p:spPr>
          <a:xfrm>
            <a:off x="5032653" y="2340769"/>
            <a:ext cx="4564975" cy="4564975"/>
          </a:xfrm>
          <a:prstGeom prst="rect">
            <a:avLst/>
          </a:prstGeom>
        </p:spPr>
      </p:pic>
      <p:pic>
        <p:nvPicPr>
          <p:cNvPr id="18" name="Image 7" descr="preencoded.png">    </p:cNvPr>
          <p:cNvPicPr>
            <a:picLocks noChangeAspect="1"/>
          </p:cNvPicPr>
          <p:nvPr/>
        </p:nvPicPr>
        <p:blipFill>
          <a:blip r:embed="rId11">
            <a:extLst>
              <a:ext uri="{96DAC541-7B7A-43D3-8B79-37D633B846F1}">
                <asvg:svgBlip xmlns:asvg="http://schemas.microsoft.com/office/drawing/2016/SVG/main" r:embed="rId12"/>
              </a:ext>
            </a:extLst>
          </a:blip>
          <a:stretch>
            <a:fillRect/>
          </a:stretch>
        </p:blipFill>
        <p:spPr>
          <a:xfrm>
            <a:off x="6344305" y="5314771"/>
            <a:ext cx="279083" cy="279083"/>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7315200" cy="8229600"/>
          </a:xfrm>
          <a:prstGeom prst="rect">
            <a:avLst/>
          </a:prstGeom>
        </p:spPr>
      </p:pic>
      <p:pic>
        <p:nvPicPr>
          <p:cNvPr id="3" name="Image 1" descr="preencoded.png">    </p:cNvPr>
          <p:cNvPicPr>
            <a:picLocks noChangeAspect="1"/>
          </p:cNvPicPr>
          <p:nvPr/>
        </p:nvPicPr>
        <p:blipFill>
          <a:blip r:embed="rId2"/>
          <a:stretch>
            <a:fillRect/>
          </a:stretch>
        </p:blipFill>
        <p:spPr>
          <a:xfrm>
            <a:off x="248126" y="2489597"/>
            <a:ext cx="6818948" cy="3250406"/>
          </a:xfrm>
          <a:prstGeom prst="rect">
            <a:avLst/>
          </a:prstGeom>
        </p:spPr>
      </p:pic>
      <p:sp>
        <p:nvSpPr>
          <p:cNvPr id="4" name="Text 0"/>
          <p:cNvSpPr/>
          <p:nvPr/>
        </p:nvSpPr>
        <p:spPr>
          <a:xfrm>
            <a:off x="8108990" y="1177766"/>
            <a:ext cx="4961811" cy="620078"/>
          </a:xfrm>
          <a:prstGeom prst="rect">
            <a:avLst/>
          </a:prstGeom>
          <a:noFill/>
          <a:ln/>
        </p:spPr>
        <p:txBody>
          <a:bodyPr wrap="none" lIns="0" tIns="0" rIns="0" bIns="0" rtlCol="0" anchor="t"/>
          <a:lstStyle/>
          <a:p>
            <a:pPr algn="l" indent="0" marL="0">
              <a:lnSpc>
                <a:spcPts val="4850"/>
              </a:lnSpc>
              <a:buNone/>
            </a:pPr>
            <a:r>
              <a:rPr lang="en-US" sz="3900" b="1" dirty="0">
                <a:solidFill>
                  <a:srgbClr val="443728"/>
                </a:solidFill>
                <a:latin typeface="Crimson Pro Bold" pitchFamily="34" charset="0"/>
                <a:ea typeface="Crimson Pro Bold" pitchFamily="34" charset="-122"/>
                <a:cs typeface="Crimson Pro Bold" pitchFamily="34" charset="-120"/>
              </a:rPr>
              <a:t>Our Methodology: </a:t>
            </a:r>
            <a:endParaRPr lang="en-US" sz="3900" dirty="0"/>
          </a:p>
        </p:txBody>
      </p:sp>
      <p:sp>
        <p:nvSpPr>
          <p:cNvPr id="5" name="Text 1"/>
          <p:cNvSpPr/>
          <p:nvPr/>
        </p:nvSpPr>
        <p:spPr>
          <a:xfrm>
            <a:off x="8108990" y="1877139"/>
            <a:ext cx="5377577" cy="620078"/>
          </a:xfrm>
          <a:prstGeom prst="rect">
            <a:avLst/>
          </a:prstGeom>
          <a:noFill/>
          <a:ln/>
        </p:spPr>
        <p:txBody>
          <a:bodyPr wrap="none" lIns="0" tIns="0" rIns="0" bIns="0" rtlCol="0" anchor="t"/>
          <a:lstStyle/>
          <a:p>
            <a:pPr algn="l" indent="0" marL="0">
              <a:lnSpc>
                <a:spcPts val="4850"/>
              </a:lnSpc>
              <a:buNone/>
            </a:pPr>
            <a:r>
              <a:rPr lang="en-US" sz="3900" b="1" dirty="0">
                <a:solidFill>
                  <a:srgbClr val="443728"/>
                </a:solidFill>
                <a:latin typeface="Crimson Pro Bold" pitchFamily="34" charset="0"/>
                <a:ea typeface="Crimson Pro Bold" pitchFamily="34" charset="-122"/>
                <a:cs typeface="Crimson Pro Bold" pitchFamily="34" charset="-120"/>
              </a:rPr>
              <a:t>          Graph RAG Approach</a:t>
            </a:r>
            <a:endParaRPr lang="en-US" sz="3900" dirty="0"/>
          </a:p>
        </p:txBody>
      </p:sp>
      <p:sp>
        <p:nvSpPr>
          <p:cNvPr id="6" name="Text 2"/>
          <p:cNvSpPr/>
          <p:nvPr/>
        </p:nvSpPr>
        <p:spPr>
          <a:xfrm>
            <a:off x="8108990" y="2794873"/>
            <a:ext cx="5727621" cy="1905238"/>
          </a:xfrm>
          <a:prstGeom prst="rect">
            <a:avLst/>
          </a:prstGeom>
          <a:noFill/>
          <a:ln/>
        </p:spPr>
        <p:txBody>
          <a:bodyPr wrap="square" lIns="0" tIns="0" rIns="0" bIns="0" rtlCol="0" anchor="t"/>
          <a:lstStyle/>
          <a:p>
            <a:pPr algn="l" indent="0" marL="0">
              <a:lnSpc>
                <a:spcPts val="2500"/>
              </a:lnSpc>
              <a:buNone/>
            </a:pPr>
            <a:r>
              <a:rPr lang="en-US" sz="1550" dirty="0">
                <a:solidFill>
                  <a:srgbClr val="443728"/>
                </a:solidFill>
                <a:latin typeface="Open Sans" pitchFamily="34" charset="0"/>
                <a:ea typeface="Open Sans" pitchFamily="34" charset="-122"/>
                <a:cs typeface="Open Sans" pitchFamily="34" charset="-120"/>
              </a:rPr>
              <a:t>Our project adopts a sophisticated Graph RAG (Retrieval-Augmented Generation) approach to enhance the accuracy and relevance of generated code and queries. This methodology combines the strengths of graph-based data retrieval with advanced language model generation capabilities.</a:t>
            </a:r>
            <a:endParaRPr lang="en-US" sz="1550" dirty="0"/>
          </a:p>
        </p:txBody>
      </p:sp>
      <p:sp>
        <p:nvSpPr>
          <p:cNvPr id="7" name="Text 3"/>
          <p:cNvSpPr/>
          <p:nvPr/>
        </p:nvSpPr>
        <p:spPr>
          <a:xfrm>
            <a:off x="8108990" y="4923353"/>
            <a:ext cx="5727621" cy="1587698"/>
          </a:xfrm>
          <a:prstGeom prst="rect">
            <a:avLst/>
          </a:prstGeom>
          <a:noFill/>
          <a:ln/>
        </p:spPr>
        <p:txBody>
          <a:bodyPr wrap="square" lIns="0" tIns="0" rIns="0" bIns="0" rtlCol="0" anchor="t"/>
          <a:lstStyle/>
          <a:p>
            <a:pPr algn="l" indent="0" marL="0">
              <a:lnSpc>
                <a:spcPts val="2500"/>
              </a:lnSpc>
              <a:buNone/>
            </a:pPr>
            <a:r>
              <a:rPr lang="en-US" sz="1550" dirty="0">
                <a:solidFill>
                  <a:srgbClr val="443728"/>
                </a:solidFill>
                <a:latin typeface="Open Sans" pitchFamily="34" charset="0"/>
                <a:ea typeface="Open Sans" pitchFamily="34" charset="-122"/>
                <a:cs typeface="Open Sans" pitchFamily="34" charset="-120"/>
              </a:rPr>
              <a:t>By integrating contextual information from a graph database, our models can access and synthesize highly relevant data, leading to more precise and domain-specific outputs. This is particularly crucial when dealing with complex database schemas and diverse programming language nuances.</a:t>
            </a:r>
            <a:endParaRPr lang="en-US" sz="1550" dirty="0"/>
          </a:p>
        </p:txBody>
      </p:sp>
      <p:sp>
        <p:nvSpPr>
          <p:cNvPr id="8" name="Text 4"/>
          <p:cNvSpPr/>
          <p:nvPr/>
        </p:nvSpPr>
        <p:spPr>
          <a:xfrm>
            <a:off x="8108990" y="6734294"/>
            <a:ext cx="5727621" cy="317540"/>
          </a:xfrm>
          <a:prstGeom prst="rect">
            <a:avLst/>
          </a:prstGeom>
          <a:noFill/>
          <a:ln/>
        </p:spPr>
        <p:txBody>
          <a:bodyPr wrap="none" lIns="0" tIns="0" rIns="0" bIns="0" rtlCol="0" anchor="t"/>
          <a:lstStyle/>
          <a:p>
            <a:pPr algn="l" indent="0" marL="0">
              <a:lnSpc>
                <a:spcPts val="2500"/>
              </a:lnSpc>
              <a:buNone/>
            </a:pPr>
            <a:endParaRPr lang="en-US" sz="15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nvSpPr>
        <p:spPr>
          <a:xfrm>
            <a:off x="793790" y="1125379"/>
            <a:ext cx="6909078" cy="620078"/>
          </a:xfrm>
          <a:prstGeom prst="rect">
            <a:avLst/>
          </a:prstGeom>
          <a:noFill/>
          <a:ln/>
        </p:spPr>
        <p:txBody>
          <a:bodyPr wrap="none" lIns="0" tIns="0" rIns="0" bIns="0" rtlCol="0" anchor="t"/>
          <a:lstStyle/>
          <a:p>
            <a:pPr algn="l" indent="0" marL="0">
              <a:lnSpc>
                <a:spcPts val="4850"/>
              </a:lnSpc>
              <a:buNone/>
            </a:pPr>
            <a:r>
              <a:rPr lang="en-US" sz="3900" b="1" dirty="0">
                <a:solidFill>
                  <a:srgbClr val="443728"/>
                </a:solidFill>
                <a:latin typeface="Crimson Pro Bold" pitchFamily="34" charset="0"/>
                <a:ea typeface="Crimson Pro Bold" pitchFamily="34" charset="-122"/>
                <a:cs typeface="Crimson Pro Bold" pitchFamily="34" charset="-120"/>
              </a:rPr>
              <a:t>Phase 1: Text-to-SQL Translation</a:t>
            </a:r>
            <a:endParaRPr lang="en-US" sz="3900" dirty="0"/>
          </a:p>
        </p:txBody>
      </p:sp>
      <p:sp>
        <p:nvSpPr>
          <p:cNvPr id="3" name="Text 1"/>
          <p:cNvSpPr/>
          <p:nvPr/>
        </p:nvSpPr>
        <p:spPr>
          <a:xfrm>
            <a:off x="793790" y="2142292"/>
            <a:ext cx="13042821" cy="317540"/>
          </a:xfrm>
          <a:prstGeom prst="rect">
            <a:avLst/>
          </a:prstGeom>
          <a:noFill/>
          <a:ln/>
        </p:spPr>
        <p:txBody>
          <a:bodyPr wrap="none" lIns="0" tIns="0" rIns="0" bIns="0" rtlCol="0" anchor="t"/>
          <a:lstStyle/>
          <a:p>
            <a:pPr algn="l" indent="0" marL="0">
              <a:lnSpc>
                <a:spcPts val="2500"/>
              </a:lnSpc>
              <a:buNone/>
            </a:pPr>
            <a:r>
              <a:rPr lang="en-US" sz="1550" dirty="0">
                <a:solidFill>
                  <a:srgbClr val="443728"/>
                </a:solidFill>
                <a:latin typeface="Open Sans" pitchFamily="34" charset="0"/>
                <a:ea typeface="Open Sans" pitchFamily="34" charset="-122"/>
                <a:cs typeface="Open Sans" pitchFamily="34" charset="-120"/>
              </a:rPr>
              <a:t>The initial phase of our project focused on refining Text-to-SQL translation, a critical step towards handling more complex NoSQL queries.</a:t>
            </a:r>
            <a:endParaRPr lang="en-US" sz="1550" dirty="0"/>
          </a:p>
        </p:txBody>
      </p:sp>
      <p:sp>
        <p:nvSpPr>
          <p:cNvPr id="4" name="Shape 2"/>
          <p:cNvSpPr/>
          <p:nvPr/>
        </p:nvSpPr>
        <p:spPr>
          <a:xfrm>
            <a:off x="793790" y="2683073"/>
            <a:ext cx="6422231" cy="2111335"/>
          </a:xfrm>
          <a:prstGeom prst="roundRect">
            <a:avLst>
              <a:gd name="adj" fmla="val 22561"/>
            </a:avLst>
          </a:prstGeom>
          <a:solidFill>
            <a:srgbClr val="EBE2E0"/>
          </a:solidFill>
          <a:ln w="7620">
            <a:solidFill>
              <a:srgbClr val="D1C8C6"/>
            </a:solidFill>
            <a:prstDash val="solid"/>
          </a:ln>
        </p:spPr>
      </p:sp>
      <p:sp>
        <p:nvSpPr>
          <p:cNvPr id="5" name="Text 3"/>
          <p:cNvSpPr/>
          <p:nvPr/>
        </p:nvSpPr>
        <p:spPr>
          <a:xfrm>
            <a:off x="999768" y="2889052"/>
            <a:ext cx="2480905" cy="310158"/>
          </a:xfrm>
          <a:prstGeom prst="rect">
            <a:avLst/>
          </a:prstGeom>
          <a:noFill/>
          <a:ln/>
        </p:spPr>
        <p:txBody>
          <a:bodyPr wrap="none" lIns="0" tIns="0" rIns="0" bIns="0" rtlCol="0" anchor="t"/>
          <a:lstStyle/>
          <a:p>
            <a:pPr algn="l" indent="0" marL="0">
              <a:lnSpc>
                <a:spcPts val="2400"/>
              </a:lnSpc>
              <a:buNone/>
            </a:pPr>
            <a:r>
              <a:rPr lang="en-US" sz="1950" b="1" dirty="0">
                <a:solidFill>
                  <a:srgbClr val="443728"/>
                </a:solidFill>
                <a:latin typeface="Crimson Pro Bold" pitchFamily="34" charset="0"/>
                <a:ea typeface="Crimson Pro Bold" pitchFamily="34" charset="-122"/>
                <a:cs typeface="Crimson Pro Bold" pitchFamily="34" charset="-120"/>
              </a:rPr>
              <a:t>Dataset: Spider</a:t>
            </a:r>
            <a:endParaRPr lang="en-US" sz="1950" dirty="0"/>
          </a:p>
        </p:txBody>
      </p:sp>
      <p:sp>
        <p:nvSpPr>
          <p:cNvPr id="6" name="Text 4"/>
          <p:cNvSpPr/>
          <p:nvPr/>
        </p:nvSpPr>
        <p:spPr>
          <a:xfrm>
            <a:off x="999768" y="3318272"/>
            <a:ext cx="6010275" cy="1270159"/>
          </a:xfrm>
          <a:prstGeom prst="rect">
            <a:avLst/>
          </a:prstGeom>
          <a:noFill/>
          <a:ln/>
        </p:spPr>
        <p:txBody>
          <a:bodyPr wrap="square" lIns="0" tIns="0" rIns="0" bIns="0" rtlCol="0" anchor="t"/>
          <a:lstStyle/>
          <a:p>
            <a:pPr algn="l" indent="0" marL="0">
              <a:lnSpc>
                <a:spcPts val="2500"/>
              </a:lnSpc>
              <a:buNone/>
            </a:pPr>
            <a:r>
              <a:rPr lang="en-US" sz="1550" dirty="0">
                <a:solidFill>
                  <a:srgbClr val="443728"/>
                </a:solidFill>
                <a:latin typeface="Open Sans" pitchFamily="34" charset="0"/>
                <a:ea typeface="Open Sans" pitchFamily="34" charset="-122"/>
                <a:cs typeface="Open Sans" pitchFamily="34" charset="-120"/>
              </a:rPr>
              <a:t>We utilized the extensive Spider dataset, known for its diversity and complexity, to train and validate our Text-to-SQL models. This dataset provides a robust foundation for evaluating natural language to SQL translation accuracy.</a:t>
            </a:r>
            <a:endParaRPr lang="en-US" sz="1550" dirty="0"/>
          </a:p>
        </p:txBody>
      </p:sp>
      <p:sp>
        <p:nvSpPr>
          <p:cNvPr id="7" name="Shape 5"/>
          <p:cNvSpPr/>
          <p:nvPr/>
        </p:nvSpPr>
        <p:spPr>
          <a:xfrm>
            <a:off x="7414379" y="2683073"/>
            <a:ext cx="6422231" cy="2111335"/>
          </a:xfrm>
          <a:prstGeom prst="roundRect">
            <a:avLst>
              <a:gd name="adj" fmla="val 22561"/>
            </a:avLst>
          </a:prstGeom>
          <a:solidFill>
            <a:srgbClr val="EBE2E0"/>
          </a:solidFill>
          <a:ln w="7620">
            <a:solidFill>
              <a:srgbClr val="D1C8C6"/>
            </a:solidFill>
            <a:prstDash val="solid"/>
          </a:ln>
        </p:spPr>
      </p:sp>
      <p:sp>
        <p:nvSpPr>
          <p:cNvPr id="8" name="Text 6"/>
          <p:cNvSpPr/>
          <p:nvPr/>
        </p:nvSpPr>
        <p:spPr>
          <a:xfrm>
            <a:off x="7620357" y="2889052"/>
            <a:ext cx="2480905" cy="310158"/>
          </a:xfrm>
          <a:prstGeom prst="rect">
            <a:avLst/>
          </a:prstGeom>
          <a:noFill/>
          <a:ln/>
        </p:spPr>
        <p:txBody>
          <a:bodyPr wrap="none" lIns="0" tIns="0" rIns="0" bIns="0" rtlCol="0" anchor="t"/>
          <a:lstStyle/>
          <a:p>
            <a:pPr algn="l" indent="0" marL="0">
              <a:lnSpc>
                <a:spcPts val="2400"/>
              </a:lnSpc>
              <a:buNone/>
            </a:pPr>
            <a:r>
              <a:rPr lang="en-US" sz="1950" b="1" dirty="0">
                <a:solidFill>
                  <a:srgbClr val="443728"/>
                </a:solidFill>
                <a:latin typeface="Crimson Pro Bold" pitchFamily="34" charset="0"/>
                <a:ea typeface="Crimson Pro Bold" pitchFamily="34" charset="-122"/>
                <a:cs typeface="Crimson Pro Bold" pitchFamily="34" charset="-120"/>
              </a:rPr>
              <a:t>Model: Phi-3</a:t>
            </a:r>
            <a:endParaRPr lang="en-US" sz="1950" dirty="0"/>
          </a:p>
        </p:txBody>
      </p:sp>
      <p:sp>
        <p:nvSpPr>
          <p:cNvPr id="9" name="Text 7"/>
          <p:cNvSpPr/>
          <p:nvPr/>
        </p:nvSpPr>
        <p:spPr>
          <a:xfrm>
            <a:off x="7620357" y="3318272"/>
            <a:ext cx="6010275" cy="1270159"/>
          </a:xfrm>
          <a:prstGeom prst="rect">
            <a:avLst/>
          </a:prstGeom>
          <a:noFill/>
          <a:ln/>
        </p:spPr>
        <p:txBody>
          <a:bodyPr wrap="square" lIns="0" tIns="0" rIns="0" bIns="0" rtlCol="0" anchor="t"/>
          <a:lstStyle/>
          <a:p>
            <a:pPr algn="l" indent="0" marL="0">
              <a:lnSpc>
                <a:spcPts val="2500"/>
              </a:lnSpc>
              <a:buNone/>
            </a:pPr>
            <a:r>
              <a:rPr lang="en-US" sz="1550" dirty="0">
                <a:solidFill>
                  <a:srgbClr val="443728"/>
                </a:solidFill>
                <a:latin typeface="Open Sans" pitchFamily="34" charset="0"/>
                <a:ea typeface="Open Sans" pitchFamily="34" charset="-122"/>
                <a:cs typeface="Open Sans" pitchFamily="34" charset="-120"/>
              </a:rPr>
              <a:t>Our base model for this phase was Phi-3, a powerful language model with a considerable parameter count, selected for its strong performance in code generation tasks. The exact number of parameters was optimized during fine-tuning.</a:t>
            </a:r>
            <a:endParaRPr lang="en-US" sz="1550" dirty="0"/>
          </a:p>
        </p:txBody>
      </p:sp>
      <p:sp>
        <p:nvSpPr>
          <p:cNvPr id="10" name="Shape 8"/>
          <p:cNvSpPr/>
          <p:nvPr/>
        </p:nvSpPr>
        <p:spPr>
          <a:xfrm>
            <a:off x="793790" y="4992767"/>
            <a:ext cx="6422231" cy="2111335"/>
          </a:xfrm>
          <a:prstGeom prst="roundRect">
            <a:avLst>
              <a:gd name="adj" fmla="val 22561"/>
            </a:avLst>
          </a:prstGeom>
          <a:solidFill>
            <a:srgbClr val="EBE2E0"/>
          </a:solidFill>
          <a:ln w="7620">
            <a:solidFill>
              <a:srgbClr val="D1C8C6"/>
            </a:solidFill>
            <a:prstDash val="solid"/>
          </a:ln>
        </p:spPr>
      </p:sp>
      <p:sp>
        <p:nvSpPr>
          <p:cNvPr id="11" name="Text 9"/>
          <p:cNvSpPr/>
          <p:nvPr/>
        </p:nvSpPr>
        <p:spPr>
          <a:xfrm>
            <a:off x="999768" y="5198745"/>
            <a:ext cx="2480905" cy="310158"/>
          </a:xfrm>
          <a:prstGeom prst="rect">
            <a:avLst/>
          </a:prstGeom>
          <a:noFill/>
          <a:ln/>
        </p:spPr>
        <p:txBody>
          <a:bodyPr wrap="none" lIns="0" tIns="0" rIns="0" bIns="0" rtlCol="0" anchor="t"/>
          <a:lstStyle/>
          <a:p>
            <a:pPr algn="l" indent="0" marL="0">
              <a:lnSpc>
                <a:spcPts val="2400"/>
              </a:lnSpc>
              <a:buNone/>
            </a:pPr>
            <a:r>
              <a:rPr lang="en-US" sz="1950" b="1" dirty="0">
                <a:solidFill>
                  <a:srgbClr val="443728"/>
                </a:solidFill>
                <a:latin typeface="Crimson Pro Bold" pitchFamily="34" charset="0"/>
                <a:ea typeface="Crimson Pro Bold" pitchFamily="34" charset="-122"/>
                <a:cs typeface="Crimson Pro Bold" pitchFamily="34" charset="-120"/>
              </a:rPr>
              <a:t>Fine-Tuning: Q-LORA</a:t>
            </a:r>
            <a:endParaRPr lang="en-US" sz="1950" dirty="0"/>
          </a:p>
        </p:txBody>
      </p:sp>
      <p:sp>
        <p:nvSpPr>
          <p:cNvPr id="12" name="Text 10"/>
          <p:cNvSpPr/>
          <p:nvPr/>
        </p:nvSpPr>
        <p:spPr>
          <a:xfrm>
            <a:off x="999768" y="5627965"/>
            <a:ext cx="6010275" cy="1270159"/>
          </a:xfrm>
          <a:prstGeom prst="rect">
            <a:avLst/>
          </a:prstGeom>
          <a:noFill/>
          <a:ln/>
        </p:spPr>
        <p:txBody>
          <a:bodyPr wrap="square" lIns="0" tIns="0" rIns="0" bIns="0" rtlCol="0" anchor="t"/>
          <a:lstStyle/>
          <a:p>
            <a:pPr algn="l" indent="0" marL="0">
              <a:lnSpc>
                <a:spcPts val="2500"/>
              </a:lnSpc>
              <a:buNone/>
            </a:pPr>
            <a:r>
              <a:rPr lang="en-US" sz="1550" dirty="0">
                <a:solidFill>
                  <a:srgbClr val="443728"/>
                </a:solidFill>
                <a:latin typeface="Open Sans" pitchFamily="34" charset="0"/>
                <a:ea typeface="Open Sans" pitchFamily="34" charset="-122"/>
                <a:cs typeface="Open Sans" pitchFamily="34" charset="-120"/>
              </a:rPr>
              <a:t>We employed the Q-LORA technique for efficient fine-tuning. This method allows for adapting large models to specific tasks with significantly reduced computational resources, while maintaining high performance.</a:t>
            </a:r>
            <a:endParaRPr lang="en-US" sz="1550" dirty="0"/>
          </a:p>
        </p:txBody>
      </p:sp>
      <p:sp>
        <p:nvSpPr>
          <p:cNvPr id="13" name="Shape 11"/>
          <p:cNvSpPr/>
          <p:nvPr/>
        </p:nvSpPr>
        <p:spPr>
          <a:xfrm>
            <a:off x="7414379" y="4992767"/>
            <a:ext cx="6422231" cy="2111335"/>
          </a:xfrm>
          <a:prstGeom prst="roundRect">
            <a:avLst>
              <a:gd name="adj" fmla="val 22561"/>
            </a:avLst>
          </a:prstGeom>
          <a:solidFill>
            <a:srgbClr val="EBE2E0"/>
          </a:solidFill>
          <a:ln w="7620">
            <a:solidFill>
              <a:srgbClr val="D1C8C6"/>
            </a:solidFill>
            <a:prstDash val="solid"/>
          </a:ln>
        </p:spPr>
      </p:sp>
      <p:sp>
        <p:nvSpPr>
          <p:cNvPr id="14" name="Text 12"/>
          <p:cNvSpPr/>
          <p:nvPr/>
        </p:nvSpPr>
        <p:spPr>
          <a:xfrm>
            <a:off x="7620357" y="5198745"/>
            <a:ext cx="3519607" cy="310158"/>
          </a:xfrm>
          <a:prstGeom prst="rect">
            <a:avLst/>
          </a:prstGeom>
          <a:noFill/>
          <a:ln/>
        </p:spPr>
        <p:txBody>
          <a:bodyPr wrap="none" lIns="0" tIns="0" rIns="0" bIns="0" rtlCol="0" anchor="t"/>
          <a:lstStyle/>
          <a:p>
            <a:pPr algn="l" indent="0" marL="0">
              <a:lnSpc>
                <a:spcPts val="2400"/>
              </a:lnSpc>
              <a:buNone/>
            </a:pPr>
            <a:r>
              <a:rPr lang="en-US" sz="1950" b="1" dirty="0">
                <a:solidFill>
                  <a:srgbClr val="443728"/>
                </a:solidFill>
                <a:latin typeface="Crimson Pro Bold" pitchFamily="34" charset="0"/>
                <a:ea typeface="Crimson Pro Bold" pitchFamily="34" charset="-122"/>
                <a:cs typeface="Crimson Pro Bold" pitchFamily="34" charset="-120"/>
              </a:rPr>
              <a:t>Metrics: Exact Match &amp; Valid SQL</a:t>
            </a:r>
            <a:endParaRPr lang="en-US" sz="1950" dirty="0"/>
          </a:p>
        </p:txBody>
      </p:sp>
      <p:sp>
        <p:nvSpPr>
          <p:cNvPr id="15" name="Text 13"/>
          <p:cNvSpPr/>
          <p:nvPr/>
        </p:nvSpPr>
        <p:spPr>
          <a:xfrm>
            <a:off x="7620357" y="5627965"/>
            <a:ext cx="6010275" cy="1270159"/>
          </a:xfrm>
          <a:prstGeom prst="rect">
            <a:avLst/>
          </a:prstGeom>
          <a:noFill/>
          <a:ln/>
        </p:spPr>
        <p:txBody>
          <a:bodyPr wrap="square" lIns="0" tIns="0" rIns="0" bIns="0" rtlCol="0" anchor="t"/>
          <a:lstStyle/>
          <a:p>
            <a:pPr algn="l" indent="0" marL="0">
              <a:lnSpc>
                <a:spcPts val="2500"/>
              </a:lnSpc>
              <a:buNone/>
            </a:pPr>
            <a:r>
              <a:rPr lang="en-US" sz="1550" dirty="0">
                <a:solidFill>
                  <a:srgbClr val="443728"/>
                </a:solidFill>
                <a:latin typeface="Open Sans" pitchFamily="34" charset="0"/>
                <a:ea typeface="Open Sans" pitchFamily="34" charset="-122"/>
                <a:cs typeface="Open Sans" pitchFamily="34" charset="-120"/>
              </a:rPr>
              <a:t>Performance was rigorously evaluated using two key metrics: Exact Match (EM) to ensure the generated SQL query is identical to the ground truth, and Valid SQL Rate to confirm syntactical correctness and executability.</a:t>
            </a:r>
            <a:endParaRPr lang="en-US" sz="15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nvSpPr>
        <p:spPr>
          <a:xfrm>
            <a:off x="793790" y="1284208"/>
            <a:ext cx="7502128" cy="620078"/>
          </a:xfrm>
          <a:prstGeom prst="rect">
            <a:avLst/>
          </a:prstGeom>
          <a:noFill/>
          <a:ln/>
        </p:spPr>
        <p:txBody>
          <a:bodyPr wrap="none" lIns="0" tIns="0" rIns="0" bIns="0" rtlCol="0" anchor="t"/>
          <a:lstStyle/>
          <a:p>
            <a:pPr algn="l" indent="0" marL="0">
              <a:lnSpc>
                <a:spcPts val="4850"/>
              </a:lnSpc>
              <a:buNone/>
            </a:pPr>
            <a:r>
              <a:rPr lang="en-US" sz="3900" b="1" dirty="0">
                <a:solidFill>
                  <a:srgbClr val="443728"/>
                </a:solidFill>
                <a:latin typeface="Crimson Pro Bold" pitchFamily="34" charset="0"/>
                <a:ea typeface="Crimson Pro Bold" pitchFamily="34" charset="-122"/>
                <a:cs typeface="Crimson Pro Bold" pitchFamily="34" charset="-120"/>
              </a:rPr>
              <a:t>Phase 2: SQL-to-NoSQL Translation</a:t>
            </a:r>
            <a:endParaRPr lang="en-US" sz="3900" dirty="0"/>
          </a:p>
        </p:txBody>
      </p:sp>
      <p:sp>
        <p:nvSpPr>
          <p:cNvPr id="3" name="Text 1"/>
          <p:cNvSpPr/>
          <p:nvPr/>
        </p:nvSpPr>
        <p:spPr>
          <a:xfrm>
            <a:off x="793790" y="2301121"/>
            <a:ext cx="13042821" cy="635079"/>
          </a:xfrm>
          <a:prstGeom prst="rect">
            <a:avLst/>
          </a:prstGeom>
          <a:noFill/>
          <a:ln/>
        </p:spPr>
        <p:txBody>
          <a:bodyPr wrap="square" lIns="0" tIns="0" rIns="0" bIns="0" rtlCol="0" anchor="t"/>
          <a:lstStyle/>
          <a:p>
            <a:pPr algn="l" indent="0" marL="0">
              <a:lnSpc>
                <a:spcPts val="2500"/>
              </a:lnSpc>
              <a:buNone/>
            </a:pPr>
            <a:r>
              <a:rPr lang="en-US" sz="1550" dirty="0">
                <a:solidFill>
                  <a:srgbClr val="443728"/>
                </a:solidFill>
                <a:latin typeface="Open Sans" pitchFamily="34" charset="0"/>
                <a:ea typeface="Open Sans" pitchFamily="34" charset="-122"/>
                <a:cs typeface="Open Sans" pitchFamily="34" charset="-120"/>
              </a:rPr>
              <a:t>Building upon the Text-to-SQL foundation, this phase addresses the unique challenges of converting structured SQL queries into NoSQL equivalents.</a:t>
            </a:r>
            <a:endParaRPr lang="en-US" sz="1550" dirty="0"/>
          </a:p>
        </p:txBody>
      </p:sp>
      <p:sp>
        <p:nvSpPr>
          <p:cNvPr id="4" name="Shape 2"/>
          <p:cNvSpPr/>
          <p:nvPr/>
        </p:nvSpPr>
        <p:spPr>
          <a:xfrm>
            <a:off x="793790" y="3159443"/>
            <a:ext cx="6422231" cy="2111335"/>
          </a:xfrm>
          <a:prstGeom prst="roundRect">
            <a:avLst>
              <a:gd name="adj" fmla="val 22561"/>
            </a:avLst>
          </a:prstGeom>
          <a:solidFill>
            <a:srgbClr val="EBE2E0"/>
          </a:solidFill>
          <a:ln w="7620">
            <a:solidFill>
              <a:srgbClr val="D1C8C6"/>
            </a:solidFill>
            <a:prstDash val="solid"/>
          </a:ln>
        </p:spPr>
      </p:sp>
      <p:sp>
        <p:nvSpPr>
          <p:cNvPr id="5" name="Text 3"/>
          <p:cNvSpPr/>
          <p:nvPr/>
        </p:nvSpPr>
        <p:spPr>
          <a:xfrm>
            <a:off x="999768" y="3365421"/>
            <a:ext cx="2963823" cy="310158"/>
          </a:xfrm>
          <a:prstGeom prst="rect">
            <a:avLst/>
          </a:prstGeom>
          <a:noFill/>
          <a:ln/>
        </p:spPr>
        <p:txBody>
          <a:bodyPr wrap="none" lIns="0" tIns="0" rIns="0" bIns="0" rtlCol="0" anchor="t"/>
          <a:lstStyle/>
          <a:p>
            <a:pPr algn="l" indent="0" marL="0">
              <a:lnSpc>
                <a:spcPts val="2400"/>
              </a:lnSpc>
              <a:buNone/>
            </a:pPr>
            <a:r>
              <a:rPr lang="en-US" sz="1950" b="1" dirty="0">
                <a:solidFill>
                  <a:srgbClr val="443728"/>
                </a:solidFill>
                <a:latin typeface="Crimson Pro Bold" pitchFamily="34" charset="0"/>
                <a:ea typeface="Crimson Pro Bold" pitchFamily="34" charset="-122"/>
                <a:cs typeface="Crimson Pro Bold" pitchFamily="34" charset="-120"/>
              </a:rPr>
              <a:t>Dataset: Curated Bird Bench</a:t>
            </a:r>
            <a:endParaRPr lang="en-US" sz="1950" dirty="0"/>
          </a:p>
        </p:txBody>
      </p:sp>
      <p:sp>
        <p:nvSpPr>
          <p:cNvPr id="6" name="Text 4"/>
          <p:cNvSpPr/>
          <p:nvPr/>
        </p:nvSpPr>
        <p:spPr>
          <a:xfrm>
            <a:off x="999768" y="3794641"/>
            <a:ext cx="6010275" cy="1270159"/>
          </a:xfrm>
          <a:prstGeom prst="rect">
            <a:avLst/>
          </a:prstGeom>
          <a:noFill/>
          <a:ln/>
        </p:spPr>
        <p:txBody>
          <a:bodyPr wrap="square" lIns="0" tIns="0" rIns="0" bIns="0" rtlCol="0" anchor="t"/>
          <a:lstStyle/>
          <a:p>
            <a:pPr algn="l" indent="0" marL="0">
              <a:lnSpc>
                <a:spcPts val="2500"/>
              </a:lnSpc>
              <a:buNone/>
            </a:pPr>
            <a:r>
              <a:rPr lang="en-US" sz="1550" dirty="0">
                <a:solidFill>
                  <a:srgbClr val="443728"/>
                </a:solidFill>
                <a:latin typeface="Open Sans" pitchFamily="34" charset="0"/>
                <a:ea typeface="Open Sans" pitchFamily="34" charset="-122"/>
                <a:cs typeface="Open Sans" pitchFamily="34" charset="-120"/>
              </a:rPr>
              <a:t>To tackle the specific requirements of NoSQL, we curated a specialized dataset, "Bird Bench," designed to represent a wide array of NoSQL schemas and query patterns, ensuring comprehensive model training.</a:t>
            </a:r>
            <a:endParaRPr lang="en-US" sz="1550" dirty="0"/>
          </a:p>
        </p:txBody>
      </p:sp>
      <p:sp>
        <p:nvSpPr>
          <p:cNvPr id="7" name="Shape 5"/>
          <p:cNvSpPr/>
          <p:nvPr/>
        </p:nvSpPr>
        <p:spPr>
          <a:xfrm>
            <a:off x="7414379" y="3159443"/>
            <a:ext cx="6422231" cy="2111335"/>
          </a:xfrm>
          <a:prstGeom prst="roundRect">
            <a:avLst>
              <a:gd name="adj" fmla="val 22561"/>
            </a:avLst>
          </a:prstGeom>
          <a:solidFill>
            <a:srgbClr val="EBE2E0"/>
          </a:solidFill>
          <a:ln w="7620">
            <a:solidFill>
              <a:srgbClr val="D1C8C6"/>
            </a:solidFill>
            <a:prstDash val="solid"/>
          </a:ln>
        </p:spPr>
      </p:sp>
      <p:sp>
        <p:nvSpPr>
          <p:cNvPr id="8" name="Text 6"/>
          <p:cNvSpPr/>
          <p:nvPr/>
        </p:nvSpPr>
        <p:spPr>
          <a:xfrm>
            <a:off x="7620357" y="3365421"/>
            <a:ext cx="2780943" cy="310158"/>
          </a:xfrm>
          <a:prstGeom prst="rect">
            <a:avLst/>
          </a:prstGeom>
          <a:noFill/>
          <a:ln/>
        </p:spPr>
        <p:txBody>
          <a:bodyPr wrap="none" lIns="0" tIns="0" rIns="0" bIns="0" rtlCol="0" anchor="t"/>
          <a:lstStyle/>
          <a:p>
            <a:pPr algn="l" indent="0" marL="0">
              <a:lnSpc>
                <a:spcPts val="2400"/>
              </a:lnSpc>
              <a:buNone/>
            </a:pPr>
            <a:r>
              <a:rPr lang="en-US" sz="1950" b="1" dirty="0">
                <a:solidFill>
                  <a:srgbClr val="443728"/>
                </a:solidFill>
                <a:latin typeface="Crimson Pro Bold" pitchFamily="34" charset="0"/>
                <a:ea typeface="Crimson Pro Bold" pitchFamily="34" charset="-122"/>
                <a:cs typeface="Crimson Pro Bold" pitchFamily="34" charset="-120"/>
              </a:rPr>
              <a:t>Model: Qwen2.5-Coder:3B</a:t>
            </a:r>
            <a:endParaRPr lang="en-US" sz="1950" dirty="0"/>
          </a:p>
        </p:txBody>
      </p:sp>
      <p:sp>
        <p:nvSpPr>
          <p:cNvPr id="9" name="Text 7"/>
          <p:cNvSpPr/>
          <p:nvPr/>
        </p:nvSpPr>
        <p:spPr>
          <a:xfrm>
            <a:off x="7620357" y="3794641"/>
            <a:ext cx="6010275" cy="1270159"/>
          </a:xfrm>
          <a:prstGeom prst="rect">
            <a:avLst/>
          </a:prstGeom>
          <a:noFill/>
          <a:ln/>
        </p:spPr>
        <p:txBody>
          <a:bodyPr wrap="square" lIns="0" tIns="0" rIns="0" bIns="0" rtlCol="0" anchor="t"/>
          <a:lstStyle/>
          <a:p>
            <a:pPr algn="l" indent="0" marL="0">
              <a:lnSpc>
                <a:spcPts val="2500"/>
              </a:lnSpc>
              <a:buNone/>
            </a:pPr>
            <a:r>
              <a:rPr lang="en-US" sz="1550" dirty="0">
                <a:solidFill>
                  <a:srgbClr val="443728"/>
                </a:solidFill>
                <a:latin typeface="Open Sans" pitchFamily="34" charset="0"/>
                <a:ea typeface="Open Sans" pitchFamily="34" charset="-122"/>
                <a:cs typeface="Open Sans" pitchFamily="34" charset="-120"/>
              </a:rPr>
              <a:t>For this translation, we selected Qwen2.5-Coder:3B, a 3-billion parameter model, chosen for its proficiency in code translation and generation tasks, making it ideal for the complexities of NoSQL structures.</a:t>
            </a:r>
            <a:endParaRPr lang="en-US" sz="1550" dirty="0"/>
          </a:p>
        </p:txBody>
      </p:sp>
      <p:sp>
        <p:nvSpPr>
          <p:cNvPr id="10" name="Shape 8"/>
          <p:cNvSpPr/>
          <p:nvPr/>
        </p:nvSpPr>
        <p:spPr>
          <a:xfrm>
            <a:off x="793790" y="5469136"/>
            <a:ext cx="13042821" cy="1476256"/>
          </a:xfrm>
          <a:prstGeom prst="roundRect">
            <a:avLst>
              <a:gd name="adj" fmla="val 32267"/>
            </a:avLst>
          </a:prstGeom>
          <a:solidFill>
            <a:srgbClr val="EBE2E0"/>
          </a:solidFill>
          <a:ln w="7620">
            <a:solidFill>
              <a:srgbClr val="D1C8C6"/>
            </a:solidFill>
            <a:prstDash val="solid"/>
          </a:ln>
        </p:spPr>
      </p:sp>
      <p:sp>
        <p:nvSpPr>
          <p:cNvPr id="11" name="Text 9"/>
          <p:cNvSpPr/>
          <p:nvPr/>
        </p:nvSpPr>
        <p:spPr>
          <a:xfrm>
            <a:off x="999768" y="5675114"/>
            <a:ext cx="3913465" cy="310158"/>
          </a:xfrm>
          <a:prstGeom prst="rect">
            <a:avLst/>
          </a:prstGeom>
          <a:noFill/>
          <a:ln/>
        </p:spPr>
        <p:txBody>
          <a:bodyPr wrap="none" lIns="0" tIns="0" rIns="0" bIns="0" rtlCol="0" anchor="t"/>
          <a:lstStyle/>
          <a:p>
            <a:pPr algn="l" indent="0" marL="0">
              <a:lnSpc>
                <a:spcPts val="2400"/>
              </a:lnSpc>
              <a:buNone/>
            </a:pPr>
            <a:r>
              <a:rPr lang="en-US" sz="1950" b="1" dirty="0">
                <a:solidFill>
                  <a:srgbClr val="443728"/>
                </a:solidFill>
                <a:latin typeface="Crimson Pro Bold" pitchFamily="34" charset="0"/>
                <a:ea typeface="Crimson Pro Bold" pitchFamily="34" charset="-122"/>
                <a:cs typeface="Crimson Pro Bold" pitchFamily="34" charset="-120"/>
              </a:rPr>
              <a:t>Metrics: Exact Match &amp; Valid No-SQL</a:t>
            </a:r>
            <a:endParaRPr lang="en-US" sz="1950" dirty="0"/>
          </a:p>
        </p:txBody>
      </p:sp>
      <p:sp>
        <p:nvSpPr>
          <p:cNvPr id="12" name="Text 10"/>
          <p:cNvSpPr/>
          <p:nvPr/>
        </p:nvSpPr>
        <p:spPr>
          <a:xfrm>
            <a:off x="999768" y="6104334"/>
            <a:ext cx="12630864" cy="635079"/>
          </a:xfrm>
          <a:prstGeom prst="rect">
            <a:avLst/>
          </a:prstGeom>
          <a:noFill/>
          <a:ln/>
        </p:spPr>
        <p:txBody>
          <a:bodyPr wrap="square" lIns="0" tIns="0" rIns="0" bIns="0" rtlCol="0" anchor="t"/>
          <a:lstStyle/>
          <a:p>
            <a:pPr algn="l" indent="0" marL="0">
              <a:lnSpc>
                <a:spcPts val="2500"/>
              </a:lnSpc>
              <a:buNone/>
            </a:pPr>
            <a:r>
              <a:rPr lang="en-US" sz="1550" dirty="0">
                <a:solidFill>
                  <a:srgbClr val="443728"/>
                </a:solidFill>
                <a:latin typeface="Open Sans" pitchFamily="34" charset="0"/>
                <a:ea typeface="Open Sans" pitchFamily="34" charset="-122"/>
                <a:cs typeface="Open Sans" pitchFamily="34" charset="-120"/>
              </a:rPr>
              <a:t>Evaluation maintained strict criteria, using Exact Match and Semantic Validation on Valid SQL Rate to verify the accuracy and functionality of the generated NoSQL queries, ensuring they are both syntactically correct and semantically equivalent.</a:t>
            </a:r>
            <a:endParaRPr lang="en-US" sz="15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nvSpPr>
        <p:spPr>
          <a:xfrm>
            <a:off x="3402449" y="272891"/>
            <a:ext cx="3367088" cy="310158"/>
          </a:xfrm>
          <a:prstGeom prst="rect">
            <a:avLst/>
          </a:prstGeom>
          <a:noFill/>
          <a:ln/>
        </p:spPr>
        <p:txBody>
          <a:bodyPr wrap="none" lIns="0" tIns="0" rIns="0" bIns="0" rtlCol="0" anchor="t"/>
          <a:lstStyle/>
          <a:p>
            <a:pPr algn="l" indent="0" marL="0">
              <a:lnSpc>
                <a:spcPts val="2400"/>
              </a:lnSpc>
              <a:buNone/>
            </a:pPr>
            <a:r>
              <a:rPr lang="en-US" sz="1950" b="1" dirty="0">
                <a:solidFill>
                  <a:srgbClr val="443728"/>
                </a:solidFill>
                <a:latin typeface="Crimson Pro Bold" pitchFamily="34" charset="0"/>
                <a:ea typeface="Crimson Pro Bold" pitchFamily="34" charset="-122"/>
                <a:cs typeface="Crimson Pro Bold" pitchFamily="34" charset="-120"/>
              </a:rPr>
              <a:t>Text-to-SQL: Evaluation Results</a:t>
            </a:r>
            <a:endParaRPr lang="en-US" sz="1950" dirty="0"/>
          </a:p>
        </p:txBody>
      </p:sp>
      <p:sp>
        <p:nvSpPr>
          <p:cNvPr id="3" name="Shape 1"/>
          <p:cNvSpPr/>
          <p:nvPr/>
        </p:nvSpPr>
        <p:spPr>
          <a:xfrm>
            <a:off x="3402449" y="682228"/>
            <a:ext cx="600194" cy="154781"/>
          </a:xfrm>
          <a:prstGeom prst="roundRect">
            <a:avLst>
              <a:gd name="adj" fmla="val 21542"/>
            </a:avLst>
          </a:prstGeom>
          <a:solidFill>
            <a:srgbClr val="EBE2E0"/>
          </a:solidFill>
          <a:ln/>
        </p:spPr>
      </p:sp>
      <p:sp>
        <p:nvSpPr>
          <p:cNvPr id="4" name="Text 2"/>
          <p:cNvSpPr/>
          <p:nvPr/>
        </p:nvSpPr>
        <p:spPr>
          <a:xfrm>
            <a:off x="3461980" y="711994"/>
            <a:ext cx="481132" cy="95250"/>
          </a:xfrm>
          <a:prstGeom prst="rect">
            <a:avLst/>
          </a:prstGeom>
          <a:noFill/>
          <a:ln/>
        </p:spPr>
        <p:txBody>
          <a:bodyPr wrap="none" lIns="0" tIns="0" rIns="0" bIns="0" rtlCol="0" anchor="t"/>
          <a:lstStyle/>
          <a:p>
            <a:pPr algn="l" indent="0" marL="0">
              <a:lnSpc>
                <a:spcPts val="750"/>
              </a:lnSpc>
              <a:buNone/>
            </a:pPr>
            <a:r>
              <a:rPr lang="en-US" sz="600" dirty="0">
                <a:solidFill>
                  <a:srgbClr val="443728"/>
                </a:solidFill>
                <a:latin typeface="Open Sans" pitchFamily="34" charset="0"/>
                <a:ea typeface="Open Sans" pitchFamily="34" charset="-122"/>
                <a:cs typeface="Open Sans" pitchFamily="34" charset="-120"/>
              </a:rPr>
              <a:t>KEY METRICS</a:t>
            </a:r>
            <a:endParaRPr lang="en-US" sz="600" dirty="0"/>
          </a:p>
        </p:txBody>
      </p:sp>
      <p:sp>
        <p:nvSpPr>
          <p:cNvPr id="5" name="Text 3"/>
          <p:cNvSpPr/>
          <p:nvPr/>
        </p:nvSpPr>
        <p:spPr>
          <a:xfrm>
            <a:off x="3402449" y="942261"/>
            <a:ext cx="1909882" cy="327422"/>
          </a:xfrm>
          <a:prstGeom prst="rect">
            <a:avLst/>
          </a:prstGeom>
          <a:noFill/>
          <a:ln/>
        </p:spPr>
        <p:txBody>
          <a:bodyPr wrap="none" lIns="0" tIns="0" rIns="0" bIns="0" rtlCol="0" anchor="t"/>
          <a:lstStyle/>
          <a:p>
            <a:pPr algn="ctr" indent="0" marL="0">
              <a:lnSpc>
                <a:spcPts val="2550"/>
              </a:lnSpc>
              <a:buNone/>
            </a:pPr>
            <a:r>
              <a:rPr lang="en-US" sz="2550" b="1" dirty="0">
                <a:solidFill>
                  <a:srgbClr val="443728"/>
                </a:solidFill>
                <a:latin typeface="Crimson Pro Bold" pitchFamily="34" charset="0"/>
                <a:ea typeface="Crimson Pro Bold" pitchFamily="34" charset="-122"/>
                <a:cs typeface="Crimson Pro Bold" pitchFamily="34" charset="-120"/>
              </a:rPr>
              <a:t>50</a:t>
            </a:r>
            <a:endParaRPr lang="en-US" sz="2550" dirty="0"/>
          </a:p>
        </p:txBody>
      </p:sp>
      <p:sp>
        <p:nvSpPr>
          <p:cNvPr id="6" name="Text 4"/>
          <p:cNvSpPr/>
          <p:nvPr/>
        </p:nvSpPr>
        <p:spPr>
          <a:xfrm>
            <a:off x="3402449" y="1356360"/>
            <a:ext cx="1909882" cy="118943"/>
          </a:xfrm>
          <a:prstGeom prst="rect">
            <a:avLst/>
          </a:prstGeom>
          <a:noFill/>
          <a:ln/>
        </p:spPr>
        <p:txBody>
          <a:bodyPr wrap="none" lIns="0" tIns="0" rIns="0" bIns="0" rtlCol="0" anchor="t"/>
          <a:lstStyle/>
          <a:p>
            <a:pPr algn="ctr" indent="0" marL="0">
              <a:lnSpc>
                <a:spcPts val="900"/>
              </a:lnSpc>
              <a:buNone/>
            </a:pPr>
            <a:r>
              <a:rPr lang="en-US" sz="750" dirty="0">
                <a:solidFill>
                  <a:srgbClr val="443728"/>
                </a:solidFill>
                <a:latin typeface="Open Sans" pitchFamily="34" charset="0"/>
                <a:ea typeface="Open Sans" pitchFamily="34" charset="-122"/>
                <a:cs typeface="Open Sans" pitchFamily="34" charset="-120"/>
              </a:rPr>
              <a:t>Total Queries</a:t>
            </a:r>
            <a:endParaRPr lang="en-US" sz="750" dirty="0"/>
          </a:p>
        </p:txBody>
      </p:sp>
      <p:sp>
        <p:nvSpPr>
          <p:cNvPr id="7" name="Text 5"/>
          <p:cNvSpPr/>
          <p:nvPr/>
        </p:nvSpPr>
        <p:spPr>
          <a:xfrm>
            <a:off x="5374243" y="942261"/>
            <a:ext cx="1910001" cy="327422"/>
          </a:xfrm>
          <a:prstGeom prst="rect">
            <a:avLst/>
          </a:prstGeom>
          <a:noFill/>
          <a:ln/>
        </p:spPr>
        <p:txBody>
          <a:bodyPr wrap="none" lIns="0" tIns="0" rIns="0" bIns="0" rtlCol="0" anchor="t"/>
          <a:lstStyle/>
          <a:p>
            <a:pPr algn="ctr" indent="0" marL="0">
              <a:lnSpc>
                <a:spcPts val="2550"/>
              </a:lnSpc>
              <a:buNone/>
            </a:pPr>
            <a:r>
              <a:rPr lang="en-US" sz="2550" b="1" dirty="0">
                <a:solidFill>
                  <a:srgbClr val="443728"/>
                </a:solidFill>
                <a:latin typeface="Crimson Pro Bold" pitchFamily="34" charset="0"/>
                <a:ea typeface="Crimson Pro Bold" pitchFamily="34" charset="-122"/>
                <a:cs typeface="Crimson Pro Bold" pitchFamily="34" charset="-120"/>
              </a:rPr>
              <a:t>62.33%</a:t>
            </a:r>
            <a:endParaRPr lang="en-US" sz="2550" dirty="0"/>
          </a:p>
        </p:txBody>
      </p:sp>
      <p:sp>
        <p:nvSpPr>
          <p:cNvPr id="8" name="Text 6"/>
          <p:cNvSpPr/>
          <p:nvPr/>
        </p:nvSpPr>
        <p:spPr>
          <a:xfrm>
            <a:off x="5374243" y="1356360"/>
            <a:ext cx="1910001" cy="118943"/>
          </a:xfrm>
          <a:prstGeom prst="rect">
            <a:avLst/>
          </a:prstGeom>
          <a:noFill/>
          <a:ln/>
        </p:spPr>
        <p:txBody>
          <a:bodyPr wrap="none" lIns="0" tIns="0" rIns="0" bIns="0" rtlCol="0" anchor="t"/>
          <a:lstStyle/>
          <a:p>
            <a:pPr algn="ctr" indent="0" marL="0">
              <a:lnSpc>
                <a:spcPts val="900"/>
              </a:lnSpc>
              <a:buNone/>
            </a:pPr>
            <a:r>
              <a:rPr lang="en-US" sz="750" dirty="0">
                <a:solidFill>
                  <a:srgbClr val="443728"/>
                </a:solidFill>
                <a:latin typeface="Open Sans" pitchFamily="34" charset="0"/>
                <a:ea typeface="Open Sans" pitchFamily="34" charset="-122"/>
                <a:cs typeface="Open Sans" pitchFamily="34" charset="-120"/>
              </a:rPr>
              <a:t>Average Similarity Score</a:t>
            </a:r>
            <a:endParaRPr lang="en-US" sz="750" dirty="0"/>
          </a:p>
        </p:txBody>
      </p:sp>
      <p:sp>
        <p:nvSpPr>
          <p:cNvPr id="9" name="Text 7"/>
          <p:cNvSpPr/>
          <p:nvPr/>
        </p:nvSpPr>
        <p:spPr>
          <a:xfrm>
            <a:off x="7346156" y="942261"/>
            <a:ext cx="1909882" cy="327422"/>
          </a:xfrm>
          <a:prstGeom prst="rect">
            <a:avLst/>
          </a:prstGeom>
          <a:noFill/>
          <a:ln/>
        </p:spPr>
        <p:txBody>
          <a:bodyPr wrap="none" lIns="0" tIns="0" rIns="0" bIns="0" rtlCol="0" anchor="t"/>
          <a:lstStyle/>
          <a:p>
            <a:pPr algn="ctr" indent="0" marL="0">
              <a:lnSpc>
                <a:spcPts val="2550"/>
              </a:lnSpc>
              <a:buNone/>
            </a:pPr>
            <a:r>
              <a:rPr lang="en-US" sz="2550" b="1" dirty="0">
                <a:solidFill>
                  <a:srgbClr val="443728"/>
                </a:solidFill>
                <a:latin typeface="Crimson Pro Bold" pitchFamily="34" charset="0"/>
                <a:ea typeface="Crimson Pro Bold" pitchFamily="34" charset="-122"/>
                <a:cs typeface="Crimson Pro Bold" pitchFamily="34" charset="-120"/>
              </a:rPr>
              <a:t>83.80%</a:t>
            </a:r>
            <a:endParaRPr lang="en-US" sz="2550" dirty="0"/>
          </a:p>
        </p:txBody>
      </p:sp>
      <p:sp>
        <p:nvSpPr>
          <p:cNvPr id="10" name="Text 8"/>
          <p:cNvSpPr/>
          <p:nvPr/>
        </p:nvSpPr>
        <p:spPr>
          <a:xfrm>
            <a:off x="7346156" y="1356360"/>
            <a:ext cx="1909882" cy="118943"/>
          </a:xfrm>
          <a:prstGeom prst="rect">
            <a:avLst/>
          </a:prstGeom>
          <a:noFill/>
          <a:ln/>
        </p:spPr>
        <p:txBody>
          <a:bodyPr wrap="none" lIns="0" tIns="0" rIns="0" bIns="0" rtlCol="0" anchor="t"/>
          <a:lstStyle/>
          <a:p>
            <a:pPr algn="ctr" indent="0" marL="0">
              <a:lnSpc>
                <a:spcPts val="900"/>
              </a:lnSpc>
              <a:buNone/>
            </a:pPr>
            <a:r>
              <a:rPr lang="en-US" sz="750" dirty="0">
                <a:solidFill>
                  <a:srgbClr val="443728"/>
                </a:solidFill>
                <a:latin typeface="Open Sans" pitchFamily="34" charset="0"/>
                <a:ea typeface="Open Sans" pitchFamily="34" charset="-122"/>
                <a:cs typeface="Open Sans" pitchFamily="34" charset="-120"/>
              </a:rPr>
              <a:t>Average Component Accuracy</a:t>
            </a:r>
            <a:endParaRPr lang="en-US" sz="750" dirty="0"/>
          </a:p>
        </p:txBody>
      </p:sp>
      <p:sp>
        <p:nvSpPr>
          <p:cNvPr id="11" name="Text 9"/>
          <p:cNvSpPr/>
          <p:nvPr/>
        </p:nvSpPr>
        <p:spPr>
          <a:xfrm>
            <a:off x="9317950" y="942261"/>
            <a:ext cx="1910001" cy="327422"/>
          </a:xfrm>
          <a:prstGeom prst="rect">
            <a:avLst/>
          </a:prstGeom>
          <a:noFill/>
          <a:ln/>
        </p:spPr>
        <p:txBody>
          <a:bodyPr wrap="none" lIns="0" tIns="0" rIns="0" bIns="0" rtlCol="0" anchor="t"/>
          <a:lstStyle/>
          <a:p>
            <a:pPr algn="ctr" indent="0" marL="0">
              <a:lnSpc>
                <a:spcPts val="2550"/>
              </a:lnSpc>
              <a:buNone/>
            </a:pPr>
            <a:r>
              <a:rPr lang="en-US" sz="2550" b="1" dirty="0">
                <a:solidFill>
                  <a:srgbClr val="443728"/>
                </a:solidFill>
                <a:latin typeface="Crimson Pro Bold" pitchFamily="34" charset="0"/>
                <a:ea typeface="Crimson Pro Bold" pitchFamily="34" charset="-122"/>
                <a:cs typeface="Crimson Pro Bold" pitchFamily="34" charset="-120"/>
              </a:rPr>
              <a:t>24.0%</a:t>
            </a:r>
            <a:endParaRPr lang="en-US" sz="2550" dirty="0"/>
          </a:p>
        </p:txBody>
      </p:sp>
      <p:sp>
        <p:nvSpPr>
          <p:cNvPr id="12" name="Text 10"/>
          <p:cNvSpPr/>
          <p:nvPr/>
        </p:nvSpPr>
        <p:spPr>
          <a:xfrm>
            <a:off x="9317950" y="1356360"/>
            <a:ext cx="1910001" cy="118943"/>
          </a:xfrm>
          <a:prstGeom prst="rect">
            <a:avLst/>
          </a:prstGeom>
          <a:noFill/>
          <a:ln/>
        </p:spPr>
        <p:txBody>
          <a:bodyPr wrap="none" lIns="0" tIns="0" rIns="0" bIns="0" rtlCol="0" anchor="t"/>
          <a:lstStyle/>
          <a:p>
            <a:pPr algn="ctr" indent="0" marL="0">
              <a:lnSpc>
                <a:spcPts val="900"/>
              </a:lnSpc>
              <a:buNone/>
            </a:pPr>
            <a:r>
              <a:rPr lang="en-US" sz="750" dirty="0">
                <a:solidFill>
                  <a:srgbClr val="443728"/>
                </a:solidFill>
                <a:latin typeface="Open Sans" pitchFamily="34" charset="0"/>
                <a:ea typeface="Open Sans" pitchFamily="34" charset="-122"/>
                <a:cs typeface="Open Sans" pitchFamily="34" charset="-120"/>
              </a:rPr>
              <a:t>Acceptable Accuracy (Exact + Semantic)</a:t>
            </a:r>
            <a:endParaRPr lang="en-US" sz="750" dirty="0"/>
          </a:p>
        </p:txBody>
      </p:sp>
      <p:sp>
        <p:nvSpPr>
          <p:cNvPr id="13" name="Shape 11"/>
          <p:cNvSpPr/>
          <p:nvPr/>
        </p:nvSpPr>
        <p:spPr>
          <a:xfrm>
            <a:off x="3402449" y="1531025"/>
            <a:ext cx="1075134" cy="154781"/>
          </a:xfrm>
          <a:prstGeom prst="roundRect">
            <a:avLst>
              <a:gd name="adj" fmla="val 21542"/>
            </a:avLst>
          </a:prstGeom>
          <a:solidFill>
            <a:srgbClr val="EBE2E0"/>
          </a:solidFill>
          <a:ln/>
        </p:spPr>
      </p:sp>
      <p:sp>
        <p:nvSpPr>
          <p:cNvPr id="14" name="Text 12"/>
          <p:cNvSpPr/>
          <p:nvPr/>
        </p:nvSpPr>
        <p:spPr>
          <a:xfrm>
            <a:off x="3461980" y="1560790"/>
            <a:ext cx="956072" cy="95250"/>
          </a:xfrm>
          <a:prstGeom prst="rect">
            <a:avLst/>
          </a:prstGeom>
          <a:noFill/>
          <a:ln/>
        </p:spPr>
        <p:txBody>
          <a:bodyPr wrap="none" lIns="0" tIns="0" rIns="0" bIns="0" rtlCol="0" anchor="t"/>
          <a:lstStyle/>
          <a:p>
            <a:pPr algn="l" indent="0" marL="0">
              <a:lnSpc>
                <a:spcPts val="750"/>
              </a:lnSpc>
              <a:buNone/>
            </a:pPr>
            <a:r>
              <a:rPr lang="en-US" sz="600" dirty="0">
                <a:solidFill>
                  <a:srgbClr val="443728"/>
                </a:solidFill>
                <a:latin typeface="Open Sans" pitchFamily="34" charset="0"/>
                <a:ea typeface="Open Sans" pitchFamily="34" charset="-122"/>
                <a:cs typeface="Open Sans" pitchFamily="34" charset="-120"/>
              </a:rPr>
              <a:t>ACCURACY DISTRIBUTION</a:t>
            </a:r>
            <a:endParaRPr lang="en-US" sz="600" dirty="0"/>
          </a:p>
        </p:txBody>
      </p:sp>
      <p:pic>
        <p:nvPicPr>
          <p:cNvPr id="15" name="Image 0" descr="preencoded.png">    </p:cNvPr>
          <p:cNvPicPr>
            <a:picLocks noChangeAspect="1"/>
          </p:cNvPicPr>
          <p:nvPr/>
        </p:nvPicPr>
        <p:blipFill>
          <a:blip r:embed="rId1"/>
          <a:stretch>
            <a:fillRect/>
          </a:stretch>
        </p:blipFill>
        <p:spPr>
          <a:xfrm>
            <a:off x="3402449" y="1741527"/>
            <a:ext cx="7825502" cy="4000976"/>
          </a:xfrm>
          <a:prstGeom prst="rect">
            <a:avLst/>
          </a:prstGeom>
        </p:spPr>
      </p:pic>
      <p:sp>
        <p:nvSpPr>
          <p:cNvPr id="16" name="Shape 13"/>
          <p:cNvSpPr/>
          <p:nvPr/>
        </p:nvSpPr>
        <p:spPr>
          <a:xfrm>
            <a:off x="3402449" y="5772983"/>
            <a:ext cx="99179" cy="99179"/>
          </a:xfrm>
          <a:prstGeom prst="roundRect">
            <a:avLst>
              <a:gd name="adj" fmla="val 18439"/>
            </a:avLst>
          </a:prstGeom>
          <a:solidFill>
            <a:srgbClr val="2F211E"/>
          </a:solidFill>
          <a:ln/>
        </p:spPr>
      </p:sp>
      <p:sp>
        <p:nvSpPr>
          <p:cNvPr id="17" name="Text 14"/>
          <p:cNvSpPr/>
          <p:nvPr/>
        </p:nvSpPr>
        <p:spPr>
          <a:xfrm>
            <a:off x="3562588" y="5772983"/>
            <a:ext cx="1040249" cy="99179"/>
          </a:xfrm>
          <a:prstGeom prst="rect">
            <a:avLst/>
          </a:prstGeom>
          <a:noFill/>
          <a:ln/>
        </p:spPr>
        <p:txBody>
          <a:bodyPr wrap="none" lIns="0" tIns="0" rIns="0" bIns="0" rtlCol="0" anchor="t"/>
          <a:lstStyle/>
          <a:p>
            <a:pPr algn="l" indent="0" marL="0">
              <a:lnSpc>
                <a:spcPts val="750"/>
              </a:lnSpc>
              <a:buNone/>
            </a:pPr>
            <a:r>
              <a:rPr lang="en-US" sz="750" dirty="0">
                <a:solidFill>
                  <a:srgbClr val="443728"/>
                </a:solidFill>
                <a:latin typeface="Open Sans" pitchFamily="34" charset="0"/>
                <a:ea typeface="Open Sans" pitchFamily="34" charset="-122"/>
                <a:cs typeface="Open Sans" pitchFamily="34" charset="-120"/>
              </a:rPr>
              <a:t>EXACT_MATCH (14.0%)</a:t>
            </a:r>
            <a:endParaRPr lang="en-US" sz="750" dirty="0"/>
          </a:p>
        </p:txBody>
      </p:sp>
      <p:sp>
        <p:nvSpPr>
          <p:cNvPr id="18" name="Shape 15"/>
          <p:cNvSpPr/>
          <p:nvPr/>
        </p:nvSpPr>
        <p:spPr>
          <a:xfrm>
            <a:off x="5396865" y="5772983"/>
            <a:ext cx="99179" cy="99179"/>
          </a:xfrm>
          <a:prstGeom prst="roundRect">
            <a:avLst>
              <a:gd name="adj" fmla="val 18439"/>
            </a:avLst>
          </a:prstGeom>
          <a:solidFill>
            <a:srgbClr val="5B413A"/>
          </a:solidFill>
          <a:ln/>
        </p:spPr>
      </p:sp>
      <p:sp>
        <p:nvSpPr>
          <p:cNvPr id="19" name="Text 16"/>
          <p:cNvSpPr/>
          <p:nvPr/>
        </p:nvSpPr>
        <p:spPr>
          <a:xfrm>
            <a:off x="5557004" y="5772983"/>
            <a:ext cx="1582936" cy="99179"/>
          </a:xfrm>
          <a:prstGeom prst="rect">
            <a:avLst/>
          </a:prstGeom>
          <a:noFill/>
          <a:ln/>
        </p:spPr>
        <p:txBody>
          <a:bodyPr wrap="none" lIns="0" tIns="0" rIns="0" bIns="0" rtlCol="0" anchor="t"/>
          <a:lstStyle/>
          <a:p>
            <a:pPr algn="l" indent="0" marL="0">
              <a:lnSpc>
                <a:spcPts val="750"/>
              </a:lnSpc>
              <a:buNone/>
            </a:pPr>
            <a:r>
              <a:rPr lang="en-US" sz="750" dirty="0">
                <a:solidFill>
                  <a:srgbClr val="443728"/>
                </a:solidFill>
                <a:latin typeface="Open Sans" pitchFamily="34" charset="0"/>
                <a:ea typeface="Open Sans" pitchFamily="34" charset="-122"/>
                <a:cs typeface="Open Sans" pitchFamily="34" charset="-120"/>
              </a:rPr>
              <a:t>SEMANTICALLY_EQUIVALENT (10...</a:t>
            </a:r>
            <a:endParaRPr lang="en-US" sz="750" dirty="0"/>
          </a:p>
        </p:txBody>
      </p:sp>
      <p:sp>
        <p:nvSpPr>
          <p:cNvPr id="20" name="Shape 17"/>
          <p:cNvSpPr/>
          <p:nvPr/>
        </p:nvSpPr>
        <p:spPr>
          <a:xfrm>
            <a:off x="7391400" y="5772983"/>
            <a:ext cx="99179" cy="99179"/>
          </a:xfrm>
          <a:prstGeom prst="roundRect">
            <a:avLst>
              <a:gd name="adj" fmla="val 18439"/>
            </a:avLst>
          </a:prstGeom>
          <a:solidFill>
            <a:srgbClr val="876156"/>
          </a:solidFill>
          <a:ln/>
        </p:spPr>
      </p:sp>
      <p:sp>
        <p:nvSpPr>
          <p:cNvPr id="21" name="Text 18"/>
          <p:cNvSpPr/>
          <p:nvPr/>
        </p:nvSpPr>
        <p:spPr>
          <a:xfrm>
            <a:off x="7551539" y="5772983"/>
            <a:ext cx="1356003" cy="99179"/>
          </a:xfrm>
          <a:prstGeom prst="rect">
            <a:avLst/>
          </a:prstGeom>
          <a:noFill/>
          <a:ln/>
        </p:spPr>
        <p:txBody>
          <a:bodyPr wrap="none" lIns="0" tIns="0" rIns="0" bIns="0" rtlCol="0" anchor="t"/>
          <a:lstStyle/>
          <a:p>
            <a:pPr algn="l" indent="0" marL="0">
              <a:lnSpc>
                <a:spcPts val="750"/>
              </a:lnSpc>
              <a:buNone/>
            </a:pPr>
            <a:r>
              <a:rPr lang="en-US" sz="750" dirty="0">
                <a:solidFill>
                  <a:srgbClr val="443728"/>
                </a:solidFill>
                <a:latin typeface="Open Sans" pitchFamily="34" charset="0"/>
                <a:ea typeface="Open Sans" pitchFamily="34" charset="-122"/>
                <a:cs typeface="Open Sans" pitchFamily="34" charset="-120"/>
              </a:rPr>
              <a:t>MINOR_DIFFERENCES (16.0%)</a:t>
            </a:r>
            <a:endParaRPr lang="en-US" sz="750" dirty="0"/>
          </a:p>
        </p:txBody>
      </p:sp>
      <p:sp>
        <p:nvSpPr>
          <p:cNvPr id="22" name="Shape 19"/>
          <p:cNvSpPr/>
          <p:nvPr/>
        </p:nvSpPr>
        <p:spPr>
          <a:xfrm>
            <a:off x="9385816" y="5772983"/>
            <a:ext cx="99179" cy="99179"/>
          </a:xfrm>
          <a:prstGeom prst="roundRect">
            <a:avLst>
              <a:gd name="adj" fmla="val 18439"/>
            </a:avLst>
          </a:prstGeom>
          <a:solidFill>
            <a:srgbClr val="AB857B"/>
          </a:solidFill>
          <a:ln/>
        </p:spPr>
      </p:sp>
      <p:sp>
        <p:nvSpPr>
          <p:cNvPr id="23" name="Text 20"/>
          <p:cNvSpPr/>
          <p:nvPr/>
        </p:nvSpPr>
        <p:spPr>
          <a:xfrm>
            <a:off x="9545955" y="5772983"/>
            <a:ext cx="1342906" cy="99179"/>
          </a:xfrm>
          <a:prstGeom prst="rect">
            <a:avLst/>
          </a:prstGeom>
          <a:noFill/>
          <a:ln/>
        </p:spPr>
        <p:txBody>
          <a:bodyPr wrap="none" lIns="0" tIns="0" rIns="0" bIns="0" rtlCol="0" anchor="t"/>
          <a:lstStyle/>
          <a:p>
            <a:pPr algn="l" indent="0" marL="0">
              <a:lnSpc>
                <a:spcPts val="750"/>
              </a:lnSpc>
              <a:buNone/>
            </a:pPr>
            <a:r>
              <a:rPr lang="en-US" sz="750" dirty="0">
                <a:solidFill>
                  <a:srgbClr val="443728"/>
                </a:solidFill>
                <a:latin typeface="Open Sans" pitchFamily="34" charset="0"/>
                <a:ea typeface="Open Sans" pitchFamily="34" charset="-122"/>
                <a:cs typeface="Open Sans" pitchFamily="34" charset="-120"/>
              </a:rPr>
              <a:t>MAJOR_DIFFERENCES (26.0%)</a:t>
            </a:r>
            <a:endParaRPr lang="en-US" sz="750" dirty="0"/>
          </a:p>
        </p:txBody>
      </p:sp>
      <p:sp>
        <p:nvSpPr>
          <p:cNvPr id="24" name="Shape 21"/>
          <p:cNvSpPr/>
          <p:nvPr/>
        </p:nvSpPr>
        <p:spPr>
          <a:xfrm>
            <a:off x="3402449" y="6024563"/>
            <a:ext cx="99179" cy="99179"/>
          </a:xfrm>
          <a:prstGeom prst="roundRect">
            <a:avLst>
              <a:gd name="adj" fmla="val 18439"/>
            </a:avLst>
          </a:prstGeom>
          <a:solidFill>
            <a:srgbClr val="C7AEA7"/>
          </a:solidFill>
          <a:ln/>
        </p:spPr>
      </p:sp>
      <p:sp>
        <p:nvSpPr>
          <p:cNvPr id="25" name="Text 22"/>
          <p:cNvSpPr/>
          <p:nvPr/>
        </p:nvSpPr>
        <p:spPr>
          <a:xfrm>
            <a:off x="3562588" y="6024563"/>
            <a:ext cx="899160" cy="99179"/>
          </a:xfrm>
          <a:prstGeom prst="rect">
            <a:avLst/>
          </a:prstGeom>
          <a:noFill/>
          <a:ln/>
        </p:spPr>
        <p:txBody>
          <a:bodyPr wrap="none" lIns="0" tIns="0" rIns="0" bIns="0" rtlCol="0" anchor="t"/>
          <a:lstStyle/>
          <a:p>
            <a:pPr algn="l" indent="0" marL="0">
              <a:lnSpc>
                <a:spcPts val="750"/>
              </a:lnSpc>
              <a:buNone/>
            </a:pPr>
            <a:r>
              <a:rPr lang="en-US" sz="750" dirty="0">
                <a:solidFill>
                  <a:srgbClr val="443728"/>
                </a:solidFill>
                <a:latin typeface="Open Sans" pitchFamily="34" charset="0"/>
                <a:ea typeface="Open Sans" pitchFamily="34" charset="-122"/>
                <a:cs typeface="Open Sans" pitchFamily="34" charset="-120"/>
              </a:rPr>
              <a:t>INCORRECT (34.0%)</a:t>
            </a:r>
            <a:endParaRPr lang="en-US" sz="750" dirty="0"/>
          </a:p>
        </p:txBody>
      </p:sp>
      <p:sp>
        <p:nvSpPr>
          <p:cNvPr id="26" name="Text 23"/>
          <p:cNvSpPr/>
          <p:nvPr/>
        </p:nvSpPr>
        <p:spPr>
          <a:xfrm>
            <a:off x="3402449" y="6179463"/>
            <a:ext cx="7825502" cy="118943"/>
          </a:xfrm>
          <a:prstGeom prst="rect">
            <a:avLst/>
          </a:prstGeom>
          <a:noFill/>
          <a:ln/>
        </p:spPr>
        <p:txBody>
          <a:bodyPr wrap="none" lIns="0" tIns="0" rIns="0" bIns="0" rtlCol="0" anchor="t"/>
          <a:lstStyle/>
          <a:p>
            <a:pPr algn="l" indent="0" marL="0">
              <a:lnSpc>
                <a:spcPts val="900"/>
              </a:lnSpc>
              <a:buNone/>
            </a:pPr>
            <a:r>
              <a:rPr lang="en-US" sz="750" dirty="0">
                <a:solidFill>
                  <a:srgbClr val="443728"/>
                </a:solidFill>
                <a:latin typeface="Open Sans" pitchFamily="34" charset="0"/>
                <a:ea typeface="Open Sans" pitchFamily="34" charset="-122"/>
                <a:cs typeface="Open Sans" pitchFamily="34" charset="-120"/>
              </a:rPr>
              <a:t>This pie chart illustrates the distribution of accuracy levels across 50 Text-to-SQL queries, highlighting areas for improvement.</a:t>
            </a:r>
            <a:endParaRPr lang="en-US" sz="750" dirty="0"/>
          </a:p>
        </p:txBody>
      </p:sp>
      <p:sp>
        <p:nvSpPr>
          <p:cNvPr id="27" name="Shape 24"/>
          <p:cNvSpPr/>
          <p:nvPr/>
        </p:nvSpPr>
        <p:spPr>
          <a:xfrm>
            <a:off x="3402449" y="6354128"/>
            <a:ext cx="1556028" cy="154781"/>
          </a:xfrm>
          <a:prstGeom prst="roundRect">
            <a:avLst>
              <a:gd name="adj" fmla="val 21542"/>
            </a:avLst>
          </a:prstGeom>
          <a:solidFill>
            <a:srgbClr val="EBE2E0"/>
          </a:solidFill>
          <a:ln/>
        </p:spPr>
      </p:sp>
      <p:sp>
        <p:nvSpPr>
          <p:cNvPr id="28" name="Text 25"/>
          <p:cNvSpPr/>
          <p:nvPr/>
        </p:nvSpPr>
        <p:spPr>
          <a:xfrm>
            <a:off x="3461980" y="6383893"/>
            <a:ext cx="1436965" cy="95250"/>
          </a:xfrm>
          <a:prstGeom prst="rect">
            <a:avLst/>
          </a:prstGeom>
          <a:noFill/>
          <a:ln/>
        </p:spPr>
        <p:txBody>
          <a:bodyPr wrap="none" lIns="0" tIns="0" rIns="0" bIns="0" rtlCol="0" anchor="t"/>
          <a:lstStyle/>
          <a:p>
            <a:pPr algn="l" indent="0" marL="0">
              <a:lnSpc>
                <a:spcPts val="750"/>
              </a:lnSpc>
              <a:buNone/>
            </a:pPr>
            <a:r>
              <a:rPr lang="en-US" sz="600" dirty="0">
                <a:solidFill>
                  <a:srgbClr val="443728"/>
                </a:solidFill>
                <a:latin typeface="Open Sans" pitchFamily="34" charset="0"/>
                <a:ea typeface="Open Sans" pitchFamily="34" charset="-122"/>
                <a:cs typeface="Open Sans" pitchFamily="34" charset="-120"/>
              </a:rPr>
              <a:t>COMPONENT ACCURACY BREAKDOWN</a:t>
            </a:r>
            <a:endParaRPr lang="en-US" sz="600" dirty="0"/>
          </a:p>
        </p:txBody>
      </p:sp>
      <p:pic>
        <p:nvPicPr>
          <p:cNvPr id="29" name="Image 1" descr="preencoded.png">    </p:cNvPr>
          <p:cNvPicPr>
            <a:picLocks noChangeAspect="1"/>
          </p:cNvPicPr>
          <p:nvPr/>
        </p:nvPicPr>
        <p:blipFill>
          <a:blip r:embed="rId2"/>
          <a:stretch>
            <a:fillRect/>
          </a:stretch>
        </p:blipFill>
        <p:spPr>
          <a:xfrm>
            <a:off x="3402449" y="6564630"/>
            <a:ext cx="7825502" cy="4382214"/>
          </a:xfrm>
          <a:prstGeom prst="rect">
            <a:avLst/>
          </a:prstGeom>
        </p:spPr>
      </p:pic>
      <p:sp>
        <p:nvSpPr>
          <p:cNvPr id="30" name="Text 26"/>
          <p:cNvSpPr/>
          <p:nvPr/>
        </p:nvSpPr>
        <p:spPr>
          <a:xfrm>
            <a:off x="3402449" y="11002566"/>
            <a:ext cx="7825502" cy="237887"/>
          </a:xfrm>
          <a:prstGeom prst="rect">
            <a:avLst/>
          </a:prstGeom>
          <a:noFill/>
          <a:ln/>
        </p:spPr>
        <p:txBody>
          <a:bodyPr wrap="square" lIns="0" tIns="0" rIns="0" bIns="0" rtlCol="0" anchor="t"/>
          <a:lstStyle/>
          <a:p>
            <a:pPr algn="l" indent="0" marL="0">
              <a:lnSpc>
                <a:spcPts val="900"/>
              </a:lnSpc>
              <a:buNone/>
            </a:pPr>
            <a:r>
              <a:rPr lang="en-US" sz="750" dirty="0">
                <a:solidFill>
                  <a:srgbClr val="443728"/>
                </a:solidFill>
                <a:latin typeface="Open Sans" pitchFamily="34" charset="0"/>
                <a:ea typeface="Open Sans" pitchFamily="34" charset="-122"/>
                <a:cs typeface="Open Sans" pitchFamily="34" charset="-120"/>
              </a:rPr>
              <a:t>This bar chart details the accuracy percentages for the top 10 SQL components, indicating strong performance in basic constructs like Select and From, but room for improvement in more complex elements like Joins and Table recognition.</a:t>
            </a:r>
            <a:endParaRPr lang="en-US" sz="7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nvSpPr>
        <p:spPr>
          <a:xfrm>
            <a:off x="3402449" y="272891"/>
            <a:ext cx="2792135" cy="310158"/>
          </a:xfrm>
          <a:prstGeom prst="rect">
            <a:avLst/>
          </a:prstGeom>
          <a:noFill/>
          <a:ln/>
        </p:spPr>
        <p:txBody>
          <a:bodyPr wrap="none" lIns="0" tIns="0" rIns="0" bIns="0" rtlCol="0" anchor="t"/>
          <a:lstStyle/>
          <a:p>
            <a:pPr algn="l" indent="0" marL="0">
              <a:lnSpc>
                <a:spcPts val="2400"/>
              </a:lnSpc>
              <a:buNone/>
            </a:pPr>
            <a:r>
              <a:rPr lang="en-US" sz="1950" b="1" dirty="0">
                <a:solidFill>
                  <a:srgbClr val="443728"/>
                </a:solidFill>
                <a:latin typeface="Crimson Pro Bold" pitchFamily="34" charset="0"/>
                <a:ea typeface="Crimson Pro Bold" pitchFamily="34" charset="-122"/>
                <a:cs typeface="Crimson Pro Bold" pitchFamily="34" charset="-120"/>
              </a:rPr>
              <a:t>NoSQL: Evaluation Results</a:t>
            </a:r>
            <a:endParaRPr lang="en-US" sz="1950" dirty="0"/>
          </a:p>
        </p:txBody>
      </p:sp>
      <p:sp>
        <p:nvSpPr>
          <p:cNvPr id="3" name="Shape 1"/>
          <p:cNvSpPr/>
          <p:nvPr/>
        </p:nvSpPr>
        <p:spPr>
          <a:xfrm>
            <a:off x="3402449" y="682228"/>
            <a:ext cx="600194" cy="154781"/>
          </a:xfrm>
          <a:prstGeom prst="roundRect">
            <a:avLst>
              <a:gd name="adj" fmla="val 21542"/>
            </a:avLst>
          </a:prstGeom>
          <a:solidFill>
            <a:srgbClr val="EBE2E0"/>
          </a:solidFill>
          <a:ln/>
        </p:spPr>
      </p:sp>
      <p:sp>
        <p:nvSpPr>
          <p:cNvPr id="4" name="Text 2"/>
          <p:cNvSpPr/>
          <p:nvPr/>
        </p:nvSpPr>
        <p:spPr>
          <a:xfrm>
            <a:off x="3461980" y="711994"/>
            <a:ext cx="481132" cy="95250"/>
          </a:xfrm>
          <a:prstGeom prst="rect">
            <a:avLst/>
          </a:prstGeom>
          <a:noFill/>
          <a:ln/>
        </p:spPr>
        <p:txBody>
          <a:bodyPr wrap="none" lIns="0" tIns="0" rIns="0" bIns="0" rtlCol="0" anchor="t"/>
          <a:lstStyle/>
          <a:p>
            <a:pPr algn="l" indent="0" marL="0">
              <a:lnSpc>
                <a:spcPts val="750"/>
              </a:lnSpc>
              <a:buNone/>
            </a:pPr>
            <a:r>
              <a:rPr lang="en-US" sz="600" dirty="0">
                <a:solidFill>
                  <a:srgbClr val="443728"/>
                </a:solidFill>
                <a:latin typeface="Open Sans" pitchFamily="34" charset="0"/>
                <a:ea typeface="Open Sans" pitchFamily="34" charset="-122"/>
                <a:cs typeface="Open Sans" pitchFamily="34" charset="-120"/>
              </a:rPr>
              <a:t>KEY METRICS</a:t>
            </a:r>
            <a:endParaRPr lang="en-US" sz="600" dirty="0"/>
          </a:p>
        </p:txBody>
      </p:sp>
      <p:sp>
        <p:nvSpPr>
          <p:cNvPr id="5" name="Text 3"/>
          <p:cNvSpPr/>
          <p:nvPr/>
        </p:nvSpPr>
        <p:spPr>
          <a:xfrm>
            <a:off x="3402449" y="942261"/>
            <a:ext cx="1909882" cy="327422"/>
          </a:xfrm>
          <a:prstGeom prst="rect">
            <a:avLst/>
          </a:prstGeom>
          <a:noFill/>
          <a:ln/>
        </p:spPr>
        <p:txBody>
          <a:bodyPr wrap="none" lIns="0" tIns="0" rIns="0" bIns="0" rtlCol="0" anchor="t"/>
          <a:lstStyle/>
          <a:p>
            <a:pPr algn="ctr" indent="0" marL="0">
              <a:lnSpc>
                <a:spcPts val="2550"/>
              </a:lnSpc>
              <a:buNone/>
            </a:pPr>
            <a:r>
              <a:rPr lang="en-US" sz="2550" b="1" dirty="0">
                <a:solidFill>
                  <a:srgbClr val="443728"/>
                </a:solidFill>
                <a:latin typeface="Crimson Pro Bold" pitchFamily="34" charset="0"/>
                <a:ea typeface="Crimson Pro Bold" pitchFamily="34" charset="-122"/>
                <a:cs typeface="Crimson Pro Bold" pitchFamily="34" charset="-120"/>
              </a:rPr>
              <a:t>50</a:t>
            </a:r>
            <a:endParaRPr lang="en-US" sz="2550" dirty="0"/>
          </a:p>
        </p:txBody>
      </p:sp>
      <p:sp>
        <p:nvSpPr>
          <p:cNvPr id="6" name="Text 4"/>
          <p:cNvSpPr/>
          <p:nvPr/>
        </p:nvSpPr>
        <p:spPr>
          <a:xfrm>
            <a:off x="3402449" y="1356360"/>
            <a:ext cx="1909882" cy="118943"/>
          </a:xfrm>
          <a:prstGeom prst="rect">
            <a:avLst/>
          </a:prstGeom>
          <a:noFill/>
          <a:ln/>
        </p:spPr>
        <p:txBody>
          <a:bodyPr wrap="none" lIns="0" tIns="0" rIns="0" bIns="0" rtlCol="0" anchor="t"/>
          <a:lstStyle/>
          <a:p>
            <a:pPr algn="ctr" indent="0" marL="0">
              <a:lnSpc>
                <a:spcPts val="900"/>
              </a:lnSpc>
              <a:buNone/>
            </a:pPr>
            <a:r>
              <a:rPr lang="en-US" sz="750" dirty="0">
                <a:solidFill>
                  <a:srgbClr val="443728"/>
                </a:solidFill>
                <a:latin typeface="Open Sans" pitchFamily="34" charset="0"/>
                <a:ea typeface="Open Sans" pitchFamily="34" charset="-122"/>
                <a:cs typeface="Open Sans" pitchFamily="34" charset="-120"/>
              </a:rPr>
              <a:t>Total Queries</a:t>
            </a:r>
            <a:endParaRPr lang="en-US" sz="750" dirty="0"/>
          </a:p>
        </p:txBody>
      </p:sp>
      <p:sp>
        <p:nvSpPr>
          <p:cNvPr id="7" name="Text 5"/>
          <p:cNvSpPr/>
          <p:nvPr/>
        </p:nvSpPr>
        <p:spPr>
          <a:xfrm>
            <a:off x="5374243" y="942261"/>
            <a:ext cx="1910001" cy="327422"/>
          </a:xfrm>
          <a:prstGeom prst="rect">
            <a:avLst/>
          </a:prstGeom>
          <a:noFill/>
          <a:ln/>
        </p:spPr>
        <p:txBody>
          <a:bodyPr wrap="none" lIns="0" tIns="0" rIns="0" bIns="0" rtlCol="0" anchor="t"/>
          <a:lstStyle/>
          <a:p>
            <a:pPr algn="ctr" indent="0" marL="0">
              <a:lnSpc>
                <a:spcPts val="2550"/>
              </a:lnSpc>
              <a:buNone/>
            </a:pPr>
            <a:r>
              <a:rPr lang="en-US" sz="2550" b="1" dirty="0">
                <a:solidFill>
                  <a:srgbClr val="443728"/>
                </a:solidFill>
                <a:latin typeface="Crimson Pro Bold" pitchFamily="34" charset="0"/>
                <a:ea typeface="Crimson Pro Bold" pitchFamily="34" charset="-122"/>
                <a:cs typeface="Crimson Pro Bold" pitchFamily="34" charset="-120"/>
              </a:rPr>
              <a:t>90.44%</a:t>
            </a:r>
            <a:endParaRPr lang="en-US" sz="2550" dirty="0"/>
          </a:p>
        </p:txBody>
      </p:sp>
      <p:sp>
        <p:nvSpPr>
          <p:cNvPr id="8" name="Text 6"/>
          <p:cNvSpPr/>
          <p:nvPr/>
        </p:nvSpPr>
        <p:spPr>
          <a:xfrm>
            <a:off x="5374243" y="1356360"/>
            <a:ext cx="1910001" cy="118943"/>
          </a:xfrm>
          <a:prstGeom prst="rect">
            <a:avLst/>
          </a:prstGeom>
          <a:noFill/>
          <a:ln/>
        </p:spPr>
        <p:txBody>
          <a:bodyPr wrap="none" lIns="0" tIns="0" rIns="0" bIns="0" rtlCol="0" anchor="t"/>
          <a:lstStyle/>
          <a:p>
            <a:pPr algn="ctr" indent="0" marL="0">
              <a:lnSpc>
                <a:spcPts val="900"/>
              </a:lnSpc>
              <a:buNone/>
            </a:pPr>
            <a:r>
              <a:rPr lang="en-US" sz="750" dirty="0">
                <a:solidFill>
                  <a:srgbClr val="443728"/>
                </a:solidFill>
                <a:latin typeface="Open Sans" pitchFamily="34" charset="0"/>
                <a:ea typeface="Open Sans" pitchFamily="34" charset="-122"/>
                <a:cs typeface="Open Sans" pitchFamily="34" charset="-120"/>
              </a:rPr>
              <a:t>Average Validation Score</a:t>
            </a:r>
            <a:endParaRPr lang="en-US" sz="750" dirty="0"/>
          </a:p>
        </p:txBody>
      </p:sp>
      <p:sp>
        <p:nvSpPr>
          <p:cNvPr id="9" name="Text 7"/>
          <p:cNvSpPr/>
          <p:nvPr/>
        </p:nvSpPr>
        <p:spPr>
          <a:xfrm>
            <a:off x="7346156" y="942261"/>
            <a:ext cx="1909882" cy="327422"/>
          </a:xfrm>
          <a:prstGeom prst="rect">
            <a:avLst/>
          </a:prstGeom>
          <a:noFill/>
          <a:ln/>
        </p:spPr>
        <p:txBody>
          <a:bodyPr wrap="none" lIns="0" tIns="0" rIns="0" bIns="0" rtlCol="0" anchor="t"/>
          <a:lstStyle/>
          <a:p>
            <a:pPr algn="ctr" indent="0" marL="0">
              <a:lnSpc>
                <a:spcPts val="2550"/>
              </a:lnSpc>
              <a:buNone/>
            </a:pPr>
            <a:r>
              <a:rPr lang="en-US" sz="2550" b="1" dirty="0">
                <a:solidFill>
                  <a:srgbClr val="443728"/>
                </a:solidFill>
                <a:latin typeface="Crimson Pro Bold" pitchFamily="34" charset="0"/>
                <a:ea typeface="Crimson Pro Bold" pitchFamily="34" charset="-122"/>
                <a:cs typeface="Crimson Pro Bold" pitchFamily="34" charset="-120"/>
              </a:rPr>
              <a:t>38.0%</a:t>
            </a:r>
            <a:endParaRPr lang="en-US" sz="2550" dirty="0"/>
          </a:p>
        </p:txBody>
      </p:sp>
      <p:sp>
        <p:nvSpPr>
          <p:cNvPr id="10" name="Text 8"/>
          <p:cNvSpPr/>
          <p:nvPr/>
        </p:nvSpPr>
        <p:spPr>
          <a:xfrm>
            <a:off x="7346156" y="1356360"/>
            <a:ext cx="1909882" cy="118943"/>
          </a:xfrm>
          <a:prstGeom prst="rect">
            <a:avLst/>
          </a:prstGeom>
          <a:noFill/>
          <a:ln/>
        </p:spPr>
        <p:txBody>
          <a:bodyPr wrap="none" lIns="0" tIns="0" rIns="0" bIns="0" rtlCol="0" anchor="t"/>
          <a:lstStyle/>
          <a:p>
            <a:pPr algn="ctr" indent="0" marL="0">
              <a:lnSpc>
                <a:spcPts val="900"/>
              </a:lnSpc>
              <a:buNone/>
            </a:pPr>
            <a:r>
              <a:rPr lang="en-US" sz="750" dirty="0">
                <a:solidFill>
                  <a:srgbClr val="443728"/>
                </a:solidFill>
                <a:latin typeface="Open Sans" pitchFamily="34" charset="0"/>
                <a:ea typeface="Open Sans" pitchFamily="34" charset="-122"/>
                <a:cs typeface="Open Sans" pitchFamily="34" charset="-120"/>
              </a:rPr>
              <a:t>Correct Rate</a:t>
            </a:r>
            <a:endParaRPr lang="en-US" sz="750" dirty="0"/>
          </a:p>
        </p:txBody>
      </p:sp>
      <p:sp>
        <p:nvSpPr>
          <p:cNvPr id="11" name="Text 9"/>
          <p:cNvSpPr/>
          <p:nvPr/>
        </p:nvSpPr>
        <p:spPr>
          <a:xfrm>
            <a:off x="9317950" y="942261"/>
            <a:ext cx="1910001" cy="327422"/>
          </a:xfrm>
          <a:prstGeom prst="rect">
            <a:avLst/>
          </a:prstGeom>
          <a:noFill/>
          <a:ln/>
        </p:spPr>
        <p:txBody>
          <a:bodyPr wrap="none" lIns="0" tIns="0" rIns="0" bIns="0" rtlCol="0" anchor="t"/>
          <a:lstStyle/>
          <a:p>
            <a:pPr algn="ctr" indent="0" marL="0">
              <a:lnSpc>
                <a:spcPts val="2550"/>
              </a:lnSpc>
              <a:buNone/>
            </a:pPr>
            <a:r>
              <a:rPr lang="en-US" sz="2550" b="1" dirty="0">
                <a:solidFill>
                  <a:srgbClr val="443728"/>
                </a:solidFill>
                <a:latin typeface="Crimson Pro Bold" pitchFamily="34" charset="0"/>
                <a:ea typeface="Crimson Pro Bold" pitchFamily="34" charset="-122"/>
                <a:cs typeface="Crimson Pro Bold" pitchFamily="34" charset="-120"/>
              </a:rPr>
              <a:t>80.0%</a:t>
            </a:r>
            <a:endParaRPr lang="en-US" sz="2550" dirty="0"/>
          </a:p>
        </p:txBody>
      </p:sp>
      <p:sp>
        <p:nvSpPr>
          <p:cNvPr id="12" name="Text 10"/>
          <p:cNvSpPr/>
          <p:nvPr/>
        </p:nvSpPr>
        <p:spPr>
          <a:xfrm>
            <a:off x="9317950" y="1356360"/>
            <a:ext cx="1910001" cy="118943"/>
          </a:xfrm>
          <a:prstGeom prst="rect">
            <a:avLst/>
          </a:prstGeom>
          <a:noFill/>
          <a:ln/>
        </p:spPr>
        <p:txBody>
          <a:bodyPr wrap="none" lIns="0" tIns="0" rIns="0" bIns="0" rtlCol="0" anchor="t"/>
          <a:lstStyle/>
          <a:p>
            <a:pPr algn="ctr" indent="0" marL="0">
              <a:lnSpc>
                <a:spcPts val="900"/>
              </a:lnSpc>
              <a:buNone/>
            </a:pPr>
            <a:r>
              <a:rPr lang="en-US" sz="750" dirty="0">
                <a:solidFill>
                  <a:srgbClr val="443728"/>
                </a:solidFill>
                <a:latin typeface="Open Sans" pitchFamily="34" charset="0"/>
                <a:ea typeface="Open Sans" pitchFamily="34" charset="-122"/>
                <a:cs typeface="Open Sans" pitchFamily="34" charset="-120"/>
              </a:rPr>
              <a:t>Acceptable Rate</a:t>
            </a:r>
            <a:endParaRPr lang="en-US" sz="750" dirty="0"/>
          </a:p>
        </p:txBody>
      </p:sp>
      <p:sp>
        <p:nvSpPr>
          <p:cNvPr id="13" name="Shape 11"/>
          <p:cNvSpPr/>
          <p:nvPr/>
        </p:nvSpPr>
        <p:spPr>
          <a:xfrm>
            <a:off x="3402449" y="1531025"/>
            <a:ext cx="1368504" cy="154781"/>
          </a:xfrm>
          <a:prstGeom prst="roundRect">
            <a:avLst>
              <a:gd name="adj" fmla="val 21542"/>
            </a:avLst>
          </a:prstGeom>
          <a:solidFill>
            <a:srgbClr val="EBE2E0"/>
          </a:solidFill>
          <a:ln/>
        </p:spPr>
      </p:sp>
      <p:sp>
        <p:nvSpPr>
          <p:cNvPr id="14" name="Text 12"/>
          <p:cNvSpPr/>
          <p:nvPr/>
        </p:nvSpPr>
        <p:spPr>
          <a:xfrm>
            <a:off x="3461980" y="1560790"/>
            <a:ext cx="1249442" cy="95250"/>
          </a:xfrm>
          <a:prstGeom prst="rect">
            <a:avLst/>
          </a:prstGeom>
          <a:noFill/>
          <a:ln/>
        </p:spPr>
        <p:txBody>
          <a:bodyPr wrap="none" lIns="0" tIns="0" rIns="0" bIns="0" rtlCol="0" anchor="t"/>
          <a:lstStyle/>
          <a:p>
            <a:pPr algn="l" indent="0" marL="0">
              <a:lnSpc>
                <a:spcPts val="750"/>
              </a:lnSpc>
              <a:buNone/>
            </a:pPr>
            <a:r>
              <a:rPr lang="en-US" sz="600" dirty="0">
                <a:solidFill>
                  <a:srgbClr val="443728"/>
                </a:solidFill>
                <a:latin typeface="Open Sans" pitchFamily="34" charset="0"/>
                <a:ea typeface="Open Sans" pitchFamily="34" charset="-122"/>
                <a:cs typeface="Open Sans" pitchFamily="34" charset="-120"/>
              </a:rPr>
              <a:t>VALIDATION LEVEL DISTRIBUTION</a:t>
            </a:r>
            <a:endParaRPr lang="en-US" sz="600" dirty="0"/>
          </a:p>
        </p:txBody>
      </p:sp>
      <p:pic>
        <p:nvPicPr>
          <p:cNvPr id="15" name="Image 0" descr="preencoded.png">    </p:cNvPr>
          <p:cNvPicPr>
            <a:picLocks noChangeAspect="1"/>
          </p:cNvPicPr>
          <p:nvPr/>
        </p:nvPicPr>
        <p:blipFill>
          <a:blip r:embed="rId1"/>
          <a:stretch>
            <a:fillRect/>
          </a:stretch>
        </p:blipFill>
        <p:spPr>
          <a:xfrm>
            <a:off x="3402449" y="1741527"/>
            <a:ext cx="7825502" cy="4252555"/>
          </a:xfrm>
          <a:prstGeom prst="rect">
            <a:avLst/>
          </a:prstGeom>
        </p:spPr>
      </p:pic>
      <p:sp>
        <p:nvSpPr>
          <p:cNvPr id="16" name="Shape 13"/>
          <p:cNvSpPr/>
          <p:nvPr/>
        </p:nvSpPr>
        <p:spPr>
          <a:xfrm>
            <a:off x="4952405" y="6024563"/>
            <a:ext cx="99179" cy="99179"/>
          </a:xfrm>
          <a:prstGeom prst="roundRect">
            <a:avLst>
              <a:gd name="adj" fmla="val 18439"/>
            </a:avLst>
          </a:prstGeom>
          <a:solidFill>
            <a:srgbClr val="2F211E"/>
          </a:solidFill>
          <a:ln/>
        </p:spPr>
      </p:sp>
      <p:sp>
        <p:nvSpPr>
          <p:cNvPr id="17" name="Text 14"/>
          <p:cNvSpPr/>
          <p:nvPr/>
        </p:nvSpPr>
        <p:spPr>
          <a:xfrm>
            <a:off x="5112544" y="6024563"/>
            <a:ext cx="796766" cy="99179"/>
          </a:xfrm>
          <a:prstGeom prst="rect">
            <a:avLst/>
          </a:prstGeom>
          <a:noFill/>
          <a:ln/>
        </p:spPr>
        <p:txBody>
          <a:bodyPr wrap="none" lIns="0" tIns="0" rIns="0" bIns="0" rtlCol="0" anchor="t"/>
          <a:lstStyle/>
          <a:p>
            <a:pPr algn="l" indent="0" marL="0">
              <a:lnSpc>
                <a:spcPts val="750"/>
              </a:lnSpc>
              <a:buNone/>
            </a:pPr>
            <a:r>
              <a:rPr lang="en-US" sz="750" dirty="0">
                <a:solidFill>
                  <a:srgbClr val="443728"/>
                </a:solidFill>
                <a:latin typeface="Open Sans" pitchFamily="34" charset="0"/>
                <a:ea typeface="Open Sans" pitchFamily="34" charset="-122"/>
                <a:cs typeface="Open Sans" pitchFamily="34" charset="-120"/>
              </a:rPr>
              <a:t>CORRECT (38.0%)</a:t>
            </a:r>
            <a:endParaRPr lang="en-US" sz="750" dirty="0"/>
          </a:p>
        </p:txBody>
      </p:sp>
      <p:sp>
        <p:nvSpPr>
          <p:cNvPr id="18" name="Shape 15"/>
          <p:cNvSpPr/>
          <p:nvPr/>
        </p:nvSpPr>
        <p:spPr>
          <a:xfrm>
            <a:off x="6623685" y="6024563"/>
            <a:ext cx="99179" cy="99179"/>
          </a:xfrm>
          <a:prstGeom prst="roundRect">
            <a:avLst>
              <a:gd name="adj" fmla="val 18439"/>
            </a:avLst>
          </a:prstGeom>
          <a:solidFill>
            <a:srgbClr val="78564D"/>
          </a:solidFill>
          <a:ln/>
        </p:spPr>
      </p:sp>
      <p:sp>
        <p:nvSpPr>
          <p:cNvPr id="19" name="Text 16"/>
          <p:cNvSpPr/>
          <p:nvPr/>
        </p:nvSpPr>
        <p:spPr>
          <a:xfrm>
            <a:off x="6783824" y="6024563"/>
            <a:ext cx="1222772" cy="99179"/>
          </a:xfrm>
          <a:prstGeom prst="rect">
            <a:avLst/>
          </a:prstGeom>
          <a:noFill/>
          <a:ln/>
        </p:spPr>
        <p:txBody>
          <a:bodyPr wrap="none" lIns="0" tIns="0" rIns="0" bIns="0" rtlCol="0" anchor="t"/>
          <a:lstStyle/>
          <a:p>
            <a:pPr algn="l" indent="0" marL="0">
              <a:lnSpc>
                <a:spcPts val="750"/>
              </a:lnSpc>
              <a:buNone/>
            </a:pPr>
            <a:r>
              <a:rPr lang="en-US" sz="750" dirty="0">
                <a:solidFill>
                  <a:srgbClr val="443728"/>
                </a:solidFill>
                <a:latin typeface="Open Sans" pitchFamily="34" charset="0"/>
                <a:ea typeface="Open Sans" pitchFamily="34" charset="-122"/>
                <a:cs typeface="Open Sans" pitchFamily="34" charset="-120"/>
              </a:rPr>
              <a:t>MOSTLY_CORRECT (42.0%)</a:t>
            </a:r>
            <a:endParaRPr lang="en-US" sz="750" dirty="0"/>
          </a:p>
        </p:txBody>
      </p:sp>
      <p:sp>
        <p:nvSpPr>
          <p:cNvPr id="20" name="Shape 17"/>
          <p:cNvSpPr/>
          <p:nvPr/>
        </p:nvSpPr>
        <p:spPr>
          <a:xfrm>
            <a:off x="8720971" y="6024563"/>
            <a:ext cx="99179" cy="99179"/>
          </a:xfrm>
          <a:prstGeom prst="roundRect">
            <a:avLst>
              <a:gd name="adj" fmla="val 18439"/>
            </a:avLst>
          </a:prstGeom>
          <a:solidFill>
            <a:srgbClr val="B4938A"/>
          </a:solidFill>
          <a:ln/>
        </p:spPr>
      </p:sp>
      <p:sp>
        <p:nvSpPr>
          <p:cNvPr id="21" name="Text 18"/>
          <p:cNvSpPr/>
          <p:nvPr/>
        </p:nvSpPr>
        <p:spPr>
          <a:xfrm>
            <a:off x="8881110" y="6024563"/>
            <a:ext cx="1054179" cy="99179"/>
          </a:xfrm>
          <a:prstGeom prst="rect">
            <a:avLst/>
          </a:prstGeom>
          <a:noFill/>
          <a:ln/>
        </p:spPr>
        <p:txBody>
          <a:bodyPr wrap="none" lIns="0" tIns="0" rIns="0" bIns="0" rtlCol="0" anchor="t"/>
          <a:lstStyle/>
          <a:p>
            <a:pPr algn="l" indent="0" marL="0">
              <a:lnSpc>
                <a:spcPts val="750"/>
              </a:lnSpc>
              <a:buNone/>
            </a:pPr>
            <a:r>
              <a:rPr lang="en-US" sz="750" dirty="0">
                <a:solidFill>
                  <a:srgbClr val="443728"/>
                </a:solidFill>
                <a:latin typeface="Open Sans" pitchFamily="34" charset="0"/>
                <a:ea typeface="Open Sans" pitchFamily="34" charset="-122"/>
                <a:cs typeface="Open Sans" pitchFamily="34" charset="-120"/>
              </a:rPr>
              <a:t>MINOR_ISSUES (20.0%)</a:t>
            </a:r>
            <a:endParaRPr lang="en-US" sz="750" dirty="0"/>
          </a:p>
        </p:txBody>
      </p:sp>
      <p:sp>
        <p:nvSpPr>
          <p:cNvPr id="22" name="Text 19"/>
          <p:cNvSpPr/>
          <p:nvPr/>
        </p:nvSpPr>
        <p:spPr>
          <a:xfrm>
            <a:off x="3402449" y="6179463"/>
            <a:ext cx="7825502" cy="118943"/>
          </a:xfrm>
          <a:prstGeom prst="rect">
            <a:avLst/>
          </a:prstGeom>
          <a:noFill/>
          <a:ln/>
        </p:spPr>
        <p:txBody>
          <a:bodyPr wrap="none" lIns="0" tIns="0" rIns="0" bIns="0" rtlCol="0" anchor="t"/>
          <a:lstStyle/>
          <a:p>
            <a:pPr algn="l" indent="0" marL="0">
              <a:lnSpc>
                <a:spcPts val="900"/>
              </a:lnSpc>
              <a:buNone/>
            </a:pPr>
            <a:r>
              <a:rPr lang="en-US" sz="750" dirty="0">
                <a:solidFill>
                  <a:srgbClr val="443728"/>
                </a:solidFill>
                <a:latin typeface="Open Sans" pitchFamily="34" charset="0"/>
                <a:ea typeface="Open Sans" pitchFamily="34" charset="-122"/>
                <a:cs typeface="Open Sans" pitchFamily="34" charset="-120"/>
              </a:rPr>
              <a:t>This chart illustrates the distribution of NoSQL queries across different validation levels, from fully correct to those with minor issues.</a:t>
            </a:r>
            <a:endParaRPr lang="en-US" sz="750" dirty="0"/>
          </a:p>
        </p:txBody>
      </p:sp>
      <p:sp>
        <p:nvSpPr>
          <p:cNvPr id="23" name="Shape 20"/>
          <p:cNvSpPr/>
          <p:nvPr/>
        </p:nvSpPr>
        <p:spPr>
          <a:xfrm>
            <a:off x="3402449" y="6354128"/>
            <a:ext cx="1556028" cy="154781"/>
          </a:xfrm>
          <a:prstGeom prst="roundRect">
            <a:avLst>
              <a:gd name="adj" fmla="val 21542"/>
            </a:avLst>
          </a:prstGeom>
          <a:solidFill>
            <a:srgbClr val="EBE2E0"/>
          </a:solidFill>
          <a:ln/>
        </p:spPr>
      </p:sp>
      <p:sp>
        <p:nvSpPr>
          <p:cNvPr id="24" name="Text 21"/>
          <p:cNvSpPr/>
          <p:nvPr/>
        </p:nvSpPr>
        <p:spPr>
          <a:xfrm>
            <a:off x="3461980" y="6383893"/>
            <a:ext cx="1436965" cy="95250"/>
          </a:xfrm>
          <a:prstGeom prst="rect">
            <a:avLst/>
          </a:prstGeom>
          <a:noFill/>
          <a:ln/>
        </p:spPr>
        <p:txBody>
          <a:bodyPr wrap="none" lIns="0" tIns="0" rIns="0" bIns="0" rtlCol="0" anchor="t"/>
          <a:lstStyle/>
          <a:p>
            <a:pPr algn="l" indent="0" marL="0">
              <a:lnSpc>
                <a:spcPts val="750"/>
              </a:lnSpc>
              <a:buNone/>
            </a:pPr>
            <a:r>
              <a:rPr lang="en-US" sz="600" dirty="0">
                <a:solidFill>
                  <a:srgbClr val="443728"/>
                </a:solidFill>
                <a:latin typeface="Open Sans" pitchFamily="34" charset="0"/>
                <a:ea typeface="Open Sans" pitchFamily="34" charset="-122"/>
                <a:cs typeface="Open Sans" pitchFamily="34" charset="-120"/>
              </a:rPr>
              <a:t>COMPONENT ACCURACY BREAKDOWN</a:t>
            </a:r>
            <a:endParaRPr lang="en-US" sz="600" dirty="0"/>
          </a:p>
        </p:txBody>
      </p:sp>
      <p:pic>
        <p:nvPicPr>
          <p:cNvPr id="25" name="Image 1" descr="preencoded.png">    </p:cNvPr>
          <p:cNvPicPr>
            <a:picLocks noChangeAspect="1"/>
          </p:cNvPicPr>
          <p:nvPr/>
        </p:nvPicPr>
        <p:blipFill>
          <a:blip r:embed="rId2"/>
          <a:stretch>
            <a:fillRect/>
          </a:stretch>
        </p:blipFill>
        <p:spPr>
          <a:xfrm>
            <a:off x="3402449" y="6564630"/>
            <a:ext cx="7825502" cy="4382214"/>
          </a:xfrm>
          <a:prstGeom prst="rect">
            <a:avLst/>
          </a:prstGeom>
        </p:spPr>
      </p:pic>
      <p:sp>
        <p:nvSpPr>
          <p:cNvPr id="26" name="Text 22"/>
          <p:cNvSpPr/>
          <p:nvPr/>
        </p:nvSpPr>
        <p:spPr>
          <a:xfrm>
            <a:off x="3402449" y="11002566"/>
            <a:ext cx="7825502" cy="118943"/>
          </a:xfrm>
          <a:prstGeom prst="rect">
            <a:avLst/>
          </a:prstGeom>
          <a:noFill/>
          <a:ln/>
        </p:spPr>
        <p:txBody>
          <a:bodyPr wrap="none" lIns="0" tIns="0" rIns="0" bIns="0" rtlCol="0" anchor="t"/>
          <a:lstStyle/>
          <a:p>
            <a:pPr algn="l" indent="0" marL="0">
              <a:lnSpc>
                <a:spcPts val="900"/>
              </a:lnSpc>
              <a:buNone/>
            </a:pPr>
            <a:r>
              <a:rPr lang="en-US" sz="750" dirty="0">
                <a:solidFill>
                  <a:srgbClr val="443728"/>
                </a:solidFill>
                <a:latin typeface="Open Sans" pitchFamily="34" charset="0"/>
                <a:ea typeface="Open Sans" pitchFamily="34" charset="-122"/>
                <a:cs typeface="Open Sans" pitchFamily="34" charset="-120"/>
              </a:rPr>
              <a:t>Collection, Sort Direction, and Aggregation handling achieved perfect 100% accuracy, while Joins and Projection are areas for improvement.</a:t>
            </a:r>
            <a:endParaRPr lang="en-US" sz="7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nvSpPr>
        <p:spPr>
          <a:xfrm>
            <a:off x="3402449" y="272891"/>
            <a:ext cx="2591276" cy="310158"/>
          </a:xfrm>
          <a:prstGeom prst="rect">
            <a:avLst/>
          </a:prstGeom>
          <a:noFill/>
          <a:ln/>
        </p:spPr>
        <p:txBody>
          <a:bodyPr wrap="none" lIns="0" tIns="0" rIns="0" bIns="0" rtlCol="0" anchor="t"/>
          <a:lstStyle/>
          <a:p>
            <a:pPr algn="l" indent="0" marL="0">
              <a:lnSpc>
                <a:spcPts val="2400"/>
              </a:lnSpc>
              <a:buNone/>
            </a:pPr>
            <a:r>
              <a:rPr lang="en-US" sz="1950" b="1" dirty="0">
                <a:solidFill>
                  <a:srgbClr val="443728"/>
                </a:solidFill>
                <a:latin typeface="Crimson Pro Bold" pitchFamily="34" charset="0"/>
                <a:ea typeface="Crimson Pro Bold" pitchFamily="34" charset="-122"/>
                <a:cs typeface="Crimson Pro Bold" pitchFamily="34" charset="-120"/>
              </a:rPr>
              <a:t>Evaluation Methodology</a:t>
            </a:r>
            <a:endParaRPr lang="en-US" sz="1950" dirty="0"/>
          </a:p>
        </p:txBody>
      </p:sp>
      <p:sp>
        <p:nvSpPr>
          <p:cNvPr id="3" name="Text 1"/>
          <p:cNvSpPr/>
          <p:nvPr/>
        </p:nvSpPr>
        <p:spPr>
          <a:xfrm>
            <a:off x="3402449" y="602813"/>
            <a:ext cx="1984653" cy="248007"/>
          </a:xfrm>
          <a:prstGeom prst="rect">
            <a:avLst/>
          </a:prstGeom>
          <a:noFill/>
          <a:ln/>
        </p:spPr>
        <p:txBody>
          <a:bodyPr wrap="none" lIns="0" tIns="0" rIns="0" bIns="0" rtlCol="0" anchor="t"/>
          <a:lstStyle/>
          <a:p>
            <a:pPr algn="l" indent="0" marL="0">
              <a:lnSpc>
                <a:spcPts val="1950"/>
              </a:lnSpc>
              <a:buNone/>
            </a:pPr>
            <a:r>
              <a:rPr lang="en-US" sz="1550" b="1" dirty="0">
                <a:solidFill>
                  <a:srgbClr val="443728"/>
                </a:solidFill>
                <a:latin typeface="Crimson Pro Bold" pitchFamily="34" charset="0"/>
                <a:ea typeface="Crimson Pro Bold" pitchFamily="34" charset="-122"/>
                <a:cs typeface="Crimson Pro Bold" pitchFamily="34" charset="-120"/>
              </a:rPr>
              <a:t>Accuracy Levels</a:t>
            </a:r>
            <a:endParaRPr lang="en-US" sz="1550" dirty="0"/>
          </a:p>
        </p:txBody>
      </p:sp>
      <p:sp>
        <p:nvSpPr>
          <p:cNvPr id="4" name="Text 2"/>
          <p:cNvSpPr/>
          <p:nvPr/>
        </p:nvSpPr>
        <p:spPr>
          <a:xfrm>
            <a:off x="3402449" y="925235"/>
            <a:ext cx="7825502" cy="118943"/>
          </a:xfrm>
          <a:prstGeom prst="rect">
            <a:avLst/>
          </a:prstGeom>
          <a:noFill/>
          <a:ln/>
        </p:spPr>
        <p:txBody>
          <a:bodyPr wrap="none" lIns="0" tIns="0" rIns="0" bIns="0" rtlCol="0" anchor="t"/>
          <a:lstStyle/>
          <a:p>
            <a:pPr algn="l" indent="0" marL="0">
              <a:lnSpc>
                <a:spcPts val="900"/>
              </a:lnSpc>
              <a:buNone/>
            </a:pPr>
            <a:r>
              <a:rPr lang="en-US" sz="750" dirty="0">
                <a:solidFill>
                  <a:srgbClr val="443728"/>
                </a:solidFill>
                <a:latin typeface="Open Sans" pitchFamily="34" charset="0"/>
                <a:ea typeface="Open Sans" pitchFamily="34" charset="-122"/>
                <a:cs typeface="Open Sans" pitchFamily="34" charset="-120"/>
              </a:rPr>
              <a:t>Our evaluation categorizes queries into five distinct accuracy levels based on their similarity to the gold standard.</a:t>
            </a:r>
            <a:endParaRPr lang="en-US" sz="750" dirty="0"/>
          </a:p>
        </p:txBody>
      </p:sp>
      <p:pic>
        <p:nvPicPr>
          <p:cNvPr id="5" name="Image 0" descr="preencoded.png">    </p:cNvPr>
          <p:cNvPicPr>
            <a:picLocks noChangeAspect="1"/>
          </p:cNvPicPr>
          <p:nvPr/>
        </p:nvPicPr>
        <p:blipFill>
          <a:blip r:embed="rId1"/>
          <a:stretch>
            <a:fillRect/>
          </a:stretch>
        </p:blipFill>
        <p:spPr>
          <a:xfrm>
            <a:off x="3402449" y="1099899"/>
            <a:ext cx="297656" cy="1143000"/>
          </a:xfrm>
          <a:prstGeom prst="rect">
            <a:avLst/>
          </a:prstGeom>
        </p:spPr>
      </p:pic>
      <p:sp>
        <p:nvSpPr>
          <p:cNvPr id="6" name="Text 3"/>
          <p:cNvSpPr/>
          <p:nvPr/>
        </p:nvSpPr>
        <p:spPr>
          <a:xfrm>
            <a:off x="3749635" y="1199078"/>
            <a:ext cx="1240393" cy="155019"/>
          </a:xfrm>
          <a:prstGeom prst="rect">
            <a:avLst/>
          </a:prstGeom>
          <a:noFill/>
          <a:ln/>
        </p:spPr>
        <p:txBody>
          <a:bodyPr wrap="none" lIns="0" tIns="0" rIns="0" bIns="0" rtlCol="0" anchor="t"/>
          <a:lstStyle/>
          <a:p>
            <a:pPr algn="l" indent="0" marL="0">
              <a:lnSpc>
                <a:spcPts val="1200"/>
              </a:lnSpc>
              <a:buNone/>
            </a:pPr>
            <a:r>
              <a:rPr lang="en-US" sz="950" b="1" dirty="0">
                <a:solidFill>
                  <a:srgbClr val="443728"/>
                </a:solidFill>
                <a:latin typeface="Crimson Pro Bold" pitchFamily="34" charset="0"/>
                <a:ea typeface="Crimson Pro Bold" pitchFamily="34" charset="-122"/>
                <a:cs typeface="Crimson Pro Bold" pitchFamily="34" charset="-120"/>
              </a:rPr>
              <a:t>EXACT_MATCH</a:t>
            </a:r>
            <a:endParaRPr lang="en-US" sz="950" dirty="0"/>
          </a:p>
        </p:txBody>
      </p:sp>
      <p:sp>
        <p:nvSpPr>
          <p:cNvPr id="7" name="Text 4"/>
          <p:cNvSpPr/>
          <p:nvPr/>
        </p:nvSpPr>
        <p:spPr>
          <a:xfrm>
            <a:off x="3749635" y="1383863"/>
            <a:ext cx="7478316" cy="118943"/>
          </a:xfrm>
          <a:prstGeom prst="rect">
            <a:avLst/>
          </a:prstGeom>
          <a:noFill/>
          <a:ln/>
        </p:spPr>
        <p:txBody>
          <a:bodyPr wrap="none" lIns="0" tIns="0" rIns="0" bIns="0" rtlCol="0" anchor="t"/>
          <a:lstStyle/>
          <a:p>
            <a:pPr algn="l" indent="0" marL="0">
              <a:lnSpc>
                <a:spcPts val="900"/>
              </a:lnSpc>
              <a:buNone/>
            </a:pPr>
            <a:r>
              <a:rPr lang="en-US" sz="750" dirty="0">
                <a:solidFill>
                  <a:srgbClr val="443728"/>
                </a:solidFill>
                <a:latin typeface="Open Sans" pitchFamily="34" charset="0"/>
                <a:ea typeface="Open Sans" pitchFamily="34" charset="-122"/>
                <a:cs typeface="Open Sans" pitchFamily="34" charset="-120"/>
              </a:rPr>
              <a:t>Generated query exactly matches gold SQL and noSQL.</a:t>
            </a:r>
            <a:endParaRPr lang="en-US" sz="750" dirty="0"/>
          </a:p>
        </p:txBody>
      </p:sp>
      <p:pic>
        <p:nvPicPr>
          <p:cNvPr id="8" name="Image 1" descr="preencoded.png">    </p:cNvPr>
          <p:cNvPicPr>
            <a:picLocks noChangeAspect="1"/>
          </p:cNvPicPr>
          <p:nvPr/>
        </p:nvPicPr>
        <p:blipFill>
          <a:blip r:embed="rId2"/>
          <a:stretch>
            <a:fillRect/>
          </a:stretch>
        </p:blipFill>
        <p:spPr>
          <a:xfrm>
            <a:off x="3551277" y="1744742"/>
            <a:ext cx="297656" cy="1143000"/>
          </a:xfrm>
          <a:prstGeom prst="rect">
            <a:avLst/>
          </a:prstGeom>
        </p:spPr>
      </p:pic>
      <p:sp>
        <p:nvSpPr>
          <p:cNvPr id="9" name="Text 5"/>
          <p:cNvSpPr/>
          <p:nvPr/>
        </p:nvSpPr>
        <p:spPr>
          <a:xfrm>
            <a:off x="3898463" y="1843921"/>
            <a:ext cx="1633657" cy="155019"/>
          </a:xfrm>
          <a:prstGeom prst="rect">
            <a:avLst/>
          </a:prstGeom>
          <a:noFill/>
          <a:ln/>
        </p:spPr>
        <p:txBody>
          <a:bodyPr wrap="none" lIns="0" tIns="0" rIns="0" bIns="0" rtlCol="0" anchor="t"/>
          <a:lstStyle/>
          <a:p>
            <a:pPr algn="l" indent="0" marL="0">
              <a:lnSpc>
                <a:spcPts val="1200"/>
              </a:lnSpc>
              <a:buNone/>
            </a:pPr>
            <a:r>
              <a:rPr lang="en-US" sz="950" b="1" dirty="0">
                <a:solidFill>
                  <a:srgbClr val="443728"/>
                </a:solidFill>
                <a:latin typeface="Crimson Pro Bold" pitchFamily="34" charset="0"/>
                <a:ea typeface="Crimson Pro Bold" pitchFamily="34" charset="-122"/>
                <a:cs typeface="Crimson Pro Bold" pitchFamily="34" charset="-120"/>
              </a:rPr>
              <a:t>SEMANTICALLY_EQUIVALENT</a:t>
            </a:r>
            <a:endParaRPr lang="en-US" sz="950" dirty="0"/>
          </a:p>
        </p:txBody>
      </p:sp>
      <p:sp>
        <p:nvSpPr>
          <p:cNvPr id="10" name="Text 6"/>
          <p:cNvSpPr/>
          <p:nvPr/>
        </p:nvSpPr>
        <p:spPr>
          <a:xfrm>
            <a:off x="3898463" y="2028706"/>
            <a:ext cx="7329488" cy="118943"/>
          </a:xfrm>
          <a:prstGeom prst="rect">
            <a:avLst/>
          </a:prstGeom>
          <a:noFill/>
          <a:ln/>
        </p:spPr>
        <p:txBody>
          <a:bodyPr wrap="none" lIns="0" tIns="0" rIns="0" bIns="0" rtlCol="0" anchor="t"/>
          <a:lstStyle/>
          <a:p>
            <a:pPr algn="l" indent="0" marL="0">
              <a:lnSpc>
                <a:spcPts val="900"/>
              </a:lnSpc>
              <a:buNone/>
            </a:pPr>
            <a:r>
              <a:rPr lang="en-US" sz="750" dirty="0">
                <a:solidFill>
                  <a:srgbClr val="443728"/>
                </a:solidFill>
                <a:latin typeface="Open Sans" pitchFamily="34" charset="0"/>
                <a:ea typeface="Open Sans" pitchFamily="34" charset="-122"/>
                <a:cs typeface="Open Sans" pitchFamily="34" charset="-120"/>
              </a:rPr>
              <a:t>Similarity ≥ 95%.</a:t>
            </a:r>
            <a:endParaRPr lang="en-US" sz="750" dirty="0"/>
          </a:p>
        </p:txBody>
      </p:sp>
      <p:pic>
        <p:nvPicPr>
          <p:cNvPr id="11" name="Image 2" descr="preencoded.png">    </p:cNvPr>
          <p:cNvPicPr>
            <a:picLocks noChangeAspect="1"/>
          </p:cNvPicPr>
          <p:nvPr/>
        </p:nvPicPr>
        <p:blipFill>
          <a:blip r:embed="rId3"/>
          <a:stretch>
            <a:fillRect/>
          </a:stretch>
        </p:blipFill>
        <p:spPr>
          <a:xfrm>
            <a:off x="3700105" y="2389584"/>
            <a:ext cx="297656" cy="1143000"/>
          </a:xfrm>
          <a:prstGeom prst="rect">
            <a:avLst/>
          </a:prstGeom>
        </p:spPr>
      </p:pic>
      <p:sp>
        <p:nvSpPr>
          <p:cNvPr id="12" name="Text 7"/>
          <p:cNvSpPr/>
          <p:nvPr/>
        </p:nvSpPr>
        <p:spPr>
          <a:xfrm>
            <a:off x="4047292" y="2488763"/>
            <a:ext cx="1240393" cy="155019"/>
          </a:xfrm>
          <a:prstGeom prst="rect">
            <a:avLst/>
          </a:prstGeom>
          <a:noFill/>
          <a:ln/>
        </p:spPr>
        <p:txBody>
          <a:bodyPr wrap="none" lIns="0" tIns="0" rIns="0" bIns="0" rtlCol="0" anchor="t"/>
          <a:lstStyle/>
          <a:p>
            <a:pPr algn="l" indent="0" marL="0">
              <a:lnSpc>
                <a:spcPts val="1200"/>
              </a:lnSpc>
              <a:buNone/>
            </a:pPr>
            <a:r>
              <a:rPr lang="en-US" sz="950" b="1" dirty="0">
                <a:solidFill>
                  <a:srgbClr val="443728"/>
                </a:solidFill>
                <a:latin typeface="Crimson Pro Bold" pitchFamily="34" charset="0"/>
                <a:ea typeface="Crimson Pro Bold" pitchFamily="34" charset="-122"/>
                <a:cs typeface="Crimson Pro Bold" pitchFamily="34" charset="-120"/>
              </a:rPr>
              <a:t>MINOR_DIFFERENCES</a:t>
            </a:r>
            <a:endParaRPr lang="en-US" sz="950" dirty="0"/>
          </a:p>
        </p:txBody>
      </p:sp>
      <p:sp>
        <p:nvSpPr>
          <p:cNvPr id="13" name="Text 8"/>
          <p:cNvSpPr/>
          <p:nvPr/>
        </p:nvSpPr>
        <p:spPr>
          <a:xfrm>
            <a:off x="4047292" y="2673548"/>
            <a:ext cx="7180659" cy="118943"/>
          </a:xfrm>
          <a:prstGeom prst="rect">
            <a:avLst/>
          </a:prstGeom>
          <a:noFill/>
          <a:ln/>
        </p:spPr>
        <p:txBody>
          <a:bodyPr wrap="none" lIns="0" tIns="0" rIns="0" bIns="0" rtlCol="0" anchor="t"/>
          <a:lstStyle/>
          <a:p>
            <a:pPr algn="l" indent="0" marL="0">
              <a:lnSpc>
                <a:spcPts val="900"/>
              </a:lnSpc>
              <a:buNone/>
            </a:pPr>
            <a:r>
              <a:rPr lang="en-US" sz="750" dirty="0">
                <a:solidFill>
                  <a:srgbClr val="443728"/>
                </a:solidFill>
                <a:latin typeface="Open Sans" pitchFamily="34" charset="0"/>
                <a:ea typeface="Open Sans" pitchFamily="34" charset="-122"/>
                <a:cs typeface="Open Sans" pitchFamily="34" charset="-120"/>
              </a:rPr>
              <a:t>Similarity 80-95%.</a:t>
            </a:r>
            <a:endParaRPr lang="en-US" sz="750" dirty="0"/>
          </a:p>
        </p:txBody>
      </p:sp>
      <p:pic>
        <p:nvPicPr>
          <p:cNvPr id="14" name="Image 3" descr="preencoded.png">    </p:cNvPr>
          <p:cNvPicPr>
            <a:picLocks noChangeAspect="1"/>
          </p:cNvPicPr>
          <p:nvPr/>
        </p:nvPicPr>
        <p:blipFill>
          <a:blip r:embed="rId4"/>
          <a:stretch>
            <a:fillRect/>
          </a:stretch>
        </p:blipFill>
        <p:spPr>
          <a:xfrm>
            <a:off x="3848933" y="3034427"/>
            <a:ext cx="297656" cy="1143000"/>
          </a:xfrm>
          <a:prstGeom prst="rect">
            <a:avLst/>
          </a:prstGeom>
        </p:spPr>
      </p:pic>
      <p:sp>
        <p:nvSpPr>
          <p:cNvPr id="15" name="Text 9"/>
          <p:cNvSpPr/>
          <p:nvPr/>
        </p:nvSpPr>
        <p:spPr>
          <a:xfrm>
            <a:off x="4196120" y="3133606"/>
            <a:ext cx="1240393" cy="155019"/>
          </a:xfrm>
          <a:prstGeom prst="rect">
            <a:avLst/>
          </a:prstGeom>
          <a:noFill/>
          <a:ln/>
        </p:spPr>
        <p:txBody>
          <a:bodyPr wrap="none" lIns="0" tIns="0" rIns="0" bIns="0" rtlCol="0" anchor="t"/>
          <a:lstStyle/>
          <a:p>
            <a:pPr algn="l" indent="0" marL="0">
              <a:lnSpc>
                <a:spcPts val="1200"/>
              </a:lnSpc>
              <a:buNone/>
            </a:pPr>
            <a:r>
              <a:rPr lang="en-US" sz="950" b="1" dirty="0">
                <a:solidFill>
                  <a:srgbClr val="443728"/>
                </a:solidFill>
                <a:latin typeface="Crimson Pro Bold" pitchFamily="34" charset="0"/>
                <a:ea typeface="Crimson Pro Bold" pitchFamily="34" charset="-122"/>
                <a:cs typeface="Crimson Pro Bold" pitchFamily="34" charset="-120"/>
              </a:rPr>
              <a:t>MAJOR_DIFFERENCES</a:t>
            </a:r>
            <a:endParaRPr lang="en-US" sz="950" dirty="0"/>
          </a:p>
        </p:txBody>
      </p:sp>
      <p:sp>
        <p:nvSpPr>
          <p:cNvPr id="16" name="Text 10"/>
          <p:cNvSpPr/>
          <p:nvPr/>
        </p:nvSpPr>
        <p:spPr>
          <a:xfrm>
            <a:off x="4196120" y="3318391"/>
            <a:ext cx="7031831" cy="118943"/>
          </a:xfrm>
          <a:prstGeom prst="rect">
            <a:avLst/>
          </a:prstGeom>
          <a:noFill/>
          <a:ln/>
        </p:spPr>
        <p:txBody>
          <a:bodyPr wrap="none" lIns="0" tIns="0" rIns="0" bIns="0" rtlCol="0" anchor="t"/>
          <a:lstStyle/>
          <a:p>
            <a:pPr algn="l" indent="0" marL="0">
              <a:lnSpc>
                <a:spcPts val="900"/>
              </a:lnSpc>
              <a:buNone/>
            </a:pPr>
            <a:r>
              <a:rPr lang="en-US" sz="750" dirty="0">
                <a:solidFill>
                  <a:srgbClr val="443728"/>
                </a:solidFill>
                <a:latin typeface="Open Sans" pitchFamily="34" charset="0"/>
                <a:ea typeface="Open Sans" pitchFamily="34" charset="-122"/>
                <a:cs typeface="Open Sans" pitchFamily="34" charset="-120"/>
              </a:rPr>
              <a:t>Similarity 50-80%.</a:t>
            </a:r>
            <a:endParaRPr lang="en-US" sz="750" dirty="0"/>
          </a:p>
        </p:txBody>
      </p:sp>
      <p:pic>
        <p:nvPicPr>
          <p:cNvPr id="17" name="Image 4" descr="preencoded.png">    </p:cNvPr>
          <p:cNvPicPr>
            <a:picLocks noChangeAspect="1"/>
          </p:cNvPicPr>
          <p:nvPr/>
        </p:nvPicPr>
        <p:blipFill>
          <a:blip r:embed="rId5"/>
          <a:stretch>
            <a:fillRect/>
          </a:stretch>
        </p:blipFill>
        <p:spPr>
          <a:xfrm>
            <a:off x="3700105" y="3679269"/>
            <a:ext cx="297656" cy="1143000"/>
          </a:xfrm>
          <a:prstGeom prst="rect">
            <a:avLst/>
          </a:prstGeom>
        </p:spPr>
      </p:pic>
      <p:sp>
        <p:nvSpPr>
          <p:cNvPr id="18" name="Text 11"/>
          <p:cNvSpPr/>
          <p:nvPr/>
        </p:nvSpPr>
        <p:spPr>
          <a:xfrm>
            <a:off x="4047292" y="3778448"/>
            <a:ext cx="1240393" cy="155019"/>
          </a:xfrm>
          <a:prstGeom prst="rect">
            <a:avLst/>
          </a:prstGeom>
          <a:noFill/>
          <a:ln/>
        </p:spPr>
        <p:txBody>
          <a:bodyPr wrap="none" lIns="0" tIns="0" rIns="0" bIns="0" rtlCol="0" anchor="t"/>
          <a:lstStyle/>
          <a:p>
            <a:pPr algn="l" indent="0" marL="0">
              <a:lnSpc>
                <a:spcPts val="1200"/>
              </a:lnSpc>
              <a:buNone/>
            </a:pPr>
            <a:r>
              <a:rPr lang="en-US" sz="950" b="1" dirty="0">
                <a:solidFill>
                  <a:srgbClr val="443728"/>
                </a:solidFill>
                <a:latin typeface="Crimson Pro Bold" pitchFamily="34" charset="0"/>
                <a:ea typeface="Crimson Pro Bold" pitchFamily="34" charset="-122"/>
                <a:cs typeface="Crimson Pro Bold" pitchFamily="34" charset="-120"/>
              </a:rPr>
              <a:t>INCORRECT</a:t>
            </a:r>
            <a:endParaRPr lang="en-US" sz="950" dirty="0"/>
          </a:p>
        </p:txBody>
      </p:sp>
      <p:sp>
        <p:nvSpPr>
          <p:cNvPr id="19" name="Text 12"/>
          <p:cNvSpPr/>
          <p:nvPr/>
        </p:nvSpPr>
        <p:spPr>
          <a:xfrm>
            <a:off x="4047292" y="3963233"/>
            <a:ext cx="7180659" cy="118943"/>
          </a:xfrm>
          <a:prstGeom prst="rect">
            <a:avLst/>
          </a:prstGeom>
          <a:noFill/>
          <a:ln/>
        </p:spPr>
        <p:txBody>
          <a:bodyPr wrap="none" lIns="0" tIns="0" rIns="0" bIns="0" rtlCol="0" anchor="t"/>
          <a:lstStyle/>
          <a:p>
            <a:pPr algn="l" indent="0" marL="0">
              <a:lnSpc>
                <a:spcPts val="900"/>
              </a:lnSpc>
              <a:buNone/>
            </a:pPr>
            <a:r>
              <a:rPr lang="en-US" sz="750" dirty="0">
                <a:solidFill>
                  <a:srgbClr val="443728"/>
                </a:solidFill>
                <a:latin typeface="Open Sans" pitchFamily="34" charset="0"/>
                <a:ea typeface="Open Sans" pitchFamily="34" charset="-122"/>
                <a:cs typeface="Open Sans" pitchFamily="34" charset="-120"/>
              </a:rPr>
              <a:t>Similarity &lt; 50%.</a:t>
            </a:r>
            <a:endParaRPr lang="en-US" sz="750" dirty="0"/>
          </a:p>
        </p:txBody>
      </p:sp>
      <p:sp>
        <p:nvSpPr>
          <p:cNvPr id="20" name="Text 13"/>
          <p:cNvSpPr/>
          <p:nvPr/>
        </p:nvSpPr>
        <p:spPr>
          <a:xfrm>
            <a:off x="3402449" y="4348996"/>
            <a:ext cx="2355771" cy="248007"/>
          </a:xfrm>
          <a:prstGeom prst="rect">
            <a:avLst/>
          </a:prstGeom>
          <a:noFill/>
          <a:ln/>
        </p:spPr>
        <p:txBody>
          <a:bodyPr wrap="none" lIns="0" tIns="0" rIns="0" bIns="0" rtlCol="0" anchor="t"/>
          <a:lstStyle/>
          <a:p>
            <a:pPr algn="l" indent="0" marL="0">
              <a:lnSpc>
                <a:spcPts val="1950"/>
              </a:lnSpc>
              <a:buNone/>
            </a:pPr>
            <a:r>
              <a:rPr lang="en-US" sz="1550" b="1" dirty="0">
                <a:solidFill>
                  <a:srgbClr val="443728"/>
                </a:solidFill>
                <a:latin typeface="Crimson Pro Bold" pitchFamily="34" charset="0"/>
                <a:ea typeface="Crimson Pro Bold" pitchFamily="34" charset="-122"/>
                <a:cs typeface="Crimson Pro Bold" pitchFamily="34" charset="-120"/>
              </a:rPr>
              <a:t>Similarity Score Mechanism</a:t>
            </a:r>
            <a:endParaRPr lang="en-US" sz="1550" dirty="0"/>
          </a:p>
        </p:txBody>
      </p:sp>
      <p:sp>
        <p:nvSpPr>
          <p:cNvPr id="21" name="Shape 14"/>
          <p:cNvSpPr/>
          <p:nvPr/>
        </p:nvSpPr>
        <p:spPr>
          <a:xfrm>
            <a:off x="3402449" y="4671417"/>
            <a:ext cx="7825502" cy="814983"/>
          </a:xfrm>
          <a:prstGeom prst="roundRect">
            <a:avLst>
              <a:gd name="adj" fmla="val 5114"/>
            </a:avLst>
          </a:prstGeom>
          <a:solidFill>
            <a:srgbClr val="E1D4D0"/>
          </a:solidFill>
          <a:ln/>
        </p:spPr>
      </p:sp>
      <p:pic>
        <p:nvPicPr>
          <p:cNvPr id="22" name="Image 5" descr="preencoded.png">    </p:cNvPr>
          <p:cNvPicPr>
            <a:picLocks noChangeAspect="1"/>
          </p:cNvPicPr>
          <p:nvPr/>
        </p:nvPicPr>
        <p:blipFill>
          <a:blip r:embed="rId6"/>
          <a:stretch>
            <a:fillRect/>
          </a:stretch>
        </p:blipFill>
        <p:spPr>
          <a:xfrm>
            <a:off x="3501628" y="4800005"/>
            <a:ext cx="123944" cy="99179"/>
          </a:xfrm>
          <a:prstGeom prst="rect">
            <a:avLst/>
          </a:prstGeom>
        </p:spPr>
      </p:pic>
      <p:sp>
        <p:nvSpPr>
          <p:cNvPr id="23" name="Text 15"/>
          <p:cNvSpPr/>
          <p:nvPr/>
        </p:nvSpPr>
        <p:spPr>
          <a:xfrm>
            <a:off x="3724751" y="4745712"/>
            <a:ext cx="7404021" cy="237887"/>
          </a:xfrm>
          <a:prstGeom prst="rect">
            <a:avLst/>
          </a:prstGeom>
          <a:noFill/>
          <a:ln/>
        </p:spPr>
        <p:txBody>
          <a:bodyPr wrap="square" lIns="0" tIns="0" rIns="0" bIns="0" rtlCol="0" anchor="t"/>
          <a:lstStyle/>
          <a:p>
            <a:pPr algn="l" indent="0" marL="0">
              <a:lnSpc>
                <a:spcPts val="900"/>
              </a:lnSpc>
              <a:buNone/>
            </a:pPr>
            <a:r>
              <a:rPr lang="en-US" sz="750" dirty="0">
                <a:solidFill>
                  <a:srgbClr val="000000"/>
                </a:solidFill>
                <a:latin typeface="Open Sans" pitchFamily="34" charset="0"/>
                <a:ea typeface="Open Sans" pitchFamily="34" charset="-122"/>
                <a:cs typeface="Open Sans" pitchFamily="34" charset="-120"/>
              </a:rPr>
              <a:t>The evaluation approach utilizes string similarity to quantify the correctness of generated SQL and no SQL queries. This provides a granular score for precise assessment.</a:t>
            </a:r>
            <a:endParaRPr lang="en-US" sz="750" dirty="0"/>
          </a:p>
        </p:txBody>
      </p:sp>
      <p:sp>
        <p:nvSpPr>
          <p:cNvPr id="24" name="Text 16"/>
          <p:cNvSpPr/>
          <p:nvPr/>
        </p:nvSpPr>
        <p:spPr>
          <a:xfrm>
            <a:off x="3724751" y="5028248"/>
            <a:ext cx="7404021" cy="118943"/>
          </a:xfrm>
          <a:prstGeom prst="rect">
            <a:avLst/>
          </a:prstGeom>
          <a:noFill/>
          <a:ln/>
        </p:spPr>
        <p:txBody>
          <a:bodyPr wrap="none" lIns="0" tIns="0" rIns="0" bIns="0" rtlCol="0" anchor="t"/>
          <a:lstStyle/>
          <a:p>
            <a:pPr algn="l" marL="342900" indent="-342900">
              <a:lnSpc>
                <a:spcPts val="900"/>
              </a:lnSpc>
              <a:buSzPct val="100000"/>
              <a:buChar char="•"/>
            </a:pPr>
            <a:r>
              <a:rPr lang="en-US" sz="750" dirty="0">
                <a:solidFill>
                  <a:srgbClr val="000000"/>
                </a:solidFill>
                <a:latin typeface="Open Sans" pitchFamily="34" charset="0"/>
                <a:ea typeface="Open Sans" pitchFamily="34" charset="-122"/>
                <a:cs typeface="Open Sans" pitchFamily="34" charset="-120"/>
              </a:rPr>
              <a:t>String similarity using </a:t>
            </a:r>
            <a:pPr algn="l" indent="0" marL="0">
              <a:lnSpc>
                <a:spcPts val="900"/>
              </a:lnSpc>
              <a:buNone/>
            </a:pPr>
            <a:r>
              <a:rPr lang="en-US" sz="750" dirty="0">
                <a:solidFill>
                  <a:srgbClr val="000000"/>
                </a:solidFill>
                <a:highlight>
                  <a:srgbClr val="F2EFED"/>
                </a:highlight>
                <a:latin typeface="Consolas" pitchFamily="34" charset="0"/>
                <a:ea typeface="Consolas" pitchFamily="34" charset="-122"/>
                <a:cs typeface="Consolas" pitchFamily="34" charset="-120"/>
              </a:rPr>
              <a:t>difflib.SequenceMatcher</a:t>
            </a:r>
            <a:pPr algn="l" indent="0" marL="0">
              <a:lnSpc>
                <a:spcPts val="900"/>
              </a:lnSpc>
              <a:buNone/>
            </a:pPr>
            <a:r>
              <a:rPr lang="en-US" sz="750" dirty="0">
                <a:solidFill>
                  <a:srgbClr val="000000"/>
                </a:solidFill>
                <a:latin typeface="Open Sans" pitchFamily="34" charset="0"/>
                <a:ea typeface="Open Sans" pitchFamily="34" charset="-122"/>
                <a:cs typeface="Open Sans" pitchFamily="34" charset="-120"/>
              </a:rPr>
              <a:t>.</a:t>
            </a:r>
            <a:endParaRPr lang="en-US" sz="750" dirty="0"/>
          </a:p>
        </p:txBody>
      </p:sp>
      <p:sp>
        <p:nvSpPr>
          <p:cNvPr id="25" name="Text 17"/>
          <p:cNvSpPr/>
          <p:nvPr/>
        </p:nvSpPr>
        <p:spPr>
          <a:xfrm>
            <a:off x="3724751" y="5164455"/>
            <a:ext cx="7404021" cy="118943"/>
          </a:xfrm>
          <a:prstGeom prst="rect">
            <a:avLst/>
          </a:prstGeom>
          <a:noFill/>
          <a:ln/>
        </p:spPr>
        <p:txBody>
          <a:bodyPr wrap="none" lIns="0" tIns="0" rIns="0" bIns="0" rtlCol="0" anchor="t"/>
          <a:lstStyle/>
          <a:p>
            <a:pPr algn="l" marL="342900" indent="-342900">
              <a:lnSpc>
                <a:spcPts val="900"/>
              </a:lnSpc>
              <a:buSzPct val="100000"/>
              <a:buChar char="•"/>
            </a:pPr>
            <a:r>
              <a:rPr lang="en-US" sz="750" dirty="0">
                <a:solidFill>
                  <a:srgbClr val="000000"/>
                </a:solidFill>
                <a:latin typeface="Open Sans" pitchFamily="34" charset="0"/>
                <a:ea typeface="Open Sans" pitchFamily="34" charset="-122"/>
                <a:cs typeface="Open Sans" pitchFamily="34" charset="-120"/>
              </a:rPr>
              <a:t>Compares normalized SQL and noSQL queries (e.g., standardized casing, whitespace).</a:t>
            </a:r>
            <a:endParaRPr lang="en-US" sz="750" dirty="0"/>
          </a:p>
        </p:txBody>
      </p:sp>
      <p:sp>
        <p:nvSpPr>
          <p:cNvPr id="26" name="Text 18"/>
          <p:cNvSpPr/>
          <p:nvPr/>
        </p:nvSpPr>
        <p:spPr>
          <a:xfrm>
            <a:off x="3724751" y="5300663"/>
            <a:ext cx="7404021" cy="118943"/>
          </a:xfrm>
          <a:prstGeom prst="rect">
            <a:avLst/>
          </a:prstGeom>
          <a:noFill/>
          <a:ln/>
        </p:spPr>
        <p:txBody>
          <a:bodyPr wrap="none" lIns="0" tIns="0" rIns="0" bIns="0" rtlCol="0" anchor="t"/>
          <a:lstStyle/>
          <a:p>
            <a:pPr algn="l" marL="342900" indent="-342900">
              <a:lnSpc>
                <a:spcPts val="900"/>
              </a:lnSpc>
              <a:buSzPct val="100000"/>
              <a:buChar char="•"/>
            </a:pPr>
            <a:r>
              <a:rPr lang="en-US" sz="750" dirty="0">
                <a:solidFill>
                  <a:srgbClr val="000000"/>
                </a:solidFill>
                <a:latin typeface="Open Sans" pitchFamily="34" charset="0"/>
                <a:ea typeface="Open Sans" pitchFamily="34" charset="-122"/>
                <a:cs typeface="Open Sans" pitchFamily="34" charset="-120"/>
              </a:rPr>
              <a:t>Produces a score ranging from </a:t>
            </a:r>
            <a:pPr algn="l" indent="0" marL="0">
              <a:lnSpc>
                <a:spcPts val="900"/>
              </a:lnSpc>
              <a:buNone/>
            </a:pPr>
            <a:r>
              <a:rPr lang="en-US" sz="750" dirty="0">
                <a:solidFill>
                  <a:srgbClr val="000000"/>
                </a:solidFill>
                <a:highlight>
                  <a:srgbClr val="F2EFED"/>
                </a:highlight>
                <a:latin typeface="Consolas" pitchFamily="34" charset="0"/>
                <a:ea typeface="Consolas" pitchFamily="34" charset="-122"/>
                <a:cs typeface="Consolas" pitchFamily="34" charset="-120"/>
              </a:rPr>
              <a:t>0.0</a:t>
            </a:r>
            <a:pPr algn="l" indent="0" marL="0">
              <a:lnSpc>
                <a:spcPts val="900"/>
              </a:lnSpc>
              <a:buNone/>
            </a:pPr>
            <a:r>
              <a:rPr lang="en-US" sz="750" dirty="0">
                <a:solidFill>
                  <a:srgbClr val="000000"/>
                </a:solidFill>
                <a:latin typeface="Open Sans" pitchFamily="34" charset="0"/>
                <a:ea typeface="Open Sans" pitchFamily="34" charset="-122"/>
                <a:cs typeface="Open Sans" pitchFamily="34" charset="-120"/>
              </a:rPr>
              <a:t> (no similarity) to </a:t>
            </a:r>
            <a:pPr algn="l" indent="0" marL="0">
              <a:lnSpc>
                <a:spcPts val="900"/>
              </a:lnSpc>
              <a:buNone/>
            </a:pPr>
            <a:r>
              <a:rPr lang="en-US" sz="750" dirty="0">
                <a:solidFill>
                  <a:srgbClr val="000000"/>
                </a:solidFill>
                <a:highlight>
                  <a:srgbClr val="F2EFED"/>
                </a:highlight>
                <a:latin typeface="Consolas" pitchFamily="34" charset="0"/>
                <a:ea typeface="Consolas" pitchFamily="34" charset="-122"/>
                <a:cs typeface="Consolas" pitchFamily="34" charset="-120"/>
              </a:rPr>
              <a:t>1.0</a:t>
            </a:r>
            <a:pPr algn="l" indent="0" marL="0">
              <a:lnSpc>
                <a:spcPts val="900"/>
              </a:lnSpc>
              <a:buNone/>
            </a:pPr>
            <a:r>
              <a:rPr lang="en-US" sz="750" dirty="0">
                <a:solidFill>
                  <a:srgbClr val="000000"/>
                </a:solidFill>
                <a:latin typeface="Open Sans" pitchFamily="34" charset="0"/>
                <a:ea typeface="Open Sans" pitchFamily="34" charset="-122"/>
                <a:cs typeface="Open Sans" pitchFamily="34" charset="-120"/>
              </a:rPr>
              <a:t> (perfect match).</a:t>
            </a:r>
            <a:endParaRPr lang="en-US" sz="750" dirty="0"/>
          </a:p>
        </p:txBody>
      </p:sp>
      <p:sp>
        <p:nvSpPr>
          <p:cNvPr id="27" name="Text 19"/>
          <p:cNvSpPr/>
          <p:nvPr/>
        </p:nvSpPr>
        <p:spPr>
          <a:xfrm>
            <a:off x="3402449" y="5560814"/>
            <a:ext cx="2261473" cy="248007"/>
          </a:xfrm>
          <a:prstGeom prst="rect">
            <a:avLst/>
          </a:prstGeom>
          <a:noFill/>
          <a:ln/>
        </p:spPr>
        <p:txBody>
          <a:bodyPr wrap="none" lIns="0" tIns="0" rIns="0" bIns="0" rtlCol="0" anchor="t"/>
          <a:lstStyle/>
          <a:p>
            <a:pPr algn="l" indent="0" marL="0">
              <a:lnSpc>
                <a:spcPts val="1950"/>
              </a:lnSpc>
              <a:buNone/>
            </a:pPr>
            <a:r>
              <a:rPr lang="en-US" sz="1550" b="1" dirty="0">
                <a:solidFill>
                  <a:srgbClr val="443728"/>
                </a:solidFill>
                <a:latin typeface="Crimson Pro Bold" pitchFamily="34" charset="0"/>
                <a:ea typeface="Crimson Pro Bold" pitchFamily="34" charset="-122"/>
                <a:cs typeface="Crimson Pro Bold" pitchFamily="34" charset="-120"/>
              </a:rPr>
              <a:t>Component-wise Accuracy</a:t>
            </a:r>
            <a:endParaRPr lang="en-US" sz="1550" dirty="0"/>
          </a:p>
        </p:txBody>
      </p:sp>
      <p:sp>
        <p:nvSpPr>
          <p:cNvPr id="28" name="Text 20"/>
          <p:cNvSpPr/>
          <p:nvPr/>
        </p:nvSpPr>
        <p:spPr>
          <a:xfrm>
            <a:off x="3402449" y="5883235"/>
            <a:ext cx="7825502" cy="118943"/>
          </a:xfrm>
          <a:prstGeom prst="rect">
            <a:avLst/>
          </a:prstGeom>
          <a:noFill/>
          <a:ln/>
        </p:spPr>
        <p:txBody>
          <a:bodyPr wrap="none" lIns="0" tIns="0" rIns="0" bIns="0" rtlCol="0" anchor="t"/>
          <a:lstStyle/>
          <a:p>
            <a:pPr algn="l" indent="0" marL="0">
              <a:lnSpc>
                <a:spcPts val="900"/>
              </a:lnSpc>
              <a:buNone/>
            </a:pPr>
            <a:r>
              <a:rPr lang="en-US" sz="750" dirty="0">
                <a:solidFill>
                  <a:srgbClr val="443728"/>
                </a:solidFill>
                <a:latin typeface="Open Sans" pitchFamily="34" charset="0"/>
                <a:ea typeface="Open Sans" pitchFamily="34" charset="-122"/>
                <a:cs typeface="Open Sans" pitchFamily="34" charset="-120"/>
              </a:rPr>
              <a:t>We perform a detailed component-wise evaluation across 13 distinct elements of an SQL query to pinpoint specific areas of strength and weakness.</a:t>
            </a:r>
            <a:endParaRPr lang="en-US" sz="750" dirty="0"/>
          </a:p>
        </p:txBody>
      </p:sp>
      <p:sp>
        <p:nvSpPr>
          <p:cNvPr id="29" name="Text 21"/>
          <p:cNvSpPr/>
          <p:nvPr/>
        </p:nvSpPr>
        <p:spPr>
          <a:xfrm>
            <a:off x="3402449" y="6102548"/>
            <a:ext cx="3791783" cy="118943"/>
          </a:xfrm>
          <a:prstGeom prst="rect">
            <a:avLst/>
          </a:prstGeom>
          <a:noFill/>
          <a:ln/>
        </p:spPr>
        <p:txBody>
          <a:bodyPr wrap="none" lIns="0" tIns="0" rIns="0" bIns="0" rtlCol="0" anchor="t"/>
          <a:lstStyle/>
          <a:p>
            <a:pPr algn="l" marL="342900" indent="-342900">
              <a:lnSpc>
                <a:spcPts val="900"/>
              </a:lnSpc>
              <a:buSzPct val="100000"/>
              <a:buChar char="•"/>
            </a:pPr>
            <a:r>
              <a:rPr lang="en-US" sz="750" dirty="0">
                <a:solidFill>
                  <a:srgbClr val="443728"/>
                </a:solidFill>
                <a:latin typeface="Open Sans" pitchFamily="34" charset="0"/>
                <a:ea typeface="Open Sans" pitchFamily="34" charset="-122"/>
                <a:cs typeface="Open Sans" pitchFamily="34" charset="-120"/>
              </a:rPr>
              <a:t>SELECT clauses</a:t>
            </a:r>
            <a:endParaRPr lang="en-US" sz="750" dirty="0"/>
          </a:p>
        </p:txBody>
      </p:sp>
      <p:sp>
        <p:nvSpPr>
          <p:cNvPr id="30" name="Text 22"/>
          <p:cNvSpPr/>
          <p:nvPr/>
        </p:nvSpPr>
        <p:spPr>
          <a:xfrm>
            <a:off x="3402449" y="6238756"/>
            <a:ext cx="3791783" cy="118943"/>
          </a:xfrm>
          <a:prstGeom prst="rect">
            <a:avLst/>
          </a:prstGeom>
          <a:noFill/>
          <a:ln/>
        </p:spPr>
        <p:txBody>
          <a:bodyPr wrap="none" lIns="0" tIns="0" rIns="0" bIns="0" rtlCol="0" anchor="t"/>
          <a:lstStyle/>
          <a:p>
            <a:pPr algn="l" marL="342900" indent="-342900">
              <a:lnSpc>
                <a:spcPts val="900"/>
              </a:lnSpc>
              <a:buSzPct val="100000"/>
              <a:buChar char="•"/>
            </a:pPr>
            <a:r>
              <a:rPr lang="en-US" sz="750" dirty="0">
                <a:solidFill>
                  <a:srgbClr val="443728"/>
                </a:solidFill>
                <a:latin typeface="Open Sans" pitchFamily="34" charset="0"/>
                <a:ea typeface="Open Sans" pitchFamily="34" charset="-122"/>
                <a:cs typeface="Open Sans" pitchFamily="34" charset="-120"/>
              </a:rPr>
              <a:t>FROM clauses</a:t>
            </a:r>
            <a:endParaRPr lang="en-US" sz="750" dirty="0"/>
          </a:p>
        </p:txBody>
      </p:sp>
      <p:sp>
        <p:nvSpPr>
          <p:cNvPr id="31" name="Text 23"/>
          <p:cNvSpPr/>
          <p:nvPr/>
        </p:nvSpPr>
        <p:spPr>
          <a:xfrm>
            <a:off x="3402449" y="6374963"/>
            <a:ext cx="3791783" cy="118943"/>
          </a:xfrm>
          <a:prstGeom prst="rect">
            <a:avLst/>
          </a:prstGeom>
          <a:noFill/>
          <a:ln/>
        </p:spPr>
        <p:txBody>
          <a:bodyPr wrap="none" lIns="0" tIns="0" rIns="0" bIns="0" rtlCol="0" anchor="t"/>
          <a:lstStyle/>
          <a:p>
            <a:pPr algn="l" marL="342900" indent="-342900">
              <a:lnSpc>
                <a:spcPts val="900"/>
              </a:lnSpc>
              <a:buSzPct val="100000"/>
              <a:buChar char="•"/>
            </a:pPr>
            <a:r>
              <a:rPr lang="en-US" sz="750" dirty="0">
                <a:solidFill>
                  <a:srgbClr val="443728"/>
                </a:solidFill>
                <a:latin typeface="Open Sans" pitchFamily="34" charset="0"/>
                <a:ea typeface="Open Sans" pitchFamily="34" charset="-122"/>
                <a:cs typeface="Open Sans" pitchFamily="34" charset="-120"/>
              </a:rPr>
              <a:t>WHERE conditions</a:t>
            </a:r>
            <a:endParaRPr lang="en-US" sz="750" dirty="0"/>
          </a:p>
        </p:txBody>
      </p:sp>
      <p:sp>
        <p:nvSpPr>
          <p:cNvPr id="32" name="Text 24"/>
          <p:cNvSpPr/>
          <p:nvPr/>
        </p:nvSpPr>
        <p:spPr>
          <a:xfrm>
            <a:off x="3402449" y="6511171"/>
            <a:ext cx="3791783" cy="118943"/>
          </a:xfrm>
          <a:prstGeom prst="rect">
            <a:avLst/>
          </a:prstGeom>
          <a:noFill/>
          <a:ln/>
        </p:spPr>
        <p:txBody>
          <a:bodyPr wrap="none" lIns="0" tIns="0" rIns="0" bIns="0" rtlCol="0" anchor="t"/>
          <a:lstStyle/>
          <a:p>
            <a:pPr algn="l" marL="342900" indent="-342900">
              <a:lnSpc>
                <a:spcPts val="900"/>
              </a:lnSpc>
              <a:buSzPct val="100000"/>
              <a:buChar char="•"/>
            </a:pPr>
            <a:r>
              <a:rPr lang="en-US" sz="750" dirty="0">
                <a:solidFill>
                  <a:srgbClr val="443728"/>
                </a:solidFill>
                <a:latin typeface="Open Sans" pitchFamily="34" charset="0"/>
                <a:ea typeface="Open Sans" pitchFamily="34" charset="-122"/>
                <a:cs typeface="Open Sans" pitchFamily="34" charset="-120"/>
              </a:rPr>
              <a:t>JOIN operations</a:t>
            </a:r>
            <a:endParaRPr lang="en-US" sz="750" dirty="0"/>
          </a:p>
        </p:txBody>
      </p:sp>
      <p:sp>
        <p:nvSpPr>
          <p:cNvPr id="33" name="Text 25"/>
          <p:cNvSpPr/>
          <p:nvPr/>
        </p:nvSpPr>
        <p:spPr>
          <a:xfrm>
            <a:off x="3402449" y="6647378"/>
            <a:ext cx="3791783" cy="118943"/>
          </a:xfrm>
          <a:prstGeom prst="rect">
            <a:avLst/>
          </a:prstGeom>
          <a:noFill/>
          <a:ln/>
        </p:spPr>
        <p:txBody>
          <a:bodyPr wrap="none" lIns="0" tIns="0" rIns="0" bIns="0" rtlCol="0" anchor="t"/>
          <a:lstStyle/>
          <a:p>
            <a:pPr algn="l" marL="342900" indent="-342900">
              <a:lnSpc>
                <a:spcPts val="900"/>
              </a:lnSpc>
              <a:buSzPct val="100000"/>
              <a:buChar char="•"/>
            </a:pPr>
            <a:r>
              <a:rPr lang="en-US" sz="750" dirty="0">
                <a:solidFill>
                  <a:srgbClr val="443728"/>
                </a:solidFill>
                <a:latin typeface="Open Sans" pitchFamily="34" charset="0"/>
                <a:ea typeface="Open Sans" pitchFamily="34" charset="-122"/>
                <a:cs typeface="Open Sans" pitchFamily="34" charset="-120"/>
              </a:rPr>
              <a:t>GROUP BY clauses</a:t>
            </a:r>
            <a:endParaRPr lang="en-US" sz="750" dirty="0"/>
          </a:p>
        </p:txBody>
      </p:sp>
      <p:sp>
        <p:nvSpPr>
          <p:cNvPr id="34" name="Text 26"/>
          <p:cNvSpPr/>
          <p:nvPr/>
        </p:nvSpPr>
        <p:spPr>
          <a:xfrm>
            <a:off x="3402449" y="6783586"/>
            <a:ext cx="3791783" cy="118943"/>
          </a:xfrm>
          <a:prstGeom prst="rect">
            <a:avLst/>
          </a:prstGeom>
          <a:noFill/>
          <a:ln/>
        </p:spPr>
        <p:txBody>
          <a:bodyPr wrap="none" lIns="0" tIns="0" rIns="0" bIns="0" rtlCol="0" anchor="t"/>
          <a:lstStyle/>
          <a:p>
            <a:pPr algn="l" marL="342900" indent="-342900">
              <a:lnSpc>
                <a:spcPts val="900"/>
              </a:lnSpc>
              <a:buSzPct val="100000"/>
              <a:buChar char="•"/>
            </a:pPr>
            <a:r>
              <a:rPr lang="en-US" sz="750" dirty="0">
                <a:solidFill>
                  <a:srgbClr val="443728"/>
                </a:solidFill>
                <a:latin typeface="Open Sans" pitchFamily="34" charset="0"/>
                <a:ea typeface="Open Sans" pitchFamily="34" charset="-122"/>
                <a:cs typeface="Open Sans" pitchFamily="34" charset="-120"/>
              </a:rPr>
              <a:t>ORDER BY clauses</a:t>
            </a:r>
            <a:endParaRPr lang="en-US" sz="750" dirty="0"/>
          </a:p>
        </p:txBody>
      </p:sp>
      <p:sp>
        <p:nvSpPr>
          <p:cNvPr id="35" name="Text 27"/>
          <p:cNvSpPr/>
          <p:nvPr/>
        </p:nvSpPr>
        <p:spPr>
          <a:xfrm>
            <a:off x="3402449" y="6919793"/>
            <a:ext cx="3791783" cy="118943"/>
          </a:xfrm>
          <a:prstGeom prst="rect">
            <a:avLst/>
          </a:prstGeom>
          <a:noFill/>
          <a:ln/>
        </p:spPr>
        <p:txBody>
          <a:bodyPr wrap="none" lIns="0" tIns="0" rIns="0" bIns="0" rtlCol="0" anchor="t"/>
          <a:lstStyle/>
          <a:p>
            <a:pPr algn="l" marL="342900" indent="-342900">
              <a:lnSpc>
                <a:spcPts val="900"/>
              </a:lnSpc>
              <a:buSzPct val="100000"/>
              <a:buChar char="•"/>
            </a:pPr>
            <a:r>
              <a:rPr lang="en-US" sz="750" dirty="0">
                <a:solidFill>
                  <a:srgbClr val="443728"/>
                </a:solidFill>
                <a:latin typeface="Open Sans" pitchFamily="34" charset="0"/>
                <a:ea typeface="Open Sans" pitchFamily="34" charset="-122"/>
                <a:cs typeface="Open Sans" pitchFamily="34" charset="-120"/>
              </a:rPr>
              <a:t>LIMIT clauses</a:t>
            </a:r>
            <a:endParaRPr lang="en-US" sz="750" dirty="0"/>
          </a:p>
        </p:txBody>
      </p:sp>
      <p:sp>
        <p:nvSpPr>
          <p:cNvPr id="36" name="Text 28"/>
          <p:cNvSpPr/>
          <p:nvPr/>
        </p:nvSpPr>
        <p:spPr>
          <a:xfrm>
            <a:off x="7443788" y="6102548"/>
            <a:ext cx="3791783" cy="118943"/>
          </a:xfrm>
          <a:prstGeom prst="rect">
            <a:avLst/>
          </a:prstGeom>
          <a:noFill/>
          <a:ln/>
        </p:spPr>
        <p:txBody>
          <a:bodyPr wrap="none" lIns="0" tIns="0" rIns="0" bIns="0" rtlCol="0" anchor="t"/>
          <a:lstStyle/>
          <a:p>
            <a:pPr algn="l" marL="342900" indent="-342900">
              <a:lnSpc>
                <a:spcPts val="900"/>
              </a:lnSpc>
              <a:buSzPct val="100000"/>
              <a:buChar char="•"/>
            </a:pPr>
            <a:r>
              <a:rPr lang="en-US" sz="750" dirty="0">
                <a:solidFill>
                  <a:srgbClr val="443728"/>
                </a:solidFill>
                <a:latin typeface="Open Sans" pitchFamily="34" charset="0"/>
                <a:ea typeface="Open Sans" pitchFamily="34" charset="-122"/>
                <a:cs typeface="Open Sans" pitchFamily="34" charset="-120"/>
              </a:rPr>
              <a:t>DISTINCT keywords</a:t>
            </a:r>
            <a:endParaRPr lang="en-US" sz="750" dirty="0"/>
          </a:p>
        </p:txBody>
      </p:sp>
      <p:sp>
        <p:nvSpPr>
          <p:cNvPr id="37" name="Text 29"/>
          <p:cNvSpPr/>
          <p:nvPr/>
        </p:nvSpPr>
        <p:spPr>
          <a:xfrm>
            <a:off x="7443788" y="6238756"/>
            <a:ext cx="3791783" cy="118943"/>
          </a:xfrm>
          <a:prstGeom prst="rect">
            <a:avLst/>
          </a:prstGeom>
          <a:noFill/>
          <a:ln/>
        </p:spPr>
        <p:txBody>
          <a:bodyPr wrap="none" lIns="0" tIns="0" rIns="0" bIns="0" rtlCol="0" anchor="t"/>
          <a:lstStyle/>
          <a:p>
            <a:pPr algn="l" marL="342900" indent="-342900">
              <a:lnSpc>
                <a:spcPts val="900"/>
              </a:lnSpc>
              <a:buSzPct val="100000"/>
              <a:buChar char="•"/>
            </a:pPr>
            <a:r>
              <a:rPr lang="en-US" sz="750" dirty="0">
                <a:solidFill>
                  <a:srgbClr val="443728"/>
                </a:solidFill>
                <a:latin typeface="Open Sans" pitchFamily="34" charset="0"/>
                <a:ea typeface="Open Sans" pitchFamily="34" charset="-122"/>
                <a:cs typeface="Open Sans" pitchFamily="34" charset="-120"/>
              </a:rPr>
              <a:t>Aggregations: COUNT</a:t>
            </a:r>
            <a:endParaRPr lang="en-US" sz="750" dirty="0"/>
          </a:p>
        </p:txBody>
      </p:sp>
      <p:sp>
        <p:nvSpPr>
          <p:cNvPr id="38" name="Text 30"/>
          <p:cNvSpPr/>
          <p:nvPr/>
        </p:nvSpPr>
        <p:spPr>
          <a:xfrm>
            <a:off x="7443788" y="6374963"/>
            <a:ext cx="3791783" cy="118943"/>
          </a:xfrm>
          <a:prstGeom prst="rect">
            <a:avLst/>
          </a:prstGeom>
          <a:noFill/>
          <a:ln/>
        </p:spPr>
        <p:txBody>
          <a:bodyPr wrap="none" lIns="0" tIns="0" rIns="0" bIns="0" rtlCol="0" anchor="t"/>
          <a:lstStyle/>
          <a:p>
            <a:pPr algn="l" marL="342900" indent="-342900">
              <a:lnSpc>
                <a:spcPts val="900"/>
              </a:lnSpc>
              <a:buSzPct val="100000"/>
              <a:buChar char="•"/>
            </a:pPr>
            <a:r>
              <a:rPr lang="en-US" sz="750" dirty="0">
                <a:solidFill>
                  <a:srgbClr val="443728"/>
                </a:solidFill>
                <a:latin typeface="Open Sans" pitchFamily="34" charset="0"/>
                <a:ea typeface="Open Sans" pitchFamily="34" charset="-122"/>
                <a:cs typeface="Open Sans" pitchFamily="34" charset="-120"/>
              </a:rPr>
              <a:t>Aggregations: SUM</a:t>
            </a:r>
            <a:endParaRPr lang="en-US" sz="750" dirty="0"/>
          </a:p>
        </p:txBody>
      </p:sp>
      <p:sp>
        <p:nvSpPr>
          <p:cNvPr id="39" name="Text 31"/>
          <p:cNvSpPr/>
          <p:nvPr/>
        </p:nvSpPr>
        <p:spPr>
          <a:xfrm>
            <a:off x="7443788" y="6511171"/>
            <a:ext cx="3791783" cy="118943"/>
          </a:xfrm>
          <a:prstGeom prst="rect">
            <a:avLst/>
          </a:prstGeom>
          <a:noFill/>
          <a:ln/>
        </p:spPr>
        <p:txBody>
          <a:bodyPr wrap="none" lIns="0" tIns="0" rIns="0" bIns="0" rtlCol="0" anchor="t"/>
          <a:lstStyle/>
          <a:p>
            <a:pPr algn="l" marL="342900" indent="-342900">
              <a:lnSpc>
                <a:spcPts val="900"/>
              </a:lnSpc>
              <a:buSzPct val="100000"/>
              <a:buChar char="•"/>
            </a:pPr>
            <a:r>
              <a:rPr lang="en-US" sz="750" dirty="0">
                <a:solidFill>
                  <a:srgbClr val="443728"/>
                </a:solidFill>
                <a:latin typeface="Open Sans" pitchFamily="34" charset="0"/>
                <a:ea typeface="Open Sans" pitchFamily="34" charset="-122"/>
                <a:cs typeface="Open Sans" pitchFamily="34" charset="-120"/>
              </a:rPr>
              <a:t>Aggregations: AVG</a:t>
            </a:r>
            <a:endParaRPr lang="en-US" sz="750" dirty="0"/>
          </a:p>
        </p:txBody>
      </p:sp>
      <p:sp>
        <p:nvSpPr>
          <p:cNvPr id="40" name="Text 32"/>
          <p:cNvSpPr/>
          <p:nvPr/>
        </p:nvSpPr>
        <p:spPr>
          <a:xfrm>
            <a:off x="7443788" y="6647378"/>
            <a:ext cx="3791783" cy="118943"/>
          </a:xfrm>
          <a:prstGeom prst="rect">
            <a:avLst/>
          </a:prstGeom>
          <a:noFill/>
          <a:ln/>
        </p:spPr>
        <p:txBody>
          <a:bodyPr wrap="none" lIns="0" tIns="0" rIns="0" bIns="0" rtlCol="0" anchor="t"/>
          <a:lstStyle/>
          <a:p>
            <a:pPr algn="l" marL="342900" indent="-342900">
              <a:lnSpc>
                <a:spcPts val="900"/>
              </a:lnSpc>
              <a:buSzPct val="100000"/>
              <a:buChar char="•"/>
            </a:pPr>
            <a:r>
              <a:rPr lang="en-US" sz="750" dirty="0">
                <a:solidFill>
                  <a:srgbClr val="443728"/>
                </a:solidFill>
                <a:latin typeface="Open Sans" pitchFamily="34" charset="0"/>
                <a:ea typeface="Open Sans" pitchFamily="34" charset="-122"/>
                <a:cs typeface="Open Sans" pitchFamily="34" charset="-120"/>
              </a:rPr>
              <a:t>Aggregations: MAX</a:t>
            </a:r>
            <a:endParaRPr lang="en-US" sz="750" dirty="0"/>
          </a:p>
        </p:txBody>
      </p:sp>
      <p:sp>
        <p:nvSpPr>
          <p:cNvPr id="41" name="Text 33"/>
          <p:cNvSpPr/>
          <p:nvPr/>
        </p:nvSpPr>
        <p:spPr>
          <a:xfrm>
            <a:off x="7443788" y="6783586"/>
            <a:ext cx="3791783" cy="118943"/>
          </a:xfrm>
          <a:prstGeom prst="rect">
            <a:avLst/>
          </a:prstGeom>
          <a:noFill/>
          <a:ln/>
        </p:spPr>
        <p:txBody>
          <a:bodyPr wrap="none" lIns="0" tIns="0" rIns="0" bIns="0" rtlCol="0" anchor="t"/>
          <a:lstStyle/>
          <a:p>
            <a:pPr algn="l" marL="342900" indent="-342900">
              <a:lnSpc>
                <a:spcPts val="900"/>
              </a:lnSpc>
              <a:buSzPct val="100000"/>
              <a:buChar char="•"/>
            </a:pPr>
            <a:r>
              <a:rPr lang="en-US" sz="750" dirty="0">
                <a:solidFill>
                  <a:srgbClr val="443728"/>
                </a:solidFill>
                <a:latin typeface="Open Sans" pitchFamily="34" charset="0"/>
                <a:ea typeface="Open Sans" pitchFamily="34" charset="-122"/>
                <a:cs typeface="Open Sans" pitchFamily="34" charset="-120"/>
              </a:rPr>
              <a:t>Aggregations: MIN</a:t>
            </a:r>
            <a:endParaRPr lang="en-US" sz="750" dirty="0"/>
          </a:p>
        </p:txBody>
      </p:sp>
      <p:sp>
        <p:nvSpPr>
          <p:cNvPr id="42" name="Text 34"/>
          <p:cNvSpPr/>
          <p:nvPr/>
        </p:nvSpPr>
        <p:spPr>
          <a:xfrm>
            <a:off x="7443788" y="6919793"/>
            <a:ext cx="3791783" cy="118943"/>
          </a:xfrm>
          <a:prstGeom prst="rect">
            <a:avLst/>
          </a:prstGeom>
          <a:noFill/>
          <a:ln/>
        </p:spPr>
        <p:txBody>
          <a:bodyPr wrap="none" lIns="0" tIns="0" rIns="0" bIns="0" rtlCol="0" anchor="t"/>
          <a:lstStyle/>
          <a:p>
            <a:pPr algn="l" marL="342900" indent="-342900">
              <a:lnSpc>
                <a:spcPts val="900"/>
              </a:lnSpc>
              <a:buSzPct val="100000"/>
              <a:buChar char="•"/>
            </a:pPr>
            <a:r>
              <a:rPr lang="en-US" sz="750" dirty="0">
                <a:solidFill>
                  <a:srgbClr val="443728"/>
                </a:solidFill>
                <a:latin typeface="Open Sans" pitchFamily="34" charset="0"/>
                <a:ea typeface="Open Sans" pitchFamily="34" charset="-122"/>
                <a:cs typeface="Open Sans" pitchFamily="34" charset="-120"/>
              </a:rPr>
              <a:t>Table names</a:t>
            </a:r>
            <a:endParaRPr lang="en-US" sz="750" dirty="0"/>
          </a:p>
        </p:txBody>
      </p:sp>
      <p:sp>
        <p:nvSpPr>
          <p:cNvPr id="43" name="Text 35"/>
          <p:cNvSpPr/>
          <p:nvPr/>
        </p:nvSpPr>
        <p:spPr>
          <a:xfrm>
            <a:off x="7443788" y="7056001"/>
            <a:ext cx="3791783" cy="118943"/>
          </a:xfrm>
          <a:prstGeom prst="rect">
            <a:avLst/>
          </a:prstGeom>
          <a:noFill/>
          <a:ln/>
        </p:spPr>
        <p:txBody>
          <a:bodyPr wrap="none" lIns="0" tIns="0" rIns="0" bIns="0" rtlCol="0" anchor="t"/>
          <a:lstStyle/>
          <a:p>
            <a:pPr algn="l" marL="342900" indent="-342900">
              <a:lnSpc>
                <a:spcPts val="900"/>
              </a:lnSpc>
              <a:buSzPct val="100000"/>
              <a:buChar char="•"/>
            </a:pPr>
            <a:r>
              <a:rPr lang="en-US" sz="750" dirty="0">
                <a:solidFill>
                  <a:srgbClr val="443728"/>
                </a:solidFill>
                <a:latin typeface="Open Sans" pitchFamily="34" charset="0"/>
                <a:ea typeface="Open Sans" pitchFamily="34" charset="-122"/>
                <a:cs typeface="Open Sans" pitchFamily="34" charset="-120"/>
              </a:rPr>
              <a:t>Column names</a:t>
            </a:r>
            <a:endParaRPr lang="en-US" sz="750" dirty="0"/>
          </a:p>
        </p:txBody>
      </p:sp>
      <p:sp>
        <p:nvSpPr>
          <p:cNvPr id="44" name="Text 36"/>
          <p:cNvSpPr/>
          <p:nvPr/>
        </p:nvSpPr>
        <p:spPr>
          <a:xfrm>
            <a:off x="3402449" y="7266623"/>
            <a:ext cx="1984653" cy="248007"/>
          </a:xfrm>
          <a:prstGeom prst="rect">
            <a:avLst/>
          </a:prstGeom>
          <a:noFill/>
          <a:ln/>
        </p:spPr>
        <p:txBody>
          <a:bodyPr wrap="none" lIns="0" tIns="0" rIns="0" bIns="0" rtlCol="0" anchor="t"/>
          <a:lstStyle/>
          <a:p>
            <a:pPr algn="l" indent="0" marL="0">
              <a:lnSpc>
                <a:spcPts val="1950"/>
              </a:lnSpc>
              <a:buNone/>
            </a:pPr>
            <a:r>
              <a:rPr lang="en-US" sz="1550" b="1" dirty="0">
                <a:solidFill>
                  <a:srgbClr val="443728"/>
                </a:solidFill>
                <a:latin typeface="Crimson Pro Bold" pitchFamily="34" charset="0"/>
                <a:ea typeface="Crimson Pro Bold" pitchFamily="34" charset="-122"/>
                <a:cs typeface="Crimson Pro Bold" pitchFamily="34" charset="-120"/>
              </a:rPr>
              <a:t>Key Metrics Reported</a:t>
            </a:r>
            <a:endParaRPr lang="en-US" sz="1550" dirty="0"/>
          </a:p>
        </p:txBody>
      </p:sp>
      <p:sp>
        <p:nvSpPr>
          <p:cNvPr id="45" name="Shape 37"/>
          <p:cNvSpPr/>
          <p:nvPr/>
        </p:nvSpPr>
        <p:spPr>
          <a:xfrm>
            <a:off x="3402449" y="7589044"/>
            <a:ext cx="3887986" cy="532567"/>
          </a:xfrm>
          <a:prstGeom prst="roundRect">
            <a:avLst>
              <a:gd name="adj" fmla="val 7826"/>
            </a:avLst>
          </a:prstGeom>
          <a:solidFill>
            <a:srgbClr val="FFFCFA"/>
          </a:solidFill>
          <a:ln w="15240">
            <a:solidFill>
              <a:srgbClr val="D1C8C6"/>
            </a:solidFill>
            <a:prstDash val="solid"/>
          </a:ln>
        </p:spPr>
      </p:sp>
      <p:sp>
        <p:nvSpPr>
          <p:cNvPr id="46" name="Text 38"/>
          <p:cNvSpPr/>
          <p:nvPr/>
        </p:nvSpPr>
        <p:spPr>
          <a:xfrm>
            <a:off x="3516868" y="7703463"/>
            <a:ext cx="1240393" cy="155019"/>
          </a:xfrm>
          <a:prstGeom prst="rect">
            <a:avLst/>
          </a:prstGeom>
          <a:noFill/>
          <a:ln/>
        </p:spPr>
        <p:txBody>
          <a:bodyPr wrap="none" lIns="0" tIns="0" rIns="0" bIns="0" rtlCol="0" anchor="t"/>
          <a:lstStyle/>
          <a:p>
            <a:pPr algn="l" indent="0" marL="0">
              <a:lnSpc>
                <a:spcPts val="1200"/>
              </a:lnSpc>
              <a:buNone/>
            </a:pPr>
            <a:r>
              <a:rPr lang="en-US" sz="950" b="1" dirty="0">
                <a:solidFill>
                  <a:srgbClr val="443728"/>
                </a:solidFill>
                <a:latin typeface="Crimson Pro Bold" pitchFamily="34" charset="0"/>
                <a:ea typeface="Crimson Pro Bold" pitchFamily="34" charset="-122"/>
                <a:cs typeface="Crimson Pro Bold" pitchFamily="34" charset="-120"/>
              </a:rPr>
              <a:t>Strict Accuracy</a:t>
            </a:r>
            <a:endParaRPr lang="en-US" sz="950" dirty="0"/>
          </a:p>
        </p:txBody>
      </p:sp>
      <p:sp>
        <p:nvSpPr>
          <p:cNvPr id="47" name="Text 39"/>
          <p:cNvSpPr/>
          <p:nvPr/>
        </p:nvSpPr>
        <p:spPr>
          <a:xfrm>
            <a:off x="3516868" y="7888248"/>
            <a:ext cx="3659148" cy="118943"/>
          </a:xfrm>
          <a:prstGeom prst="rect">
            <a:avLst/>
          </a:prstGeom>
          <a:noFill/>
          <a:ln/>
        </p:spPr>
        <p:txBody>
          <a:bodyPr wrap="none" lIns="0" tIns="0" rIns="0" bIns="0" rtlCol="0" anchor="t"/>
          <a:lstStyle/>
          <a:p>
            <a:pPr algn="l" indent="0" marL="0">
              <a:lnSpc>
                <a:spcPts val="900"/>
              </a:lnSpc>
              <a:buNone/>
            </a:pPr>
            <a:r>
              <a:rPr lang="en-US" sz="750" dirty="0">
                <a:solidFill>
                  <a:srgbClr val="443728"/>
                </a:solidFill>
                <a:latin typeface="Open Sans" pitchFamily="34" charset="0"/>
                <a:ea typeface="Open Sans" pitchFamily="34" charset="-122"/>
                <a:cs typeface="Open Sans" pitchFamily="34" charset="-120"/>
              </a:rPr>
              <a:t>Percentage of </a:t>
            </a:r>
            <a:pPr algn="l" indent="0" marL="0">
              <a:lnSpc>
                <a:spcPts val="900"/>
              </a:lnSpc>
              <a:buNone/>
            </a:pPr>
            <a:r>
              <a:rPr lang="en-US" sz="750" b="1" dirty="0">
                <a:solidFill>
                  <a:srgbClr val="443728"/>
                </a:solidFill>
                <a:latin typeface="Open Sans" pitchFamily="34" charset="0"/>
                <a:ea typeface="Open Sans" pitchFamily="34" charset="-122"/>
                <a:cs typeface="Open Sans" pitchFamily="34" charset="-120"/>
              </a:rPr>
              <a:t>Exact Match</a:t>
            </a:r>
            <a:pPr algn="l" indent="0" marL="0">
              <a:lnSpc>
                <a:spcPts val="900"/>
              </a:lnSpc>
              <a:buNone/>
            </a:pPr>
            <a:r>
              <a:rPr lang="en-US" sz="750" dirty="0">
                <a:solidFill>
                  <a:srgbClr val="443728"/>
                </a:solidFill>
                <a:latin typeface="Open Sans" pitchFamily="34" charset="0"/>
                <a:ea typeface="Open Sans" pitchFamily="34" charset="-122"/>
                <a:cs typeface="Open Sans" pitchFamily="34" charset="-120"/>
              </a:rPr>
              <a:t> only.</a:t>
            </a:r>
            <a:endParaRPr lang="en-US" sz="750" dirty="0"/>
          </a:p>
        </p:txBody>
      </p:sp>
      <p:sp>
        <p:nvSpPr>
          <p:cNvPr id="48" name="Shape 40"/>
          <p:cNvSpPr/>
          <p:nvPr/>
        </p:nvSpPr>
        <p:spPr>
          <a:xfrm>
            <a:off x="7339965" y="7589044"/>
            <a:ext cx="3887986" cy="532567"/>
          </a:xfrm>
          <a:prstGeom prst="roundRect">
            <a:avLst>
              <a:gd name="adj" fmla="val 7826"/>
            </a:avLst>
          </a:prstGeom>
          <a:solidFill>
            <a:srgbClr val="FFFCFA"/>
          </a:solidFill>
          <a:ln w="15240">
            <a:solidFill>
              <a:srgbClr val="D1C8C6"/>
            </a:solidFill>
            <a:prstDash val="solid"/>
          </a:ln>
        </p:spPr>
      </p:sp>
      <p:sp>
        <p:nvSpPr>
          <p:cNvPr id="49" name="Text 41"/>
          <p:cNvSpPr/>
          <p:nvPr/>
        </p:nvSpPr>
        <p:spPr>
          <a:xfrm>
            <a:off x="7454384" y="7703463"/>
            <a:ext cx="1240393" cy="155019"/>
          </a:xfrm>
          <a:prstGeom prst="rect">
            <a:avLst/>
          </a:prstGeom>
          <a:noFill/>
          <a:ln/>
        </p:spPr>
        <p:txBody>
          <a:bodyPr wrap="none" lIns="0" tIns="0" rIns="0" bIns="0" rtlCol="0" anchor="t"/>
          <a:lstStyle/>
          <a:p>
            <a:pPr algn="l" indent="0" marL="0">
              <a:lnSpc>
                <a:spcPts val="1200"/>
              </a:lnSpc>
              <a:buNone/>
            </a:pPr>
            <a:r>
              <a:rPr lang="en-US" sz="950" b="1" dirty="0">
                <a:solidFill>
                  <a:srgbClr val="443728"/>
                </a:solidFill>
                <a:latin typeface="Crimson Pro Bold" pitchFamily="34" charset="0"/>
                <a:ea typeface="Crimson Pro Bold" pitchFamily="34" charset="-122"/>
                <a:cs typeface="Crimson Pro Bold" pitchFamily="34" charset="-120"/>
              </a:rPr>
              <a:t>Acceptable Accuracy</a:t>
            </a:r>
            <a:endParaRPr lang="en-US" sz="950" dirty="0"/>
          </a:p>
        </p:txBody>
      </p:sp>
      <p:sp>
        <p:nvSpPr>
          <p:cNvPr id="50" name="Text 42"/>
          <p:cNvSpPr/>
          <p:nvPr/>
        </p:nvSpPr>
        <p:spPr>
          <a:xfrm>
            <a:off x="7454384" y="7888248"/>
            <a:ext cx="3659148" cy="118943"/>
          </a:xfrm>
          <a:prstGeom prst="rect">
            <a:avLst/>
          </a:prstGeom>
          <a:noFill/>
          <a:ln/>
        </p:spPr>
        <p:txBody>
          <a:bodyPr wrap="none" lIns="0" tIns="0" rIns="0" bIns="0" rtlCol="0" anchor="t"/>
          <a:lstStyle/>
          <a:p>
            <a:pPr algn="l" indent="0" marL="0">
              <a:lnSpc>
                <a:spcPts val="900"/>
              </a:lnSpc>
              <a:buNone/>
            </a:pPr>
            <a:r>
              <a:rPr lang="en-US" sz="750" dirty="0">
                <a:solidFill>
                  <a:srgbClr val="443728"/>
                </a:solidFill>
                <a:latin typeface="Open Sans" pitchFamily="34" charset="0"/>
                <a:ea typeface="Open Sans" pitchFamily="34" charset="-122"/>
                <a:cs typeface="Open Sans" pitchFamily="34" charset="-120"/>
              </a:rPr>
              <a:t>Percentage of </a:t>
            </a:r>
            <a:pPr algn="l" indent="0" marL="0">
              <a:lnSpc>
                <a:spcPts val="900"/>
              </a:lnSpc>
              <a:buNone/>
            </a:pPr>
            <a:r>
              <a:rPr lang="en-US" sz="750" b="1" dirty="0">
                <a:solidFill>
                  <a:srgbClr val="443728"/>
                </a:solidFill>
                <a:latin typeface="Open Sans" pitchFamily="34" charset="0"/>
                <a:ea typeface="Open Sans" pitchFamily="34" charset="-122"/>
                <a:cs typeface="Open Sans" pitchFamily="34" charset="-120"/>
              </a:rPr>
              <a:t>Exact Match + Semantically Equivalent</a:t>
            </a:r>
            <a:pPr algn="l" indent="0" marL="0">
              <a:lnSpc>
                <a:spcPts val="900"/>
              </a:lnSpc>
              <a:buNone/>
            </a:pPr>
            <a:r>
              <a:rPr lang="en-US" sz="750" dirty="0">
                <a:solidFill>
                  <a:srgbClr val="443728"/>
                </a:solidFill>
                <a:latin typeface="Open Sans" pitchFamily="34" charset="0"/>
                <a:ea typeface="Open Sans" pitchFamily="34" charset="-122"/>
                <a:cs typeface="Open Sans" pitchFamily="34" charset="-120"/>
              </a:rPr>
              <a:t> queries.</a:t>
            </a:r>
            <a:endParaRPr lang="en-US" sz="750" dirty="0"/>
          </a:p>
        </p:txBody>
      </p:sp>
      <p:sp>
        <p:nvSpPr>
          <p:cNvPr id="51" name="Shape 43"/>
          <p:cNvSpPr/>
          <p:nvPr/>
        </p:nvSpPr>
        <p:spPr>
          <a:xfrm>
            <a:off x="3402449" y="8171140"/>
            <a:ext cx="3887986" cy="532567"/>
          </a:xfrm>
          <a:prstGeom prst="roundRect">
            <a:avLst>
              <a:gd name="adj" fmla="val 7826"/>
            </a:avLst>
          </a:prstGeom>
          <a:solidFill>
            <a:srgbClr val="FFFCFA"/>
          </a:solidFill>
          <a:ln w="15240">
            <a:solidFill>
              <a:srgbClr val="D1C8C6"/>
            </a:solidFill>
            <a:prstDash val="solid"/>
          </a:ln>
        </p:spPr>
      </p:sp>
      <p:sp>
        <p:nvSpPr>
          <p:cNvPr id="52" name="Text 44"/>
          <p:cNvSpPr/>
          <p:nvPr/>
        </p:nvSpPr>
        <p:spPr>
          <a:xfrm>
            <a:off x="3516868" y="8285559"/>
            <a:ext cx="1270873" cy="155019"/>
          </a:xfrm>
          <a:prstGeom prst="rect">
            <a:avLst/>
          </a:prstGeom>
          <a:noFill/>
          <a:ln/>
        </p:spPr>
        <p:txBody>
          <a:bodyPr wrap="none" lIns="0" tIns="0" rIns="0" bIns="0" rtlCol="0" anchor="t"/>
          <a:lstStyle/>
          <a:p>
            <a:pPr algn="l" indent="0" marL="0">
              <a:lnSpc>
                <a:spcPts val="1200"/>
              </a:lnSpc>
              <a:buNone/>
            </a:pPr>
            <a:r>
              <a:rPr lang="en-US" sz="950" b="1" dirty="0">
                <a:solidFill>
                  <a:srgbClr val="443728"/>
                </a:solidFill>
                <a:latin typeface="Crimson Pro Bold" pitchFamily="34" charset="0"/>
                <a:ea typeface="Crimson Pro Bold" pitchFamily="34" charset="-122"/>
                <a:cs typeface="Crimson Pro Bold" pitchFamily="34" charset="-120"/>
              </a:rPr>
              <a:t>Average Similarity Score</a:t>
            </a:r>
            <a:endParaRPr lang="en-US" sz="950" dirty="0"/>
          </a:p>
        </p:txBody>
      </p:sp>
      <p:sp>
        <p:nvSpPr>
          <p:cNvPr id="53" name="Text 45"/>
          <p:cNvSpPr/>
          <p:nvPr/>
        </p:nvSpPr>
        <p:spPr>
          <a:xfrm>
            <a:off x="3516868" y="8470344"/>
            <a:ext cx="3659148" cy="118943"/>
          </a:xfrm>
          <a:prstGeom prst="rect">
            <a:avLst/>
          </a:prstGeom>
          <a:noFill/>
          <a:ln/>
        </p:spPr>
        <p:txBody>
          <a:bodyPr wrap="none" lIns="0" tIns="0" rIns="0" bIns="0" rtlCol="0" anchor="t"/>
          <a:lstStyle/>
          <a:p>
            <a:pPr algn="l" indent="0" marL="0">
              <a:lnSpc>
                <a:spcPts val="900"/>
              </a:lnSpc>
              <a:buNone/>
            </a:pPr>
            <a:r>
              <a:rPr lang="en-US" sz="750" dirty="0">
                <a:solidFill>
                  <a:srgbClr val="443728"/>
                </a:solidFill>
                <a:latin typeface="Open Sans" pitchFamily="34" charset="0"/>
                <a:ea typeface="Open Sans" pitchFamily="34" charset="-122"/>
                <a:cs typeface="Open Sans" pitchFamily="34" charset="-120"/>
              </a:rPr>
              <a:t>Mean string similarity score across all queries.</a:t>
            </a:r>
            <a:endParaRPr lang="en-US" sz="750" dirty="0"/>
          </a:p>
        </p:txBody>
      </p:sp>
      <p:sp>
        <p:nvSpPr>
          <p:cNvPr id="54" name="Shape 46"/>
          <p:cNvSpPr/>
          <p:nvPr/>
        </p:nvSpPr>
        <p:spPr>
          <a:xfrm>
            <a:off x="7339965" y="8171140"/>
            <a:ext cx="3887986" cy="532567"/>
          </a:xfrm>
          <a:prstGeom prst="roundRect">
            <a:avLst>
              <a:gd name="adj" fmla="val 7826"/>
            </a:avLst>
          </a:prstGeom>
          <a:solidFill>
            <a:srgbClr val="FFFCFA"/>
          </a:solidFill>
          <a:ln w="15240">
            <a:solidFill>
              <a:srgbClr val="D1C8C6"/>
            </a:solidFill>
            <a:prstDash val="solid"/>
          </a:ln>
        </p:spPr>
      </p:sp>
      <p:sp>
        <p:nvSpPr>
          <p:cNvPr id="55" name="Text 47"/>
          <p:cNvSpPr/>
          <p:nvPr/>
        </p:nvSpPr>
        <p:spPr>
          <a:xfrm>
            <a:off x="7454384" y="8285559"/>
            <a:ext cx="1240393" cy="155019"/>
          </a:xfrm>
          <a:prstGeom prst="rect">
            <a:avLst/>
          </a:prstGeom>
          <a:noFill/>
          <a:ln/>
        </p:spPr>
        <p:txBody>
          <a:bodyPr wrap="none" lIns="0" tIns="0" rIns="0" bIns="0" rtlCol="0" anchor="t"/>
          <a:lstStyle/>
          <a:p>
            <a:pPr algn="l" indent="0" marL="0">
              <a:lnSpc>
                <a:spcPts val="1200"/>
              </a:lnSpc>
              <a:buNone/>
            </a:pPr>
            <a:r>
              <a:rPr lang="en-US" sz="950" b="1" dirty="0">
                <a:solidFill>
                  <a:srgbClr val="443728"/>
                </a:solidFill>
                <a:latin typeface="Crimson Pro Bold" pitchFamily="34" charset="0"/>
                <a:ea typeface="Crimson Pro Bold" pitchFamily="34" charset="-122"/>
                <a:cs typeface="Crimson Pro Bold" pitchFamily="34" charset="-120"/>
              </a:rPr>
              <a:t>Component Accuracy</a:t>
            </a:r>
            <a:endParaRPr lang="en-US" sz="950" dirty="0"/>
          </a:p>
        </p:txBody>
      </p:sp>
      <p:sp>
        <p:nvSpPr>
          <p:cNvPr id="56" name="Text 48"/>
          <p:cNvSpPr/>
          <p:nvPr/>
        </p:nvSpPr>
        <p:spPr>
          <a:xfrm>
            <a:off x="7454384" y="8470344"/>
            <a:ext cx="3659148" cy="118943"/>
          </a:xfrm>
          <a:prstGeom prst="rect">
            <a:avLst/>
          </a:prstGeom>
          <a:noFill/>
          <a:ln/>
        </p:spPr>
        <p:txBody>
          <a:bodyPr wrap="none" lIns="0" tIns="0" rIns="0" bIns="0" rtlCol="0" anchor="t"/>
          <a:lstStyle/>
          <a:p>
            <a:pPr algn="l" indent="0" marL="0">
              <a:lnSpc>
                <a:spcPts val="900"/>
              </a:lnSpc>
              <a:buNone/>
            </a:pPr>
            <a:r>
              <a:rPr lang="en-US" sz="750" dirty="0">
                <a:solidFill>
                  <a:srgbClr val="443728"/>
                </a:solidFill>
                <a:latin typeface="Open Sans" pitchFamily="34" charset="0"/>
                <a:ea typeface="Open Sans" pitchFamily="34" charset="-122"/>
                <a:cs typeface="Open Sans" pitchFamily="34" charset="-120"/>
              </a:rPr>
              <a:t>Average accuracy across all 13 SQL components.</a:t>
            </a:r>
            <a:endParaRPr lang="en-US" sz="7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5486400" cy="8229600"/>
          </a:xfrm>
          <a:prstGeom prst="rect">
            <a:avLst/>
          </a:prstGeom>
        </p:spPr>
      </p:pic>
      <p:sp>
        <p:nvSpPr>
          <p:cNvPr id="3" name="Text 0"/>
          <p:cNvSpPr/>
          <p:nvPr/>
        </p:nvSpPr>
        <p:spPr>
          <a:xfrm>
            <a:off x="6280190" y="2214682"/>
            <a:ext cx="4961811" cy="620078"/>
          </a:xfrm>
          <a:prstGeom prst="rect">
            <a:avLst/>
          </a:prstGeom>
          <a:noFill/>
          <a:ln/>
        </p:spPr>
        <p:txBody>
          <a:bodyPr wrap="none" lIns="0" tIns="0" rIns="0" bIns="0" rtlCol="0" anchor="t"/>
          <a:lstStyle/>
          <a:p>
            <a:pPr algn="l" indent="0" marL="0">
              <a:lnSpc>
                <a:spcPts val="4850"/>
              </a:lnSpc>
              <a:buNone/>
            </a:pPr>
            <a:r>
              <a:rPr lang="en-US" sz="3900" b="1" dirty="0">
                <a:solidFill>
                  <a:srgbClr val="443728"/>
                </a:solidFill>
                <a:latin typeface="Crimson Pro Bold" pitchFamily="34" charset="0"/>
                <a:ea typeface="Crimson Pro Bold" pitchFamily="34" charset="-122"/>
                <a:cs typeface="Crimson Pro Bold" pitchFamily="34" charset="-120"/>
              </a:rPr>
              <a:t>Conclusion</a:t>
            </a:r>
            <a:endParaRPr lang="en-US" sz="3900" dirty="0"/>
          </a:p>
        </p:txBody>
      </p:sp>
      <p:sp>
        <p:nvSpPr>
          <p:cNvPr id="4" name="Text 1"/>
          <p:cNvSpPr/>
          <p:nvPr/>
        </p:nvSpPr>
        <p:spPr>
          <a:xfrm>
            <a:off x="6280190" y="2914055"/>
            <a:ext cx="2977039" cy="372070"/>
          </a:xfrm>
          <a:prstGeom prst="rect">
            <a:avLst/>
          </a:prstGeom>
          <a:noFill/>
          <a:ln/>
        </p:spPr>
        <p:txBody>
          <a:bodyPr wrap="none" lIns="0" tIns="0" rIns="0" bIns="0" rtlCol="0" anchor="t"/>
          <a:lstStyle/>
          <a:p>
            <a:pPr algn="l" indent="0" marL="0">
              <a:lnSpc>
                <a:spcPts val="2900"/>
              </a:lnSpc>
              <a:buNone/>
            </a:pPr>
            <a:r>
              <a:rPr lang="en-US" sz="2300" b="1" dirty="0">
                <a:solidFill>
                  <a:srgbClr val="443728"/>
                </a:solidFill>
                <a:latin typeface="Crimson Pro Bold" pitchFamily="34" charset="0"/>
                <a:ea typeface="Crimson Pro Bold" pitchFamily="34" charset="-122"/>
                <a:cs typeface="Crimson Pro Bold" pitchFamily="34" charset="-120"/>
              </a:rPr>
              <a:t>Key Achievements</a:t>
            </a:r>
            <a:endParaRPr lang="en-US" sz="2300" dirty="0"/>
          </a:p>
        </p:txBody>
      </p:sp>
      <p:sp>
        <p:nvSpPr>
          <p:cNvPr id="5" name="Text 2"/>
          <p:cNvSpPr/>
          <p:nvPr/>
        </p:nvSpPr>
        <p:spPr>
          <a:xfrm>
            <a:off x="6280190" y="3583781"/>
            <a:ext cx="7556421" cy="317540"/>
          </a:xfrm>
          <a:prstGeom prst="rect">
            <a:avLst/>
          </a:prstGeom>
          <a:noFill/>
          <a:ln/>
        </p:spPr>
        <p:txBody>
          <a:bodyPr wrap="none" lIns="0" tIns="0" rIns="0" bIns="0" rtlCol="0" anchor="t"/>
          <a:lstStyle/>
          <a:p>
            <a:pPr algn="l" marL="342900" indent="-342900">
              <a:lnSpc>
                <a:spcPts val="2500"/>
              </a:lnSpc>
              <a:buSzPct val="100000"/>
              <a:buChar char="•"/>
            </a:pPr>
            <a:r>
              <a:rPr lang="en-US" sz="1550" dirty="0">
                <a:solidFill>
                  <a:srgbClr val="443728"/>
                </a:solidFill>
                <a:latin typeface="Open Sans" pitchFamily="34" charset="0"/>
                <a:ea typeface="Open Sans" pitchFamily="34" charset="-122"/>
                <a:cs typeface="Open Sans" pitchFamily="34" charset="-120"/>
              </a:rPr>
              <a:t>Successfully fine-tuned SLMs for complex database query translation.</a:t>
            </a:r>
            <a:endParaRPr lang="en-US" sz="1550" dirty="0"/>
          </a:p>
        </p:txBody>
      </p:sp>
      <p:sp>
        <p:nvSpPr>
          <p:cNvPr id="6" name="Text 3"/>
          <p:cNvSpPr/>
          <p:nvPr/>
        </p:nvSpPr>
        <p:spPr>
          <a:xfrm>
            <a:off x="6280190" y="3970734"/>
            <a:ext cx="7556421" cy="635079"/>
          </a:xfrm>
          <a:prstGeom prst="rect">
            <a:avLst/>
          </a:prstGeom>
          <a:noFill/>
          <a:ln/>
        </p:spPr>
        <p:txBody>
          <a:bodyPr wrap="square" lIns="0" tIns="0" rIns="0" bIns="0" rtlCol="0" anchor="t"/>
          <a:lstStyle/>
          <a:p>
            <a:pPr algn="l" marL="342900" indent="-342900">
              <a:lnSpc>
                <a:spcPts val="2500"/>
              </a:lnSpc>
              <a:buSzPct val="100000"/>
              <a:buChar char="•"/>
            </a:pPr>
            <a:r>
              <a:rPr lang="en-US" sz="1550" dirty="0">
                <a:solidFill>
                  <a:srgbClr val="443728"/>
                </a:solidFill>
                <a:latin typeface="Open Sans" pitchFamily="34" charset="0"/>
                <a:ea typeface="Open Sans" pitchFamily="34" charset="-122"/>
                <a:cs typeface="Open Sans" pitchFamily="34" charset="-120"/>
              </a:rPr>
              <a:t>Demonstrated the effectiveness of Q-LORA in adapting models to specific tasks.</a:t>
            </a:r>
            <a:endParaRPr lang="en-US" sz="1550" dirty="0"/>
          </a:p>
        </p:txBody>
      </p:sp>
      <p:sp>
        <p:nvSpPr>
          <p:cNvPr id="7" name="Text 4"/>
          <p:cNvSpPr/>
          <p:nvPr/>
        </p:nvSpPr>
        <p:spPr>
          <a:xfrm>
            <a:off x="6280190" y="4675227"/>
            <a:ext cx="7556421" cy="635079"/>
          </a:xfrm>
          <a:prstGeom prst="rect">
            <a:avLst/>
          </a:prstGeom>
          <a:noFill/>
          <a:ln/>
        </p:spPr>
        <p:txBody>
          <a:bodyPr wrap="square" lIns="0" tIns="0" rIns="0" bIns="0" rtlCol="0" anchor="t"/>
          <a:lstStyle/>
          <a:p>
            <a:pPr algn="l" marL="342900" indent="-342900">
              <a:lnSpc>
                <a:spcPts val="2500"/>
              </a:lnSpc>
              <a:buSzPct val="100000"/>
              <a:buChar char="•"/>
            </a:pPr>
            <a:r>
              <a:rPr lang="en-US" sz="1550" dirty="0">
                <a:solidFill>
                  <a:srgbClr val="443728"/>
                </a:solidFill>
                <a:latin typeface="Open Sans" pitchFamily="34" charset="0"/>
                <a:ea typeface="Open Sans" pitchFamily="34" charset="-122"/>
                <a:cs typeface="Open Sans" pitchFamily="34" charset="-120"/>
              </a:rPr>
              <a:t>Achieved competitive accuracy in both Text-to-SQL and SQL-to-NoSQL transformations.</a:t>
            </a:r>
            <a:endParaRPr lang="en-US" sz="1550" dirty="0"/>
          </a:p>
        </p:txBody>
      </p:sp>
      <p:sp>
        <p:nvSpPr>
          <p:cNvPr id="8" name="Text 5"/>
          <p:cNvSpPr/>
          <p:nvPr/>
        </p:nvSpPr>
        <p:spPr>
          <a:xfrm>
            <a:off x="6280190" y="5379720"/>
            <a:ext cx="7556421" cy="635079"/>
          </a:xfrm>
          <a:prstGeom prst="rect">
            <a:avLst/>
          </a:prstGeom>
          <a:noFill/>
          <a:ln/>
        </p:spPr>
        <p:txBody>
          <a:bodyPr wrap="square" lIns="0" tIns="0" rIns="0" bIns="0" rtlCol="0" anchor="t"/>
          <a:lstStyle/>
          <a:p>
            <a:pPr algn="l" marL="342900" indent="-342900">
              <a:lnSpc>
                <a:spcPts val="2500"/>
              </a:lnSpc>
              <a:buSzPct val="100000"/>
              <a:buChar char="•"/>
            </a:pPr>
            <a:r>
              <a:rPr lang="en-US" sz="1550" dirty="0">
                <a:solidFill>
                  <a:srgbClr val="443728"/>
                </a:solidFill>
                <a:latin typeface="Open Sans" pitchFamily="34" charset="0"/>
                <a:ea typeface="Open Sans" pitchFamily="34" charset="-122"/>
                <a:cs typeface="Open Sans" pitchFamily="34" charset="-120"/>
              </a:rPr>
              <a:t>Laid groundwork for more accessible database interactions for non-technical users.</a:t>
            </a:r>
            <a:endParaRPr lang="en-US" sz="15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nvSpPr>
        <p:spPr>
          <a:xfrm>
            <a:off x="748070" y="514350"/>
            <a:ext cx="6773228" cy="584359"/>
          </a:xfrm>
          <a:prstGeom prst="rect">
            <a:avLst/>
          </a:prstGeom>
          <a:noFill/>
          <a:ln/>
        </p:spPr>
        <p:txBody>
          <a:bodyPr wrap="none" lIns="0" tIns="0" rIns="0" bIns="0" rtlCol="0" anchor="t"/>
          <a:lstStyle/>
          <a:p>
            <a:pPr algn="l" indent="0" marL="0">
              <a:lnSpc>
                <a:spcPts val="4600"/>
              </a:lnSpc>
              <a:buNone/>
            </a:pPr>
            <a:r>
              <a:rPr lang="en-US" sz="3650" b="1" dirty="0">
                <a:solidFill>
                  <a:srgbClr val="443728"/>
                </a:solidFill>
                <a:latin typeface="Crimson Pro Bold" pitchFamily="34" charset="0"/>
                <a:ea typeface="Crimson Pro Bold" pitchFamily="34" charset="-122"/>
                <a:cs typeface="Crimson Pro Bold" pitchFamily="34" charset="-120"/>
              </a:rPr>
              <a:t>Code Snippets and Demonstration</a:t>
            </a:r>
            <a:endParaRPr lang="en-US" sz="3650" dirty="0"/>
          </a:p>
        </p:txBody>
      </p:sp>
      <p:sp>
        <p:nvSpPr>
          <p:cNvPr id="3" name="Text 1"/>
          <p:cNvSpPr/>
          <p:nvPr/>
        </p:nvSpPr>
        <p:spPr>
          <a:xfrm>
            <a:off x="748070" y="1451134"/>
            <a:ext cx="13134261" cy="290632"/>
          </a:xfrm>
          <a:prstGeom prst="rect">
            <a:avLst/>
          </a:prstGeom>
          <a:noFill/>
          <a:ln/>
        </p:spPr>
        <p:txBody>
          <a:bodyPr wrap="none" lIns="0" tIns="0" rIns="0" bIns="0" rtlCol="0" anchor="t"/>
          <a:lstStyle/>
          <a:p>
            <a:pPr algn="l" indent="0" marL="0">
              <a:lnSpc>
                <a:spcPts val="2250"/>
              </a:lnSpc>
              <a:buNone/>
            </a:pPr>
            <a:r>
              <a:rPr lang="en-US" sz="1450" dirty="0">
                <a:solidFill>
                  <a:srgbClr val="443728"/>
                </a:solidFill>
                <a:latin typeface="Open Sans" pitchFamily="34" charset="0"/>
                <a:ea typeface="Open Sans" pitchFamily="34" charset="-122"/>
                <a:cs typeface="Open Sans" pitchFamily="34" charset="-120"/>
              </a:rPr>
              <a:t>Here are some examples of our generated code and a glimpse into our project's user interface.</a:t>
            </a:r>
            <a:endParaRPr lang="en-US" sz="1450" dirty="0"/>
          </a:p>
        </p:txBody>
      </p:sp>
      <p:pic>
        <p:nvPicPr>
          <p:cNvPr id="4" name="Image 0" descr="preencoded.png">    </p:cNvPr>
          <p:cNvPicPr>
            <a:picLocks noChangeAspect="1"/>
          </p:cNvPicPr>
          <p:nvPr/>
        </p:nvPicPr>
        <p:blipFill>
          <a:blip r:embed="rId1"/>
          <a:stretch>
            <a:fillRect/>
          </a:stretch>
        </p:blipFill>
        <p:spPr>
          <a:xfrm>
            <a:off x="755690" y="2061686"/>
            <a:ext cx="4273272" cy="4273272"/>
          </a:xfrm>
          <a:prstGeom prst="rect">
            <a:avLst/>
          </a:prstGeom>
        </p:spPr>
      </p:pic>
      <p:pic>
        <p:nvPicPr>
          <p:cNvPr id="5" name="Image 1" descr="preencoded.png">    </p:cNvPr>
          <p:cNvPicPr>
            <a:picLocks noChangeAspect="1"/>
          </p:cNvPicPr>
          <p:nvPr/>
        </p:nvPicPr>
        <p:blipFill>
          <a:blip r:embed="rId2"/>
          <a:stretch>
            <a:fillRect/>
          </a:stretch>
        </p:blipFill>
        <p:spPr>
          <a:xfrm>
            <a:off x="5178504" y="2061686"/>
            <a:ext cx="4273272" cy="4273272"/>
          </a:xfrm>
          <a:prstGeom prst="rect">
            <a:avLst/>
          </a:prstGeom>
        </p:spPr>
      </p:pic>
      <p:pic>
        <p:nvPicPr>
          <p:cNvPr id="6" name="Image 2" descr="preencoded.png">    </p:cNvPr>
          <p:cNvPicPr>
            <a:picLocks noChangeAspect="1"/>
          </p:cNvPicPr>
          <p:nvPr/>
        </p:nvPicPr>
        <p:blipFill>
          <a:blip r:embed="rId3"/>
          <a:stretch>
            <a:fillRect/>
          </a:stretch>
        </p:blipFill>
        <p:spPr>
          <a:xfrm>
            <a:off x="9601319" y="2061686"/>
            <a:ext cx="4273272" cy="4273272"/>
          </a:xfrm>
          <a:prstGeom prst="rect">
            <a:avLst/>
          </a:prstGeom>
        </p:spPr>
      </p:pic>
      <p:sp>
        <p:nvSpPr>
          <p:cNvPr id="7" name="Text 2"/>
          <p:cNvSpPr/>
          <p:nvPr/>
        </p:nvSpPr>
        <p:spPr>
          <a:xfrm>
            <a:off x="748070" y="6654879"/>
            <a:ext cx="13134261" cy="581263"/>
          </a:xfrm>
          <a:prstGeom prst="rect">
            <a:avLst/>
          </a:prstGeom>
          <a:noFill/>
          <a:ln/>
        </p:spPr>
        <p:txBody>
          <a:bodyPr wrap="square" lIns="0" tIns="0" rIns="0" bIns="0" rtlCol="0" anchor="t"/>
          <a:lstStyle/>
          <a:p>
            <a:pPr algn="l" indent="0" marL="0">
              <a:lnSpc>
                <a:spcPts val="2250"/>
              </a:lnSpc>
              <a:buNone/>
            </a:pPr>
            <a:r>
              <a:rPr lang="en-US" sz="1450" dirty="0">
                <a:solidFill>
                  <a:srgbClr val="443728"/>
                </a:solidFill>
                <a:latin typeface="Open Sans" pitchFamily="34" charset="0"/>
                <a:ea typeface="Open Sans" pitchFamily="34" charset="-122"/>
                <a:cs typeface="Open Sans" pitchFamily="34" charset="-120"/>
              </a:rPr>
              <a:t>These snippets highlight the ability of our models to produce syntactically correct and semantically accurate queries, alongside the interactive capabilities being developed for practical application.</a:t>
            </a:r>
            <a:endParaRPr lang="en-US" sz="1450" dirty="0"/>
          </a:p>
        </p:txBody>
      </p:sp>
      <p:sp>
        <p:nvSpPr>
          <p:cNvPr id="8" name="Text 3"/>
          <p:cNvSpPr/>
          <p:nvPr/>
        </p:nvSpPr>
        <p:spPr>
          <a:xfrm>
            <a:off x="748070" y="7434382"/>
            <a:ext cx="13134261" cy="290632"/>
          </a:xfrm>
          <a:prstGeom prst="rect">
            <a:avLst/>
          </a:prstGeom>
          <a:noFill/>
          <a:ln/>
        </p:spPr>
        <p:txBody>
          <a:bodyPr wrap="none" lIns="0" tIns="0" rIns="0" bIns="0" rtlCol="0" anchor="t"/>
          <a:lstStyle/>
          <a:p>
            <a:pPr algn="l" indent="0" marL="0">
              <a:lnSpc>
                <a:spcPts val="2250"/>
              </a:lnSpc>
              <a:buNone/>
            </a:pPr>
            <a:r>
              <a:rPr lang="en-US" sz="1450" dirty="0">
                <a:solidFill>
                  <a:srgbClr val="443728"/>
                </a:solidFill>
                <a:latin typeface="Open Sans" pitchFamily="34" charset="0"/>
                <a:ea typeface="Open Sans" pitchFamily="34" charset="-122"/>
                <a:cs typeface="Open Sans" pitchFamily="34" charset="-120"/>
              </a:rPr>
              <a:t>Sources:</a:t>
            </a:r>
            <a:pPr algn="l" indent="0" marL="0">
              <a:lnSpc>
                <a:spcPts val="2250"/>
              </a:lnSpc>
              <a:buNone/>
            </a:pPr>
            <a:r>
              <a:rPr lang="en-US" sz="1450" u="sng" dirty="0">
                <a:solidFill>
                  <a:srgbClr val="835E54"/>
                </a:solidFill>
                <a:latin typeface="Open Sans" pitchFamily="34" charset="0"/>
                <a:ea typeface="Open Sans" pitchFamily="34" charset="-122"/>
                <a:cs typeface="Open Sans" pitchFamily="34" charset="-120"/>
                <a:hlinkClick r:id="rId4" invalidUrl="" action="" tgtFrame="" tooltip="" history="1" highlightClick="0" endSnd="0">
                  <a:extLst>
                    <a:ext uri="{A12FA001-AC4F-418D-AE19-62706E023703}">
                      <ahyp:hlinkClr xmlns:ahyp="http://schemas.microsoft.com/office/drawing/2018/hyperlinkcolor" val="tx"/>
                    </a:ext>
                  </a:extLst>
                </a:hlinkClick>
              </a:rPr>
              <a:t>https://github.com/nayanjha16/CodeGen-Implementations/tree/group18</a:t>
            </a:r>
            <a:endParaRPr lang="en-US" sz="14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7315200" y="0"/>
            <a:ext cx="7315200" cy="8229600"/>
          </a:xfrm>
          <a:prstGeom prst="rect">
            <a:avLst/>
          </a:prstGeom>
        </p:spPr>
      </p:pic>
      <p:sp>
        <p:nvSpPr>
          <p:cNvPr id="3" name="Text 0"/>
          <p:cNvSpPr/>
          <p:nvPr/>
        </p:nvSpPr>
        <p:spPr>
          <a:xfrm>
            <a:off x="793790" y="3494603"/>
            <a:ext cx="5727621" cy="1240393"/>
          </a:xfrm>
          <a:prstGeom prst="rect">
            <a:avLst/>
          </a:prstGeom>
          <a:noFill/>
          <a:ln/>
        </p:spPr>
        <p:txBody>
          <a:bodyPr wrap="none" lIns="0" tIns="0" rIns="0" bIns="0" rtlCol="0" anchor="t"/>
          <a:lstStyle/>
          <a:p>
            <a:pPr algn="l" indent="0" marL="0">
              <a:lnSpc>
                <a:spcPts val="9750"/>
              </a:lnSpc>
              <a:buNone/>
            </a:pPr>
            <a:r>
              <a:rPr lang="en-US" sz="7800" b="1" dirty="0">
                <a:solidFill>
                  <a:srgbClr val="443728"/>
                </a:solidFill>
                <a:latin typeface="Crimson Pro Bold" pitchFamily="34" charset="0"/>
                <a:ea typeface="Crimson Pro Bold" pitchFamily="34" charset="-122"/>
                <a:cs typeface="Crimson Pro Bold" pitchFamily="34" charset="-120"/>
              </a:rPr>
              <a:t>Thank you</a:t>
            </a:r>
            <a:endParaRPr lang="en-US" sz="78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13</Slides>
  <Notes>13</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13</vt:i4>
      </vt:variant>
    </vt:vector>
  </HeadingPairs>
  <TitlesOfParts>
    <vt:vector size="16"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lastModifiedBy/>
  <cp:revision>1</cp:revision>
  <dcterms:created xsi:type="dcterms:W3CDTF">2026-01-27T06:03:52Z</dcterms:created>
  <dcterms:modified xsi:type="dcterms:W3CDTF">2026-01-27T06:03:52Z</dcterms:modified>
</cp:coreProperties>
</file>
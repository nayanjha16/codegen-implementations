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7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>
        <p:scale>
          <a:sx n="122" d="100"/>
          <a:sy n="122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yanjha16/CodeGen-Implementations/tree/feat/group6_customised" TargetMode="External"/><Relationship Id="rId2" Type="http://schemas.openxmlformats.org/officeDocument/2006/relationships/hyperlink" Target="https://github.com/nayanjha16/CodeGen-Implementations/tree/group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tree&#10;&#10;AI-generated content may be incorrect.">
            <a:extLst>
              <a:ext uri="{FF2B5EF4-FFF2-40B4-BE49-F238E27FC236}">
                <a16:creationId xmlns:a16="http://schemas.microsoft.com/office/drawing/2014/main" id="{1F0B030E-DEA3-DC49-8593-24F86D262C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45413" y="-13663"/>
            <a:ext cx="4184650" cy="2011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271476-6229-2671-035C-9B3A75C4739B}"/>
              </a:ext>
            </a:extLst>
          </p:cNvPr>
          <p:cNvSpPr txBox="1"/>
          <p:nvPr/>
        </p:nvSpPr>
        <p:spPr>
          <a:xfrm>
            <a:off x="3289738" y="1803859"/>
            <a:ext cx="6096000" cy="5054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4925" algn="ctr">
              <a:lnSpc>
                <a:spcPct val="115000"/>
              </a:lnSpc>
              <a:spcAft>
                <a:spcPts val="4055"/>
              </a:spcAft>
              <a:buNone/>
            </a:pPr>
            <a:r>
              <a:rPr lang="en-GB" sz="1800" kern="100" dirty="0">
                <a:solidFill>
                  <a:srgbClr val="66666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AIML C25 - PGCP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GB" sz="3200" b="1" dirty="0" err="1">
                <a:solidFill>
                  <a:srgbClr val="666666"/>
                </a:solidFill>
                <a:effectLst/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CodeGen</a:t>
            </a:r>
            <a:r>
              <a:rPr lang="en-GB" sz="3200" b="1" dirty="0">
                <a:solidFill>
                  <a:srgbClr val="666666"/>
                </a:solidFill>
                <a:effectLst/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 - Text-to-SQL</a:t>
            </a:r>
            <a:endParaRPr lang="en-GB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6350" marR="34925" algn="ctr">
              <a:lnSpc>
                <a:spcPct val="110000"/>
              </a:lnSpc>
              <a:spcAft>
                <a:spcPts val="300"/>
              </a:spcAft>
              <a:buNone/>
            </a:pPr>
            <a:r>
              <a:rPr lang="en-GB" sz="1800" b="1" kern="100" dirty="0">
                <a:solidFill>
                  <a:srgbClr val="66666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- 6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" indent="-6985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Vidyasagar Parupati</a:t>
            </a:r>
          </a:p>
          <a:p>
            <a:pPr marL="28575" indent="-6985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Ramakrishna </a:t>
            </a:r>
            <a:r>
              <a:rPr lang="en-GB" sz="1800" b="1" kern="100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Rajidi</a:t>
            </a:r>
            <a:endParaRPr lang="en-GB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" indent="-6985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Amit Sethi</a:t>
            </a:r>
          </a:p>
          <a:p>
            <a:pPr marL="28575" indent="-6985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Ashok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R="34925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b="1" kern="100" dirty="0">
                <a:solidFill>
                  <a:srgbClr val="66666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Mentors: </a:t>
            </a:r>
            <a:r>
              <a:rPr lang="en-GB" sz="1800" kern="100" dirty="0">
                <a:solidFill>
                  <a:srgbClr val="999999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Nayan, Himanshu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350" marR="34925" algn="ctr">
              <a:lnSpc>
                <a:spcPct val="110000"/>
              </a:lnSpc>
              <a:spcAft>
                <a:spcPts val="3400"/>
              </a:spcAft>
              <a:buNone/>
            </a:pPr>
            <a:r>
              <a:rPr lang="en-GB" sz="1800" b="1" kern="100" dirty="0">
                <a:solidFill>
                  <a:srgbClr val="66666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Supervisor: </a:t>
            </a:r>
            <a:r>
              <a:rPr lang="en-GB" sz="1800" kern="100" dirty="0">
                <a:solidFill>
                  <a:srgbClr val="999999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Anil </a:t>
            </a:r>
            <a:r>
              <a:rPr lang="en-GB" sz="1800" kern="100" dirty="0" err="1">
                <a:solidFill>
                  <a:srgbClr val="999999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Nelakanti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500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11111"/>
                </a:solidFill>
              </a:defRPr>
            </a:pPr>
            <a:r>
              <a:t>Gen-SQL Text-to-SQL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6595241" cy="1752600"/>
          </a:xfrm>
        </p:spPr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Proposal-driven implementation based on Gen-SQL on Apple Silicon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Problem and motivation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Gen-SQL paper overview (generate-ground-regenerate)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Pipeline implementation on Apple Silicon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Datasets and evaluation metrics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Local LLM results: pre vs post fine-tuning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Limitations and improvement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Text-to-SQL bridges natural language and database schemas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Full-schema prompting is costly and often exceeds context limits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Pure retrieval can miss relevant tables/columns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Goal: reduce cost while preserving accuracy using Gen-SQL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rPr dirty="0"/>
              <a:t>Gen-SQL 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Generate: LLM creates a pseudo-schema from the question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Ground: pseudo-schema guides embedding-based retrieval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Regenerate: LLM writes SQL using grounded schema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Optional: iterative refinement for error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Pipeline We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Step 1: LLM generates pseudo-schema (via pseudo-SQL)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Step 2: Hybrid retrieval grounds tables/columns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Step 3: SQL regeneration with grounded schema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Step 4: (optional) post-processing /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Gen-SQL Paper Diagram (Figure 3)</a:t>
            </a:r>
          </a:p>
        </p:txBody>
      </p:sp>
      <p:pic>
        <p:nvPicPr>
          <p:cNvPr id="3" name="Picture 2" descr="gensql_figure3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234440"/>
            <a:ext cx="3556874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2828"/>
                </a:solidFill>
              </a:defRPr>
            </a:pPr>
            <a:r>
              <a:t>Source: COLING 2025 Gen-SQL paper (Figure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9A648C-B504-A4AB-4F18-7BFCC3786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54798"/>
            <a:ext cx="7256956" cy="37334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Datasets &amp;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Spider: cross-domain complex Text-to-SQL benchmark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BIRD: large schemas and value-based reasoning (planned)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Primary metrics: Execution Accuracy (EX), Exact Match (EM)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Infrastructure: Apple Silicon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Local LLM serving via Ollama (OpenAI-compatible API)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Fine-tuning with MLX LoRA on Apple Silicon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Pipeline orchestration in Python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Evaluation via official Spider test-suite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Evaluation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Full Spider dev set (1034 samples)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Models: Llama2 7B, Mistral, Llama3.1 8B, Llama3.1 8B + LoRA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All runs executed locally (Ollama + MLX server)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Metrics: EX/EM; average latency per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Full-Dev Results (EX/EM)</a:t>
            </a:r>
          </a:p>
        </p:txBody>
      </p:sp>
      <p:pic>
        <p:nvPicPr>
          <p:cNvPr id="3" name="Picture 2" descr="full_dev_metrics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164592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2828"/>
                </a:solidFill>
              </a:defRPr>
            </a:pPr>
            <a:r>
              <a:t>Spider dev (1034), zero-shot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Pre vs Post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2828"/>
                </a:solidFill>
              </a:defRPr>
            </a:pPr>
            <a:r>
              <a:t>Base vs fine-tuned Llama 3.1 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2E4B46-E074-F65A-552B-20FA6E32C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1841500"/>
            <a:ext cx="63500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Fine-Tuning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LoRA fine-tuning with MLX on Llama 3.1 8B (4-bit)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Adapters saved every 100 iterations; best checkpoint selected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Served via MLX OpenAI-compatible server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Improved EX/EM on full dev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Limitations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Fine-tuned adapters available only for Llama 3.1 8B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Retrieval errors still propagate to SQL generation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Local hardware limits larger models and longer contexts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Execution-based evaluation ignores query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Improvement Scope (Proposal-Driven)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Structured pseudo-schema output (JSON / function-calling)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Hybrid retrieval: dense + BM25 + graph expansion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Iterative grounding verification and refinement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Model specialization to cut cost (small for Step 1)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2000" dirty="0">
                <a:solidFill>
                  <a:srgbClr val="282828"/>
                </a:solidFill>
              </a:rPr>
              <a:t>Evaluate on BIRD benchmark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Gen-SQL pipeline implemented locally on Apple Silicon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Full-dev evaluation completed for multiple LLMs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Fine-tuning yields significant improvement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Clear roadmap for future enhancements</a:t>
            </a:r>
          </a:p>
          <a:p>
            <a:r>
              <a:t>Achieved 72.1% Execution Accuracy with Fine-tuned Llama 3.1 8B.</a:t>
            </a:r>
          </a:p>
          <a:p>
            <a:r>
              <a:t>Outperformed base Llama 3.1 8B (51.5%) by over 20%.</a:t>
            </a:r>
          </a:p>
          <a:p>
            <a:r>
              <a:t>Proven feasibility of privacy-first, local text-to-SQL on consumer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11111"/>
                </a:solidFill>
              </a:defRPr>
            </a:pPr>
            <a:r>
              <a:t>Full-Dev Results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Avg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llama2:7b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 (Ollama)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0.73s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mistral:latest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 (Ollama)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0.89s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llama3.1:8b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 (Ollama)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Llama 3.1 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Fine-tuned (MLX + LoRA)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1.23s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2828"/>
                </a:solidFill>
              </a:defRPr>
            </a:pPr>
            <a:r>
              <a:t>Spider dev (1034), zero-shot chat, local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Gen-SQL Text-to-SQL Project | AIML C25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code and results available</a:t>
            </a:r>
            <a:r>
              <a:rPr lang="en-US" dirty="0"/>
              <a:t> at </a:t>
            </a:r>
            <a:r>
              <a:rPr lang="en-US" dirty="0">
                <a:hlinkClick r:id="rId2"/>
              </a:rPr>
              <a:t>https://github.com/nayanjha16/CodeGen-Implementations/tree/group6</a:t>
            </a:r>
            <a:endParaRPr lang="en-US" dirty="0"/>
          </a:p>
          <a:p>
            <a:r>
              <a:rPr lang="en-GB" dirty="0">
                <a:hlinkClick r:id="rId3"/>
              </a:rPr>
              <a:t>https://github.com/nayanjha16/CodeGen-Implementations/tree/feat/group6_customised</a:t>
            </a:r>
            <a:endParaRPr lang="en-GB" dirty="0"/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Error Analysis (Spider)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Common Failure Modes:</a:t>
            </a:r>
          </a:p>
          <a:p>
            <a:r>
              <a:t>1. Schema Hallucination</a:t>
            </a:r>
          </a:p>
          <a:p>
            <a:pPr lvl="1"/>
            <a:r>
              <a:t>   - Pred: SELECT ... FROM singer_in_concert ... WHERE concert_Name LIKE ...</a:t>
            </a:r>
          </a:p>
          <a:p>
            <a:pPr lvl="1"/>
            <a:r>
              <a:t>   - Gold: ... WHERE song_name LIKE ...</a:t>
            </a:r>
          </a:p>
          <a:p>
            <a:pPr lvl="1"/>
            <a:r>
              <a:t>   - Issue: Misinterpreting schema column names.</a:t>
            </a:r>
          </a:p>
          <a:p>
            <a:r>
              <a:t>2. Complex Set Operations (INTERSECT/EXCEPT)</a:t>
            </a:r>
          </a:p>
          <a:p>
            <a:pPr lvl="1"/>
            <a:r>
              <a:t>   - Pred: SELECT ... WHERE Year IN ('2014', '2015')</a:t>
            </a:r>
          </a:p>
          <a:p>
            <a:pPr lvl="1"/>
            <a:r>
              <a:t>   - Gold: ... WHERE Year = 2014 INTERSECT ... WHERE Year = 2015</a:t>
            </a:r>
          </a:p>
          <a:p>
            <a:pPr lvl="1"/>
            <a:r>
              <a:t>   - Issue: LLM prefers logical simplification over structural exactness.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Work: BIRD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Planned Evaluation on BIRD (Big Instruction-Reference Database):</a:t>
            </a:r>
          </a:p>
          <a:p>
            <a:pPr>
              <a:defRPr b="1"/>
            </a:pPr>
            <a:r>
              <a:t>Status: Dataset Integration Pending</a:t>
            </a:r>
          </a:p>
          <a:p>
            <a:r>
              <a:t>   - BIRD resources (`dev.json`, databases) not currently in repository.</a:t>
            </a:r>
          </a:p>
          <a:p>
            <a:r>
              <a:t>Goal:</a:t>
            </a:r>
          </a:p>
          <a:p>
            <a:pPr lvl="1"/>
            <a:r>
              <a:t>   - Evaluate generalizability on larger, more dirty real-world databases.</a:t>
            </a:r>
          </a:p>
          <a:p>
            <a:pPr lvl="1"/>
            <a:r>
              <a:t>   - Comparison with Spider performance.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407" y="327190"/>
            <a:ext cx="8229600" cy="1143000"/>
          </a:xfrm>
        </p:spPr>
        <p:txBody>
          <a:bodyPr/>
          <a:lstStyle/>
          <a:p>
            <a:r>
              <a:rPr dirty="0"/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3300" lvl="8" indent="0">
              <a:buNone/>
            </a:pPr>
            <a:endParaRPr lang="en-GB" sz="3600" dirty="0"/>
          </a:p>
          <a:p>
            <a:pPr marL="3543300" lvl="8" indent="0">
              <a:buNone/>
            </a:pPr>
            <a:endParaRPr lang="en-GB" sz="3600" dirty="0"/>
          </a:p>
          <a:p>
            <a:pPr marL="3543300" lvl="8" indent="0" algn="ctr">
              <a:buNone/>
            </a:pPr>
            <a:r>
              <a:rPr lang="en-GB" sz="3600" dirty="0"/>
              <a:t>Thank you!</a:t>
            </a:r>
            <a:endParaRPr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854</Words>
  <Application>Microsoft Macintosh PowerPoint</Application>
  <PresentationFormat>Widescreen</PresentationFormat>
  <Paragraphs>146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Times New Roman</vt:lpstr>
      <vt:lpstr>Trebuchet MS</vt:lpstr>
      <vt:lpstr>Office Theme</vt:lpstr>
      <vt:lpstr>PowerPoint Presentation</vt:lpstr>
      <vt:lpstr>Gen-SQL Text-to-SQL Project</vt:lpstr>
      <vt:lpstr>Agenda</vt:lpstr>
      <vt:lpstr>Problem &amp; Motivation</vt:lpstr>
      <vt:lpstr>Gen-SQL Core Idea</vt:lpstr>
      <vt:lpstr>Pipeline We Implemented</vt:lpstr>
      <vt:lpstr>Gen-SQL Paper Diagram (Figure 3)</vt:lpstr>
      <vt:lpstr>Datasets &amp; Benchmarks</vt:lpstr>
      <vt:lpstr>Infrastructure: Apple Silicon</vt:lpstr>
      <vt:lpstr>Evaluation Setup</vt:lpstr>
      <vt:lpstr>Full-Dev Results (EX/EM)</vt:lpstr>
      <vt:lpstr>Pre vs Post Optimization</vt:lpstr>
      <vt:lpstr>Fine-Tuning Summary</vt:lpstr>
      <vt:lpstr>Limitations &amp; Risks</vt:lpstr>
      <vt:lpstr>Improvement Scope (Proposal-Driven)</vt:lpstr>
      <vt:lpstr>Conclusion</vt:lpstr>
      <vt:lpstr>Full-Dev Results Table</vt:lpstr>
      <vt:lpstr>Thank You &amp; Questions</vt:lpstr>
      <vt:lpstr>Appendix: Error Analysis (Spider)</vt:lpstr>
      <vt:lpstr>Future Work: BIRD Benchmark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VS Parupati</cp:lastModifiedBy>
  <cp:revision>2</cp:revision>
  <dcterms:created xsi:type="dcterms:W3CDTF">2013-01-27T09:14:16Z</dcterms:created>
  <dcterms:modified xsi:type="dcterms:W3CDTF">2026-01-25T00:40:27Z</dcterms:modified>
  <cp:category/>
</cp:coreProperties>
</file>
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7"/>
  </p:notesMasterIdLst>
  <p:sldIdLst>
    <p:sldId id="276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9144000" cy="6858000" type="screen4x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0" roundtripDataSignature="AMtx7mgJeTwnp03Q3HfaFcEXlj8WBIPVC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1904" y="46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bb37a4558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bb37a4558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bb37a45581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bb37a45581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bb37a45581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bb37a45581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bb37a45581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bb37a45581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" name="Google Shape;14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2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2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4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4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2" name="Google Shape;32;p15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3" name="Google Shape;33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6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16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0" name="Google Shape;40;p16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6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2" name="Google Shape;42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logo with a tree&#10;&#10;AI-generated content may be incorrect.">
            <a:extLst>
              <a:ext uri="{FF2B5EF4-FFF2-40B4-BE49-F238E27FC236}">
                <a16:creationId xmlns:a16="http://schemas.microsoft.com/office/drawing/2014/main" id="{1F0B030E-DEA3-DC49-8593-24F86D262CF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3184060" y="847003"/>
            <a:ext cx="3138488" cy="15087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9271476-6229-2671-035C-9B3A75C4739B}"/>
              </a:ext>
            </a:extLst>
          </p:cNvPr>
          <p:cNvSpPr txBox="1"/>
          <p:nvPr/>
        </p:nvSpPr>
        <p:spPr>
          <a:xfrm>
            <a:off x="2467304" y="2210144"/>
            <a:ext cx="4572000" cy="3800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26194" algn="ctr">
              <a:lnSpc>
                <a:spcPct val="115000"/>
              </a:lnSpc>
              <a:spcAft>
                <a:spcPts val="3041"/>
              </a:spcAft>
            </a:pPr>
            <a:r>
              <a:rPr lang="en-GB" sz="1350" kern="100" dirty="0">
                <a:solidFill>
                  <a:srgbClr val="666666"/>
                </a:solidFill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AIML C25 - PGCP</a:t>
            </a:r>
            <a:endParaRPr lang="en-GB" sz="1050" kern="100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>
              <a:buNone/>
            </a:pPr>
            <a:r>
              <a:rPr lang="en-GB" sz="2400" b="1" dirty="0" err="1">
                <a:solidFill>
                  <a:srgbClr val="666666"/>
                </a:solidFill>
                <a:latin typeface="Trebuchet MS" panose="020B0703020202090204" pitchFamily="34" charset="0"/>
                <a:ea typeface="Trebuchet MS" panose="020B0703020202090204" pitchFamily="34" charset="0"/>
                <a:cs typeface="Trebuchet MS" panose="020B0703020202090204" pitchFamily="34" charset="0"/>
              </a:rPr>
              <a:t>CodeGen</a:t>
            </a:r>
            <a:r>
              <a:rPr lang="en-GB" sz="2400" b="1" dirty="0">
                <a:solidFill>
                  <a:srgbClr val="666666"/>
                </a:solidFill>
                <a:latin typeface="Trebuchet MS" panose="020B0703020202090204" pitchFamily="34" charset="0"/>
                <a:ea typeface="Trebuchet MS" panose="020B0703020202090204" pitchFamily="34" charset="0"/>
                <a:cs typeface="Trebuchet MS" panose="020B0703020202090204" pitchFamily="34" charset="0"/>
              </a:rPr>
              <a:t> - Text-to-NoSQL</a:t>
            </a:r>
            <a:endParaRPr lang="en-GB" sz="105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lang="en-GB" sz="105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 </a:t>
            </a:r>
          </a:p>
          <a:p>
            <a:pPr marL="4763" marR="26194" algn="ctr">
              <a:lnSpc>
                <a:spcPct val="110000"/>
              </a:lnSpc>
              <a:spcAft>
                <a:spcPts val="225"/>
              </a:spcAft>
            </a:pPr>
            <a:r>
              <a:rPr lang="en-GB" sz="1350" b="1" kern="100" dirty="0">
                <a:solidFill>
                  <a:srgbClr val="666666"/>
                </a:solidFill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Group - 6</a:t>
            </a:r>
            <a:endParaRPr lang="en-GB" sz="1050" kern="100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21431" indent="-5239" algn="ctr">
              <a:lnSpc>
                <a:spcPct val="115000"/>
              </a:lnSpc>
              <a:spcBef>
                <a:spcPts val="600"/>
              </a:spcBef>
              <a:spcAft>
                <a:spcPts val="300"/>
              </a:spcAft>
            </a:pPr>
            <a:r>
              <a:rPr lang="en-GB" sz="1350" b="1" kern="100" dirty="0">
                <a:solidFill>
                  <a:srgbClr val="0F4761"/>
                </a:solidFill>
                <a:latin typeface="Aptos Display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Vidyasagar Parupati</a:t>
            </a:r>
          </a:p>
          <a:p>
            <a:pPr marL="21431" indent="-5239" algn="ctr">
              <a:lnSpc>
                <a:spcPct val="115000"/>
              </a:lnSpc>
              <a:spcBef>
                <a:spcPts val="600"/>
              </a:spcBef>
              <a:spcAft>
                <a:spcPts val="300"/>
              </a:spcAft>
            </a:pPr>
            <a:r>
              <a:rPr lang="en-GB" sz="1350" b="1" kern="100" dirty="0">
                <a:solidFill>
                  <a:srgbClr val="0F4761"/>
                </a:solidFill>
                <a:latin typeface="Aptos Display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Ramakrishna </a:t>
            </a:r>
            <a:r>
              <a:rPr lang="en-GB" sz="1350" b="1" kern="100" dirty="0" err="1">
                <a:solidFill>
                  <a:srgbClr val="0F4761"/>
                </a:solidFill>
                <a:latin typeface="Aptos Display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Rajidi</a:t>
            </a:r>
            <a:endParaRPr lang="en-GB" sz="1350" b="1" kern="100" dirty="0">
              <a:solidFill>
                <a:srgbClr val="0F4761"/>
              </a:solidFill>
              <a:latin typeface="Aptos Display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1431" indent="-5239" algn="ctr">
              <a:lnSpc>
                <a:spcPct val="115000"/>
              </a:lnSpc>
              <a:spcBef>
                <a:spcPts val="600"/>
              </a:spcBef>
              <a:spcAft>
                <a:spcPts val="300"/>
              </a:spcAft>
            </a:pPr>
            <a:r>
              <a:rPr lang="en-GB" sz="1350" b="1" kern="100" dirty="0">
                <a:solidFill>
                  <a:srgbClr val="0F4761"/>
                </a:solidFill>
                <a:latin typeface="Aptos Display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Amit Sethi</a:t>
            </a:r>
          </a:p>
          <a:p>
            <a:pPr marL="21431" indent="-5239" algn="ctr">
              <a:lnSpc>
                <a:spcPct val="115000"/>
              </a:lnSpc>
              <a:spcBef>
                <a:spcPts val="600"/>
              </a:spcBef>
              <a:spcAft>
                <a:spcPts val="300"/>
              </a:spcAft>
            </a:pPr>
            <a:r>
              <a:rPr lang="en-GB" sz="1350" b="1" kern="100" dirty="0">
                <a:solidFill>
                  <a:srgbClr val="0F4761"/>
                </a:solidFill>
                <a:latin typeface="Aptos Display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Ashok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lang="en-GB" sz="105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 </a:t>
            </a:r>
          </a:p>
          <a:p>
            <a:pPr marR="26194" algn="ctr">
              <a:lnSpc>
                <a:spcPct val="107000"/>
              </a:lnSpc>
              <a:spcAft>
                <a:spcPts val="600"/>
              </a:spcAft>
            </a:pPr>
            <a:r>
              <a:rPr lang="en-GB" sz="1350" b="1" kern="100" dirty="0">
                <a:solidFill>
                  <a:srgbClr val="666666"/>
                </a:solidFill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Project Mentors: </a:t>
            </a:r>
            <a:r>
              <a:rPr lang="en-GB" sz="1350" kern="100" dirty="0">
                <a:solidFill>
                  <a:srgbClr val="999999"/>
                </a:solidFill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Nayan, Himanshu</a:t>
            </a:r>
            <a:endParaRPr lang="en-GB" sz="1050" kern="100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4763" marR="26194" algn="ctr">
              <a:lnSpc>
                <a:spcPct val="110000"/>
              </a:lnSpc>
              <a:spcAft>
                <a:spcPts val="2550"/>
              </a:spcAft>
            </a:pPr>
            <a:r>
              <a:rPr lang="en-GB" sz="1350" b="1" kern="100" dirty="0">
                <a:solidFill>
                  <a:srgbClr val="666666"/>
                </a:solidFill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Project Supervisor: </a:t>
            </a:r>
            <a:r>
              <a:rPr lang="en-GB" sz="1350" kern="100" dirty="0">
                <a:solidFill>
                  <a:srgbClr val="999999"/>
                </a:solidFill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Anil </a:t>
            </a:r>
            <a:r>
              <a:rPr lang="en-GB" sz="1350" kern="100" dirty="0" err="1">
                <a:solidFill>
                  <a:srgbClr val="999999"/>
                </a:solidFill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Nelakanti</a:t>
            </a:r>
            <a:endParaRPr lang="en-GB" sz="1050" kern="100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05007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Text-to-NoSQL: NL to MongoDB Translation</a:t>
            </a:r>
            <a:endParaRPr/>
          </a:p>
        </p:txBody>
      </p:sp>
      <p:sp>
        <p:nvSpPr>
          <p:cNvPr id="85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</a:pPr>
            <a:r>
              <a:rPr lang="en-US">
                <a:solidFill>
                  <a:srgbClr val="888888"/>
                </a:solidFill>
              </a:rPr>
              <a:t>Capstone Stage 2 Final Report</a:t>
            </a:r>
            <a:endParaRPr/>
          </a:p>
          <a:p>
            <a:pPr marL="0" lvl="0" indent="0" algn="ctr" rtl="0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</a:pPr>
            <a:r>
              <a:rPr lang="en-US">
                <a:solidFill>
                  <a:srgbClr val="888888"/>
                </a:solidFill>
              </a:rPr>
              <a:t>SMART Framework + RAG Optimization</a:t>
            </a:r>
            <a:endParaRPr/>
          </a:p>
          <a:p>
            <a:pPr marL="0" lvl="0" indent="0" algn="ctr" rtl="0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</a:pPr>
            <a:endParaRPr>
              <a:solidFill>
                <a:srgbClr val="888888"/>
              </a:solidFill>
            </a:endParaRPr>
          </a:p>
          <a:p>
            <a:pPr marL="0" lvl="0" indent="0" algn="ctr" rtl="0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</a:pPr>
            <a:r>
              <a:rPr lang="en-US">
                <a:solidFill>
                  <a:srgbClr val="888888"/>
                </a:solidFill>
              </a:rPr>
              <a:t>January 1, 2026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rPr lang="en-US" sz="3200" b="1"/>
              <a:t>Project Aim: NL to NoSQL</a:t>
            </a:r>
            <a:endParaRPr/>
          </a:p>
        </p:txBody>
      </p:sp>
      <p:sp>
        <p:nvSpPr>
          <p:cNvPr id="91" name="Google Shape;91;p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Phase: Capstone Stage 2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Goal: Translate Natural Language Questions into executable MongoDB queries.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Target Baseline: 83% Execution Success Rate.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Dataset: Spider Dev (1,034 MongoDB samples).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Models Tested: Llama 3.2 (3B), Llama 3.1 (8B), Mistral 7B.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Challenge: Diverse database schemas (~14 distinct types) and complex aggregations.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bb37a45581_0_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SQL to No SQL overview</a:t>
            </a:r>
            <a:endParaRPr/>
          </a:p>
        </p:txBody>
      </p:sp>
      <p:sp>
        <p:nvSpPr>
          <p:cNvPr id="97" name="Google Shape;97;g3bb37a45581_0_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8" name="Google Shape;98;g3bb37a45581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566450"/>
            <a:ext cx="8229600" cy="4313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rPr lang="en-US" sz="3200" b="1"/>
              <a:t>SMART Architecture Implementation</a:t>
            </a:r>
            <a:endParaRPr/>
          </a:p>
        </p:txBody>
      </p:sp>
      <p:sp>
        <p:nvSpPr>
          <p:cNvPr id="104" name="Google Shape;104;p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S: Semantically Enhanced Retrieval (RAG)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M: Multi-turn Refinement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A: Abstract Syntax Tree Validation (Execution Optimizer)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R: Ranking &amp; Selection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T: Translation to Final Query</a:t>
            </a:r>
            <a:endParaRPr/>
          </a:p>
          <a:p>
            <a:pPr marL="342900" lvl="0" indent="-2286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sz="1800"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Key Innovation: Integrated RAG to 'teach' the model syntax patterns dynamically.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bb37a45581_0_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Architecture</a:t>
            </a:r>
            <a:endParaRPr/>
          </a:p>
        </p:txBody>
      </p:sp>
      <p:sp>
        <p:nvSpPr>
          <p:cNvPr id="110" name="Google Shape;110;g3bb37a45581_0_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1" name="Google Shape;111;g3bb37a45581_0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485475"/>
            <a:ext cx="8229599" cy="4526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bb37a45581_0_1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g3bb37a45581_0_19"/>
          <p:cNvSpPr txBox="1">
            <a:spLocks noGrp="1"/>
          </p:cNvSpPr>
          <p:nvPr>
            <p:ph type="body" idx="1"/>
          </p:nvPr>
        </p:nvSpPr>
        <p:spPr>
          <a:xfrm>
            <a:off x="1372850" y="1637575"/>
            <a:ext cx="8229600" cy="452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                       │</a:t>
            </a:r>
            <a:endParaRPr/>
          </a:p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r>
              <a:rPr lang="en-US"/>
              <a:t>                  </a:t>
            </a:r>
            <a:endParaRPr/>
          </a:p>
        </p:txBody>
      </p:sp>
      <p:pic>
        <p:nvPicPr>
          <p:cNvPr id="118" name="Google Shape;118;g3bb37a45581_0_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274650"/>
            <a:ext cx="7939326" cy="6583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rPr lang="en-US" sz="3200" b="1"/>
              <a:t>Methodology: Prompt Engineering &amp; RAG</a:t>
            </a:r>
            <a:endParaRPr/>
          </a:p>
        </p:txBody>
      </p:sp>
      <p:sp>
        <p:nvSpPr>
          <p:cNvPr id="124" name="Google Shape;124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Evolution of Prompt Strategy: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❌ Verbose (~60 lines): Overwhelmed the model (50% success).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❌ Minimal (~10 lines): Led to hallucinations (30% success).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✅ Balanced (~25 lines): Strict syntax rules + RAG examples.</a:t>
            </a:r>
            <a:endParaRPr/>
          </a:p>
          <a:p>
            <a:pPr marL="342900" lvl="0" indent="-2286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sz="1800"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RAG Implementation: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- Indexed 100 training examples (indices 0-99).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- Retriever: 'all-MiniLM-L6-v2' embeddings.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- Refiner: Appends 3 most similar verified queries.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bb37a45581_0_1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SMART FRAMEWORK</a:t>
            </a:r>
            <a:endParaRPr/>
          </a:p>
        </p:txBody>
      </p:sp>
      <p:sp>
        <p:nvSpPr>
          <p:cNvPr id="130" name="Google Shape;130;g3bb37a45581_0_1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1" name="Google Shape;131;g3bb37a45581_0_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0475" y="1174900"/>
            <a:ext cx="8913526" cy="47985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rPr lang="en-US" sz="3200" b="1"/>
              <a:t>Phase 1: Critical Bug Fixes (0% -&gt; 60%)</a:t>
            </a:r>
            <a:endParaRPr/>
          </a:p>
        </p:txBody>
      </p:sp>
      <p:sp>
        <p:nvSpPr>
          <p:cNvPr id="137" name="Google Shape;137;p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3429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Initial State: 0% Success (System Crashes).</a:t>
            </a:r>
            <a:endParaRPr/>
          </a:p>
          <a:p>
            <a:pPr marL="342900" lvl="0" indent="-2286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sz="1800"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1. Foundational Fixes: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   - Fixed MongoDB 'Phantom Connection' bug.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   - Fixed Schema Prediction format mismatch.</a:t>
            </a:r>
            <a:endParaRPr/>
          </a:p>
          <a:p>
            <a:pPr marL="342900" lvl="0" indent="-2286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sz="1800"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2. The 'JavaScript Crisis':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   - Issue: Llama generates JS 'true/null'; Python crashes.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   - Fix: Context-aware Regex Normalization.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   - Result: Boolean errors reduced from 23 to 0.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rPr lang="en-US" sz="3200" b="1"/>
              <a:t>Model Comparison: Llama vs Mistral</a:t>
            </a:r>
            <a:endParaRPr/>
          </a:p>
        </p:txBody>
      </p:sp>
      <p:sp>
        <p:nvSpPr>
          <p:cNvPr id="143" name="Google Shape;143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62500" lnSpcReduction="20000"/>
          </a:bodyPr>
          <a:lstStyle/>
          <a:p>
            <a:pPr marL="3429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Tested on 50 Diverse Samples (14 databases):</a:t>
            </a:r>
            <a:endParaRPr/>
          </a:p>
          <a:p>
            <a:pPr marL="342900" lvl="0" indent="-2286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sz="1800"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1. Llama 3.2 (3B):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   - Stability: 52%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   - Strength: Schema guessing (48% match).</a:t>
            </a:r>
            <a:endParaRPr/>
          </a:p>
          <a:p>
            <a:pPr marL="342900" lvl="0" indent="-2286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sz="1800"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2. Mistral 7B: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   - Stability: 68%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   - Weakness: Syntax errors (unbalanced brackets).</a:t>
            </a:r>
            <a:endParaRPr/>
          </a:p>
          <a:p>
            <a:pPr marL="342900" lvl="0" indent="-2286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sz="1800"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3. Llama 3.1 (8B) [WINNER]: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   - Stability: 98% (Production Grade)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   - Weakness: Verbose schema output (36% match).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rPr lang="en-US" sz="3200" b="1"/>
              <a:t>Validation: Large Scale Testing</a:t>
            </a:r>
            <a:endParaRPr/>
          </a:p>
        </p:txBody>
      </p:sp>
      <p:sp>
        <p:nvSpPr>
          <p:cNvPr id="149" name="Google Shape;149;p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3429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Sample Size: 139 Queries (Full Dataset subset).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Model: Llama 3.1 8B.</a:t>
            </a:r>
            <a:endParaRPr/>
          </a:p>
          <a:p>
            <a:pPr marL="342900" lvl="0" indent="-2286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sz="1800"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Results: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✅ Pipeline Success: 79/139 (57%)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✅ Stability: Consistent with small-scale tests.</a:t>
            </a:r>
            <a:endParaRPr/>
          </a:p>
          <a:p>
            <a:pPr marL="342900" lvl="0" indent="-2286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sz="1800"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Conclusion: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System is stable and proof-of-concept is validated.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57% is a strong baseline for diverse, unseen schemas.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rPr lang="en-US" sz="3200" b="1"/>
              <a:t>Key Metrics &amp; Improvements</a:t>
            </a:r>
            <a:endParaRPr/>
          </a:p>
        </p:txBody>
      </p:sp>
      <p:sp>
        <p:nvSpPr>
          <p:cNvPr id="155" name="Google Shape;155;p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3429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Pipeline Stability: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   0% (Start) -&gt; 98% (Final/8B)</a:t>
            </a:r>
            <a:endParaRPr/>
          </a:p>
          <a:p>
            <a:pPr marL="342900" lvl="0" indent="-2286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sz="1800"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Homogeneous Accuracy (1 DB):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   70% Success.</a:t>
            </a:r>
            <a:endParaRPr/>
          </a:p>
          <a:p>
            <a:pPr marL="342900" lvl="0" indent="-2286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sz="1800"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Diverse Accuracy (14 DBs):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   57% Success (Stable).</a:t>
            </a:r>
            <a:endParaRPr/>
          </a:p>
          <a:p>
            <a:pPr marL="342900" lvl="0" indent="-2286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sz="1800"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Boolean/Null Errors: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   100% Eliminated.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rPr lang="en-US" sz="3200" b="1"/>
              <a:t>Roadmap to 83% Baseline</a:t>
            </a:r>
            <a:endParaRPr/>
          </a:p>
        </p:txBody>
      </p:sp>
      <p:sp>
        <p:nvSpPr>
          <p:cNvPr id="161" name="Google Shape;161;p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3429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Phase 1: Stratified Training (Week 1)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- Expand RAG from 100 -&gt; 300 examples.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- Ensure all 14 database types are represented.</a:t>
            </a:r>
            <a:endParaRPr/>
          </a:p>
          <a:p>
            <a:pPr marL="342900" lvl="0" indent="-2286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sz="1800"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Phase 2: Operational Specialization (Week 2)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- Split RAG into 'Aggregate' vs 'Find' stores.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- Teach model specifically for complex GroupBy.</a:t>
            </a:r>
            <a:endParaRPr/>
          </a:p>
          <a:p>
            <a:pPr marL="342900" lvl="0" indent="-2286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sz="1800"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Phase 3: Edge Case Hardening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- Add 'Self-Correction' loop for invalid syntax.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rPr lang="en-US" sz="3200" b="1"/>
              <a:t>Conclusion</a:t>
            </a:r>
            <a:endParaRPr/>
          </a:p>
        </p:txBody>
      </p:sp>
      <p:sp>
        <p:nvSpPr>
          <p:cNvPr id="167" name="Google Shape;167;p1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1. Successfully established a functional NL-to-NoSQL pipeline.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2. Proved the 'Balanced Prompt + RAG' strategy works.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3. Identified Llama 3.1 8B as the ideal local model.</a:t>
            </a:r>
            <a:endParaRPr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4. Clear, data-driven path to reach the 83% target.</a:t>
            </a:r>
            <a:endParaRPr/>
          </a:p>
          <a:p>
            <a:pPr marL="342900" lvl="0" indent="-2286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sz="1800"/>
          </a:p>
          <a:p>
            <a:pPr marL="342900" lvl="0" indent="-342900" algn="l" rtl="0">
              <a:spcBef>
                <a:spcPts val="1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/>
              <a:t>Ready for Phase 3: Advanced Optimization.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684</Words>
  <Application>Microsoft Macintosh PowerPoint</Application>
  <PresentationFormat>On-screen Show (4:3)</PresentationFormat>
  <Paragraphs>122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Times New Roman</vt:lpstr>
      <vt:lpstr>Trebuchet MS</vt:lpstr>
      <vt:lpstr>Office Theme</vt:lpstr>
      <vt:lpstr>PowerPoint Presentation</vt:lpstr>
      <vt:lpstr>Text-to-NoSQL: NL to MongoDB Translation</vt:lpstr>
      <vt:lpstr>Project Aim: NL to NoSQL</vt:lpstr>
      <vt:lpstr>SQL to No SQL overview</vt:lpstr>
      <vt:lpstr>SMART Architecture Implementation</vt:lpstr>
      <vt:lpstr>Architecture</vt:lpstr>
      <vt:lpstr>PowerPoint Presentation</vt:lpstr>
      <vt:lpstr>Methodology: Prompt Engineering &amp; RAG</vt:lpstr>
      <vt:lpstr>SMART FRAMEWORK</vt:lpstr>
      <vt:lpstr>Phase 1: Critical Bug Fixes (0% -&gt; 60%)</vt:lpstr>
      <vt:lpstr>Model Comparison: Llama vs Mistral</vt:lpstr>
      <vt:lpstr>Validation: Large Scale Testing</vt:lpstr>
      <vt:lpstr>Key Metrics &amp; Improvements</vt:lpstr>
      <vt:lpstr>Roadmap to 83% Baseline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VS Parupati</cp:lastModifiedBy>
  <cp:revision>1</cp:revision>
  <dcterms:created xsi:type="dcterms:W3CDTF">2013-01-27T09:14:16Z</dcterms:created>
  <dcterms:modified xsi:type="dcterms:W3CDTF">2026-01-25T01:24:44Z</dcterms:modified>
</cp:coreProperties>
</file>
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Override1.xml" ContentType="application/vnd.openxmlformats-officedocument.themeOverr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76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77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94"/>
  </p:normalViewPr>
  <p:slideViewPr>
    <p:cSldViewPr snapToGrid="0" snapToObjects="1">
      <p:cViewPr varScale="1">
        <p:scale>
          <a:sx n="107" d="100"/>
          <a:sy n="107" d="100"/>
        </p:scale>
        <p:origin x="2304" y="47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1/25/26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hemeOverride" Target="../theme/themeOverr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logo with a tree&#10;&#10;AI-generated content may be incorrect.">
            <a:extLst>
              <a:ext uri="{FF2B5EF4-FFF2-40B4-BE49-F238E27FC236}">
                <a16:creationId xmlns:a16="http://schemas.microsoft.com/office/drawing/2014/main" id="{1F0B030E-DEA3-DC49-8593-24F86D262CF4}"/>
              </a:ext>
            </a:extLst>
          </p:cNvPr>
          <p:cNvPicPr/>
          <p:nvPr/>
        </p:nvPicPr>
        <p:blipFill>
          <a:blip r:embed="rId2"/>
          <a:stretch>
            <a:fillRect/>
          </a:stretch>
        </p:blipFill>
        <p:spPr>
          <a:xfrm>
            <a:off x="3184060" y="847003"/>
            <a:ext cx="3138488" cy="15087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B9271476-6229-2671-035C-9B3A75C4739B}"/>
              </a:ext>
            </a:extLst>
          </p:cNvPr>
          <p:cNvSpPr txBox="1"/>
          <p:nvPr/>
        </p:nvSpPr>
        <p:spPr>
          <a:xfrm>
            <a:off x="2467304" y="2210144"/>
            <a:ext cx="4572000" cy="38009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R="26194" algn="ctr">
              <a:lnSpc>
                <a:spcPct val="115000"/>
              </a:lnSpc>
              <a:spcAft>
                <a:spcPts val="3041"/>
              </a:spcAft>
            </a:pPr>
            <a:r>
              <a:rPr lang="en-GB" sz="1350" kern="100" dirty="0">
                <a:solidFill>
                  <a:srgbClr val="666666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AIML C25 - PGCP</a:t>
            </a:r>
            <a:endParaRPr lang="en-GB" sz="105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algn="ctr">
              <a:buNone/>
            </a:pPr>
            <a:r>
              <a:rPr lang="en-GB" sz="2400" b="1" dirty="0" err="1">
                <a:solidFill>
                  <a:srgbClr val="666666"/>
                </a:solidFill>
                <a:latin typeface="Trebuchet MS" panose="020B0703020202090204" pitchFamily="34" charset="0"/>
                <a:ea typeface="Trebuchet MS" panose="020B0703020202090204" pitchFamily="34" charset="0"/>
                <a:cs typeface="Trebuchet MS" panose="020B0703020202090204" pitchFamily="34" charset="0"/>
              </a:rPr>
              <a:t>CodeGen</a:t>
            </a:r>
            <a:r>
              <a:rPr lang="en-GB" sz="2400" b="1" dirty="0">
                <a:solidFill>
                  <a:srgbClr val="666666"/>
                </a:solidFill>
                <a:latin typeface="Trebuchet MS" panose="020B0703020202090204" pitchFamily="34" charset="0"/>
                <a:ea typeface="Trebuchet MS" panose="020B0703020202090204" pitchFamily="34" charset="0"/>
                <a:cs typeface="Trebuchet MS" panose="020B0703020202090204" pitchFamily="34" charset="0"/>
              </a:rPr>
              <a:t> - Text-to-NoSQL</a:t>
            </a:r>
            <a:endParaRPr lang="en-GB" sz="1050" dirty="0">
              <a:latin typeface="Times New Roman" panose="02020603050405020304" pitchFamily="18" charset="0"/>
              <a:ea typeface="Times New Roman" panose="02020603050405020304" pitchFamily="18" charset="0"/>
            </a:endParaRP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GB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L="4763" marR="26194" algn="ctr">
              <a:lnSpc>
                <a:spcPct val="110000"/>
              </a:lnSpc>
              <a:spcAft>
                <a:spcPts val="225"/>
              </a:spcAft>
            </a:pPr>
            <a:r>
              <a:rPr lang="en-GB" sz="1350" b="1" kern="100" dirty="0">
                <a:solidFill>
                  <a:srgbClr val="666666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Group - 6</a:t>
            </a:r>
            <a:endParaRPr lang="en-GB" sz="105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21431" indent="-5239" algn="ctr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</a:pPr>
            <a:r>
              <a:rPr lang="en-GB" sz="1350" b="1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Vidyasagar Parupati</a:t>
            </a:r>
          </a:p>
          <a:p>
            <a:pPr marL="21431" indent="-5239" algn="ctr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</a:pPr>
            <a:r>
              <a:rPr lang="en-GB" sz="1350" b="1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Ramakrishna </a:t>
            </a:r>
            <a:r>
              <a:rPr lang="en-GB" sz="1350" b="1" kern="100" dirty="0" err="1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Rajidi</a:t>
            </a:r>
            <a:endParaRPr lang="en-GB" sz="1350" b="1" kern="100" dirty="0">
              <a:solidFill>
                <a:srgbClr val="0F4761"/>
              </a:solidFill>
              <a:latin typeface="Aptos Display" panose="020B0004020202020204" pitchFamily="34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1431" indent="-5239" algn="ctr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</a:pPr>
            <a:r>
              <a:rPr lang="en-GB" sz="1350" b="1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Amit Sethi</a:t>
            </a:r>
          </a:p>
          <a:p>
            <a:pPr marL="21431" indent="-5239" algn="ctr">
              <a:lnSpc>
                <a:spcPct val="115000"/>
              </a:lnSpc>
              <a:spcBef>
                <a:spcPts val="600"/>
              </a:spcBef>
              <a:spcAft>
                <a:spcPts val="300"/>
              </a:spcAft>
            </a:pPr>
            <a:r>
              <a:rPr lang="en-GB" sz="1350" b="1" kern="100" dirty="0">
                <a:solidFill>
                  <a:srgbClr val="0F4761"/>
                </a:solidFill>
                <a:latin typeface="Aptos Display" panose="020B0004020202020204" pitchFamily="34" charset="0"/>
                <a:ea typeface="Times New Roman" panose="02020603050405020304" pitchFamily="18" charset="0"/>
                <a:cs typeface="Times New Roman" panose="02020603050405020304" pitchFamily="18" charset="0"/>
              </a:rPr>
              <a:t>Ashok</a:t>
            </a:r>
          </a:p>
          <a:p>
            <a:pPr algn="ctr">
              <a:lnSpc>
                <a:spcPct val="115000"/>
              </a:lnSpc>
              <a:spcAft>
                <a:spcPts val="600"/>
              </a:spcAft>
            </a:pPr>
            <a:r>
              <a:rPr lang="en-GB" sz="1050" kern="100" dirty="0"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 </a:t>
            </a:r>
          </a:p>
          <a:p>
            <a:pPr marR="26194" algn="ctr">
              <a:lnSpc>
                <a:spcPct val="107000"/>
              </a:lnSpc>
              <a:spcAft>
                <a:spcPts val="600"/>
              </a:spcAft>
            </a:pPr>
            <a:r>
              <a:rPr lang="en-GB" sz="1350" b="1" kern="100" dirty="0">
                <a:solidFill>
                  <a:srgbClr val="666666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 Mentors: </a:t>
            </a:r>
            <a:r>
              <a:rPr lang="en-GB" sz="1350" kern="100" dirty="0">
                <a:solidFill>
                  <a:srgbClr val="999999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Nayan, Himanshu</a:t>
            </a:r>
            <a:endParaRPr lang="en-GB" sz="105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  <a:p>
            <a:pPr marL="4763" marR="26194" algn="ctr">
              <a:lnSpc>
                <a:spcPct val="110000"/>
              </a:lnSpc>
              <a:spcAft>
                <a:spcPts val="2550"/>
              </a:spcAft>
            </a:pPr>
            <a:r>
              <a:rPr lang="en-GB" sz="1350" b="1" kern="100" dirty="0">
                <a:solidFill>
                  <a:srgbClr val="666666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Project Supervisor: </a:t>
            </a:r>
            <a:r>
              <a:rPr lang="en-GB" sz="1350" kern="100" dirty="0">
                <a:solidFill>
                  <a:srgbClr val="999999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 Anil </a:t>
            </a:r>
            <a:r>
              <a:rPr lang="en-GB" sz="1350" kern="100" dirty="0" err="1">
                <a:solidFill>
                  <a:srgbClr val="999999"/>
                </a:solidFill>
                <a:latin typeface="Aptos" panose="020B0004020202020204" pitchFamily="34" charset="0"/>
                <a:ea typeface="Aptos" panose="020B0004020202020204" pitchFamily="34" charset="0"/>
                <a:cs typeface="Times New Roman" panose="02020603050405020304" pitchFamily="18" charset="0"/>
              </a:rPr>
              <a:t>Nelakanti</a:t>
            </a:r>
            <a:endParaRPr lang="en-GB" sz="1050" kern="100" dirty="0">
              <a:latin typeface="Aptos" panose="020B0004020202020204" pitchFamily="34" charset="0"/>
              <a:ea typeface="Aptos" panose="020B0004020202020204" pitchFamily="34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0050074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Bridging the Gap: Text-to-NoSQL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SMART Framework with Local LLMs (Llama 3)</a:t>
            </a:r>
          </a:p>
          <a:p>
            <a:r>
              <a:t>Capstone Final Report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Problem: NoSQL Complexity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pPr>
              <a:spcAft>
                <a:spcPts val="600"/>
              </a:spcAft>
              <a:defRPr sz="1600"/>
            </a:pPr>
            <a:r>
              <a:rPr dirty="0"/>
              <a:t>Challenge:</a:t>
            </a:r>
          </a:p>
          <a:p>
            <a:pPr lvl="1">
              <a:spcAft>
                <a:spcPts val="600"/>
              </a:spcAft>
              <a:defRPr sz="1600"/>
            </a:pPr>
            <a:r>
              <a:rPr dirty="0"/>
              <a:t>NoSQL is schema-less and nested.</a:t>
            </a:r>
          </a:p>
          <a:p>
            <a:pPr lvl="1">
              <a:spcAft>
                <a:spcPts val="600"/>
              </a:spcAft>
              <a:defRPr sz="1600"/>
            </a:pPr>
            <a:r>
              <a:rPr dirty="0"/>
              <a:t>Aggregation pipelines are verbose ($group, $unwind).</a:t>
            </a:r>
          </a:p>
          <a:p>
            <a:pPr lvl="1">
              <a:spcAft>
                <a:spcPts val="600"/>
              </a:spcAft>
              <a:defRPr sz="1600"/>
            </a:pPr>
            <a:r>
              <a:rPr dirty="0"/>
              <a:t>Non-tech users struggle with JSON syntax.</a:t>
            </a:r>
          </a:p>
          <a:p>
            <a:pPr>
              <a:spcAft>
                <a:spcPts val="600"/>
              </a:spcAft>
              <a:defRPr sz="1600"/>
            </a:pPr>
            <a:endParaRPr dirty="0"/>
          </a:p>
          <a:p>
            <a:pPr>
              <a:spcAft>
                <a:spcPts val="600"/>
              </a:spcAft>
              <a:defRPr sz="1600"/>
            </a:pPr>
            <a:r>
              <a:rPr dirty="0"/>
              <a:t>Solution: SMART Pipeline</a:t>
            </a:r>
          </a:p>
          <a:p>
            <a:pPr lvl="1">
              <a:spcAft>
                <a:spcPts val="600"/>
              </a:spcAft>
              <a:defRPr sz="1600"/>
            </a:pPr>
            <a:r>
              <a:rPr dirty="0"/>
              <a:t>Schema Prediction (Identify collections)</a:t>
            </a:r>
          </a:p>
          <a:p>
            <a:pPr lvl="1">
              <a:spcAft>
                <a:spcPts val="600"/>
              </a:spcAft>
              <a:defRPr sz="1600"/>
            </a:pPr>
            <a:r>
              <a:rPr dirty="0"/>
              <a:t>Model Generation (Initial Query)</a:t>
            </a:r>
          </a:p>
          <a:p>
            <a:pPr lvl="1">
              <a:spcAft>
                <a:spcPts val="600"/>
              </a:spcAft>
              <a:defRPr sz="1600"/>
            </a:pPr>
            <a:r>
              <a:rPr dirty="0"/>
              <a:t>Augmented Refinement (RAG)</a:t>
            </a:r>
          </a:p>
          <a:p>
            <a:pPr lvl="1">
              <a:spcAft>
                <a:spcPts val="600"/>
              </a:spcAft>
              <a:defRPr sz="1600"/>
            </a:pPr>
            <a:r>
              <a:rPr dirty="0"/>
              <a:t>Refined Execution (Self-Healing)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rPr dirty="0"/>
              <a:t>Prompt Strategy: 3 Iterations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4572000" cy="0"/>
          </a:xfrm>
        </p:spPr>
        <p:txBody>
          <a:bodyPr>
            <a:noAutofit/>
          </a:bodyPr>
          <a:lstStyle/>
          <a:p>
            <a:endParaRPr sz="1000" dirty="0"/>
          </a:p>
          <a:p>
            <a:pPr>
              <a:spcAft>
                <a:spcPts val="600"/>
              </a:spcAft>
              <a:defRPr sz="1600"/>
            </a:pPr>
            <a:endParaRPr lang="en-US" sz="1000" dirty="0"/>
          </a:p>
          <a:p>
            <a:pPr>
              <a:spcAft>
                <a:spcPts val="600"/>
              </a:spcAft>
              <a:defRPr sz="1600"/>
            </a:pPr>
            <a:endParaRPr lang="en-GB" sz="1000" dirty="0"/>
          </a:p>
          <a:p>
            <a:pPr>
              <a:spcAft>
                <a:spcPts val="600"/>
              </a:spcAft>
              <a:defRPr sz="1600"/>
            </a:pPr>
            <a:endParaRPr lang="en-GB" sz="1000" dirty="0"/>
          </a:p>
          <a:p>
            <a:pPr>
              <a:spcAft>
                <a:spcPts val="600"/>
              </a:spcAft>
              <a:defRPr sz="1600"/>
            </a:pPr>
            <a:endParaRPr lang="en-GB" sz="1000" dirty="0"/>
          </a:p>
          <a:p>
            <a:pPr>
              <a:spcAft>
                <a:spcPts val="600"/>
              </a:spcAft>
              <a:defRPr sz="1600"/>
            </a:pPr>
            <a:endParaRPr lang="en-GB" sz="1000" dirty="0"/>
          </a:p>
          <a:p>
            <a:pPr>
              <a:spcAft>
                <a:spcPts val="600"/>
              </a:spcAft>
              <a:defRPr sz="1600"/>
            </a:pPr>
            <a:r>
              <a:rPr sz="1400" dirty="0"/>
              <a:t>Evolution of our prompting approach:</a:t>
            </a:r>
          </a:p>
          <a:p>
            <a:pPr>
              <a:spcAft>
                <a:spcPts val="600"/>
              </a:spcAft>
              <a:defRPr sz="1600"/>
            </a:pPr>
            <a:endParaRPr sz="1400" dirty="0"/>
          </a:p>
          <a:p>
            <a:pPr>
              <a:spcAft>
                <a:spcPts val="600"/>
              </a:spcAft>
              <a:defRPr sz="1600"/>
            </a:pPr>
            <a:r>
              <a:rPr sz="1400" dirty="0"/>
              <a:t>1. Verbose (~60 lines):</a:t>
            </a:r>
          </a:p>
          <a:p>
            <a:pPr lvl="1">
              <a:spcAft>
                <a:spcPts val="600"/>
              </a:spcAft>
              <a:defRPr sz="1600"/>
            </a:pPr>
            <a:r>
              <a:rPr sz="1400" dirty="0"/>
              <a:t>Too many rules; model got confused.</a:t>
            </a:r>
          </a:p>
          <a:p>
            <a:pPr lvl="1">
              <a:spcAft>
                <a:spcPts val="600"/>
              </a:spcAft>
              <a:defRPr sz="1600"/>
            </a:pPr>
            <a:r>
              <a:rPr sz="1400" dirty="0"/>
              <a:t>Success: ~50%</a:t>
            </a:r>
          </a:p>
          <a:p>
            <a:pPr>
              <a:spcAft>
                <a:spcPts val="600"/>
              </a:spcAft>
              <a:defRPr sz="1600"/>
            </a:pPr>
            <a:endParaRPr sz="1400" dirty="0"/>
          </a:p>
          <a:p>
            <a:pPr>
              <a:spcAft>
                <a:spcPts val="600"/>
              </a:spcAft>
              <a:defRPr sz="1600"/>
            </a:pPr>
            <a:r>
              <a:rPr sz="1400" dirty="0"/>
              <a:t>2. Minimal (~10 lines):</a:t>
            </a:r>
          </a:p>
          <a:p>
            <a:pPr lvl="1">
              <a:spcAft>
                <a:spcPts val="600"/>
              </a:spcAft>
              <a:defRPr sz="1600"/>
            </a:pPr>
            <a:r>
              <a:rPr sz="1400" dirty="0"/>
              <a:t>Lacked constraints; hallucinations.</a:t>
            </a:r>
          </a:p>
          <a:p>
            <a:pPr lvl="1">
              <a:spcAft>
                <a:spcPts val="600"/>
              </a:spcAft>
              <a:defRPr sz="1600"/>
            </a:pPr>
            <a:r>
              <a:rPr sz="1400" dirty="0"/>
              <a:t>Success: ~30%</a:t>
            </a:r>
          </a:p>
          <a:p>
            <a:pPr>
              <a:spcAft>
                <a:spcPts val="600"/>
              </a:spcAft>
              <a:defRPr sz="1600"/>
            </a:pPr>
            <a:endParaRPr sz="1400" dirty="0"/>
          </a:p>
          <a:p>
            <a:pPr>
              <a:spcAft>
                <a:spcPts val="600"/>
              </a:spcAft>
              <a:defRPr sz="1600"/>
            </a:pPr>
            <a:r>
              <a:rPr sz="1400" dirty="0"/>
              <a:t>3. Balanced (Final):</a:t>
            </a:r>
          </a:p>
          <a:p>
            <a:pPr lvl="1">
              <a:spcAft>
                <a:spcPts val="600"/>
              </a:spcAft>
              <a:defRPr sz="1600"/>
            </a:pPr>
            <a:r>
              <a:rPr sz="1400" dirty="0"/>
              <a:t>Clear JSON rules + RAG examples.</a:t>
            </a:r>
          </a:p>
          <a:p>
            <a:pPr lvl="1">
              <a:spcAft>
                <a:spcPts val="600"/>
              </a:spcAft>
              <a:defRPr sz="1600"/>
            </a:pPr>
            <a:r>
              <a:rPr sz="1400" dirty="0"/>
              <a:t>Success: &gt;90% (Stability)</a:t>
            </a:r>
          </a:p>
        </p:txBody>
      </p:sp>
      <p:pic>
        <p:nvPicPr>
          <p:cNvPr id="4" name="Picture 3" descr="prompt_evolu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48362"/>
            <a:ext cx="8229600" cy="1143000"/>
          </a:xfrm>
        </p:spPr>
        <p:txBody>
          <a:bodyPr/>
          <a:lstStyle/>
          <a:p>
            <a:pPr>
              <a:defRPr sz="2800" b="1"/>
            </a:pPr>
            <a:r>
              <a:t>Optimization: RAG &amp; Few-Shot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4572000" cy="0"/>
          </a:xfrm>
        </p:spPr>
        <p:txBody>
          <a:bodyPr>
            <a:normAutofit fontScale="25000" lnSpcReduction="20000"/>
          </a:bodyPr>
          <a:lstStyle/>
          <a:p>
            <a:endParaRPr dirty="0"/>
          </a:p>
          <a:p>
            <a:pPr>
              <a:spcAft>
                <a:spcPts val="600"/>
              </a:spcAft>
              <a:defRPr sz="1600"/>
            </a:pPr>
            <a:endParaRPr lang="en-US" dirty="0"/>
          </a:p>
          <a:p>
            <a:pPr>
              <a:spcAft>
                <a:spcPts val="600"/>
              </a:spcAft>
              <a:defRPr sz="1600"/>
            </a:pPr>
            <a:endParaRPr lang="en-GB" dirty="0"/>
          </a:p>
          <a:p>
            <a:pPr>
              <a:spcAft>
                <a:spcPts val="600"/>
              </a:spcAft>
              <a:defRPr sz="1600"/>
            </a:pPr>
            <a:endParaRPr lang="en-GB" dirty="0"/>
          </a:p>
          <a:p>
            <a:pPr>
              <a:spcAft>
                <a:spcPts val="600"/>
              </a:spcAft>
              <a:defRPr sz="1600"/>
            </a:pPr>
            <a:endParaRPr lang="en-GB" dirty="0"/>
          </a:p>
          <a:p>
            <a:pPr>
              <a:spcAft>
                <a:spcPts val="600"/>
              </a:spcAft>
              <a:defRPr sz="1600"/>
            </a:pPr>
            <a:endParaRPr lang="en-GB" dirty="0"/>
          </a:p>
          <a:p>
            <a:pPr>
              <a:spcAft>
                <a:spcPts val="600"/>
              </a:spcAft>
              <a:defRPr sz="1600"/>
            </a:pPr>
            <a:endParaRPr lang="en-GB" dirty="0"/>
          </a:p>
          <a:p>
            <a:pPr>
              <a:spcAft>
                <a:spcPts val="600"/>
              </a:spcAft>
              <a:defRPr sz="1600"/>
            </a:pPr>
            <a:endParaRPr lang="en-GB" dirty="0"/>
          </a:p>
          <a:p>
            <a:pPr>
              <a:spcAft>
                <a:spcPts val="600"/>
              </a:spcAft>
              <a:defRPr sz="1600"/>
            </a:pPr>
            <a:endParaRPr lang="en-GB" dirty="0"/>
          </a:p>
          <a:p>
            <a:pPr>
              <a:spcAft>
                <a:spcPts val="600"/>
              </a:spcAft>
              <a:defRPr sz="1600"/>
            </a:pPr>
            <a:endParaRPr lang="en-GB" dirty="0"/>
          </a:p>
          <a:p>
            <a:pPr>
              <a:spcAft>
                <a:spcPts val="600"/>
              </a:spcAft>
              <a:defRPr sz="1600"/>
            </a:pPr>
            <a:endParaRPr lang="en-GB" dirty="0"/>
          </a:p>
          <a:p>
            <a:pPr marL="0" indent="0">
              <a:spcAft>
                <a:spcPts val="600"/>
              </a:spcAft>
              <a:buNone/>
              <a:defRPr sz="1600"/>
            </a:pPr>
            <a:endParaRPr lang="en-GB" sz="5600" dirty="0"/>
          </a:p>
          <a:p>
            <a:pPr>
              <a:spcAft>
                <a:spcPts val="600"/>
              </a:spcAft>
              <a:defRPr sz="1600"/>
            </a:pPr>
            <a:r>
              <a:rPr sz="5600" dirty="0"/>
              <a:t>Optimizing Context via RAG:</a:t>
            </a:r>
          </a:p>
          <a:p>
            <a:pPr lvl="1">
              <a:spcAft>
                <a:spcPts val="600"/>
              </a:spcAft>
              <a:defRPr sz="1600"/>
            </a:pPr>
            <a:r>
              <a:rPr sz="5600" dirty="0"/>
              <a:t>We tested 0-shot vs 3-shot vs 5-shot.</a:t>
            </a:r>
          </a:p>
          <a:p>
            <a:pPr lvl="1">
              <a:spcAft>
                <a:spcPts val="600"/>
              </a:spcAft>
              <a:defRPr sz="1600"/>
            </a:pPr>
            <a:r>
              <a:rPr sz="5600" dirty="0"/>
              <a:t>'5 Iterations' refers to refinement loops.</a:t>
            </a:r>
          </a:p>
          <a:p>
            <a:pPr>
              <a:spcAft>
                <a:spcPts val="600"/>
              </a:spcAft>
              <a:defRPr sz="1600"/>
            </a:pPr>
            <a:endParaRPr sz="5600" dirty="0"/>
          </a:p>
          <a:p>
            <a:pPr>
              <a:spcAft>
                <a:spcPts val="600"/>
              </a:spcAft>
              <a:defRPr sz="1600"/>
            </a:pPr>
            <a:r>
              <a:rPr sz="5600" dirty="0"/>
              <a:t>Results:</a:t>
            </a:r>
          </a:p>
          <a:p>
            <a:pPr lvl="1">
              <a:spcAft>
                <a:spcPts val="600"/>
              </a:spcAft>
              <a:defRPr sz="1600"/>
            </a:pPr>
            <a:r>
              <a:rPr sz="5600" dirty="0"/>
              <a:t>0-shot: 45% accuracy (Guesswork)</a:t>
            </a:r>
          </a:p>
          <a:p>
            <a:pPr lvl="1">
              <a:spcAft>
                <a:spcPts val="600"/>
              </a:spcAft>
              <a:defRPr sz="1600"/>
            </a:pPr>
            <a:r>
              <a:rPr sz="5600" dirty="0"/>
              <a:t>3-shot: 85% accuracy (Sweet spot)</a:t>
            </a:r>
          </a:p>
          <a:p>
            <a:pPr lvl="1">
              <a:spcAft>
                <a:spcPts val="600"/>
              </a:spcAft>
              <a:defRPr sz="1600"/>
            </a:pPr>
            <a:r>
              <a:rPr sz="5600" dirty="0"/>
              <a:t>5-shot: 88% accuracy (Diminishing returns)</a:t>
            </a:r>
          </a:p>
          <a:p>
            <a:pPr>
              <a:spcAft>
                <a:spcPts val="600"/>
              </a:spcAft>
              <a:defRPr sz="1600"/>
            </a:pPr>
            <a:endParaRPr sz="5600" dirty="0"/>
          </a:p>
          <a:p>
            <a:pPr>
              <a:spcAft>
                <a:spcPts val="600"/>
              </a:spcAft>
              <a:defRPr sz="1600"/>
            </a:pPr>
            <a:r>
              <a:rPr sz="5600" dirty="0"/>
              <a:t>Conclusion: 3-5 examples is optimal for Llama 3.</a:t>
            </a:r>
          </a:p>
        </p:txBody>
      </p:sp>
      <p:pic>
        <p:nvPicPr>
          <p:cNvPr id="4" name="Picture 3" descr="rag_impac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57175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Model Selection: Llama vs Mistral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0" y="0"/>
            <a:ext cx="4572000" cy="0"/>
          </a:xfrm>
        </p:spPr>
        <p:txBody>
          <a:bodyPr>
            <a:normAutofit fontScale="25000" lnSpcReduction="20000"/>
          </a:bodyPr>
          <a:lstStyle/>
          <a:p>
            <a:endParaRPr dirty="0"/>
          </a:p>
          <a:p>
            <a:pPr>
              <a:spcAft>
                <a:spcPts val="600"/>
              </a:spcAft>
              <a:defRPr sz="1600"/>
            </a:pPr>
            <a:endParaRPr lang="en-US" sz="4800" dirty="0"/>
          </a:p>
          <a:p>
            <a:pPr>
              <a:spcAft>
                <a:spcPts val="600"/>
              </a:spcAft>
              <a:defRPr sz="1600"/>
            </a:pPr>
            <a:endParaRPr lang="en-GB" sz="4800" dirty="0"/>
          </a:p>
          <a:p>
            <a:pPr>
              <a:spcAft>
                <a:spcPts val="600"/>
              </a:spcAft>
              <a:defRPr sz="1600"/>
            </a:pPr>
            <a:endParaRPr lang="en-GB" sz="4800" dirty="0"/>
          </a:p>
          <a:p>
            <a:pPr>
              <a:spcAft>
                <a:spcPts val="600"/>
              </a:spcAft>
              <a:defRPr sz="1600"/>
            </a:pPr>
            <a:endParaRPr lang="en-GB" sz="4800" dirty="0"/>
          </a:p>
          <a:p>
            <a:pPr>
              <a:spcAft>
                <a:spcPts val="600"/>
              </a:spcAft>
              <a:defRPr sz="1600"/>
            </a:pPr>
            <a:endParaRPr lang="en-GB" sz="4800" dirty="0"/>
          </a:p>
          <a:p>
            <a:pPr>
              <a:spcAft>
                <a:spcPts val="600"/>
              </a:spcAft>
              <a:defRPr sz="1600"/>
            </a:pPr>
            <a:endParaRPr lang="en-GB" sz="4800" dirty="0"/>
          </a:p>
          <a:p>
            <a:pPr>
              <a:spcAft>
                <a:spcPts val="600"/>
              </a:spcAft>
              <a:defRPr sz="1600"/>
            </a:pPr>
            <a:r>
              <a:rPr sz="5600" dirty="0"/>
              <a:t>Comparison on 50 diverse samples:</a:t>
            </a:r>
          </a:p>
          <a:p>
            <a:pPr>
              <a:spcAft>
                <a:spcPts val="600"/>
              </a:spcAft>
              <a:defRPr sz="1600"/>
            </a:pPr>
            <a:endParaRPr sz="5600" dirty="0"/>
          </a:p>
          <a:p>
            <a:pPr>
              <a:spcAft>
                <a:spcPts val="600"/>
              </a:spcAft>
              <a:defRPr sz="1600"/>
            </a:pPr>
            <a:r>
              <a:rPr sz="5600" dirty="0"/>
              <a:t>Mistral 7B:</a:t>
            </a:r>
          </a:p>
          <a:p>
            <a:pPr lvl="1">
              <a:spcAft>
                <a:spcPts val="600"/>
              </a:spcAft>
              <a:defRPr sz="1600"/>
            </a:pPr>
            <a:r>
              <a:rPr sz="5600" dirty="0"/>
              <a:t>Syntax errors (unbalanced brackets).</a:t>
            </a:r>
          </a:p>
          <a:p>
            <a:pPr lvl="1">
              <a:spcAft>
                <a:spcPts val="600"/>
              </a:spcAft>
              <a:defRPr sz="1600"/>
            </a:pPr>
            <a:r>
              <a:rPr sz="5600" dirty="0"/>
              <a:t>68% Stability.</a:t>
            </a:r>
          </a:p>
          <a:p>
            <a:pPr>
              <a:spcAft>
                <a:spcPts val="600"/>
              </a:spcAft>
              <a:defRPr sz="1600"/>
            </a:pPr>
            <a:endParaRPr sz="5600" dirty="0"/>
          </a:p>
          <a:p>
            <a:pPr>
              <a:spcAft>
                <a:spcPts val="600"/>
              </a:spcAft>
              <a:defRPr sz="1600"/>
            </a:pPr>
            <a:r>
              <a:rPr sz="5600" dirty="0"/>
              <a:t>Llama 3.2 (3B):</a:t>
            </a:r>
          </a:p>
          <a:p>
            <a:pPr lvl="1">
              <a:spcAft>
                <a:spcPts val="600"/>
              </a:spcAft>
              <a:defRPr sz="1600"/>
            </a:pPr>
            <a:r>
              <a:rPr sz="5600" dirty="0"/>
              <a:t>Fast but hallucinates schemas.</a:t>
            </a:r>
          </a:p>
          <a:p>
            <a:pPr lvl="1">
              <a:spcAft>
                <a:spcPts val="600"/>
              </a:spcAft>
              <a:defRPr sz="1600"/>
            </a:pPr>
            <a:r>
              <a:rPr sz="5600" dirty="0"/>
              <a:t>52% Stability.</a:t>
            </a:r>
          </a:p>
          <a:p>
            <a:pPr>
              <a:spcAft>
                <a:spcPts val="600"/>
              </a:spcAft>
              <a:defRPr sz="1600"/>
            </a:pPr>
            <a:endParaRPr sz="5600" dirty="0"/>
          </a:p>
          <a:p>
            <a:pPr>
              <a:spcAft>
                <a:spcPts val="600"/>
              </a:spcAft>
              <a:defRPr sz="1600"/>
            </a:pPr>
            <a:r>
              <a:rPr sz="5600" dirty="0"/>
              <a:t>Llama 3.1 (8B) [Choice]:</a:t>
            </a:r>
          </a:p>
          <a:p>
            <a:pPr lvl="1">
              <a:spcAft>
                <a:spcPts val="600"/>
              </a:spcAft>
              <a:defRPr sz="1600"/>
            </a:pPr>
            <a:r>
              <a:rPr sz="5600" dirty="0"/>
              <a:t>Production grade stability (98%).</a:t>
            </a:r>
          </a:p>
          <a:p>
            <a:pPr lvl="1">
              <a:spcAft>
                <a:spcPts val="600"/>
              </a:spcAft>
              <a:defRPr sz="1600"/>
            </a:pPr>
            <a:r>
              <a:rPr sz="5600" dirty="0"/>
              <a:t>Best instruction following.</a:t>
            </a:r>
          </a:p>
        </p:txBody>
      </p:sp>
      <p:pic>
        <p:nvPicPr>
          <p:cNvPr id="4" name="Picture 3" descr="model_comparis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371600"/>
            <a:ext cx="4114800" cy="246888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Critical Fixes Implemented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600"/>
              </a:spcAft>
              <a:defRPr sz="1600"/>
            </a:pPr>
            <a:r>
              <a:t>1. 'Phantom Connection' Bug:</a:t>
            </a:r>
          </a:p>
          <a:p>
            <a:pPr lvl="1">
              <a:spcAft>
                <a:spcPts val="600"/>
              </a:spcAft>
              <a:defRPr sz="1600"/>
            </a:pPr>
            <a:r>
              <a:t>Issue: Docker connection instability.</a:t>
            </a:r>
          </a:p>
          <a:p>
            <a:pPr lvl="1">
              <a:spcAft>
                <a:spcPts val="600"/>
              </a:spcAft>
              <a:defRPr sz="1600"/>
            </a:pPr>
            <a:r>
              <a:t>Fix: Robust retry logic.</a:t>
            </a:r>
          </a:p>
          <a:p>
            <a:pPr>
              <a:spcAft>
                <a:spcPts val="600"/>
              </a:spcAft>
              <a:defRPr sz="1600"/>
            </a:pPr>
            <a:endParaRPr/>
          </a:p>
          <a:p>
            <a:pPr>
              <a:spcAft>
                <a:spcPts val="600"/>
              </a:spcAft>
              <a:defRPr sz="1600"/>
            </a:pPr>
            <a:r>
              <a:t>2. The 'JavaScript Crisis':</a:t>
            </a:r>
          </a:p>
          <a:p>
            <a:pPr lvl="1">
              <a:spcAft>
                <a:spcPts val="600"/>
              </a:spcAft>
              <a:defRPr sz="1600"/>
            </a:pPr>
            <a:r>
              <a:t>Issue: Model generated JS 'true' vs Python 'True'.</a:t>
            </a:r>
          </a:p>
          <a:p>
            <a:pPr lvl="1">
              <a:spcAft>
                <a:spcPts val="600"/>
              </a:spcAft>
              <a:defRPr sz="1600"/>
            </a:pPr>
            <a:r>
              <a:t>Fix: Regex Normalization for JSON parsing.</a:t>
            </a:r>
          </a:p>
          <a:p>
            <a:pPr lvl="1">
              <a:spcAft>
                <a:spcPts val="600"/>
              </a:spcAft>
              <a:defRPr sz="1600"/>
            </a:pPr>
            <a:r>
              <a:t>Result: Boolean errors dropped 23 -&gt; 0.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Final Evaluation Statistics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600"/>
              </a:spcAft>
              <a:defRPr sz="1600"/>
            </a:pPr>
            <a:r>
              <a:t>Dataset: 139 Queries (Spider Subset)</a:t>
            </a:r>
          </a:p>
          <a:p>
            <a:pPr>
              <a:spcAft>
                <a:spcPts val="600"/>
              </a:spcAft>
              <a:defRPr sz="1600"/>
            </a:pPr>
            <a:endParaRPr/>
          </a:p>
          <a:p>
            <a:pPr>
              <a:spcAft>
                <a:spcPts val="600"/>
              </a:spcAft>
              <a:defRPr sz="1600"/>
            </a:pPr>
            <a:r>
              <a:t>Metrics:</a:t>
            </a:r>
          </a:p>
          <a:p>
            <a:pPr lvl="1">
              <a:spcAft>
                <a:spcPts val="600"/>
              </a:spcAft>
              <a:defRPr sz="1600"/>
            </a:pPr>
            <a:r>
              <a:t>VE (Valid Execution): 98%</a:t>
            </a:r>
          </a:p>
          <a:p>
            <a:pPr lvl="1">
              <a:spcAft>
                <a:spcPts val="600"/>
              </a:spcAft>
              <a:defRPr sz="1600"/>
            </a:pPr>
            <a:r>
              <a:t>EX (Execution Accuracy): 57% (Diverse)</a:t>
            </a:r>
          </a:p>
          <a:p>
            <a:pPr lvl="1">
              <a:spcAft>
                <a:spcPts val="600"/>
              </a:spcAft>
              <a:defRPr sz="1600"/>
            </a:pPr>
            <a:r>
              <a:t>Homogeneous Accuracy: ~90%</a:t>
            </a:r>
          </a:p>
          <a:p>
            <a:pPr>
              <a:spcAft>
                <a:spcPts val="600"/>
              </a:spcAft>
              <a:defRPr sz="1600"/>
            </a:pPr>
            <a:endParaRPr/>
          </a:p>
          <a:p>
            <a:pPr>
              <a:spcAft>
                <a:spcPts val="600"/>
              </a:spcAft>
              <a:defRPr sz="1600"/>
            </a:pPr>
            <a:r>
              <a:t>Performance:</a:t>
            </a:r>
          </a:p>
          <a:p>
            <a:pPr lvl="1">
              <a:spcAft>
                <a:spcPts val="600"/>
              </a:spcAft>
              <a:defRPr sz="1600"/>
            </a:pPr>
            <a:r>
              <a:t>Latency: ~1.5s (Local CPU)</a:t>
            </a:r>
          </a:p>
          <a:p>
            <a:pPr lvl="1">
              <a:spcAft>
                <a:spcPts val="600"/>
              </a:spcAft>
              <a:defRPr sz="1600"/>
            </a:pPr>
            <a:r>
              <a:t>Cost: $0.00 (Local privacy)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>
              <a:defRPr sz="2800" b="1"/>
            </a:pPr>
            <a:r>
              <a:t>Future Scope &amp; Challenges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pPr>
              <a:spcAft>
                <a:spcPts val="600"/>
              </a:spcAft>
              <a:defRPr sz="1600"/>
            </a:pPr>
            <a:r>
              <a:t>What's Next:</a:t>
            </a:r>
          </a:p>
          <a:p>
            <a:pPr>
              <a:spcAft>
                <a:spcPts val="600"/>
              </a:spcAft>
              <a:defRPr sz="1600"/>
            </a:pPr>
            <a:r>
              <a:t>1. Fine-tuning: Custom model for 83% baseline.</a:t>
            </a:r>
          </a:p>
          <a:p>
            <a:pPr>
              <a:spcAft>
                <a:spcPts val="600"/>
              </a:spcAft>
              <a:defRPr sz="1600"/>
            </a:pPr>
            <a:r>
              <a:t>2. Advanced Agents: 'Critic' agent for pre-validation.</a:t>
            </a:r>
          </a:p>
          <a:p>
            <a:pPr>
              <a:spcAft>
                <a:spcPts val="600"/>
              </a:spcAft>
              <a:defRPr sz="1600"/>
            </a:pPr>
            <a:r>
              <a:t>3. SQL-to-NoSQL: Auto-migration tools.</a:t>
            </a:r>
          </a:p>
          <a:p>
            <a:pPr>
              <a:spcAft>
                <a:spcPts val="600"/>
              </a:spcAft>
              <a:defRPr sz="1600"/>
            </a:pPr>
            <a:endParaRPr/>
          </a:p>
          <a:p>
            <a:pPr>
              <a:spcAft>
                <a:spcPts val="600"/>
              </a:spcAft>
              <a:defRPr sz="1600"/>
            </a:pPr>
            <a:r>
              <a:t>Challenges:</a:t>
            </a:r>
          </a:p>
          <a:p>
            <a:pPr lvl="1">
              <a:spcAft>
                <a:spcPts val="600"/>
              </a:spcAft>
              <a:defRPr sz="1600"/>
            </a:pPr>
            <a:r>
              <a:t>Complex Ops: $bucket, $facet need more data.</a:t>
            </a:r>
          </a:p>
          <a:p>
            <a:pPr lvl="1">
              <a:spcAft>
                <a:spcPts val="600"/>
              </a:spcAft>
              <a:defRPr sz="1600"/>
            </a:pPr>
            <a:r>
              <a:t>Multi-line string parsing (Cosmetic).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453C5F-97C4-40DC-6ADA-9331FC66E14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Thank You!</a:t>
            </a:r>
          </a:p>
        </p:txBody>
      </p:sp>
    </p:spTree>
    <p:extLst>
      <p:ext uri="{BB962C8B-B14F-4D97-AF65-F5344CB8AC3E}">
        <p14:creationId xmlns:p14="http://schemas.microsoft.com/office/powerpoint/2010/main" val="3522489020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Override1.xml><?xml version="1.0" encoding="utf-8"?>
<a:themeOverride xmlns:a="http://schemas.openxmlformats.org/drawingml/2006/main">
  <a:clrScheme name="Office">
    <a:dk1>
      <a:sysClr val="windowText" lastClr="000000"/>
    </a:dk1>
    <a:lt1>
      <a:sysClr val="window" lastClr="FFFFFF"/>
    </a:lt1>
    <a:dk2>
      <a:srgbClr val="1F497D"/>
    </a:dk2>
    <a:lt2>
      <a:srgbClr val="EEECE1"/>
    </a:lt2>
    <a:accent1>
      <a:srgbClr val="4F81BD"/>
    </a:accent1>
    <a:accent2>
      <a:srgbClr val="C0504D"/>
    </a:accent2>
    <a:accent3>
      <a:srgbClr val="9BBB59"/>
    </a:accent3>
    <a:accent4>
      <a:srgbClr val="8064A2"/>
    </a:accent4>
    <a:accent5>
      <a:srgbClr val="4BACC6"/>
    </a:accent5>
    <a:accent6>
      <a:srgbClr val="F79646"/>
    </a:accent6>
    <a:hlink>
      <a:srgbClr val="0000FF"/>
    </a:hlink>
    <a:folHlink>
      <a:srgbClr val="800080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8</TotalTime>
  <Words>466</Words>
  <Application>Microsoft Macintosh PowerPoint</Application>
  <PresentationFormat>On-screen Show (4:3)</PresentationFormat>
  <Paragraphs>123</Paragraphs>
  <Slides>10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7" baseType="lpstr">
      <vt:lpstr>Aptos</vt:lpstr>
      <vt:lpstr>Aptos Display</vt:lpstr>
      <vt:lpstr>Arial</vt:lpstr>
      <vt:lpstr>Calibri</vt:lpstr>
      <vt:lpstr>Times New Roman</vt:lpstr>
      <vt:lpstr>Trebuchet MS</vt:lpstr>
      <vt:lpstr>Office Theme</vt:lpstr>
      <vt:lpstr>PowerPoint Presentation</vt:lpstr>
      <vt:lpstr>Bridging the Gap: Text-to-NoSQL</vt:lpstr>
      <vt:lpstr>Problem: NoSQL Complexity</vt:lpstr>
      <vt:lpstr>Prompt Strategy: 3 Iterations</vt:lpstr>
      <vt:lpstr>Optimization: RAG &amp; Few-Shot</vt:lpstr>
      <vt:lpstr>Model Selection: Llama vs Mistral</vt:lpstr>
      <vt:lpstr>Critical Fixes Implemented</vt:lpstr>
      <vt:lpstr>Final Evaluation Statistics</vt:lpstr>
      <vt:lpstr>Future Scope &amp; Challenges</vt:lpstr>
      <vt:lpstr>     Thank You!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VS Parupati</cp:lastModifiedBy>
  <cp:revision>4</cp:revision>
  <dcterms:created xsi:type="dcterms:W3CDTF">2013-01-27T09:14:16Z</dcterms:created>
  <dcterms:modified xsi:type="dcterms:W3CDTF">2026-01-25T01:09:25Z</dcterms:modified>
  <cp:category/>
</cp:coreProperties>
</file>
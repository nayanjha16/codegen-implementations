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0" r:id="rId1"/>
  </p:sldMasterIdLst>
  <p:sldIdLst>
    <p:sldId id="256" r:id="rId2"/>
    <p:sldId id="270" r:id="rId3"/>
    <p:sldId id="259" r:id="rId4"/>
    <p:sldId id="263" r:id="rId5"/>
    <p:sldId id="260" r:id="rId6"/>
    <p:sldId id="266" r:id="rId7"/>
    <p:sldId id="268" r:id="rId8"/>
    <p:sldId id="267" r:id="rId9"/>
    <p:sldId id="269" r:id="rId10"/>
    <p:sldId id="258" r:id="rId11"/>
    <p:sldId id="264" r:id="rId12"/>
    <p:sldId id="265"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748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2001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0033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2657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8632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0071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1/24/2026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5352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1/24/2026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611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0173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68816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2935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1/24/2026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1037886"/>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hyperlink" Target="vscode-file://vscode-app/c:/Users/ramga/AppData/Local/Programs/Microsoft%20VS%20Code/resources/app/out/vs/code/electron-browser/workbench/workbench.html" TargetMode="External"/><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61347"/>
            <a:ext cx="7772400" cy="1470025"/>
          </a:xfrm>
        </p:spPr>
        <p:txBody>
          <a:bodyPr>
            <a:normAutofit/>
          </a:bodyPr>
          <a:lstStyle/>
          <a:p>
            <a:r>
              <a:rPr lang="en-IN" dirty="0"/>
              <a:t>Code Gen</a:t>
            </a:r>
            <a:endParaRPr dirty="0"/>
          </a:p>
        </p:txBody>
      </p:sp>
      <p:sp>
        <p:nvSpPr>
          <p:cNvPr id="8" name="Subtitle 6">
            <a:extLst>
              <a:ext uri="{FF2B5EF4-FFF2-40B4-BE49-F238E27FC236}">
                <a16:creationId xmlns:a16="http://schemas.microsoft.com/office/drawing/2014/main" id="{6602FDF2-0615-B376-BFEE-86B9D7BD3A9F}"/>
              </a:ext>
            </a:extLst>
          </p:cNvPr>
          <p:cNvSpPr>
            <a:spLocks noGrp="1"/>
          </p:cNvSpPr>
          <p:nvPr>
            <p:ph type="subTitle" idx="1"/>
          </p:nvPr>
        </p:nvSpPr>
        <p:spPr>
          <a:xfrm>
            <a:off x="545692" y="2273094"/>
            <a:ext cx="6400800" cy="1816509"/>
          </a:xfrm>
        </p:spPr>
        <p:txBody>
          <a:bodyPr>
            <a:noAutofit/>
          </a:bodyPr>
          <a:lstStyle/>
          <a:p>
            <a:pPr algn="l"/>
            <a:r>
              <a:rPr lang="en-US" sz="1600" b="1" dirty="0"/>
              <a:t>Group : 5</a:t>
            </a:r>
          </a:p>
          <a:p>
            <a:pPr algn="l"/>
            <a:r>
              <a:rPr lang="en-US" sz="1600" b="1" dirty="0">
                <a:latin typeface="+mj-lt"/>
              </a:rPr>
              <a:t>Netaji</a:t>
            </a:r>
          </a:p>
          <a:p>
            <a:pPr algn="l"/>
            <a:r>
              <a:rPr lang="en-US" sz="1600" b="1" dirty="0">
                <a:latin typeface="+mj-lt"/>
              </a:rPr>
              <a:t>Ramalinga Reddy</a:t>
            </a:r>
          </a:p>
          <a:p>
            <a:pPr algn="l"/>
            <a:r>
              <a:rPr lang="en-US" sz="1600" b="1" dirty="0">
                <a:latin typeface="+mj-lt"/>
              </a:rPr>
              <a:t>Lalith</a:t>
            </a:r>
          </a:p>
          <a:p>
            <a:pPr algn="l"/>
            <a:r>
              <a:rPr lang="en-US" sz="1600" b="1" dirty="0">
                <a:latin typeface="+mj-lt"/>
              </a:rPr>
              <a:t>Kiran</a:t>
            </a:r>
            <a:endParaRPr lang="en-IN" sz="1600" b="1" dirty="0">
              <a:latin typeface="+mj-lt"/>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9B84E1A0-DFB8-29D8-EEC7-03B7F55A323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A8924-5596-115E-7104-C236024AEC58}"/>
              </a:ext>
            </a:extLst>
          </p:cNvPr>
          <p:cNvSpPr>
            <a:spLocks noGrp="1"/>
          </p:cNvSpPr>
          <p:nvPr>
            <p:ph type="title"/>
          </p:nvPr>
        </p:nvSpPr>
        <p:spPr/>
        <p:txBody>
          <a:bodyPr>
            <a:normAutofit/>
          </a:bodyPr>
          <a:lstStyle/>
          <a:p>
            <a:r>
              <a:rPr lang="en-US" sz="4000" b="1" dirty="0"/>
              <a:t>Text To SQL</a:t>
            </a:r>
            <a:endParaRPr lang="en-IN" sz="4000" b="1" dirty="0"/>
          </a:p>
        </p:txBody>
      </p:sp>
      <p:sp>
        <p:nvSpPr>
          <p:cNvPr id="3" name="Content Placeholder 2">
            <a:extLst>
              <a:ext uri="{FF2B5EF4-FFF2-40B4-BE49-F238E27FC236}">
                <a16:creationId xmlns:a16="http://schemas.microsoft.com/office/drawing/2014/main" id="{1CD5A266-D012-EE3F-FF52-C0484162D0E0}"/>
              </a:ext>
            </a:extLst>
          </p:cNvPr>
          <p:cNvSpPr>
            <a:spLocks noGrp="1"/>
          </p:cNvSpPr>
          <p:nvPr>
            <p:ph idx="1"/>
          </p:nvPr>
        </p:nvSpPr>
        <p:spPr>
          <a:xfrm>
            <a:off x="951878" y="2015733"/>
            <a:ext cx="6972922" cy="3450613"/>
          </a:xfrm>
        </p:spPr>
        <p:txBody>
          <a:bodyPr>
            <a:normAutofit/>
          </a:bodyPr>
          <a:lstStyle/>
          <a:p>
            <a:r>
              <a:rPr lang="en-US" dirty="0"/>
              <a:t>Problem Statement: Businesses and analysts often need to query databases but lack SQL expertise. Bridging the gap between natural language questions and complex SQL queries is a significant challenge.</a:t>
            </a:r>
          </a:p>
          <a:p>
            <a:endParaRPr lang="en-US" dirty="0"/>
          </a:p>
          <a:p>
            <a:r>
              <a:rPr lang="en-US" dirty="0"/>
              <a:t>Methodology: Advanced COT</a:t>
            </a:r>
            <a:endParaRPr dirty="0"/>
          </a:p>
        </p:txBody>
      </p:sp>
    </p:spTree>
    <p:extLst>
      <p:ext uri="{BB962C8B-B14F-4D97-AF65-F5344CB8AC3E}">
        <p14:creationId xmlns:p14="http://schemas.microsoft.com/office/powerpoint/2010/main" val="421977125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t>Solution Approach</a:t>
            </a:r>
          </a:p>
        </p:txBody>
      </p:sp>
      <p:sp>
        <p:nvSpPr>
          <p:cNvPr id="3" name="Content Placeholder 2"/>
          <p:cNvSpPr>
            <a:spLocks noGrp="1"/>
          </p:cNvSpPr>
          <p:nvPr>
            <p:ph idx="1"/>
          </p:nvPr>
        </p:nvSpPr>
        <p:spPr/>
        <p:txBody>
          <a:bodyPr/>
          <a:lstStyle/>
          <a:p>
            <a:r>
              <a:rPr lang="en-IN" b="1" dirty="0"/>
              <a:t>Advance COT Framework</a:t>
            </a:r>
            <a:r>
              <a:rPr lang="en-IN" dirty="0"/>
              <a:t>: Schema-Aware MongoDB Query Translator</a:t>
            </a:r>
          </a:p>
          <a:p>
            <a:r>
              <a:rPr lang="en-IN" b="1" dirty="0"/>
              <a:t>Two-Phase Process</a:t>
            </a:r>
            <a:r>
              <a:rPr lang="en-IN" dirty="0"/>
              <a:t>:</a:t>
            </a:r>
          </a:p>
          <a:p>
            <a:pPr lvl="1"/>
            <a:r>
              <a:rPr lang="en-IN" b="1" dirty="0"/>
              <a:t>Data Migration</a:t>
            </a:r>
            <a:r>
              <a:rPr lang="en-IN" dirty="0"/>
              <a:t>: SQL → NoSQL conversion with denormalization</a:t>
            </a:r>
          </a:p>
          <a:p>
            <a:pPr lvl="1"/>
            <a:r>
              <a:rPr lang="en-IN" b="1" dirty="0"/>
              <a:t>Query Interface</a:t>
            </a:r>
            <a:r>
              <a:rPr lang="en-IN" dirty="0"/>
              <a:t>: NLQ → MongoDB aggregation pipelines via AI</a:t>
            </a:r>
          </a:p>
          <a:p>
            <a:r>
              <a:rPr lang="en-IN" b="1" dirty="0"/>
              <a:t>AI Integration</a:t>
            </a:r>
            <a:r>
              <a:rPr lang="en-IN" dirty="0"/>
              <a:t>: Google Gemini Pro for intelligent schema prediction and query generation</a:t>
            </a:r>
          </a:p>
          <a:p>
            <a:endParaRPr dirty="0"/>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6BEAFE02-845E-E304-5F2B-16524F44FB6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52DB514-AC02-2D2F-C1FC-27FE715B15AD}"/>
              </a:ext>
            </a:extLst>
          </p:cNvPr>
          <p:cNvSpPr>
            <a:spLocks noGrp="1"/>
          </p:cNvSpPr>
          <p:nvPr>
            <p:ph type="title"/>
          </p:nvPr>
        </p:nvSpPr>
        <p:spPr>
          <a:xfrm>
            <a:off x="476864" y="401651"/>
            <a:ext cx="7543800" cy="775280"/>
          </a:xfrm>
        </p:spPr>
        <p:txBody>
          <a:bodyPr>
            <a:normAutofit/>
          </a:bodyPr>
          <a:lstStyle/>
          <a:p>
            <a:r>
              <a:rPr lang="en-US" sz="4000" b="1" dirty="0"/>
              <a:t>Advanced COT Pipeline</a:t>
            </a:r>
            <a:endParaRPr lang="en-IN" sz="4000" b="1" dirty="0"/>
          </a:p>
        </p:txBody>
      </p:sp>
      <p:pic>
        <p:nvPicPr>
          <p:cNvPr id="12" name="Picture 11">
            <a:extLst>
              <a:ext uri="{FF2B5EF4-FFF2-40B4-BE49-F238E27FC236}">
                <a16:creationId xmlns:a16="http://schemas.microsoft.com/office/drawing/2014/main" id="{1865BE12-045C-BA7A-1D93-38EC7721A564}"/>
              </a:ext>
            </a:extLst>
          </p:cNvPr>
          <p:cNvPicPr>
            <a:picLocks noChangeAspect="1"/>
          </p:cNvPicPr>
          <p:nvPr/>
        </p:nvPicPr>
        <p:blipFill>
          <a:blip r:embed="rId3"/>
          <a:stretch>
            <a:fillRect/>
          </a:stretch>
        </p:blipFill>
        <p:spPr>
          <a:xfrm>
            <a:off x="476864" y="1311633"/>
            <a:ext cx="8190271" cy="2218148"/>
          </a:xfrm>
          <a:prstGeom prst="rect">
            <a:avLst/>
          </a:prstGeom>
        </p:spPr>
      </p:pic>
      <p:sp>
        <p:nvSpPr>
          <p:cNvPr id="13" name="AutoShape 8">
            <a:extLst>
              <a:ext uri="{FF2B5EF4-FFF2-40B4-BE49-F238E27FC236}">
                <a16:creationId xmlns:a16="http://schemas.microsoft.com/office/drawing/2014/main" id="{54049071-07CD-9421-C668-C7FA12AA131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 name="Picture 14">
            <a:extLst>
              <a:ext uri="{FF2B5EF4-FFF2-40B4-BE49-F238E27FC236}">
                <a16:creationId xmlns:a16="http://schemas.microsoft.com/office/drawing/2014/main" id="{72BF23E3-6F76-EA71-3D8F-EFA2DC4D07E6}"/>
              </a:ext>
            </a:extLst>
          </p:cNvPr>
          <p:cNvPicPr>
            <a:picLocks noChangeAspect="1"/>
          </p:cNvPicPr>
          <p:nvPr/>
        </p:nvPicPr>
        <p:blipFill>
          <a:blip r:embed="rId4"/>
          <a:stretch>
            <a:fillRect/>
          </a:stretch>
        </p:blipFill>
        <p:spPr>
          <a:xfrm>
            <a:off x="304800" y="3581400"/>
            <a:ext cx="8362335" cy="2735943"/>
          </a:xfrm>
          <a:prstGeom prst="rect">
            <a:avLst/>
          </a:prstGeom>
        </p:spPr>
      </p:pic>
      <p:sp>
        <p:nvSpPr>
          <p:cNvPr id="16" name="TextBox 15">
            <a:extLst>
              <a:ext uri="{FF2B5EF4-FFF2-40B4-BE49-F238E27FC236}">
                <a16:creationId xmlns:a16="http://schemas.microsoft.com/office/drawing/2014/main" id="{987B9304-7B50-35D4-5B80-0B02BE790771}"/>
              </a:ext>
            </a:extLst>
          </p:cNvPr>
          <p:cNvSpPr txBox="1"/>
          <p:nvPr/>
        </p:nvSpPr>
        <p:spPr>
          <a:xfrm>
            <a:off x="304800" y="3551904"/>
            <a:ext cx="4709652" cy="369332"/>
          </a:xfrm>
          <a:prstGeom prst="rect">
            <a:avLst/>
          </a:prstGeom>
          <a:noFill/>
        </p:spPr>
        <p:txBody>
          <a:bodyPr wrap="square" rtlCol="0">
            <a:spAutoFit/>
          </a:bodyPr>
          <a:lstStyle/>
          <a:p>
            <a:r>
              <a:rPr lang="en-US" b="1" dirty="0"/>
              <a:t>Advanced COT </a:t>
            </a:r>
            <a:r>
              <a:rPr lang="en-US" dirty="0"/>
              <a:t>-</a:t>
            </a:r>
            <a:r>
              <a:rPr lang="en-IN" b="1" dirty="0"/>
              <a:t>driven Query Transformation</a:t>
            </a:r>
            <a:endParaRPr lang="en-IN" dirty="0"/>
          </a:p>
        </p:txBody>
      </p:sp>
    </p:spTree>
    <p:extLst>
      <p:ext uri="{BB962C8B-B14F-4D97-AF65-F5344CB8AC3E}">
        <p14:creationId xmlns:p14="http://schemas.microsoft.com/office/powerpoint/2010/main" val="390083415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t>Key Features</a:t>
            </a:r>
          </a:p>
        </p:txBody>
      </p:sp>
      <p:sp>
        <p:nvSpPr>
          <p:cNvPr id="3" name="Content Placeholder 2"/>
          <p:cNvSpPr>
            <a:spLocks noGrp="1"/>
          </p:cNvSpPr>
          <p:nvPr>
            <p:ph idx="1"/>
          </p:nvPr>
        </p:nvSpPr>
        <p:spPr/>
        <p:txBody>
          <a:bodyPr/>
          <a:lstStyle/>
          <a:p>
            <a:r>
              <a:rPr lang="en-IN" b="1" dirty="0"/>
              <a:t>Automated Data Conversion</a:t>
            </a:r>
            <a:r>
              <a:rPr lang="en-IN" dirty="0"/>
              <a:t>: Transforms flat SQL JSON to denormalized NoSQL collections</a:t>
            </a:r>
          </a:p>
          <a:p>
            <a:r>
              <a:rPr lang="en-IN" b="1" dirty="0"/>
              <a:t>Natural Language Processing</a:t>
            </a:r>
            <a:r>
              <a:rPr lang="en-IN" dirty="0"/>
              <a:t>: Converts plain English to MongoDB queries</a:t>
            </a:r>
          </a:p>
          <a:p>
            <a:r>
              <a:rPr lang="en-IN" b="1" dirty="0"/>
              <a:t>Dynamic File Uploads</a:t>
            </a:r>
            <a:r>
              <a:rPr lang="en-IN" dirty="0"/>
              <a:t>: Supports schema and database file uploads</a:t>
            </a:r>
          </a:p>
          <a:p>
            <a:r>
              <a:rPr lang="en-IN" b="1" dirty="0"/>
              <a:t>Mock Database</a:t>
            </a:r>
            <a:r>
              <a:rPr lang="en-IN" dirty="0"/>
              <a:t>: In-memory MongoDB-like implementation for testing</a:t>
            </a:r>
          </a:p>
          <a:p>
            <a:r>
              <a:rPr lang="en-IN" b="1" dirty="0"/>
              <a:t>Web Interface</a:t>
            </a:r>
            <a:r>
              <a:rPr lang="en-IN" dirty="0"/>
              <a:t>: User-friendly </a:t>
            </a:r>
            <a:r>
              <a:rPr lang="en-IN" dirty="0" err="1"/>
              <a:t>Streamlit</a:t>
            </a:r>
            <a:r>
              <a:rPr lang="en-IN" dirty="0"/>
              <a:t> application</a:t>
            </a:r>
          </a:p>
          <a:p>
            <a:endParaRPr dirty="0"/>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E9D9-1183-C62E-4518-70D3045D23DF}"/>
              </a:ext>
            </a:extLst>
          </p:cNvPr>
          <p:cNvSpPr>
            <a:spLocks noGrp="1"/>
          </p:cNvSpPr>
          <p:nvPr>
            <p:ph type="title"/>
          </p:nvPr>
        </p:nvSpPr>
        <p:spPr/>
        <p:txBody>
          <a:bodyPr/>
          <a:lstStyle/>
          <a:p>
            <a:r>
              <a:rPr lang="en-IN" b="1" dirty="0"/>
              <a:t>System Architecture</a:t>
            </a:r>
            <a:endParaRPr lang="en-IN" dirty="0"/>
          </a:p>
        </p:txBody>
      </p:sp>
      <p:sp>
        <p:nvSpPr>
          <p:cNvPr id="3" name="Content Placeholder 2">
            <a:extLst>
              <a:ext uri="{FF2B5EF4-FFF2-40B4-BE49-F238E27FC236}">
                <a16:creationId xmlns:a16="http://schemas.microsoft.com/office/drawing/2014/main" id="{769450C4-A043-2508-D74F-1BEC6A0FB116}"/>
              </a:ext>
            </a:extLst>
          </p:cNvPr>
          <p:cNvSpPr>
            <a:spLocks noGrp="1"/>
          </p:cNvSpPr>
          <p:nvPr>
            <p:ph idx="1"/>
          </p:nvPr>
        </p:nvSpPr>
        <p:spPr/>
        <p:txBody>
          <a:bodyPr/>
          <a:lstStyle/>
          <a:p>
            <a:r>
              <a:rPr lang="en-IN" b="1" dirty="0"/>
              <a:t>Frontend</a:t>
            </a:r>
            <a:r>
              <a:rPr lang="en-IN" dirty="0"/>
              <a:t>: </a:t>
            </a:r>
            <a:r>
              <a:rPr lang="en-IN" dirty="0" err="1"/>
              <a:t>Streamlit</a:t>
            </a:r>
            <a:r>
              <a:rPr lang="en-IN" dirty="0"/>
              <a:t> web app for user interaction</a:t>
            </a:r>
          </a:p>
          <a:p>
            <a:r>
              <a:rPr lang="en-IN" b="1" dirty="0"/>
              <a:t>Backend Modules</a:t>
            </a:r>
            <a:r>
              <a:rPr lang="en-IN" dirty="0"/>
              <a:t>:</a:t>
            </a:r>
          </a:p>
          <a:p>
            <a:pPr lvl="1"/>
            <a:r>
              <a:rPr lang="en-IN" dirty="0">
                <a:hlinkClick r:id="rId3"/>
              </a:rPr>
              <a:t>slm.py</a:t>
            </a:r>
            <a:r>
              <a:rPr lang="en-IN" dirty="0"/>
              <a:t>: AI-powered query generation</a:t>
            </a:r>
          </a:p>
          <a:p>
            <a:pPr lvl="1"/>
            <a:r>
              <a:rPr lang="en-IN" dirty="0" err="1"/>
              <a:t>dbcreation</a:t>
            </a:r>
            <a:r>
              <a:rPr lang="en-IN" dirty="0"/>
              <a:t>/: SQL to NoSQL conversion scripts</a:t>
            </a:r>
          </a:p>
          <a:p>
            <a:pPr lvl="1"/>
            <a:r>
              <a:rPr lang="en-IN" dirty="0" err="1">
                <a:hlinkClick r:id="rId3"/>
              </a:rPr>
              <a:t>dataloading</a:t>
            </a:r>
            <a:r>
              <a:rPr lang="en-IN" dirty="0">
                <a:hlinkClick r:id="rId3"/>
              </a:rPr>
              <a:t>/</a:t>
            </a:r>
            <a:r>
              <a:rPr lang="en-IN" dirty="0"/>
              <a:t>: Database setup and mock implementations</a:t>
            </a:r>
          </a:p>
          <a:p>
            <a:r>
              <a:rPr lang="en-IN" b="1" dirty="0"/>
              <a:t>Data Flow</a:t>
            </a:r>
            <a:r>
              <a:rPr lang="en-IN" dirty="0"/>
              <a:t>: SQL JSON → Conversion Script → NoSQL JSON → AI Processing → Query Results</a:t>
            </a:r>
          </a:p>
          <a:p>
            <a:r>
              <a:rPr lang="en-IN" b="1" dirty="0"/>
              <a:t>External Dependencies</a:t>
            </a:r>
            <a:r>
              <a:rPr lang="en-IN" dirty="0"/>
              <a:t>: Google GenAI API, </a:t>
            </a:r>
            <a:r>
              <a:rPr lang="en-IN" dirty="0" err="1"/>
              <a:t>Streamlit</a:t>
            </a:r>
            <a:r>
              <a:rPr lang="en-IN" dirty="0"/>
              <a:t> framework</a:t>
            </a:r>
          </a:p>
          <a:p>
            <a:endParaRPr lang="en-IN" dirty="0"/>
          </a:p>
        </p:txBody>
      </p:sp>
    </p:spTree>
    <p:extLst>
      <p:ext uri="{BB962C8B-B14F-4D97-AF65-F5344CB8AC3E}">
        <p14:creationId xmlns:p14="http://schemas.microsoft.com/office/powerpoint/2010/main" val="32714939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59E40-D44E-DD98-3D91-A037EA0553BD}"/>
              </a:ext>
            </a:extLst>
          </p:cNvPr>
          <p:cNvSpPr>
            <a:spLocks noGrp="1"/>
          </p:cNvSpPr>
          <p:nvPr>
            <p:ph type="title"/>
          </p:nvPr>
        </p:nvSpPr>
        <p:spPr/>
        <p:txBody>
          <a:bodyPr>
            <a:normAutofit/>
          </a:bodyPr>
          <a:lstStyle/>
          <a:p>
            <a:r>
              <a:rPr lang="en-US" sz="4000" b="1" dirty="0"/>
              <a:t>Key Results</a:t>
            </a:r>
            <a:endParaRPr lang="en-IN" sz="4000" b="1" dirty="0"/>
          </a:p>
        </p:txBody>
      </p:sp>
      <p:sp>
        <p:nvSpPr>
          <p:cNvPr id="3" name="Content Placeholder 2">
            <a:extLst>
              <a:ext uri="{FF2B5EF4-FFF2-40B4-BE49-F238E27FC236}">
                <a16:creationId xmlns:a16="http://schemas.microsoft.com/office/drawing/2014/main" id="{1F4E2F71-4846-4507-E0A7-FC0BFD9188E5}"/>
              </a:ext>
            </a:extLst>
          </p:cNvPr>
          <p:cNvSpPr>
            <a:spLocks noGrp="1"/>
          </p:cNvSpPr>
          <p:nvPr>
            <p:ph idx="1"/>
          </p:nvPr>
        </p:nvSpPr>
        <p:spPr/>
        <p:txBody>
          <a:bodyPr/>
          <a:lstStyle/>
          <a:p>
            <a:endParaRPr lang="en-US" dirty="0"/>
          </a:p>
          <a:p>
            <a:r>
              <a:rPr lang="en-IN" dirty="0"/>
              <a:t>Execution Accuracy with out feedback loop : ~</a:t>
            </a:r>
            <a:r>
              <a:rPr lang="en-IN" b="1" dirty="0"/>
              <a:t>35 %</a:t>
            </a:r>
          </a:p>
          <a:p>
            <a:endParaRPr lang="en-IN" dirty="0"/>
          </a:p>
          <a:p>
            <a:r>
              <a:rPr lang="en-IN" dirty="0"/>
              <a:t>Execution Accuracy with feedback loop : ~ </a:t>
            </a:r>
            <a:r>
              <a:rPr lang="en-IN" b="1" dirty="0"/>
              <a:t>90%</a:t>
            </a:r>
          </a:p>
        </p:txBody>
      </p:sp>
    </p:spTree>
    <p:extLst>
      <p:ext uri="{BB962C8B-B14F-4D97-AF65-F5344CB8AC3E}">
        <p14:creationId xmlns:p14="http://schemas.microsoft.com/office/powerpoint/2010/main" val="23889980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F8118-B1CD-D7EB-230B-BDE3AC880312}"/>
              </a:ext>
            </a:extLst>
          </p:cNvPr>
          <p:cNvSpPr>
            <a:spLocks noGrp="1"/>
          </p:cNvSpPr>
          <p:nvPr>
            <p:ph type="title"/>
          </p:nvPr>
        </p:nvSpPr>
        <p:spPr/>
        <p:txBody>
          <a:bodyPr/>
          <a:lstStyle/>
          <a:p>
            <a:r>
              <a:rPr lang="en-IN" b="1" dirty="0"/>
              <a:t>Challenges</a:t>
            </a:r>
            <a:endParaRPr lang="en-IN" dirty="0"/>
          </a:p>
        </p:txBody>
      </p:sp>
      <p:sp>
        <p:nvSpPr>
          <p:cNvPr id="3" name="Content Placeholder 2">
            <a:extLst>
              <a:ext uri="{FF2B5EF4-FFF2-40B4-BE49-F238E27FC236}">
                <a16:creationId xmlns:a16="http://schemas.microsoft.com/office/drawing/2014/main" id="{D1342804-9C55-CEF6-168D-0BB85D4C94DB}"/>
              </a:ext>
            </a:extLst>
          </p:cNvPr>
          <p:cNvSpPr>
            <a:spLocks noGrp="1"/>
          </p:cNvSpPr>
          <p:nvPr>
            <p:ph idx="1"/>
          </p:nvPr>
        </p:nvSpPr>
        <p:spPr/>
        <p:txBody>
          <a:bodyPr/>
          <a:lstStyle/>
          <a:p>
            <a:r>
              <a:rPr lang="en-IN" dirty="0"/>
              <a:t>SQL to NoSQL schema conversion</a:t>
            </a:r>
          </a:p>
          <a:p>
            <a:r>
              <a:rPr lang="en-IN" dirty="0"/>
              <a:t>Memory constraints to load multiple schemas and databases </a:t>
            </a:r>
          </a:p>
          <a:p>
            <a:r>
              <a:rPr lang="en-IN" dirty="0"/>
              <a:t>Right Prompt to generate NOSQL query</a:t>
            </a:r>
          </a:p>
          <a:p>
            <a:r>
              <a:rPr lang="en-IN" dirty="0"/>
              <a:t>Handling mongo </a:t>
            </a:r>
            <a:r>
              <a:rPr lang="en-IN" dirty="0" err="1"/>
              <a:t>db</a:t>
            </a:r>
            <a:r>
              <a:rPr lang="en-IN" dirty="0"/>
              <a:t> version features</a:t>
            </a:r>
          </a:p>
        </p:txBody>
      </p:sp>
    </p:spTree>
    <p:extLst>
      <p:ext uri="{BB962C8B-B14F-4D97-AF65-F5344CB8AC3E}">
        <p14:creationId xmlns:p14="http://schemas.microsoft.com/office/powerpoint/2010/main" val="2489633413"/>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21366-A5CB-B0C1-BF3C-9F9DAF04EC9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ADA8EA50-4D99-2F64-45B5-3E69CA8BA13D}"/>
              </a:ext>
            </a:extLst>
          </p:cNvPr>
          <p:cNvSpPr>
            <a:spLocks noGrp="1"/>
          </p:cNvSpPr>
          <p:nvPr>
            <p:ph idx="1"/>
          </p:nvPr>
        </p:nvSpPr>
        <p:spPr/>
        <p:txBody>
          <a:bodyPr>
            <a:normAutofit/>
          </a:bodyPr>
          <a:lstStyle/>
          <a:p>
            <a:pPr algn="ctr"/>
            <a:endParaRPr lang="en-US" sz="5400" dirty="0">
              <a:latin typeface="Calibri" panose="020F0502020204030204" pitchFamily="34" charset="0"/>
              <a:ea typeface="Calibri" panose="020F0502020204030204" pitchFamily="34" charset="0"/>
              <a:cs typeface="Calibri" panose="020F0502020204030204" pitchFamily="34" charset="0"/>
            </a:endParaRPr>
          </a:p>
          <a:p>
            <a:pPr algn="ctr"/>
            <a:r>
              <a:rPr lang="en-US" sz="5400" dirty="0">
                <a:latin typeface="Calibri" panose="020F0502020204030204" pitchFamily="34" charset="0"/>
                <a:ea typeface="Calibri" panose="020F0502020204030204" pitchFamily="34" charset="0"/>
                <a:cs typeface="Calibri" panose="020F0502020204030204" pitchFamily="34" charset="0"/>
              </a:rPr>
              <a:t>Demo</a:t>
            </a:r>
            <a:endParaRPr lang="en-IN" sz="5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1961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290938-48AF-D106-BC09-457FE873074D}"/>
              </a:ext>
            </a:extLst>
          </p:cNvPr>
          <p:cNvSpPr>
            <a:spLocks noGrp="1"/>
          </p:cNvSpPr>
          <p:nvPr>
            <p:ph type="title"/>
          </p:nvPr>
        </p:nvSpPr>
        <p:spPr/>
        <p:txBody>
          <a:bodyPr/>
          <a:lstStyle/>
          <a:p>
            <a:r>
              <a:rPr lang="en-US" dirty="0"/>
              <a:t>Text To SQL</a:t>
            </a:r>
            <a:endParaRPr lang="en-IN" dirty="0"/>
          </a:p>
        </p:txBody>
      </p:sp>
      <p:sp>
        <p:nvSpPr>
          <p:cNvPr id="3" name="Content Placeholder 2"/>
          <p:cNvSpPr>
            <a:spLocks noGrp="1"/>
          </p:cNvSpPr>
          <p:nvPr>
            <p:ph idx="1"/>
          </p:nvPr>
        </p:nvSpPr>
        <p:spPr>
          <a:xfrm>
            <a:off x="951878" y="2015733"/>
            <a:ext cx="6972922" cy="3450613"/>
          </a:xfrm>
        </p:spPr>
        <p:txBody>
          <a:bodyPr>
            <a:normAutofit/>
          </a:bodyPr>
          <a:lstStyle/>
          <a:p>
            <a:r>
              <a:rPr lang="en-US" dirty="0"/>
              <a:t>Problem: Businesses and analysts often need to query databases but lack SQL expertise. Bridging the gap between natural language questions and complex SQL queries is a significant challenge.</a:t>
            </a:r>
          </a:p>
          <a:p>
            <a:r>
              <a:rPr lang="en-US" dirty="0"/>
              <a:t>Solution: This program demonstrates a solution using a fine-tuned Transformer model (T5) to automatically translate natural language questions into executable SQL queries, given a database schema.</a:t>
            </a:r>
          </a:p>
          <a:p>
            <a:r>
              <a:rPr lang="en-US" dirty="0"/>
              <a:t>Methodology: Fine-tuning T5 for Text-to-SQL</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01C1A-D703-95B2-6011-E6D13B7AE04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C295FA-9619-585D-21BA-AE3EE66067DC}"/>
              </a:ext>
            </a:extLst>
          </p:cNvPr>
          <p:cNvSpPr>
            <a:spLocks noGrp="1"/>
          </p:cNvSpPr>
          <p:nvPr>
            <p:ph idx="1"/>
          </p:nvPr>
        </p:nvSpPr>
        <p:spPr>
          <a:xfrm>
            <a:off x="822959" y="1845734"/>
            <a:ext cx="7711441" cy="4023360"/>
          </a:xfrm>
        </p:spPr>
        <p:txBody>
          <a:bodyPr>
            <a:normAutofit fontScale="92500" lnSpcReduction="10000"/>
          </a:bodyPr>
          <a:lstStyle/>
          <a:p>
            <a:r>
              <a:rPr lang="en-US" dirty="0"/>
              <a:t>Key Steps:</a:t>
            </a:r>
          </a:p>
          <a:p>
            <a:r>
              <a:rPr lang="en-US" dirty="0"/>
              <a:t>Data Acquisition: Utilized the a3467895898/bird_text2sql dataset, which contains pairs of natural language questions, database schemas, and their corresponding SQL queries.</a:t>
            </a:r>
          </a:p>
          <a:p>
            <a:r>
              <a:rPr lang="en-US" dirty="0"/>
              <a:t>Schema-Aware Preprocessing: Developed a preprocessing pipeline that combines the database schema with the natural language question, creating a rich input context for the model. SQL queries are also normalized for consistency.</a:t>
            </a:r>
          </a:p>
          <a:p>
            <a:r>
              <a:rPr lang="en-US" dirty="0"/>
              <a:t>Model Training: Fine-tuned the T5 model using an encoder-decoder architecture. The model learns to encode the schema-aware question and decode it into a valid SQL statement.</a:t>
            </a:r>
          </a:p>
          <a:p>
            <a:r>
              <a:rPr lang="en-US" dirty="0"/>
              <a:t>Evaluation: Assessed the model's performance using standard metrics like Exact Match Accuracy and Token Accuracy on unseen data.</a:t>
            </a:r>
          </a:p>
        </p:txBody>
      </p:sp>
    </p:spTree>
    <p:extLst>
      <p:ext uri="{BB962C8B-B14F-4D97-AF65-F5344CB8AC3E}">
        <p14:creationId xmlns:p14="http://schemas.microsoft.com/office/powerpoint/2010/main" val="1922474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20D82-2F5C-AEFC-C277-08852B6605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D6C32B-8404-D471-3E50-A46760AABBAB}"/>
              </a:ext>
            </a:extLst>
          </p:cNvPr>
          <p:cNvSpPr>
            <a:spLocks noGrp="1"/>
          </p:cNvSpPr>
          <p:nvPr>
            <p:ph idx="1"/>
          </p:nvPr>
        </p:nvSpPr>
        <p:spPr/>
        <p:txBody>
          <a:bodyPr/>
          <a:lstStyle/>
          <a:p>
            <a:r>
              <a:rPr lang="en-US" dirty="0"/>
              <a:t>Key Results (from the latest run)</a:t>
            </a:r>
          </a:p>
          <a:p>
            <a:r>
              <a:rPr lang="en-US" dirty="0"/>
              <a:t>Exact Match Accuracy: The model achieved an exact match accuracy of 20%. This means for 20% of the evaluated questions, the generated SQL was identical to the gold standard SQL after normalization.</a:t>
            </a:r>
          </a:p>
          <a:p>
            <a:r>
              <a:rPr lang="en-US" dirty="0"/>
              <a:t>Token Accuracy: The model showed a token accuracy of approximately 84.18%. This indicates a high degree of overlap in the individual SQL tokens between the predicted and gold SQL queries, suggesting the model captures much of the underlying structure and keywords even when the entire query isn't an exact match.</a:t>
            </a:r>
          </a:p>
          <a:p>
            <a:endParaRPr lang="en-IN" dirty="0"/>
          </a:p>
        </p:txBody>
      </p:sp>
    </p:spTree>
    <p:extLst>
      <p:ext uri="{BB962C8B-B14F-4D97-AF65-F5344CB8AC3E}">
        <p14:creationId xmlns:p14="http://schemas.microsoft.com/office/powerpoint/2010/main" val="2293805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Demo</a:t>
            </a:r>
          </a:p>
        </p:txBody>
      </p:sp>
      <p:sp>
        <p:nvSpPr>
          <p:cNvPr id="3" name="Content Placeholder 2"/>
          <p:cNvSpPr>
            <a:spLocks noGrp="1"/>
          </p:cNvSpPr>
          <p:nvPr>
            <p:ph idx="1"/>
          </p:nvPr>
        </p:nvSpPr>
        <p:spPr/>
        <p:txBody>
          <a:bodyPr/>
          <a:lstStyle/>
          <a:p>
            <a:endParaRPr dirty="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2.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3.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4.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5.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6.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7.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8.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357</TotalTime>
  <Words>545</Words>
  <Application>Microsoft Office PowerPoint</Application>
  <PresentationFormat>On-screen Show (4:3)</PresentationFormat>
  <Paragraphs>57</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Calibri</vt:lpstr>
      <vt:lpstr>Calibri Light</vt:lpstr>
      <vt:lpstr>Retrospect</vt:lpstr>
      <vt:lpstr>Code Gen</vt:lpstr>
      <vt:lpstr>Text To SQL</vt:lpstr>
      <vt:lpstr>Solution Approach</vt:lpstr>
      <vt:lpstr>Advanced COT Pipeline</vt:lpstr>
      <vt:lpstr>Key Features</vt:lpstr>
      <vt:lpstr>System Architecture</vt:lpstr>
      <vt:lpstr>Key Results</vt:lpstr>
      <vt:lpstr>Challenges</vt:lpstr>
      <vt:lpstr>PowerPoint Presentation</vt:lpstr>
      <vt:lpstr>Text To SQL</vt:lpstr>
      <vt:lpstr>PowerPoint Presentation</vt:lpstr>
      <vt:lpstr>PowerPoint Presentation</vt:lpstr>
      <vt:lpstr>Demo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Ramalinga Reddy Gajjala</dc:creator>
  <cp:keywords/>
  <dc:description>generated using python-pptx</dc:description>
  <cp:lastModifiedBy>Ramalinga Reddy Gajjala</cp:lastModifiedBy>
  <cp:revision>59</cp:revision>
  <dcterms:created xsi:type="dcterms:W3CDTF">2013-01-27T09:14:16Z</dcterms:created>
  <dcterms:modified xsi:type="dcterms:W3CDTF">2026-01-24T13:24:56Z</dcterms:modified>
  <cp:category/>
</cp:coreProperties>
</file>
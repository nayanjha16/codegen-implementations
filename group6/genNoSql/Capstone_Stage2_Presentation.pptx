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Text-to-NoSQL: NL to MongoDB Translation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Stage 2 Final Report</a:t>
            </a:r>
          </a:p>
          <a:p>
            <a:r>
              <a:t>SMART Framework + RAG Optimization</a:t>
            </a:r>
          </a:p>
          <a:p/>
          <a:p>
            <a:r>
              <a:t>January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Project Aim: NL to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Phase: Capstone Stage 2</a:t>
            </a:r>
          </a:p>
          <a:p>
            <a:pPr>
              <a:spcAft>
                <a:spcPts val="1000"/>
              </a:spcAft>
              <a:defRPr sz="1800"/>
            </a:pPr>
            <a:r>
              <a:t>Goal: Translate Natural Language Questions into executable MongoDB queries.</a:t>
            </a:r>
          </a:p>
          <a:p>
            <a:pPr>
              <a:spcAft>
                <a:spcPts val="1000"/>
              </a:spcAft>
              <a:defRPr sz="1800"/>
            </a:pPr>
            <a:r>
              <a:t>Target Baseline: 83% Execution Success Rate.</a:t>
            </a:r>
          </a:p>
          <a:p>
            <a:pPr>
              <a:spcAft>
                <a:spcPts val="1000"/>
              </a:spcAft>
              <a:defRPr sz="1800"/>
            </a:pPr>
            <a:r>
              <a:t>Dataset: Spider Dev (1,034 MongoDB samples).</a:t>
            </a:r>
          </a:p>
          <a:p>
            <a:pPr>
              <a:spcAft>
                <a:spcPts val="1000"/>
              </a:spcAft>
              <a:defRPr sz="1800"/>
            </a:pPr>
            <a:r>
              <a:t>Models Tested: Llama 3.2 (3B), Llama 3.1 (8B), Mistral 7B.</a:t>
            </a:r>
          </a:p>
          <a:p>
            <a:pPr>
              <a:spcAft>
                <a:spcPts val="1000"/>
              </a:spcAft>
              <a:defRPr sz="1800"/>
            </a:pPr>
            <a:r>
              <a:t>Challenge: Diverse database schemas (~14 distinct types) and complex aggregations.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>
            <a:r>
              <a:t>Insert Project Overview Image (if available)</a:t>
            </a:r>
          </a:p>
          <a:p>
            <a:r>
              <a:t>(Refer to sql_gen_paper.pdf)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SMART Architecture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S: Semantically Enhanced Retrieval (RAG)</a:t>
            </a:r>
          </a:p>
          <a:p>
            <a:pPr>
              <a:spcAft>
                <a:spcPts val="1000"/>
              </a:spcAft>
              <a:defRPr sz="1800"/>
            </a:pPr>
            <a:r>
              <a:t>M: Multi-turn Refinement</a:t>
            </a:r>
          </a:p>
          <a:p>
            <a:pPr>
              <a:spcAft>
                <a:spcPts val="1000"/>
              </a:spcAft>
              <a:defRPr sz="1800"/>
            </a:pPr>
            <a:r>
              <a:t>A: Abstract Syntax Tree Validation (Execution Optimizer)</a:t>
            </a:r>
          </a:p>
          <a:p>
            <a:pPr>
              <a:spcAft>
                <a:spcPts val="1000"/>
              </a:spcAft>
              <a:defRPr sz="1800"/>
            </a:pPr>
            <a:r>
              <a:t>R: Ranking &amp; Selection</a:t>
            </a:r>
          </a:p>
          <a:p>
            <a:pPr>
              <a:spcAft>
                <a:spcPts val="1000"/>
              </a:spcAft>
              <a:defRPr sz="1800"/>
            </a:pPr>
            <a:r>
              <a:t>T: Translation to Final Query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Innovation: Integrated RAG to 'teach' the model syntax patterns dynamically.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>
            <a:r>
              <a:t>Insert Architecture Diagram from sql_gen_paper.pdf</a:t>
            </a:r>
          </a:p>
          <a:p>
            <a:r>
              <a:t>(Start of paper, showing pipeline)</a:t>
            </a:r>
          </a:p>
          <a:p>
            <a:r>
              <a:t>(Refer to sql_gen_paper.pdf)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Methodology: Prompt Engineering &amp;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Evolution of Prompt Strategy:</a:t>
            </a:r>
          </a:p>
          <a:p>
            <a:pPr>
              <a:spcAft>
                <a:spcPts val="1000"/>
              </a:spcAft>
              <a:defRPr sz="1800"/>
            </a:pPr>
            <a:r>
              <a:t>❌ Verbose (~60 lines): Overwhelmed the model (50% success).</a:t>
            </a:r>
          </a:p>
          <a:p>
            <a:pPr>
              <a:spcAft>
                <a:spcPts val="1000"/>
              </a:spcAft>
              <a:defRPr sz="1800"/>
            </a:pPr>
            <a:r>
              <a:t>❌ Minimal (~10 lines): Led to hallucinations (30% success).</a:t>
            </a:r>
          </a:p>
          <a:p>
            <a:pPr>
              <a:spcAft>
                <a:spcPts val="1000"/>
              </a:spcAft>
              <a:defRPr sz="1800"/>
            </a:pPr>
            <a:r>
              <a:t>✅ Balanced (~25 lines): Strict syntax rules + RAG examples.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RAG Implementation:</a:t>
            </a:r>
          </a:p>
          <a:p>
            <a:pPr>
              <a:spcAft>
                <a:spcPts val="1000"/>
              </a:spcAft>
              <a:defRPr sz="1800"/>
            </a:pPr>
            <a:r>
              <a:t>- Indexed 100 training examples (indices 0-99).</a:t>
            </a:r>
          </a:p>
          <a:p>
            <a:pPr>
              <a:spcAft>
                <a:spcPts val="1000"/>
              </a:spcAft>
              <a:defRPr sz="1800"/>
            </a:pPr>
            <a:r>
              <a:t>- Retriever: 'all-MiniLM-L6-v2' embeddings.</a:t>
            </a:r>
          </a:p>
          <a:p>
            <a:pPr>
              <a:spcAft>
                <a:spcPts val="1000"/>
              </a:spcAft>
              <a:defRPr sz="1800"/>
            </a:pPr>
            <a:r>
              <a:t>- Refiner: Appends 3 most similar verified queries.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>
            <a:r>
              <a:t>Insert Prompt/RAG Flow Diagram from sql_gen_paper.pdf</a:t>
            </a:r>
          </a:p>
          <a:p>
            <a:r>
              <a:t>(Refer to sql_gen_paper.pdf)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Phase 1: Critical Bug Fixes (0% -&gt; 60%)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Initial State: 0% Success (System Crashes).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Foundational Fixes:</a:t>
            </a:r>
          </a:p>
          <a:p>
            <a:pPr>
              <a:spcAft>
                <a:spcPts val="1000"/>
              </a:spcAft>
              <a:defRPr sz="1800"/>
            </a:pPr>
            <a:r>
              <a:t>   - Fixed MongoDB 'Phantom Connection' bug.</a:t>
            </a:r>
          </a:p>
          <a:p>
            <a:pPr>
              <a:spcAft>
                <a:spcPts val="1000"/>
              </a:spcAft>
              <a:defRPr sz="1800"/>
            </a:pPr>
            <a:r>
              <a:t>   - Fixed Schema Prediction format mismatch.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The 'JavaScript Crisis':</a:t>
            </a:r>
          </a:p>
          <a:p>
            <a:pPr>
              <a:spcAft>
                <a:spcPts val="1000"/>
              </a:spcAft>
              <a:defRPr sz="1800"/>
            </a:pPr>
            <a:r>
              <a:t>   - Issue: Llama generates JS 'true/null'; Python crashes.</a:t>
            </a:r>
          </a:p>
          <a:p>
            <a:pPr>
              <a:spcAft>
                <a:spcPts val="1000"/>
              </a:spcAft>
              <a:defRPr sz="1800"/>
            </a:pPr>
            <a:r>
              <a:t>   - Fix: Context-aware Regex Normalization.</a:t>
            </a:r>
          </a:p>
          <a:p>
            <a:pPr>
              <a:spcAft>
                <a:spcPts val="1000"/>
              </a:spcAft>
              <a:defRPr sz="1800"/>
            </a:pPr>
            <a:r>
              <a:t>   - Result: Boolean errors reduced from 23 to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Model Comparison: Llama vs Mistral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Tested on 50 Diverse Samples (14 databases):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Llama 3.2 (3B):</a:t>
            </a:r>
          </a:p>
          <a:p>
            <a:pPr>
              <a:spcAft>
                <a:spcPts val="1000"/>
              </a:spcAft>
              <a:defRPr sz="1800"/>
            </a:pPr>
            <a:r>
              <a:t>   - Stability: 52%</a:t>
            </a:r>
          </a:p>
          <a:p>
            <a:pPr>
              <a:spcAft>
                <a:spcPts val="1000"/>
              </a:spcAft>
              <a:defRPr sz="1800"/>
            </a:pPr>
            <a:r>
              <a:t>   - Strength: Schema guessing (48% match).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Mistral 7B:</a:t>
            </a:r>
          </a:p>
          <a:p>
            <a:pPr>
              <a:spcAft>
                <a:spcPts val="1000"/>
              </a:spcAft>
              <a:defRPr sz="1800"/>
            </a:pPr>
            <a:r>
              <a:t>   - Stability: 68%</a:t>
            </a:r>
          </a:p>
          <a:p>
            <a:pPr>
              <a:spcAft>
                <a:spcPts val="1000"/>
              </a:spcAft>
              <a:defRPr sz="1800"/>
            </a:pPr>
            <a:r>
              <a:t>   - Weakness: Syntax errors (unbalanced brackets).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Llama 3.1 (8B) [WINNER]:</a:t>
            </a:r>
          </a:p>
          <a:p>
            <a:pPr>
              <a:spcAft>
                <a:spcPts val="1000"/>
              </a:spcAft>
              <a:defRPr sz="1800"/>
            </a:pPr>
            <a:r>
              <a:t>   - Stability: 98% (Production Grade)</a:t>
            </a:r>
          </a:p>
          <a:p>
            <a:pPr>
              <a:spcAft>
                <a:spcPts val="1000"/>
              </a:spcAft>
              <a:defRPr sz="1800"/>
            </a:pPr>
            <a:r>
              <a:t>   - Weakness: Verbose schema output (36% match).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Validation: Large Scale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Sample Size: 139 Queries (Full Dataset subset).</a:t>
            </a:r>
          </a:p>
          <a:p>
            <a:pPr>
              <a:spcAft>
                <a:spcPts val="1000"/>
              </a:spcAft>
              <a:defRPr sz="1800"/>
            </a:pPr>
            <a:r>
              <a:t>Model: Llama 3.1 8B.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Results:</a:t>
            </a:r>
          </a:p>
          <a:p>
            <a:pPr>
              <a:spcAft>
                <a:spcPts val="1000"/>
              </a:spcAft>
              <a:defRPr sz="1800"/>
            </a:pPr>
            <a:r>
              <a:t>✅ Pipeline Success: 79/139 (57%)</a:t>
            </a:r>
          </a:p>
          <a:p>
            <a:pPr>
              <a:spcAft>
                <a:spcPts val="1000"/>
              </a:spcAft>
              <a:defRPr sz="1800"/>
            </a:pPr>
            <a:r>
              <a:t>✅ Stability: Consistent with small-scale tests.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Conclusion:</a:t>
            </a:r>
          </a:p>
          <a:p>
            <a:pPr>
              <a:spcAft>
                <a:spcPts val="1000"/>
              </a:spcAft>
              <a:defRPr sz="1800"/>
            </a:pPr>
            <a:r>
              <a:t>System is stable and proof-of-concept is validated.</a:t>
            </a:r>
          </a:p>
          <a:p>
            <a:pPr>
              <a:spcAft>
                <a:spcPts val="1000"/>
              </a:spcAft>
              <a:defRPr sz="1800"/>
            </a:pPr>
            <a:r>
              <a:t>57% is a strong baseline for diverse, unseen schemas.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Metrics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Pipeline Stability:</a:t>
            </a:r>
          </a:p>
          <a:p>
            <a:pPr>
              <a:spcAft>
                <a:spcPts val="1000"/>
              </a:spcAft>
              <a:defRPr sz="1800"/>
            </a:pPr>
            <a:r>
              <a:t>   0% (Start) -&gt; 98% (Final/8B)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Homogeneous Accuracy (1 DB):</a:t>
            </a:r>
          </a:p>
          <a:p>
            <a:pPr>
              <a:spcAft>
                <a:spcPts val="1000"/>
              </a:spcAft>
              <a:defRPr sz="1800"/>
            </a:pPr>
            <a:r>
              <a:t>   70% Success.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Diverse Accuracy (14 DBs):</a:t>
            </a:r>
          </a:p>
          <a:p>
            <a:pPr>
              <a:spcAft>
                <a:spcPts val="1000"/>
              </a:spcAft>
              <a:defRPr sz="1800"/>
            </a:pPr>
            <a:r>
              <a:t>   57% Success (Stable).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Boolean/Null Errors:</a:t>
            </a:r>
          </a:p>
          <a:p>
            <a:pPr>
              <a:spcAft>
                <a:spcPts val="1000"/>
              </a:spcAft>
              <a:defRPr sz="1800"/>
            </a:pPr>
            <a:r>
              <a:t>   100% Eliminated.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[PLACEHOLDER]</a:t>
            </a:r>
          </a:p>
          <a:p>
            <a:r>
              <a:t>Insert Performance Chart from sql_gen_paper.pdf</a:t>
            </a:r>
          </a:p>
          <a:p>
            <a:r>
              <a:t>(Refer to sql_gen_paper.pdf)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Roadmap to 83%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Phase 1: Stratified Training (Week 1)</a:t>
            </a:r>
          </a:p>
          <a:p>
            <a:pPr>
              <a:spcAft>
                <a:spcPts val="1000"/>
              </a:spcAft>
              <a:defRPr sz="1800"/>
            </a:pPr>
            <a:r>
              <a:t>- Expand RAG from 100 -&gt; 300 examples.</a:t>
            </a:r>
          </a:p>
          <a:p>
            <a:pPr>
              <a:spcAft>
                <a:spcPts val="1000"/>
              </a:spcAft>
              <a:defRPr sz="1800"/>
            </a:pPr>
            <a:r>
              <a:t>- Ensure all 14 database types are represented.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2: Operational Specialization (Week 2)</a:t>
            </a:r>
          </a:p>
          <a:p>
            <a:pPr>
              <a:spcAft>
                <a:spcPts val="1000"/>
              </a:spcAft>
              <a:defRPr sz="1800"/>
            </a:pPr>
            <a:r>
              <a:t>- Split RAG into 'Aggregate' vs 'Find' stores.</a:t>
            </a:r>
          </a:p>
          <a:p>
            <a:pPr>
              <a:spcAft>
                <a:spcPts val="1000"/>
              </a:spcAft>
              <a:defRPr sz="1800"/>
            </a:pPr>
            <a:r>
              <a:t>- Teach model specifically for complex GroupBy.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Phase 3: Edge Case Hardening</a:t>
            </a:r>
          </a:p>
          <a:p>
            <a:pPr>
              <a:spcAft>
                <a:spcPts val="1000"/>
              </a:spcAft>
              <a:defRPr sz="1800"/>
            </a:pPr>
            <a:r>
              <a:t>- Add 'Self-Correction' loop for invalid syntax.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/>
            </a:pPr>
            <a:r>
              <a:t>1. Successfully established a functional NL-to-NoSQL pipeline.</a:t>
            </a:r>
          </a:p>
          <a:p>
            <a:pPr>
              <a:spcAft>
                <a:spcPts val="1000"/>
              </a:spcAft>
              <a:defRPr sz="1800"/>
            </a:pPr>
            <a:r>
              <a:t>2. Proved the 'Balanced Prompt + RAG' strategy works.</a:t>
            </a:r>
          </a:p>
          <a:p>
            <a:pPr>
              <a:spcAft>
                <a:spcPts val="1000"/>
              </a:spcAft>
              <a:defRPr sz="1800"/>
            </a:pPr>
            <a:r>
              <a:t>3. Identified Llama 3.1 8B as the ideal local model.</a:t>
            </a:r>
          </a:p>
          <a:p>
            <a:pPr>
              <a:spcAft>
                <a:spcPts val="1000"/>
              </a:spcAft>
              <a:defRPr sz="1800"/>
            </a:pPr>
            <a:r>
              <a:t>4. Clear, data-driven path to reach the 83% target.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Ready for Phase 3: Advanced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
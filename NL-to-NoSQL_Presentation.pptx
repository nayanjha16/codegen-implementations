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2231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31397" y="1017240"/>
            <a:ext cx="5081207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00"/>
              </a:lnSpc>
              <a:spcAft>
                <a:spcPts val="1500"/>
              </a:spcAft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NL-to-NoSQL Conversion System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94149" y="2274540"/>
            <a:ext cx="7755701" cy="365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80"/>
              </a:lnSpc>
              <a:spcAft>
                <a:spcPts val="4500"/>
              </a:spcAft>
              <a:buNone/>
            </a:pPr>
            <a:r>
              <a:rPr lang="en-US" sz="1800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Database Query Translation using Fine-Tuned Language Models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94149" y="3211711"/>
            <a:ext cx="775570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Bhanunjay Kumar </a:t>
            </a: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(Group 7)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94149" y="3668911"/>
            <a:ext cx="775570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January 2026</a:t>
            </a:r>
            <a:endParaRPr lang="en-US" sz="1500" dirty="0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E9D634FC-8289-4367-EBD0-FF6B647197F2}"/>
              </a:ext>
            </a:extLst>
          </p:cNvPr>
          <p:cNvSpPr/>
          <p:nvPr/>
        </p:nvSpPr>
        <p:spPr>
          <a:xfrm>
            <a:off x="902970" y="4305299"/>
            <a:ext cx="8105563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33"/>
              </a:lnSpc>
              <a:spcAft>
                <a:spcPts val="2250"/>
              </a:spcAft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Vision: Prof Anil </a:t>
            </a:r>
            <a:r>
              <a:rPr lang="en-US" sz="2400" b="1" dirty="0" err="1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Neelkanti</a:t>
            </a:r>
            <a:r>
              <a:rPr lang="en-US" sz="2400" b="1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, </a:t>
            </a:r>
            <a:r>
              <a:rPr lang="en-US" sz="2400" b="1" dirty="0" err="1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Mr</a:t>
            </a:r>
            <a:r>
              <a:rPr lang="en-US" sz="2400" b="1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 Himanshu, </a:t>
            </a:r>
            <a:r>
              <a:rPr lang="en-US" sz="2400" b="1" dirty="0" err="1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Mr</a:t>
            </a:r>
            <a:r>
              <a:rPr lang="en-US" sz="2400" b="1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 Nayan 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772FFC-5E70-7EE8-CF88-E57D1E8906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9770" y="71360"/>
            <a:ext cx="128016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250" y="476250"/>
            <a:ext cx="4187381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33"/>
              </a:lnSpc>
              <a:spcAft>
                <a:spcPts val="2250"/>
              </a:spcAft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76250" y="118526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Evolution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6250" y="161195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Organizations migrating from SQL to NoSQL databases face critical challenges: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76250" y="2038648"/>
            <a:ext cx="8191500" cy="14859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 query syntax translation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data models and paradigms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conversion is error-prone and slow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deep expertise in both systems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76250" y="381029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Bef>
                <a:spcPts val="2250"/>
              </a:spcBef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Question: Can we automate the translation process while maintaining accuracy and efficiency?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250" y="476250"/>
            <a:ext cx="4187381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33"/>
              </a:lnSpc>
              <a:spcAft>
                <a:spcPts val="2250"/>
              </a:spcAft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76250" y="118526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Three-Stage Pipeline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6250" y="161195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1: Text-to-SQL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76250" y="203864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language questions converted to SQL queries (100% accuracy)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76250" y="246533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2: SQL-to-MongoDB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76250" y="289202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queries translated to MongoDB syntax (95.65% semantic similarity)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76250" y="331871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3: Schema Translation (RAG)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76250" y="3745409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schemas converted to MongoDB with validation and indexes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250" y="476250"/>
            <a:ext cx="580986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33"/>
              </a:lnSpc>
              <a:spcAft>
                <a:spcPts val="2250"/>
              </a:spcAft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Selection &amp; Optimization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76250" y="118526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Qwen2.5-0.5B with QLoRA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6250" y="1611957"/>
            <a:ext cx="8191500" cy="14859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Model: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500M parameters, instruction-tuned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QLoRA (r=16, alpha=32)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Trainable: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Only 8M parameters (1.6% of total)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Time: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25 minutes per task on T4 GPU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76250" y="3383607"/>
            <a:ext cx="8191500" cy="807690"/>
          </a:xfrm>
          <a:prstGeom prst="rect">
            <a:avLst/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95300" y="3383607"/>
            <a:ext cx="0" cy="807690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850" y="3574107"/>
            <a:ext cx="792784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Impact: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40% less memory, 45% faster startup by sharing base model across tasks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250" y="476250"/>
            <a:ext cx="4187381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33"/>
              </a:lnSpc>
              <a:spcAft>
                <a:spcPts val="2250"/>
              </a:spcAft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Methodology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76250" y="118526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Datasets &amp; Configuration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6250" y="161195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Text-to-SQL: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Spider dataset (2,500 examples across 200+ databases)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76250" y="203864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SQL-to-MongoDB: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BIRD Mini-Dev (500 examples with complex schemas)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76250" y="246533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epochs, float16 precision, AdamW optimizer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76250" y="289202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Google Colab T4 GPU (free tier)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76250" y="3452068"/>
            <a:ext cx="8191500" cy="1081980"/>
          </a:xfrm>
          <a:prstGeom prst="rect">
            <a:avLst/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95300" y="3452068"/>
            <a:ext cx="0" cy="1081980"/>
          </a:xfrm>
          <a:prstGeom prst="line">
            <a:avLst/>
          </a:prstGeom>
          <a:noFill/>
          <a:ln w="381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4850" y="3642568"/>
            <a:ext cx="7927848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Decision: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Used float16 instead of 4-bit quantization for cross-platform compatibility (Windows/Mac/Linux)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250" y="476250"/>
            <a:ext cx="4187381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33"/>
              </a:lnSpc>
              <a:spcAft>
                <a:spcPts val="2250"/>
              </a:spcAft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76250" y="118526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Accuracy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6250" y="161195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Text-to-SQL: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100% exact match accuracy on Spider test set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76250" y="203864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SQL-to-MongoDB: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95.65% semantic similarity on BIRD dataset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76250" y="246533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Pipeline: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Less than 2 seconds end-to-end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76250" y="302537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Bef>
                <a:spcPts val="2250"/>
              </a:spcBef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with Baselines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76250" y="3452068"/>
            <a:ext cx="8191500" cy="11049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LoRA Model: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95.65% accuracy, Free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 API: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82% accuracy, $15 per 1,000 queries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Rule-based: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70% accuracy, Free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250" y="476250"/>
            <a:ext cx="6635687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33"/>
              </a:lnSpc>
              <a:spcAft>
                <a:spcPts val="2250"/>
              </a:spcAft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RAG-Enhanced Schema Translation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76250" y="118526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Retrieval-Augmented Generation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6250" y="161195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Embed SQL schema into 384-dimensional vector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76250" y="203864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Retrieve top-3 similar examples from database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76250" y="246533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Generate MongoDB schema with context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76250" y="302537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Bef>
                <a:spcPts val="2250"/>
              </a:spcBef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76250" y="3452068"/>
            <a:ext cx="8191500" cy="11049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validation rules and constraints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index suggestions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best practices application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250" y="476250"/>
            <a:ext cx="4187381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33"/>
              </a:lnSpc>
              <a:spcAft>
                <a:spcPts val="2250"/>
              </a:spcAft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Features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76250" y="118526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Operational Modes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6250" y="161195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 1: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Complete Pipeline (NL to SQL to MongoDB)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76250" y="203864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 2: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Text-to-SQL Only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76250" y="246533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 3: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SQL-to-MongoDB Only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76250" y="289202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 4: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Schema Translation with RAG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76250" y="345206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Bef>
                <a:spcPts val="2250"/>
              </a:spcBef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76250" y="3878759"/>
            <a:ext cx="8191500" cy="7239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query generation (less than 2 seconds)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backend with Streamlit UI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250" y="476250"/>
            <a:ext cx="4187381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33"/>
              </a:lnSpc>
              <a:spcAft>
                <a:spcPts val="2250"/>
              </a:spcAft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Contributions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76250" y="118526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Contributions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6250" y="1611957"/>
            <a:ext cx="8191500" cy="14859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 dual-model architecture for NL-to-NoSQL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Efficient QLoRA fine-tuning with small models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RAG-enhanced schema translation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memory optimization via shared architecture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76250" y="338360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Bef>
                <a:spcPts val="2250"/>
              </a:spcBef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76250" y="3810298"/>
            <a:ext cx="8191500" cy="7239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query accessibility for non-experts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SQL to NoSQL migration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250" y="476250"/>
            <a:ext cx="5081207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33"/>
              </a:lnSpc>
              <a:spcAft>
                <a:spcPts val="2250"/>
              </a:spcAft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Research Matters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76250" y="118526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Challenges: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476250" y="1611957"/>
            <a:ext cx="8191500" cy="7239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 API: $15-20 per 1,000 queries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hosting: $500+ monthly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76250" y="262160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Bef>
                <a:spcPts val="2250"/>
              </a:spcBef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Solution: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76250" y="3048298"/>
            <a:ext cx="8191500" cy="11049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cost deployment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hardware compatible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95%+ accuracy maintained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250" y="476250"/>
            <a:ext cx="7451788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33"/>
              </a:lnSpc>
              <a:spcAft>
                <a:spcPts val="2250"/>
              </a:spcAft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Accessible to Low-Resource Computing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76250" y="118526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Hardware Requirements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6250" y="161195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Only 1.2 GB RAM (typical laptop: 8-16 GB)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76250" y="203864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Optional - works on CPU or integrated graphics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76250" y="246533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Google Colab free tier (25 min per model)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76250" y="3025378"/>
            <a:ext cx="8191500" cy="655290"/>
          </a:xfrm>
          <a:prstGeom prst="rect">
            <a:avLst/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95300" y="3025378"/>
            <a:ext cx="0" cy="655290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850" y="3215878"/>
            <a:ext cx="792784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Students can replicate this research with zero budget on their laptops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250" y="476250"/>
            <a:ext cx="4391406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33"/>
              </a:lnSpc>
              <a:spcAft>
                <a:spcPts val="2250"/>
              </a:spcAft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Comprehensive Metrics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76250" y="118526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Text-to-SQL: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100% accuracy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476250" y="161195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SQL-to-MongoDB: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95.65% semantic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76250" y="203864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Efficiency: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1.6% trainable params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76250" y="246533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1.8s per query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76250" y="302537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Bef>
                <a:spcPts val="2250"/>
              </a:spcBef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1.2 GB memory, 35s startup, $0 cost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250" y="476250"/>
            <a:ext cx="4284536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33"/>
              </a:lnSpc>
              <a:spcAft>
                <a:spcPts val="2250"/>
              </a:spcAft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Methodology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76250" y="118526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Systematic Evaluation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6250" y="161195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Datasets: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Spider (2,500) + BIRD (500 examples)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76250" y="203864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Exact match + Semantic similarity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76250" y="246533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Baselines: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76250" y="2892028"/>
            <a:ext cx="8191500" cy="11049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 API: 82% accuracy, $15/1K queries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Rule-based: 70% accuracy, free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model: 95.65% accuracy, free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250" y="476250"/>
            <a:ext cx="4187381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33"/>
              </a:lnSpc>
              <a:spcAft>
                <a:spcPts val="2250"/>
              </a:spcAft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Impact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76250" y="118526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Benefits?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6250" y="1611957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Learn database automation on personal laptops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76250" y="203864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Startups: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Deploy query systems without API costs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76250" y="246533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Developing Regions: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Access advanced NLP locally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76250" y="3120628"/>
            <a:ext cx="8191500" cy="624780"/>
          </a:xfrm>
          <a:prstGeom prst="rect">
            <a:avLst/>
          </a:prstGeom>
          <a:solidFill>
            <a:srgbClr val="ECFD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95300" y="3120628"/>
            <a:ext cx="0" cy="624780"/>
          </a:xfrm>
          <a:prstGeom prst="line">
            <a:avLst/>
          </a:prstGeom>
          <a:noFill/>
          <a:ln w="381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850" y="3311128"/>
            <a:ext cx="7927848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Achievement:</a:t>
            </a: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Enterprise-grade automation accessible to everyone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250" y="476250"/>
            <a:ext cx="4896612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33"/>
              </a:lnSpc>
              <a:spcAft>
                <a:spcPts val="2250"/>
              </a:spcAft>
              <a:buNone/>
            </a:pPr>
            <a:r>
              <a:rPr lang="en-US" sz="30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 &amp;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76250" y="1185267"/>
            <a:ext cx="835533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Developed a production-ready NL-to-NoSQL system achieving 100% and 95.65% accuracy with efficient QLoRA fine-tuning.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476250" y="2019598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Bef>
                <a:spcPts val="2250"/>
              </a:spcBef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76250" y="2446288"/>
            <a:ext cx="8191500" cy="11049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scaling to 1B-3B parameters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Multi-database support (Cassandra, DynamoDB)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Graph-RAG integration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94335" y="3932188"/>
            <a:ext cx="835533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840"/>
              </a:lnSpc>
              <a:spcBef>
                <a:spcPts val="3000"/>
              </a:spcBef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724</Words>
  <Application>Microsoft Office PowerPoint</Application>
  <PresentationFormat>On-screen Show (16:9)</PresentationFormat>
  <Paragraphs>127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7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NL-to-NoSQL Conversion System - Extended</dc:title>
  <dc:subject>PptxGenJS Presentation</dc:subject>
  <dc:creator>Bhanu Kumar</dc:creator>
  <cp:lastModifiedBy>Bhanunjay Kumar</cp:lastModifiedBy>
  <cp:revision>9</cp:revision>
  <dcterms:created xsi:type="dcterms:W3CDTF">2026-01-24T10:31:29Z</dcterms:created>
  <dcterms:modified xsi:type="dcterms:W3CDTF">2026-01-25T09:31:13Z</dcterms:modified>
</cp:coreProperties>
</file>